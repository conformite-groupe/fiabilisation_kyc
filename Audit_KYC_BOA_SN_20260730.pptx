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70AD47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dPt>
            <c:idx val="8"/>
            <c:spPr>
              <a:solidFill>
                <a:srgbClr val="70AD47"/>
              </a:solidFill>
            </c:spPr>
          </c:dPt>
          <c:dPt>
            <c:idx val="9"/>
            <c:spPr>
              <a:solidFill>
                <a:srgbClr val="70AD47"/>
              </a:solidFill>
            </c:spPr>
          </c:dPt>
          <c:dPt>
            <c:idx val="10"/>
            <c:spPr>
              <a:solidFill>
                <a:srgbClr val="70AD47"/>
              </a:solidFill>
            </c:spPr>
          </c:dPt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  <c:pt idx="4">
                  <c:v>Date de validité CIN</c:v>
                </c:pt>
                <c:pt idx="5">
                  <c:v>Origine du revenu</c:v>
                </c:pt>
                <c:pt idx="6">
                  <c:v>Lieu de naissance</c:v>
                </c:pt>
                <c:pt idx="7">
                  <c:v>Profession</c:v>
                </c:pt>
                <c:pt idx="8">
                  <c:v>Code agent économique</c:v>
                </c:pt>
                <c:pt idx="9">
                  <c:v>Date de naissance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91</c:v>
                </c:pt>
                <c:pt idx="1">
                  <c:v>98</c:v>
                </c:pt>
                <c:pt idx="2">
                  <c:v>99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Secteur d'activité</c:v>
                </c:pt>
                <c:pt idx="6">
                  <c:v>Code agent économique</c:v>
                </c:pt>
                <c:pt idx="7">
                  <c:v>Origine du revenu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  <c:pt idx="4">
                  <c:v>93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F59E0B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F59E0B"/>
              </a:solidFill>
            </c:spPr>
          </c:dPt>
          <c:dPt>
            <c:idx val="9"/>
            <c:spPr>
              <a:solidFill>
                <a:srgbClr val="F59E0B"/>
              </a:solidFill>
            </c:spPr>
          </c:dPt>
          <c:dPt>
            <c:idx val="10"/>
            <c:spPr>
              <a:solidFill>
                <a:srgbClr val="F59E0B"/>
              </a:solidFill>
            </c:spPr>
          </c:dPt>
          <c:dPt>
            <c:idx val="11"/>
            <c:spPr>
              <a:solidFill>
                <a:srgbClr val="F59E0B"/>
              </a:solidFill>
            </c:spPr>
          </c:dPt>
          <c:cat>
            <c:strRef>
              <c:f>Sheet1!$A$2:$A$13</c:f>
              <c:strCache>
                <c:ptCount val="12"/>
                <c:pt idx="0">
                  <c:v>ELITE</c:v>
                </c:pt>
                <c:pt idx="1">
                  <c:v>PARCELLES ASSA</c:v>
                </c:pt>
                <c:pt idx="2">
                  <c:v>CENTRALE DAKAR</c:v>
                </c:pt>
                <c:pt idx="3">
                  <c:v>INDEPENDANCE</c:v>
                </c:pt>
                <c:pt idx="4">
                  <c:v>CAF ZONE INDUS</c:v>
                </c:pt>
                <c:pt idx="5">
                  <c:v>TAMBACOUNDA</c:v>
                </c:pt>
                <c:pt idx="6">
                  <c:v>BOURGUIBA</c:v>
                </c:pt>
                <c:pt idx="7">
                  <c:v>GRAND YOFF</c:v>
                </c:pt>
                <c:pt idx="8">
                  <c:v>MERMOZ</c:v>
                </c:pt>
                <c:pt idx="9">
                  <c:v>KAOLACK</c:v>
                </c:pt>
                <c:pt idx="10">
                  <c:v>SATELLITE HLM </c:v>
                </c:pt>
                <c:pt idx="11">
                  <c:v>SATELLITE PIKI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72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76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  <c:pt idx="10">
                  <c:v>78</c:v>
                </c:pt>
                <c:pt idx="11">
                  <c:v>78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Date de révision KYC</c:v>
                </c:pt>
                <c:pt idx="1">
                  <c:v>Document d'identité </c:v>
                </c:pt>
                <c:pt idx="2">
                  <c:v>Risque élevé sans ré</c:v>
                </c:pt>
                <c:pt idx="3">
                  <c:v>Non-résident sans bo</c:v>
                </c:pt>
                <c:pt idx="4">
                  <c:v>NUMID trop court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151528</c:v>
                </c:pt>
                <c:pt idx="1">
                  <c:v>87192</c:v>
                </c:pt>
                <c:pt idx="2">
                  <c:v>5872</c:v>
                </c:pt>
                <c:pt idx="3">
                  <c:v>2754</c:v>
                </c:pt>
                <c:pt idx="4">
                  <c:v>1698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CA positif mais résu</c:v>
                </c:pt>
                <c:pt idx="1">
                  <c:v>Société avec capital</c:v>
                </c:pt>
                <c:pt idx="2">
                  <c:v>RCS renseigné mais s</c:v>
                </c:pt>
                <c:pt idx="3">
                  <c:v>Capital social nul</c:v>
                </c:pt>
                <c:pt idx="4">
                  <c:v>Format téléphone inv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10877</c:v>
                </c:pt>
                <c:pt idx="1">
                  <c:v>9144</c:v>
                </c:pt>
                <c:pt idx="2">
                  <c:v>4228</c:v>
                </c:pt>
                <c:pt idx="3">
                  <c:v>2064</c:v>
                </c:pt>
                <c:pt idx="4">
                  <c:v>441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210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</c:v>
                </c:pt>
                <c:pt idx="1">
                  <c:v>95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98</c:v>
                </c:pt>
                <c:pt idx="2">
                  <c:v>99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70</c:v>
                </c:pt>
                <c:pt idx="1">
                  <c:v>80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Téléphone</c:v>
                </c:pt>
                <c:pt idx="2">
                  <c:v>NIN</c:v>
                </c:pt>
                <c:pt idx="3">
                  <c:v>Adresse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44</c:v>
                </c:pt>
                <c:pt idx="1">
                  <c:v>98</c:v>
                </c:pt>
                <c:pt idx="2">
                  <c:v>100</c:v>
                </c:pt>
                <c:pt idx="3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70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91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366383</c:v>
                </c:pt>
                <c:pt idx="2">
                  <c:v>1789</c:v>
                </c:pt>
                <c:pt idx="3">
                  <c:v>13256</c:v>
                </c:pt>
                <c:pt idx="4">
                  <c:v>37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12264</c:v>
                </c:pt>
                <c:pt idx="2">
                  <c:v>2174</c:v>
                </c:pt>
                <c:pt idx="3">
                  <c:v>1201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151528</c:v>
                </c:pt>
                <c:pt idx="1">
                  <c:v>30550</c:v>
                </c:pt>
                <c:pt idx="2">
                  <c:v>58150</c:v>
                </c:pt>
                <c:pt idx="3">
                  <c:v>49165</c:v>
                </c:pt>
                <c:pt idx="4">
                  <c:v>20045</c:v>
                </c:pt>
                <c:pt idx="5">
                  <c:v>72042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571</c:v>
                </c:pt>
                <c:pt idx="1">
                  <c:v>10537</c:v>
                </c:pt>
                <c:pt idx="2">
                  <c:v>259</c:v>
                </c:pt>
                <c:pt idx="3">
                  <c:v>279</c:v>
                </c:pt>
                <c:pt idx="4">
                  <c:v>400</c:v>
                </c:pt>
                <c:pt idx="5">
                  <c:v>3627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66751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AUDIT QUALITÉ ET COMPLÉTUDE DES DONNÉES 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F0D8"/>
                </a:solidFill>
                <a:latin typeface="Calibri"/>
              </a:rPr>
              <a:t>BOA SN — Sénégal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F5E4"/>
                </a:solidFill>
                <a:latin typeface="Calibri"/>
              </a:rPr>
              <a:t>Stock au 30 juillet 2026  |  381 480 particuliers  |  15 674 entreprises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0D4B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9A56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Périmètre et méthodologie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8184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67912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0799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34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Synthèse et plan d'action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381 480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364 447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15 674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15 674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sur 54 règles du référentiel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MÉTHODES DE CALCUL APPLIQUÉES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— Script_V3.r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floor(100 − vides / effectif × 100)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global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× (1 − vides / (champs × effectif)))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Valeur « vide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chaîne vide après nettoyage des espaces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Faible &lt; 80 % · Moyen 80–99 % · Bon = 100 %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— plateforme KYC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54 règles, 28 applicables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Combinaison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forme normale disjonctive (OU ouvre un groupe)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Σ conformes / Σ évaluations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référence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 juillet 2026 (opérateurs expired / age_gt)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Réserves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Les exports pp/pm_STOCK sont produits par Script_V3.r : clients déjà regroupés par identifiant et clients non fiabilisables (code OI) déjà exclus.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La devise locale ayant été vidée par le script R, tout compte à devise renseignée est traité comme compte en devise étrangère.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Champs absents de l'export entreprises : PPE — les règles associées sont inévaluables.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90.5 % de dossiers complets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13.2 % de dossiers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95.9 %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16 règles · 252 787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· 27 829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Complétude affichée et information exploitable divergent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Origine du revenu : 83.5 % des particuliers portent « Non communiquée », comptée comme renseignée.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Côté entreprises, la proportion atteint 75.8 %.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Le champ le plus faible reste Salaire (91 %).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Résultat net : 13 % de complétude (13 532 dossiers vides).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Capital social 75 % · Chiffre d'affaires 86 % · Numéro de registre de commerce 88 %.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Seuls 13.2 % des dossiers entreprises sont complets.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08576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La révision KYC n'est pas maîtrisée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47.7 % des particuliers sont sans révision opposable (182 078 clients).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70.9 % côté entreprises (11 109 sociétés).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6 099 clients à risque élevé sont concernés, soit 46.0 % de ce niveau.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9983" y="1993392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Non-résidents : complétude 94 % et qualité 86.0 % (global 99 % / 95.9 %).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493 entreprises en devise étrangère (3.15 % du portefeuille).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sensible consolidé : 5 940 particuliers.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Complétude calculée selon Script_V3.r ; qualité selon le moteur de règles de la plateforme KYC restreint aux règles applicables à la filiale.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90.5 %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345 077 sur 381 480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6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37 961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1581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30 608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6 736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validité CIN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3867911"/>
            <a:ext cx="3291840" cy="96012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3867911"/>
            <a:ext cx="45720" cy="9601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3941063"/>
            <a:ext cx="303580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Salaire (91 %, 30 608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Champs à 100 % : Lieu de naissance, Profession, Code agent économique, Date de naissance ….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90.5 % des dossiers ne présentent aucun champ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2 062 sur 15 674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22 309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13 532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3 817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Secteur d'activité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(13 %, 13 532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13.2 % des dossiers ne présentent aucun champ 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DISPERSION DU TAUX DE COMPLÉTUDE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9 agences les plus en retrait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398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1 958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18 020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12 376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DE PIKINE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12 038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04001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THIES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11 134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9 agences les plus en retrait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1 208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05001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TAMBACOUNDA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BOURGUIBA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agences les plus faibles (effectif ≥ 100 clients)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3767328"/>
          <a:ext cx="8412480" cy="10607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Particuliers : de 91 % (AGENCE DIASPORA) à 99 %.  Entreprises : de 62 % à 99 %, soit 37 points d'écart.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•  Le taux de complétude mesure la présence d'une valeur, pas sa portée informative : les valeurs par défaut et les champs jamais alimentés élèvent mécaniquement les taux affichés.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/>
                <a:gridCol w="1261872"/>
                <a:gridCol w="1850745"/>
                <a:gridCol w="1093622"/>
                <a:gridCol w="1261872"/>
                <a:gridCol w="109362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318 658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83.5 %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11 882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35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CHAMPS PRÉSENTS DANS L'EXPORT MAIS NON ALIMENTÉS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19856"/>
          <a:ext cx="8412478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7244"/>
                <a:gridCol w="1345996"/>
                <a:gridCol w="1682496"/>
                <a:gridCol w="319674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remplissage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délivrance CIN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95.9 %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16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252 787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27 829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/>
                <a:gridCol w="1261872"/>
                <a:gridCol w="1177747"/>
                <a:gridCol w="1261872"/>
                <a:gridCol w="11777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9 144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4 228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déclarée sans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27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5 872 (44.3 %)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87 192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316 (2.4 %)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77.1 %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5 872 (44.3 %)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 (0.3 %)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NUMID trop court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1 698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 (0.3 %)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court)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1 418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17 (0.1 %)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1 390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(0.0 %)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612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81 (0.6 %)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Détection des employés de banque sans 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employeur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(0.0 %)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déclaré sans risque 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Date de révision KYC expirée » : 151 528 clients, soit 39.7 %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87 192 clients, soit 22.9 %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Risque élevé sans révision KYC à jour » : 5 872 clients, soit 1.5 % du portefeuille.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832 (69.3 %)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9 144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773 (64.4 %)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4 228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273 (22.7 %)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2 064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207 (17.2 %)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 (2.8 %)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394 (32.8 %)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356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54 (4.5 %)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Mandataire absent pour société active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16 (1.3 %)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Sociétés sans adresse sociale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court ou contenant des lettres (PM)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renseigné sans chiffre d'affaires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10 877 clients, soit 69.4 %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mais sans actionnaire » : 9 144 clients, soit 58.3 %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4 228 clients, soit 27.0 %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déclarée sans risque élevé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2 716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 (PPE = 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0.71 %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490 PP · 493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2 846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 (RESID =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2 754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6 513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93776"/>
                <a:gridCol w="452628"/>
                <a:gridCol w="781812"/>
                <a:gridCol w="493776"/>
                <a:gridCol w="6583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2 715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111 (22.7 %)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52 (10.5 %)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 (1.6 %)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12 (13.0 %)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5 940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1.56 %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2 856 (48.1 %)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61 (10.6 %)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96849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815644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 et devise étrangère : 9 PP · 12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non-résident : 43 PP · 12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devise étrangère : 111 PP · 52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non-résident : 11 PP · — PM (champ absent).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devise étrangère : 0 PP · — PM (champ absent).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381 480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381 480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95.9 %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+4.0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-3.0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+0.7 pt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86.0 %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-9.9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-5.5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1 880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1 463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53.1 %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66.5 %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86.0 % contre 95.9 %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78 % et qualité 85.9 %.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2 716 clients, dont 1 sans classement en risque élevé.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3.5 %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1 201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7.7 %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366 383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96.0 %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 PP · 3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/>
                <a:gridCol w="469087"/>
                <a:gridCol w="443026"/>
                <a:gridCol w="469087"/>
                <a:gridCol w="44302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366 383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96.0 %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12 264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2 174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13 256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1 201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96.0 %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40 clients restent sans notation de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47.7 %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sans révision opposable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182 078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70.9 %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sans révision opposable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11 109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151 528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Révisions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39.7 %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10 537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DATREV entreprises absentes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67.2 %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/>
                <a:gridCol w="528523"/>
                <a:gridCol w="497433"/>
                <a:gridCol w="528523"/>
                <a:gridCol w="497433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151 528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30 550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10 537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58 150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49 165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20 045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72 042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3 627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/>
                <a:gridCol w="921715"/>
                <a:gridCol w="921715"/>
                <a:gridCol w="921715"/>
                <a:gridCol w="92171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128 733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22 196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révision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366 383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144 834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29 786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174 620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47.7 %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1 789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1 308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73.1 %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13 256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6 099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46.0 %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852928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12 264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8 183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8 327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67.9 %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2 174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95.1 %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1 201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59.1 %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24281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sans révision opposable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480559"/>
            <a:ext cx="8156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6 099 clients à risque élevé sur 13 256 (46.0 %) sont sans révision opposable — 5 872 échues, 227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710 sociétés sur 1 201 (59.1 %) — 394 échues, 315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6 809 clients à risque élevé.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3.47 %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1 201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7.66 %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46.0 %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6 099 clients concernés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59.1 %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710 sociétés concernées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032"/>
                <a:gridCol w="699516"/>
                <a:gridCol w="699516"/>
                <a:gridCol w="658368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Dossiers intégralement complets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95.9 %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94.2 %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82.1 %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70.9 %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/>
                <a:gridCol w="699516"/>
                <a:gridCol w="740664"/>
                <a:gridCol w="69951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5 872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Exposition du niveau « risque élevé » aux segments sensibles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: 43 PP · 12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Comptes en devise étrangère : 111 PP · 52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Clients PPE classés à risque élevé : 2 715 sur 2 716 PPE identifiés.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révision KYC opposable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6 809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ciblée pilotée par le module Rappels Scoring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Révisions KYC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152 099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Plan de rattrapage par agence, en priorité les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absente côté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10 537 sociétés (67.2 %)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Initialiser DATREV à partir de la date d'entrée en relation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13 532 dossiers vides (13 %)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318 658 dossiers (83.5 %)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11 882 dossiers (75.8 %)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Date de révision KYC expirée »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151 528 anomalies (39.7 %)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Document d'identité expiré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87 192 anomalies (22.9 %)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10 877 anomalies (69.4 %)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mais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9 144 anomalies (58.3 %)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3 817 dossiers vides (75 %)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2 754 PP · 92 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30 juillet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