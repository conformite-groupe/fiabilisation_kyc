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82942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0" y="2829420"/>
            <a:ext cx="5486400" cy="771660"/>
          </a:xfrm>
          <a:prstGeom prst="rtTriangl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o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000" y="108000"/>
            <a:ext cx="2664673" cy="64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0000" y="1286100"/>
            <a:ext cx="8064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Helvetica"/>
              </a:defRPr>
            </a:pPr>
            <a:r>
              <a:t>RAPPORT DE PILOTAGE</a:t>
            </a:r>
            <a:br/>
            <a:r>
              <a:t>KYC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189420"/>
            <a:ext cx="8064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B2A4A"/>
                </a:solidFill>
                <a:latin typeface="Helvetica"/>
              </a:defRPr>
            </a:pPr>
            <a:r>
              <a:t>Périmètre : GROUPE</a:t>
            </a:r>
            <a:br/>
            <a:r>
              <a:t>Seuil de tolérance : 90.0%</a:t>
            </a:r>
            <a:br/>
            <a:r>
              <a:t>Date : 18/06/2026 à 18:56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46800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4114800" cy="46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0"/>
            <a:ext cx="4669200" cy="46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b="1" sz="800">
                <a:solidFill>
                  <a:srgbClr val="FFFFFF"/>
                </a:solidFill>
                <a:latin typeface="Helvetica"/>
              </a:defRPr>
            </a:pPr>
            <a:r>
              <a:t>RAPPORT DE PILOTAGE KYC — BOA GROUP</a:t>
            </a:r>
            <a:br/>
            <a:r>
              <a:t>Périmètre : GROUPE  |  Seuil : 90.0%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9200" y="0"/>
            <a:ext cx="2854800" cy="46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800">
                <a:solidFill>
                  <a:srgbClr val="FFFFFF"/>
                </a:solidFill>
                <a:latin typeface="Helvetica"/>
              </a:defRPr>
            </a:pPr>
            <a:r>
              <a:t>SOMMAIRE</a:t>
            </a:r>
          </a:p>
        </p:txBody>
      </p:sp>
      <p:pic>
        <p:nvPicPr>
          <p:cNvPr id="6" name="Picture 5" descr="bo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000" y="28800"/>
            <a:ext cx="1702430" cy="414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20400"/>
            <a:ext cx="9144000" cy="324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20400"/>
            <a:ext cx="9144000" cy="1800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4820400"/>
            <a:ext cx="1800000" cy="32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b="1" sz="700">
                <a:solidFill>
                  <a:srgbClr val="FFFFFF"/>
                </a:solidFill>
                <a:latin typeface="Helvetica"/>
              </a:defRPr>
            </a:pPr>
            <a:r>
              <a:t>BOA Group —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0000" y="4820400"/>
            <a:ext cx="5184000" cy="32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00">
                <a:solidFill>
                  <a:srgbClr val="FFFFFF"/>
                </a:solidFill>
                <a:latin typeface="Helvetica"/>
              </a:defRPr>
            </a:pPr>
            <a:r>
              <a:t>Rapport généré automatiquement le 18/06/2026 à 18:56 — Ne pas diffuser sans autorisation</a:t>
            </a:r>
          </a:p>
        </p:txBody>
      </p:sp>
      <p:sp>
        <p:nvSpPr>
          <p:cNvPr id="11" name="Right Triangle 10"/>
          <p:cNvSpPr/>
          <p:nvPr/>
        </p:nvSpPr>
        <p:spPr>
          <a:xfrm>
            <a:off x="6984000" y="3704400"/>
            <a:ext cx="2160000" cy="1440000"/>
          </a:xfrm>
          <a:prstGeom prst="rtTriangle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40000" y="1728000"/>
            <a:ext cx="6264000" cy="1800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0000" y="144000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>
                <a:solidFill>
                  <a:srgbClr val="00965E"/>
                </a:solidFill>
              </a:defRPr>
            </a:pPr>
            <a:r>
              <a:t>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0000" y="1440000"/>
            <a:ext cx="5724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400">
                <a:solidFill>
                  <a:srgbClr val="1B2A4A"/>
                </a:solidFill>
                <a:latin typeface="Helvetica"/>
              </a:defRPr>
            </a:pPr>
            <a:r>
              <a:t>Synthèse des Indicateurs Clés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40000" y="2268000"/>
            <a:ext cx="6264000" cy="1800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40000" y="198000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>
                <a:solidFill>
                  <a:srgbClr val="00965E"/>
                </a:solidFill>
              </a:defRPr>
            </a:pPr>
            <a:r>
              <a:t>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0000" y="1980000"/>
            <a:ext cx="5724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400">
                <a:solidFill>
                  <a:srgbClr val="1B2A4A"/>
                </a:solidFill>
                <a:latin typeface="Helvetica"/>
              </a:defRPr>
            </a:pPr>
            <a:r>
              <a:t>Complétude par champ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40000" y="2808000"/>
            <a:ext cx="6264000" cy="1800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40000" y="252000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>
                <a:solidFill>
                  <a:srgbClr val="00965E"/>
                </a:solidFill>
              </a:defRPr>
            </a:pPr>
            <a:r>
              <a:t>III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0000" y="2520000"/>
            <a:ext cx="5724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400">
                <a:solidFill>
                  <a:srgbClr val="1B2A4A"/>
                </a:solidFill>
                <a:latin typeface="Helvetica"/>
              </a:defRPr>
            </a:pPr>
            <a:r>
              <a:t>Champs sous seuil — Complétude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0" y="3348000"/>
            <a:ext cx="6264000" cy="1800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0000" y="306000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>
                <a:solidFill>
                  <a:srgbClr val="00965E"/>
                </a:solidFill>
              </a:defRPr>
            </a:pPr>
            <a:r>
              <a:t>IV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0000" y="3060000"/>
            <a:ext cx="5724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400">
                <a:solidFill>
                  <a:srgbClr val="1B2A4A"/>
                </a:solidFill>
                <a:latin typeface="Helvetica"/>
              </a:defRPr>
            </a:pPr>
            <a:r>
              <a:t>Conformité par règle qualité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40000" y="3888000"/>
            <a:ext cx="6264000" cy="1800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0000" y="360000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>
                <a:solidFill>
                  <a:srgbClr val="00965E"/>
                </a:solidFill>
              </a:defRPr>
            </a:pPr>
            <a:r>
              <a:t>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80000" y="3600000"/>
            <a:ext cx="5724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400">
                <a:solidFill>
                  <a:srgbClr val="1B2A4A"/>
                </a:solidFill>
                <a:latin typeface="Helvetica"/>
              </a:defRPr>
            </a:pPr>
            <a:r>
              <a:t>Règles sous seuil — Qualité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6984000" y="3704400"/>
            <a:ext cx="2160000" cy="1440000"/>
          </a:xfrm>
          <a:prstGeom prst="rtTriangle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46800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4114800" cy="46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0"/>
            <a:ext cx="4669200" cy="46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b="1" sz="800">
                <a:solidFill>
                  <a:srgbClr val="FFFFFF"/>
                </a:solidFill>
                <a:latin typeface="Helvetica"/>
              </a:defRPr>
            </a:pPr>
            <a:r>
              <a:t>RAPPORT DE PILOTAGE KYC — BOA GROUP</a:t>
            </a:r>
            <a:br/>
            <a:r>
              <a:t>Périmètre : GROUPE  |  Seuil : 90.0%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9200" y="0"/>
            <a:ext cx="2854800" cy="46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800">
                <a:solidFill>
                  <a:srgbClr val="FFFFFF"/>
                </a:solidFill>
                <a:latin typeface="Helvetica"/>
              </a:defRPr>
            </a:pPr>
            <a:r>
              <a:t>SYNTHÈSE DES INDICATEURS CLÉS</a:t>
            </a:r>
          </a:p>
        </p:txBody>
      </p:sp>
      <p:pic>
        <p:nvPicPr>
          <p:cNvPr id="7" name="Picture 6" descr="bo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000" y="28800"/>
            <a:ext cx="1702430" cy="41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20400"/>
            <a:ext cx="9144000" cy="324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20400"/>
            <a:ext cx="9144000" cy="1800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4820400"/>
            <a:ext cx="1800000" cy="32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b="1" sz="700">
                <a:solidFill>
                  <a:srgbClr val="FFFFFF"/>
                </a:solidFill>
                <a:latin typeface="Helvetica"/>
              </a:defRPr>
            </a:pPr>
            <a:r>
              <a:t>BOA Group — Confidentiel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0000" y="4820400"/>
            <a:ext cx="5184000" cy="32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00">
                <a:solidFill>
                  <a:srgbClr val="FFFFFF"/>
                </a:solidFill>
                <a:latin typeface="Helvetica"/>
              </a:defRPr>
            </a:pPr>
            <a:r>
              <a:t>Rapport généré automatiquement le 18/06/2026 à 18:56 — Ne pas diffuser sans autorisation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980000"/>
            <a:ext cx="1980000" cy="18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6000" y="1980000"/>
            <a:ext cx="1980000" cy="29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000" y="1980000"/>
            <a:ext cx="1980000" cy="291600"/>
          </a:xfrm>
          <a:prstGeom prst="rect">
            <a:avLst/>
          </a:prstGeom>
          <a:noFill/>
        </p:spPr>
        <p:txBody>
          <a:bodyPr wrap="square" anchor="ctr" tIns="7200" bIns="7200" lIns="36000" rIns="36000">
            <a:spAutoFit/>
          </a:bodyPr>
          <a:lstStyle/>
          <a:p>
            <a:pPr algn="ctr">
              <a:defRPr b="1" sz="800">
                <a:solidFill>
                  <a:srgbClr val="FFFFFF"/>
                </a:solidFill>
                <a:latin typeface="Calibri"/>
              </a:defRPr>
            </a:pPr>
            <a:r>
              <a:t>TAUX DE COMPLÉTUDE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000" y="2271600"/>
            <a:ext cx="1980000" cy="15084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defRPr b="1" sz="3200">
                <a:solidFill>
                  <a:srgbClr val="EF4444"/>
                </a:solidFill>
                <a:latin typeface="Calibri"/>
              </a:defRPr>
            </a:pPr>
            <a:r>
              <a:t>87.3%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20000" y="1980000"/>
            <a:ext cx="1980000" cy="18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0000" y="1980000"/>
            <a:ext cx="1980000" cy="29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0000" y="1980000"/>
            <a:ext cx="1980000" cy="291600"/>
          </a:xfrm>
          <a:prstGeom prst="rect">
            <a:avLst/>
          </a:prstGeom>
          <a:noFill/>
        </p:spPr>
        <p:txBody>
          <a:bodyPr wrap="square" anchor="ctr" tIns="7200" bIns="7200" lIns="36000" rIns="36000">
            <a:spAutoFit/>
          </a:bodyPr>
          <a:lstStyle/>
          <a:p>
            <a:pPr algn="ctr">
              <a:defRPr b="1" sz="800">
                <a:solidFill>
                  <a:srgbClr val="FFFFFF"/>
                </a:solidFill>
                <a:latin typeface="Calibri"/>
              </a:defRPr>
            </a:pPr>
            <a:r>
              <a:t>TAUX DE QUALITÉ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0000" y="2271600"/>
            <a:ext cx="1980000" cy="15084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defRPr b="1" sz="3200">
                <a:solidFill>
                  <a:srgbClr val="F59E0B"/>
                </a:solidFill>
                <a:latin typeface="Calibri"/>
              </a:defRPr>
            </a:pPr>
            <a:r>
              <a:t>91.2%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4000" y="1980000"/>
            <a:ext cx="1980000" cy="18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4000" y="1980000"/>
            <a:ext cx="1980000" cy="29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4000" y="1980000"/>
            <a:ext cx="1980000" cy="291600"/>
          </a:xfrm>
          <a:prstGeom prst="rect">
            <a:avLst/>
          </a:prstGeom>
          <a:noFill/>
        </p:spPr>
        <p:txBody>
          <a:bodyPr wrap="square" anchor="ctr" tIns="7200" bIns="7200" lIns="36000" rIns="36000">
            <a:spAutoFit/>
          </a:bodyPr>
          <a:lstStyle/>
          <a:p>
            <a:pPr algn="ctr">
              <a:defRPr b="1" sz="800">
                <a:solidFill>
                  <a:srgbClr val="FFFFFF"/>
                </a:solidFill>
                <a:latin typeface="Calibri"/>
              </a:defRPr>
            </a:pPr>
            <a:r>
              <a:t>CHAMPS SOUS SEUIL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4000" y="2271600"/>
            <a:ext cx="1980000" cy="15084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defRPr b="1" sz="3200">
                <a:solidFill>
                  <a:srgbClr val="EF4444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8000" y="1980000"/>
            <a:ext cx="1980000" cy="18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8000" y="1980000"/>
            <a:ext cx="1980000" cy="29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8000" y="1980000"/>
            <a:ext cx="1980000" cy="291600"/>
          </a:xfrm>
          <a:prstGeom prst="rect">
            <a:avLst/>
          </a:prstGeom>
          <a:noFill/>
        </p:spPr>
        <p:txBody>
          <a:bodyPr wrap="square" anchor="ctr" tIns="7200" bIns="7200" lIns="36000" rIns="36000">
            <a:spAutoFit/>
          </a:bodyPr>
          <a:lstStyle/>
          <a:p>
            <a:pPr algn="ctr">
              <a:defRPr b="1" sz="800">
                <a:solidFill>
                  <a:srgbClr val="FFFFFF"/>
                </a:solidFill>
                <a:latin typeface="Calibri"/>
              </a:defRPr>
            </a:pPr>
            <a:r>
              <a:t>RÈGLES SOUS SEUIL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8000" y="2271600"/>
            <a:ext cx="1980000" cy="15084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defRPr b="1" sz="3200">
                <a:solidFill>
                  <a:srgbClr val="EF4444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6984000" y="3704400"/>
            <a:ext cx="2160000" cy="1440000"/>
          </a:xfrm>
          <a:prstGeom prst="rtTriangle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46800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4114800" cy="46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0"/>
            <a:ext cx="4669200" cy="46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b="1" sz="800">
                <a:solidFill>
                  <a:srgbClr val="FFFFFF"/>
                </a:solidFill>
                <a:latin typeface="Helvetica"/>
              </a:defRPr>
            </a:pPr>
            <a:r>
              <a:t>RAPPORT DE PILOTAGE KYC — BOA GROUP</a:t>
            </a:r>
            <a:br/>
            <a:r>
              <a:t>Périmètre : GROUPE  |  Seuil : 90.0%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9200" y="0"/>
            <a:ext cx="2854800" cy="46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800">
                <a:solidFill>
                  <a:srgbClr val="FFFFFF"/>
                </a:solidFill>
                <a:latin typeface="Helvetica"/>
              </a:defRPr>
            </a:pPr>
            <a:r>
              <a:t>COMPLÉTUDE PAR CHAMP</a:t>
            </a:r>
          </a:p>
        </p:txBody>
      </p:sp>
      <p:pic>
        <p:nvPicPr>
          <p:cNvPr id="7" name="Picture 6" descr="bo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000" y="28800"/>
            <a:ext cx="1702430" cy="41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20400"/>
            <a:ext cx="9144000" cy="324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20400"/>
            <a:ext cx="9144000" cy="1800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4820400"/>
            <a:ext cx="1800000" cy="32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b="1" sz="700">
                <a:solidFill>
                  <a:srgbClr val="FFFFFF"/>
                </a:solidFill>
                <a:latin typeface="Helvetica"/>
              </a:defRPr>
            </a:pPr>
            <a:r>
              <a:t>BOA Group — Confidentiel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0000" y="4820400"/>
            <a:ext cx="5184000" cy="32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00">
                <a:solidFill>
                  <a:srgbClr val="FFFFFF"/>
                </a:solidFill>
                <a:latin typeface="Helvetica"/>
              </a:defRPr>
            </a:pPr>
            <a:r>
              <a:t>Rapport généré automatiquement le 18/06/2026 à 18:56 — Ne pas diffuser sans autorisation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720000"/>
            <a:ext cx="9144000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1B2A4A"/>
                </a:solidFill>
                <a:latin typeface="Helvetica"/>
              </a:defRPr>
            </a:pPr>
            <a:r>
              <a:t>TAUX DE COMPLÉTUDE PAR CHAMP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8000" y="1166400"/>
            <a:ext cx="5903999" cy="1111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68000" y="1166400"/>
            <a:ext cx="5620607" cy="111120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1152000"/>
            <a:ext cx="1692000" cy="1140000"/>
          </a:xfrm>
          <a:prstGeom prst="rect">
            <a:avLst/>
          </a:prstGeom>
          <a:noFill/>
        </p:spPr>
        <p:txBody>
          <a:bodyPr wrap="none" anchor="ctr" tIns="0" bIns="0" lIns="18000" rIns="18000">
            <a:spAutoFit/>
          </a:bodyPr>
          <a:lstStyle/>
          <a:p>
            <a:pPr algn="r">
              <a:defRPr sz="650">
                <a:solidFill>
                  <a:srgbClr val="1B2A4A"/>
                </a:solidFill>
                <a:latin typeface="Calibri"/>
              </a:defRPr>
            </a:pPr>
            <a:r>
              <a:t>PP  Nom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7999" y="1152000"/>
            <a:ext cx="432000" cy="11400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l">
              <a:defRPr b="1" sz="700">
                <a:solidFill>
                  <a:srgbClr val="00965E"/>
                </a:solidFill>
                <a:latin typeface="Calibri"/>
              </a:defRPr>
            </a:pPr>
            <a:r>
              <a:t>95.2%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68000" y="2306400"/>
            <a:ext cx="5903999" cy="1111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68000" y="2306400"/>
            <a:ext cx="5024303" cy="1111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2292000"/>
            <a:ext cx="1692000" cy="1140000"/>
          </a:xfrm>
          <a:prstGeom prst="rect">
            <a:avLst/>
          </a:prstGeom>
          <a:noFill/>
        </p:spPr>
        <p:txBody>
          <a:bodyPr wrap="none" anchor="ctr" tIns="0" bIns="0" lIns="18000" rIns="18000">
            <a:spAutoFit/>
          </a:bodyPr>
          <a:lstStyle/>
          <a:p>
            <a:pPr algn="r">
              <a:defRPr sz="650">
                <a:solidFill>
                  <a:srgbClr val="1B2A4A"/>
                </a:solidFill>
                <a:latin typeface="Calibri"/>
              </a:defRPr>
            </a:pPr>
            <a:r>
              <a:t>PP  Date naissance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7999" y="2292000"/>
            <a:ext cx="432000" cy="11400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l">
              <a:defRPr b="1" sz="700">
                <a:solidFill>
                  <a:srgbClr val="EF4444"/>
                </a:solidFill>
                <a:latin typeface="Calibri"/>
              </a:defRPr>
            </a:pPr>
            <a:r>
              <a:t>85.1%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1599" y="1152000"/>
            <a:ext cx="18000" cy="228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68000" y="3612000"/>
            <a:ext cx="108000" cy="10800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12000" y="3576000"/>
            <a:ext cx="14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Conforme (≥90%)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88000" y="3612000"/>
            <a:ext cx="108000" cy="1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32000" y="3576000"/>
            <a:ext cx="10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Proche du seuil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48000" y="3612000"/>
            <a:ext cx="108000" cy="10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92000" y="3576000"/>
            <a:ext cx="10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Sous le seuil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6984000" y="3704400"/>
            <a:ext cx="2160000" cy="1440000"/>
          </a:xfrm>
          <a:prstGeom prst="rtTriangle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46800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4114800" cy="46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0"/>
            <a:ext cx="4669200" cy="46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b="1" sz="800">
                <a:solidFill>
                  <a:srgbClr val="FFFFFF"/>
                </a:solidFill>
                <a:latin typeface="Helvetica"/>
              </a:defRPr>
            </a:pPr>
            <a:r>
              <a:t>RAPPORT DE PILOTAGE KYC — BOA GROUP</a:t>
            </a:r>
            <a:br/>
            <a:r>
              <a:t>Périmètre : GROUPE  |  Seuil : 90.0%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9200" y="0"/>
            <a:ext cx="2854800" cy="46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800">
                <a:solidFill>
                  <a:srgbClr val="FFFFFF"/>
                </a:solidFill>
                <a:latin typeface="Helvetica"/>
              </a:defRPr>
            </a:pPr>
            <a:r>
              <a:t>CHAMPS SOUS SEUIL (90%) — COMPLÉTUDE</a:t>
            </a:r>
          </a:p>
        </p:txBody>
      </p:sp>
      <p:pic>
        <p:nvPicPr>
          <p:cNvPr id="7" name="Picture 6" descr="bo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000" y="28800"/>
            <a:ext cx="1702430" cy="41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20400"/>
            <a:ext cx="9144000" cy="324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20400"/>
            <a:ext cx="9144000" cy="1800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4820400"/>
            <a:ext cx="1800000" cy="32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b="1" sz="700">
                <a:solidFill>
                  <a:srgbClr val="FFFFFF"/>
                </a:solidFill>
                <a:latin typeface="Helvetica"/>
              </a:defRPr>
            </a:pPr>
            <a:r>
              <a:t>BOA Group — Confidentiel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0000" y="4820400"/>
            <a:ext cx="5184000" cy="32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00">
                <a:solidFill>
                  <a:srgbClr val="FFFFFF"/>
                </a:solidFill>
                <a:latin typeface="Helvetica"/>
              </a:defRPr>
            </a:pPr>
            <a:r>
              <a:t>Rapport généré automatiquement le 18/06/2026 à 18:56 — Ne pas diffuser sans autorisation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720000"/>
            <a:ext cx="9144000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1B2A4A"/>
                </a:solidFill>
                <a:latin typeface="Helvetica"/>
              </a:defRPr>
            </a:pPr>
            <a:r>
              <a:t>DÉTAIL DES ÉLÉMENTS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260001" y="1152000"/>
          <a:ext cx="6623997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999"/>
                <a:gridCol w="1007999"/>
                <a:gridCol w="2520000"/>
                <a:gridCol w="792000"/>
                <a:gridCol w="1007999"/>
                <a:gridCol w="792000"/>
              </a:tblGrid>
              <a:tr h="198000"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 marT="14400" marB="14400" marL="28800" marR="28800">
                    <a:solidFill>
                      <a:srgbClr val="0096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Filiale</a:t>
                      </a:r>
                    </a:p>
                  </a:txBody>
                  <a:tcPr anchor="ctr" marT="14400" marB="14400" marL="28800" marR="28800">
                    <a:solidFill>
                      <a:srgbClr val="0096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Champ</a:t>
                      </a:r>
                    </a:p>
                  </a:txBody>
                  <a:tcPr anchor="ctr" marT="14400" marB="14400" marL="28800" marR="28800">
                    <a:solidFill>
                      <a:srgbClr val="00965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 marT="14400" marB="14400" marL="28800" marR="28800">
                    <a:solidFill>
                      <a:srgbClr val="00965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Incomplets</a:t>
                      </a:r>
                    </a:p>
                  </a:txBody>
                  <a:tcPr anchor="ctr" marT="14400" marB="14400" marL="28800" marR="28800">
                    <a:solidFill>
                      <a:srgbClr val="00965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Taux</a:t>
                      </a:r>
                    </a:p>
                  </a:txBody>
                  <a:tcPr anchor="ctr" marT="14400" marB="14400" marL="28800" marR="28800">
                    <a:solidFill>
                      <a:srgbClr val="00965E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PP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BMCE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Date naissance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149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85.1%</a:t>
                      </a:r>
                    </a:p>
                  </a:txBody>
                  <a:tcPr anchor="ctr" marT="14400" marB="14400" marL="28800" marR="28800">
                    <a:solidFill>
                      <a:srgbClr val="FFEB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6984000" y="3704400"/>
            <a:ext cx="2160000" cy="1440000"/>
          </a:xfrm>
          <a:prstGeom prst="rtTriangle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46800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4114800" cy="46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0"/>
            <a:ext cx="4669200" cy="46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b="1" sz="800">
                <a:solidFill>
                  <a:srgbClr val="FFFFFF"/>
                </a:solidFill>
                <a:latin typeface="Helvetica"/>
              </a:defRPr>
            </a:pPr>
            <a:r>
              <a:t>RAPPORT DE PILOTAGE KYC — BOA GROUP</a:t>
            </a:r>
            <a:br/>
            <a:r>
              <a:t>Périmètre : GROUPE  |  Seuil : 90.0%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9200" y="0"/>
            <a:ext cx="2854800" cy="46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800">
                <a:solidFill>
                  <a:srgbClr val="FFFFFF"/>
                </a:solidFill>
                <a:latin typeface="Helvetica"/>
              </a:defRPr>
            </a:pPr>
            <a:r>
              <a:t>CONFORMITÉ PAR RÈGLE QUALITÉ</a:t>
            </a:r>
          </a:p>
        </p:txBody>
      </p:sp>
      <p:pic>
        <p:nvPicPr>
          <p:cNvPr id="7" name="Picture 6" descr="bo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000" y="28800"/>
            <a:ext cx="1702430" cy="41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20400"/>
            <a:ext cx="9144000" cy="324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20400"/>
            <a:ext cx="9144000" cy="1800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4820400"/>
            <a:ext cx="1800000" cy="32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b="1" sz="700">
                <a:solidFill>
                  <a:srgbClr val="FFFFFF"/>
                </a:solidFill>
                <a:latin typeface="Helvetica"/>
              </a:defRPr>
            </a:pPr>
            <a:r>
              <a:t>BOA Group — Confidentiel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0000" y="4820400"/>
            <a:ext cx="5184000" cy="32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00">
                <a:solidFill>
                  <a:srgbClr val="FFFFFF"/>
                </a:solidFill>
                <a:latin typeface="Helvetica"/>
              </a:defRPr>
            </a:pPr>
            <a:r>
              <a:t>Rapport généré automatiquement le 18/06/2026 à 18:56 — Ne pas diffuser sans autorisation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720000"/>
            <a:ext cx="9144000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1B2A4A"/>
                </a:solidFill>
                <a:latin typeface="Helvetica"/>
              </a:defRPr>
            </a:pPr>
            <a:r>
              <a:t>TAUX DE CONFORMITÉ PAR RÈGLE QUALITÉ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8000" y="1166400"/>
            <a:ext cx="5903999" cy="1681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68000" y="1166400"/>
            <a:ext cx="5667839" cy="168120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1152000"/>
            <a:ext cx="1692000" cy="1710000"/>
          </a:xfrm>
          <a:prstGeom prst="rect">
            <a:avLst/>
          </a:prstGeom>
          <a:noFill/>
        </p:spPr>
        <p:txBody>
          <a:bodyPr wrap="none" anchor="ctr" tIns="0" bIns="0" lIns="18000" rIns="18000">
            <a:spAutoFit/>
          </a:bodyPr>
          <a:lstStyle/>
          <a:p>
            <a:pPr algn="r">
              <a:defRPr sz="650">
                <a:solidFill>
                  <a:srgbClr val="1B2A4A"/>
                </a:solidFill>
                <a:latin typeface="Calibri"/>
              </a:defRPr>
            </a:pPr>
            <a:r>
              <a:t>PP  Format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7999" y="1152000"/>
            <a:ext cx="432000" cy="17100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l">
              <a:defRPr b="1" sz="700">
                <a:solidFill>
                  <a:srgbClr val="00965E"/>
                </a:solidFill>
                <a:latin typeface="Calibri"/>
              </a:defRPr>
            </a:pPr>
            <a:r>
              <a:t>96.0%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1599" y="1152000"/>
            <a:ext cx="18000" cy="171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68000" y="3042000"/>
            <a:ext cx="108000" cy="10800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12000" y="3006000"/>
            <a:ext cx="14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Conforme (≥90%)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88000" y="3042000"/>
            <a:ext cx="108000" cy="1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32000" y="3006000"/>
            <a:ext cx="10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Proche du seuil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48000" y="3042000"/>
            <a:ext cx="108000" cy="10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92000" y="3006000"/>
            <a:ext cx="10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Sous le seuil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000" y="108000"/>
            <a:ext cx="2664673" cy="6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057760"/>
            <a:ext cx="9144000" cy="72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4000">
                <a:solidFill>
                  <a:srgbClr val="FFFFFF"/>
                </a:solidFill>
                <a:latin typeface="Helvetica"/>
              </a:defRPr>
            </a:pPr>
            <a:r>
              <a:t>FIN DU RAPPORT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