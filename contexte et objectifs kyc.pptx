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5129E-99A4-B16C-A349-F306B2C3F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0A4437-42D1-AA53-6220-06BB9AAB3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C40B9A-D44F-475F-F6AB-0478EEB6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D90E9C-F5C4-CC28-13D4-C82A5D20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9C64A6-1458-08E1-E477-F7560FEA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849897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DF319-4E70-9905-55E0-0A7919D2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4826D1-BEFC-EF31-4048-409CBDA6D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B5F169-A2F8-3B2C-B9F1-7DC5805B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DE7B20-796C-C7A7-5567-CCC2FBF0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BEC549-803C-F00E-1E07-174159D8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6339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871F4-5779-4125-4AD8-A98E4602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C5A2F3-3C4F-42FB-4338-DFEF2918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805FD6-2A44-45B5-5451-BC4AB30F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1565B1-96AB-3DB5-C524-0966E4DB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395D7-9427-8742-0F3F-54521726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5308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33B45-E5B3-F305-3619-0D4FB81A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666CD-882D-B44A-6359-939457E63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CDF69D-42EF-EE22-2555-AD979A9F9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C26722-0165-8A35-D58E-D69A9204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2505DA-BF58-43DF-0174-1B13D59E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6BCC3-1C87-67F1-D63E-F1FA024F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7476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510FB7-436A-06B2-A11A-B84B8607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0D1E7D-11DF-7E93-B965-1BF2175B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CCC022-3165-650F-1792-13081BF03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B879A0-74A7-7CA5-47E6-0C81D7C8E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9517598-DE09-CEBC-AD82-6882B31EA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57392A-D349-0E43-A443-98A7B1B3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B4CC72C-7512-5E14-27D2-17AB42BF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64F5BC3-8D4A-3250-915B-437D9406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693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DB8EF-8563-FA1B-012D-D28B8E01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A73D8B5-3F5C-44C4-ADBA-3869C749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0618CD-1BD2-F3CE-4A14-52FD3F84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62B551-9403-B419-752F-64FD34F6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69249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E1662D0-718D-5FAB-DC4D-624CAA9C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0A61A6-62D7-1E77-540A-1ED66CDD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8646CE-1B8E-F37E-9A87-7BCAF6C4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038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50181-01F8-6BB6-BE57-172A5E58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2E55F7-BE27-9262-2187-D33739076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49B1D2-3885-78F2-4CB2-99C7E9A8E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B9EF52-C8F1-75F1-C526-B176B772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F6B4DF-147B-81CF-4FB9-80519E5E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C123D5-9154-8567-C321-EAE419E30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4757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704A0-DA03-2E35-DBB9-82FAA28B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494AE56-8BC0-923A-712A-03C1AE44F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A27F6C-661E-2F0D-799F-12A27AA2F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0C60F1-1337-6980-67E5-DF3E1612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F78076-8AA3-3FC9-6CE6-1F17FF2A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75AD18-C2B2-BD25-1594-AFCCD7FD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21716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5001F-C316-23B8-E8A9-1B1E274F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3BDCB3-7458-1E12-D8C4-14A3045AA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E0A898-5326-1916-62F0-5D686195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CB6086-C27D-901A-B48A-1D2F5E5A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5E42E7-3750-FB21-CAE0-2631162F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44875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1DD8A2-D176-B83B-5739-FB76FE69B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D78B67-697C-CAC3-1CE7-219A22B60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FA3756-EF7C-2B22-18E9-8091EDB4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FED7F7-5B5F-C442-795B-44495478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DF2DEB-0392-EE41-0E71-C55E697C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59805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C17CCD-2AF5-26AF-E02F-C6938F60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653AFD-6E87-66A9-2F16-CEBDD64D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DCAF48-BA68-26FD-E679-926E0E1EA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2B56C-C1C2-4369-847B-B40250DA169D}" type="datetimeFigureOut">
              <a:rPr lang="fr-SN" smtClean="0"/>
              <a:t>09/09/2026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B52788-62B5-14C6-A932-B1AB23B8F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BBBC17-5137-55C1-2BAA-FBB79A4DE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EAD26-2416-42DC-8511-EF8EB322A7A5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3833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4E6725-1574-713C-A2C0-31E1F7C5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1BB02-36E2-4D4F-9543-3D0240FE2CC7}" type="slidenum">
              <a:rPr lang="fr-SN" smtClean="0"/>
              <a:t>1</a:t>
            </a:fld>
            <a:endParaRPr lang="fr-SN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1698992-8E8E-D0D0-26EC-555716782F04}"/>
              </a:ext>
            </a:extLst>
          </p:cNvPr>
          <p:cNvGrpSpPr/>
          <p:nvPr/>
        </p:nvGrpSpPr>
        <p:grpSpPr>
          <a:xfrm>
            <a:off x="445632" y="1428983"/>
            <a:ext cx="9781580" cy="2111298"/>
            <a:chOff x="860136" y="992174"/>
            <a:chExt cx="9781580" cy="2111298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4F4D9BB0-D656-4125-84C5-E1AB28F893DA}"/>
                </a:ext>
              </a:extLst>
            </p:cNvPr>
            <p:cNvGrpSpPr/>
            <p:nvPr/>
          </p:nvGrpSpPr>
          <p:grpSpPr>
            <a:xfrm>
              <a:off x="933665" y="2088443"/>
              <a:ext cx="9708051" cy="1015029"/>
              <a:chOff x="911087" y="1807913"/>
              <a:chExt cx="9708051" cy="1015029"/>
            </a:xfrm>
          </p:grpSpPr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DF5D13BD-793D-5ED6-74BD-580CAF0A7026}"/>
                  </a:ext>
                </a:extLst>
              </p:cNvPr>
              <p:cNvSpPr txBox="1"/>
              <p:nvPr/>
            </p:nvSpPr>
            <p:spPr>
              <a:xfrm>
                <a:off x="1258696" y="1807913"/>
                <a:ext cx="894593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>
                    <a:latin typeface="Trebuchet MS" panose="020B0603020202020204" pitchFamily="34" charset="0"/>
                  </a:rPr>
                  <a:t>Travaux de fiabilisation des données KYC menés au sein des filiales mais manque d’harmonisation et de pertinence des résultats et </a:t>
                </a:r>
                <a:r>
                  <a:rPr lang="fr-FR" sz="1600" dirty="0" err="1">
                    <a:latin typeface="Trebuchet MS" panose="020B0603020202020204" pitchFamily="34" charset="0"/>
                  </a:rPr>
                  <a:t>reportings</a:t>
                </a:r>
                <a:endParaRPr lang="fr-SN" sz="1600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645165A0-10AF-34F4-3681-22D3D49EF986}"/>
                  </a:ext>
                </a:extLst>
              </p:cNvPr>
              <p:cNvSpPr/>
              <p:nvPr/>
            </p:nvSpPr>
            <p:spPr>
              <a:xfrm>
                <a:off x="911087" y="1819014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456685C-DC85-3E9E-B145-6C6A8719CFFE}"/>
                  </a:ext>
                </a:extLst>
              </p:cNvPr>
              <p:cNvSpPr txBox="1"/>
              <p:nvPr/>
            </p:nvSpPr>
            <p:spPr>
              <a:xfrm>
                <a:off x="1258696" y="2484388"/>
                <a:ext cx="93604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>
                    <a:latin typeface="Trebuchet MS" panose="020B0603020202020204" pitchFamily="34" charset="0"/>
                  </a:rPr>
                  <a:t>Manque de fiabilisation du flux impactant un stock antérieur fiabilisé ou en cours de fiabilisation</a:t>
                </a:r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C1004C03-51DA-C3D7-41FA-0E492AF15FC0}"/>
                  </a:ext>
                </a:extLst>
              </p:cNvPr>
              <p:cNvSpPr/>
              <p:nvPr/>
            </p:nvSpPr>
            <p:spPr>
              <a:xfrm>
                <a:off x="911087" y="2495489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910E6E28-0E8D-1818-F9C2-FFAAFAEA3BE4}"/>
                </a:ext>
              </a:extLst>
            </p:cNvPr>
            <p:cNvGrpSpPr/>
            <p:nvPr/>
          </p:nvGrpSpPr>
          <p:grpSpPr>
            <a:xfrm>
              <a:off x="933665" y="1477335"/>
              <a:ext cx="9293547" cy="584775"/>
              <a:chOff x="911087" y="1300012"/>
              <a:chExt cx="9293547" cy="584775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EB189CD0-93D3-862E-6F24-77E1DB605E68}"/>
                  </a:ext>
                </a:extLst>
              </p:cNvPr>
              <p:cNvSpPr/>
              <p:nvPr/>
            </p:nvSpPr>
            <p:spPr>
              <a:xfrm>
                <a:off x="911087" y="1337041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3AB05ADE-DE9A-EF0F-3903-5AE0A2A67973}"/>
                  </a:ext>
                </a:extLst>
              </p:cNvPr>
              <p:cNvSpPr txBox="1"/>
              <p:nvPr/>
            </p:nvSpPr>
            <p:spPr>
              <a:xfrm>
                <a:off x="1258697" y="1300012"/>
                <a:ext cx="894593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>
                    <a:latin typeface="Trebuchet MS" panose="020B0603020202020204" pitchFamily="34" charset="0"/>
                  </a:rPr>
                  <a:t>Manque de qualité et de fiabilité des données KYC saisies dans le système d’information de la Banque (constats issus du Régulateur et autres missions d’audit)</a:t>
                </a:r>
                <a:endParaRPr lang="fr-SN" sz="1600">
                  <a:latin typeface="Trebuchet MS" panose="020B0603020202020204" pitchFamily="34" charset="0"/>
                </a:endParaRPr>
              </a:p>
            </p:txBody>
          </p:sp>
        </p:grp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53ADD840-AC6C-A006-5F04-D8F27ABE408A}"/>
                </a:ext>
              </a:extLst>
            </p:cNvPr>
            <p:cNvSpPr txBox="1"/>
            <p:nvPr/>
          </p:nvSpPr>
          <p:spPr>
            <a:xfrm>
              <a:off x="860136" y="992174"/>
              <a:ext cx="3951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u="sng">
                  <a:latin typeface="Trebuchet MS" panose="020B0603020202020204" pitchFamily="34" charset="0"/>
                </a:rPr>
                <a:t>Contexte</a:t>
              </a:r>
              <a:endParaRPr lang="fr-SN" b="1" u="sng">
                <a:latin typeface="Trebuchet MS" panose="020B0603020202020204" pitchFamily="34" charset="0"/>
              </a:endParaRP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87BA783F-88C3-8E46-7D6B-3D7877EF1811}"/>
              </a:ext>
            </a:extLst>
          </p:cNvPr>
          <p:cNvGrpSpPr/>
          <p:nvPr/>
        </p:nvGrpSpPr>
        <p:grpSpPr>
          <a:xfrm>
            <a:off x="521778" y="3697216"/>
            <a:ext cx="7749958" cy="501423"/>
            <a:chOff x="-824490" y="3377875"/>
            <a:chExt cx="10312811" cy="501423"/>
          </a:xfrm>
        </p:grpSpPr>
        <p:sp>
          <p:nvSpPr>
            <p:cNvPr id="31" name="Flèche : droite 30">
              <a:extLst>
                <a:ext uri="{FF2B5EF4-FFF2-40B4-BE49-F238E27FC236}">
                  <a16:creationId xmlns:a16="http://schemas.microsoft.com/office/drawing/2014/main" id="{531FC442-FDCA-ECAB-E81A-DFCD39A238C5}"/>
                </a:ext>
              </a:extLst>
            </p:cNvPr>
            <p:cNvSpPr/>
            <p:nvPr/>
          </p:nvSpPr>
          <p:spPr>
            <a:xfrm>
              <a:off x="-824490" y="3377875"/>
              <a:ext cx="440268" cy="501423"/>
            </a:xfrm>
            <a:prstGeom prst="rightArrow">
              <a:avLst/>
            </a:prstGeom>
            <a:solidFill>
              <a:srgbClr val="0083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 sz="160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CB63498-1D39-B7E2-8960-4933973B50F1}"/>
                </a:ext>
              </a:extLst>
            </p:cNvPr>
            <p:cNvSpPr txBox="1"/>
            <p:nvPr/>
          </p:nvSpPr>
          <p:spPr>
            <a:xfrm>
              <a:off x="-278016" y="3473230"/>
              <a:ext cx="97663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600" b="1">
                  <a:latin typeface="Trebuchet MS" panose="020B0603020202020204" pitchFamily="34" charset="0"/>
                </a:rPr>
                <a:t>Nouvelle approche de contrôle de la fiabilisation des données KYC</a:t>
              </a:r>
              <a:endParaRPr lang="fr-SN" sz="1600" b="1">
                <a:latin typeface="Trebuchet MS" panose="020B0603020202020204" pitchFamily="34" charset="0"/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AD0E304-68E1-CA92-81E8-0BF5273F1CF0}"/>
              </a:ext>
            </a:extLst>
          </p:cNvPr>
          <p:cNvGrpSpPr/>
          <p:nvPr/>
        </p:nvGrpSpPr>
        <p:grpSpPr>
          <a:xfrm>
            <a:off x="519161" y="4159881"/>
            <a:ext cx="10102027" cy="2579080"/>
            <a:chOff x="853852" y="4132385"/>
            <a:chExt cx="10102027" cy="2579080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5C816945-BC01-AB50-CA0F-A93D18C7A73C}"/>
                </a:ext>
              </a:extLst>
            </p:cNvPr>
            <p:cNvSpPr txBox="1"/>
            <p:nvPr/>
          </p:nvSpPr>
          <p:spPr>
            <a:xfrm>
              <a:off x="853852" y="4132385"/>
              <a:ext cx="3951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u="sng">
                  <a:latin typeface="Trebuchet MS" panose="020B0603020202020204" pitchFamily="34" charset="0"/>
                </a:rPr>
                <a:t>Objectifs</a:t>
              </a:r>
              <a:endParaRPr lang="fr-SN" b="1" u="sng">
                <a:latin typeface="Trebuchet MS" panose="020B0603020202020204" pitchFamily="34" charset="0"/>
              </a:endParaRPr>
            </a:p>
          </p:txBody>
        </p: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015D622-2D13-FA46-0538-D4AFC3D70C41}"/>
                </a:ext>
              </a:extLst>
            </p:cNvPr>
            <p:cNvGrpSpPr/>
            <p:nvPr/>
          </p:nvGrpSpPr>
          <p:grpSpPr>
            <a:xfrm>
              <a:off x="963455" y="4582635"/>
              <a:ext cx="9992424" cy="343609"/>
              <a:chOff x="963455" y="4582635"/>
              <a:chExt cx="9992424" cy="343609"/>
            </a:xfrm>
          </p:grpSpPr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F38C4493-5AC6-DED6-2CDA-CD24E568E1DA}"/>
                  </a:ext>
                </a:extLst>
              </p:cNvPr>
              <p:cNvSpPr txBox="1"/>
              <p:nvPr/>
            </p:nvSpPr>
            <p:spPr>
              <a:xfrm>
                <a:off x="1281274" y="4582635"/>
                <a:ext cx="9674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>
                    <a:latin typeface="Trebuchet MS" panose="020B0603020202020204" pitchFamily="34" charset="0"/>
                  </a:rPr>
                  <a:t>Répondre aux recommandations du Régulateur</a:t>
                </a:r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73DCB1A7-E51C-47DE-0A49-5125CC765D57}"/>
                  </a:ext>
                </a:extLst>
              </p:cNvPr>
              <p:cNvSpPr/>
              <p:nvPr/>
            </p:nvSpPr>
            <p:spPr>
              <a:xfrm>
                <a:off x="963455" y="4608192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B382CDD4-6674-EA2F-E89F-3D35EC4095B7}"/>
                </a:ext>
              </a:extLst>
            </p:cNvPr>
            <p:cNvGrpSpPr/>
            <p:nvPr/>
          </p:nvGrpSpPr>
          <p:grpSpPr>
            <a:xfrm>
              <a:off x="963455" y="5011698"/>
              <a:ext cx="9992424" cy="338664"/>
              <a:chOff x="963455" y="5011698"/>
              <a:chExt cx="9992424" cy="338664"/>
            </a:xfrm>
          </p:grpSpPr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9CDB6E9-39C9-4AAC-56B1-F1E2D2C7BF0A}"/>
                  </a:ext>
                </a:extLst>
              </p:cNvPr>
              <p:cNvSpPr txBox="1"/>
              <p:nvPr/>
            </p:nvSpPr>
            <p:spPr>
              <a:xfrm>
                <a:off x="1281274" y="5011698"/>
                <a:ext cx="9674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>
                    <a:latin typeface="Trebuchet MS" panose="020B0603020202020204" pitchFamily="34" charset="0"/>
                  </a:rPr>
                  <a:t>Harmoniser le processus et le mode d’extraction des données</a:t>
                </a:r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1C21C2CD-DB84-7B3D-7C84-FCC7E37BBB16}"/>
                  </a:ext>
                </a:extLst>
              </p:cNvPr>
              <p:cNvSpPr/>
              <p:nvPr/>
            </p:nvSpPr>
            <p:spPr>
              <a:xfrm>
                <a:off x="963455" y="5032310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D9015347-8C3A-FD28-865B-C12A73131EF1}"/>
                </a:ext>
              </a:extLst>
            </p:cNvPr>
            <p:cNvGrpSpPr/>
            <p:nvPr/>
          </p:nvGrpSpPr>
          <p:grpSpPr>
            <a:xfrm>
              <a:off x="963455" y="5469796"/>
              <a:ext cx="9977534" cy="783583"/>
              <a:chOff x="963455" y="5469796"/>
              <a:chExt cx="9977534" cy="783583"/>
            </a:xfrm>
          </p:grpSpPr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729B4EEC-C613-0601-EB58-753D8DA7BA5D}"/>
                  </a:ext>
                </a:extLst>
              </p:cNvPr>
              <p:cNvSpPr txBox="1"/>
              <p:nvPr/>
            </p:nvSpPr>
            <p:spPr>
              <a:xfrm>
                <a:off x="1266384" y="5469796"/>
                <a:ext cx="9674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>
                    <a:latin typeface="Trebuchet MS" panose="020B0603020202020204" pitchFamily="34" charset="0"/>
                  </a:rPr>
                  <a:t>Affiner les résultats issus des extractions des bases de données</a:t>
                </a:r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8C2ADD83-6B7C-E1F4-9D1D-7CD997B2DB71}"/>
                  </a:ext>
                </a:extLst>
              </p:cNvPr>
              <p:cNvSpPr/>
              <p:nvPr/>
            </p:nvSpPr>
            <p:spPr>
              <a:xfrm>
                <a:off x="963455" y="5486960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35F76A-4328-1FC0-FB24-334208C8A247}"/>
                  </a:ext>
                </a:extLst>
              </p:cNvPr>
              <p:cNvSpPr txBox="1"/>
              <p:nvPr/>
            </p:nvSpPr>
            <p:spPr>
              <a:xfrm>
                <a:off x="1266384" y="5914825"/>
                <a:ext cx="9674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>
                    <a:latin typeface="Trebuchet MS" panose="020B0603020202020204" pitchFamily="34" charset="0"/>
                  </a:rPr>
                  <a:t>Contrôler la qualité des données KYC</a:t>
                </a:r>
                <a:endParaRPr lang="fr-SN" sz="1600">
                  <a:latin typeface="Trebuchet MS" panose="020B0603020202020204" pitchFamily="34" charset="0"/>
                </a:endParaRPr>
              </a:p>
            </p:txBody>
          </p:sp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0438F03-51DB-B1BF-D142-95445318C18B}"/>
                  </a:ext>
                </a:extLst>
              </p:cNvPr>
              <p:cNvSpPr/>
              <p:nvPr/>
            </p:nvSpPr>
            <p:spPr>
              <a:xfrm>
                <a:off x="963455" y="5931989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A004354-6581-B55B-756C-BEF646E2343B}"/>
                </a:ext>
              </a:extLst>
            </p:cNvPr>
            <p:cNvGrpSpPr/>
            <p:nvPr/>
          </p:nvGrpSpPr>
          <p:grpSpPr>
            <a:xfrm>
              <a:off x="963455" y="6367773"/>
              <a:ext cx="9977534" cy="343692"/>
              <a:chOff x="963455" y="6367773"/>
              <a:chExt cx="9977534" cy="343692"/>
            </a:xfrm>
          </p:grpSpPr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64749250-AA44-24AE-22C6-F581263F3E8E}"/>
                  </a:ext>
                </a:extLst>
              </p:cNvPr>
              <p:cNvSpPr txBox="1"/>
              <p:nvPr/>
            </p:nvSpPr>
            <p:spPr>
              <a:xfrm>
                <a:off x="1266384" y="6367773"/>
                <a:ext cx="9674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>
                    <a:latin typeface="Trebuchet MS" panose="020B0603020202020204" pitchFamily="34" charset="0"/>
                  </a:rPr>
                  <a:t>Renforcer le dispositif LBC/FT au sein du Groupe BOA</a:t>
                </a:r>
                <a:endParaRPr lang="fr-SN" sz="1600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7B72E996-4F2F-864A-A72A-4CB2CC9C54CE}"/>
                  </a:ext>
                </a:extLst>
              </p:cNvPr>
              <p:cNvSpPr/>
              <p:nvPr/>
            </p:nvSpPr>
            <p:spPr>
              <a:xfrm>
                <a:off x="963455" y="6393413"/>
                <a:ext cx="278296" cy="318052"/>
              </a:xfrm>
              <a:prstGeom prst="ellipse">
                <a:avLst/>
              </a:prstGeom>
              <a:solidFill>
                <a:srgbClr val="00834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sz="1600">
                  <a:latin typeface="Trebuchet MS" panose="020B0603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522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Trebuchet MS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Mamadou Fallou Sylla</dc:creator>
  <cp:lastModifiedBy>Mamadou Fallou Sylla</cp:lastModifiedBy>
  <cp:revision>1</cp:revision>
  <dcterms:created xsi:type="dcterms:W3CDTF">2026-09-09T14:53:08Z</dcterms:created>
  <dcterms:modified xsi:type="dcterms:W3CDTF">2026-09-09T14:53:31Z</dcterms:modified>
</cp:coreProperties>
</file>