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0AD47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dPt>
            <c:idx val="8"/>
            <c:spPr>
              <a:solidFill>
                <a:srgbClr val="70AD47"/>
              </a:solidFill>
            </c:spPr>
          </c:dPt>
          <c:dPt>
            <c:idx val="9"/>
            <c:spPr>
              <a:solidFill>
                <a:srgbClr val="70AD47"/>
              </a:solidFill>
            </c:spPr>
          </c:dPt>
          <c:dPt>
            <c:idx val="10"/>
            <c:spPr>
              <a:solidFill>
                <a:srgbClr val="70AD47"/>
              </a:solidFill>
            </c:spPr>
          </c:dPt>
          <c:cat>
            <c:strRef>
              <c:f>Sheet1!$A$2:$A$12</c:f>
              <c:strCache>
                <c:ptCount val="11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  <c:pt idx="4">
                  <c:v>NIN</c:v>
                </c:pt>
                <c:pt idx="5">
                  <c:v>Code agent économique</c:v>
                </c:pt>
                <c:pt idx="6">
                  <c:v>Date de naissance</c:v>
                </c:pt>
                <c:pt idx="7">
                  <c:v>Adresse</c:v>
                </c:pt>
                <c:pt idx="8">
                  <c:v>Date de validité CIN</c:v>
                </c:pt>
                <c:pt idx="9">
                  <c:v>Origine du revenu</c:v>
                </c:pt>
                <c:pt idx="10">
                  <c:v>Pays de résidence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90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  <c:pt idx="4">
                  <c:v>99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  <c:pt idx="8">
                  <c:v>99</c:v>
                </c:pt>
                <c:pt idx="9">
                  <c:v>99</c:v>
                </c:pt>
                <c:pt idx="10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  <c:dPt>
            <c:idx val="6"/>
            <c:spPr>
              <a:solidFill>
                <a:srgbClr val="70AD47"/>
              </a:solidFill>
            </c:spPr>
          </c:dPt>
          <c:dPt>
            <c:idx val="7"/>
            <c:spPr>
              <a:solidFill>
                <a:srgbClr val="70AD47"/>
              </a:solidFill>
            </c:spPr>
          </c:dPt>
          <c:cat>
            <c:strRef>
              <c:f>Sheet1!$A$2:$A$9</c:f>
              <c:strCache>
                <c:ptCount val="8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  <c:pt idx="4">
                  <c:v>Téléphone</c:v>
                </c:pt>
                <c:pt idx="5">
                  <c:v>Secteur d'activité</c:v>
                </c:pt>
                <c:pt idx="6">
                  <c:v>Code agent économique</c:v>
                </c:pt>
                <c:pt idx="7">
                  <c:v>Origine du revenu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  <c:pt idx="4">
                  <c:v>93</c:v>
                </c:pt>
                <c:pt idx="5">
                  <c:v>99</c:v>
                </c:pt>
                <c:pt idx="6">
                  <c:v>99</c:v>
                </c:pt>
                <c:pt idx="7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F59E0B"/>
              </a:solidFill>
            </c:spPr>
          </c:dPt>
          <c:dPt>
            <c:idx val="6"/>
            <c:spPr>
              <a:solidFill>
                <a:srgbClr val="F59E0B"/>
              </a:solidFill>
            </c:spPr>
          </c:dPt>
          <c:dPt>
            <c:idx val="7"/>
            <c:spPr>
              <a:solidFill>
                <a:srgbClr val="F59E0B"/>
              </a:solidFill>
            </c:spPr>
          </c:dPt>
          <c:dPt>
            <c:idx val="8"/>
            <c:spPr>
              <a:solidFill>
                <a:srgbClr val="F59E0B"/>
              </a:solidFill>
            </c:spPr>
          </c:dPt>
          <c:dPt>
            <c:idx val="9"/>
            <c:spPr>
              <a:solidFill>
                <a:srgbClr val="F59E0B"/>
              </a:solidFill>
            </c:spPr>
          </c:dPt>
          <c:dPt>
            <c:idx val="10"/>
            <c:spPr>
              <a:solidFill>
                <a:srgbClr val="F59E0B"/>
              </a:solidFill>
            </c:spPr>
          </c:dPt>
          <c:dPt>
            <c:idx val="11"/>
            <c:spPr>
              <a:solidFill>
                <a:srgbClr val="F59E0B"/>
              </a:solidFill>
            </c:spPr>
          </c:dPt>
          <c:cat>
            <c:strRef>
              <c:f>Sheet1!$A$2:$A$13</c:f>
              <c:strCache>
                <c:ptCount val="12"/>
                <c:pt idx="0">
                  <c:v>ELITE</c:v>
                </c:pt>
                <c:pt idx="1">
                  <c:v>PARCELLES ASSA</c:v>
                </c:pt>
                <c:pt idx="2">
                  <c:v>CENTRALE DAKAR</c:v>
                </c:pt>
                <c:pt idx="3">
                  <c:v>INDEPENDANCE</c:v>
                </c:pt>
                <c:pt idx="4">
                  <c:v>CAF ZONE INDUS</c:v>
                </c:pt>
                <c:pt idx="5">
                  <c:v>TAMBACOUNDA</c:v>
                </c:pt>
                <c:pt idx="6">
                  <c:v>BOURGUIBA</c:v>
                </c:pt>
                <c:pt idx="7">
                  <c:v>GRAND YOFF</c:v>
                </c:pt>
                <c:pt idx="8">
                  <c:v>MERMOZ</c:v>
                </c:pt>
                <c:pt idx="9">
                  <c:v>KAOLACK</c:v>
                </c:pt>
                <c:pt idx="10">
                  <c:v>SATELLITE HLM </c:v>
                </c:pt>
                <c:pt idx="11">
                  <c:v>SATELLITE PIKI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</c:v>
                </c:pt>
                <c:pt idx="1">
                  <c:v>72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76</c:v>
                </c:pt>
                <c:pt idx="6">
                  <c:v>77</c:v>
                </c:pt>
                <c:pt idx="7">
                  <c:v>77</c:v>
                </c:pt>
                <c:pt idx="8">
                  <c:v>77</c:v>
                </c:pt>
                <c:pt idx="9">
                  <c:v>77</c:v>
                </c:pt>
                <c:pt idx="10">
                  <c:v>78</c:v>
                </c:pt>
                <c:pt idx="11">
                  <c:v>78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Date de révision KYC</c:v>
                </c:pt>
                <c:pt idx="1">
                  <c:v>Document d'identité </c:v>
                </c:pt>
                <c:pt idx="2">
                  <c:v>Non-résident sans bo</c:v>
                </c:pt>
                <c:pt idx="3">
                  <c:v>Format téléphone inv</c:v>
                </c:pt>
                <c:pt idx="4">
                  <c:v>NUMID trop court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172454</c:v>
                </c:pt>
                <c:pt idx="1">
                  <c:v>91529</c:v>
                </c:pt>
                <c:pt idx="2">
                  <c:v>2963</c:v>
                </c:pt>
                <c:pt idx="3">
                  <c:v>1763</c:v>
                </c:pt>
                <c:pt idx="4">
                  <c:v>1763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dPt>
            <c:idx val="0"/>
            <c:spPr>
              <a:solidFill>
                <a:srgbClr val="D32F2F"/>
              </a:solidFill>
            </c:spPr>
          </c:dPt>
          <c:dPt>
            <c:idx val="1"/>
            <c:spPr>
              <a:solidFill>
                <a:srgbClr val="D32F2F"/>
              </a:solidFill>
            </c:spPr>
          </c:dPt>
          <c:dPt>
            <c:idx val="2"/>
            <c:spPr>
              <a:solidFill>
                <a:srgbClr val="D32F2F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cat>
            <c:strRef>
              <c:f>Sheet1!$A$2:$A$6</c:f>
              <c:strCache>
                <c:ptCount val="5"/>
                <c:pt idx="0">
                  <c:v>CA positif mais résu</c:v>
                </c:pt>
                <c:pt idx="1">
                  <c:v>Société avec capital</c:v>
                </c:pt>
                <c:pt idx="2">
                  <c:v>RCS renseigné mais s</c:v>
                </c:pt>
                <c:pt idx="3">
                  <c:v>Capital social nul</c:v>
                </c:pt>
                <c:pt idx="4">
                  <c:v>Format téléphone inv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10877</c:v>
                </c:pt>
                <c:pt idx="1">
                  <c:v>9146</c:v>
                </c:pt>
                <c:pt idx="2">
                  <c:v>4230</c:v>
                </c:pt>
                <c:pt idx="3">
                  <c:v>2065</c:v>
                </c:pt>
                <c:pt idx="4">
                  <c:v>441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210</c:v>
                </c:pt>
                <c:pt idx="2">
                  <c:v>9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Sheet1!$A$2:$A$7</c:f>
              <c:strCache>
                <c:ptCount val="6"/>
                <c:pt idx="0">
                  <c:v>EUR</c:v>
                </c:pt>
                <c:pt idx="1">
                  <c:v>USD</c:v>
                </c:pt>
                <c:pt idx="2">
                  <c:v>GBP</c:v>
                </c:pt>
                <c:pt idx="3">
                  <c:v>ATS</c:v>
                </c:pt>
                <c:pt idx="4">
                  <c:v>FRF</c:v>
                </c:pt>
                <c:pt idx="5">
                  <c:v>CAD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483</c:v>
                </c:pt>
                <c:pt idx="1">
                  <c:v>149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98</c:v>
                </c:pt>
                <c:pt idx="2">
                  <c:v>98</c:v>
                </c:pt>
                <c:pt idx="3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</c:v>
                </c:pt>
                <c:pt idx="1">
                  <c:v>99</c:v>
                </c:pt>
                <c:pt idx="2">
                  <c:v>99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</c:v>
                </c:pt>
                <c:pt idx="1">
                  <c:v>75</c:v>
                </c:pt>
                <c:pt idx="2">
                  <c:v>77</c:v>
                </c:pt>
                <c:pt idx="3">
                  <c:v>100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D32F2F"/>
            </a:solidFill>
          </c:spPr>
          <c:cat>
            <c:strRef>
              <c:f>Sheet1!$A$2:$A$5</c:f>
              <c:strCache>
                <c:ptCount val="4"/>
                <c:pt idx="0">
                  <c:v>Salaire</c:v>
                </c:pt>
                <c:pt idx="1">
                  <c:v>Profession</c:v>
                </c:pt>
                <c:pt idx="2">
                  <c:v>Téléphone</c:v>
                </c:pt>
                <c:pt idx="3">
                  <c:v>Lieu de naissance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42</c:v>
                </c:pt>
                <c:pt idx="1">
                  <c:v>93</c:v>
                </c:pt>
                <c:pt idx="2">
                  <c:v>97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solidFill>
              <a:srgbClr val="666666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75</c:v>
                </c:pt>
                <c:pt idx="2">
                  <c:v>86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Devise étrangère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70</c:v>
                </c:pt>
                <c:pt idx="2">
                  <c:v>82</c:v>
                </c:pt>
                <c:pt idx="3">
                  <c:v>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Non-résidents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Résultat net</c:v>
                </c:pt>
                <c:pt idx="1">
                  <c:v>Capital social</c:v>
                </c:pt>
                <c:pt idx="2">
                  <c:v>Chiffre d'affaires</c:v>
                </c:pt>
                <c:pt idx="3">
                  <c:v>Numéro de registre de commerce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91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383920</c:v>
                </c:pt>
                <c:pt idx="2">
                  <c:v>2404</c:v>
                </c:pt>
                <c:pt idx="3">
                  <c:v>3040</c:v>
                </c:pt>
                <c:pt idx="4">
                  <c:v>43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70AD47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A56"/>
              </a:solidFill>
              <a:ln w="127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 w="1270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32F2F"/>
              </a:solidFill>
              <a:ln w="1270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666666"/>
              </a:solidFill>
              <a:ln w="1270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Faible</c:v>
                </c:pt>
                <c:pt idx="1">
                  <c:v>Moyen faible</c:v>
                </c:pt>
                <c:pt idx="2">
                  <c:v>Moyen élevé</c:v>
                </c:pt>
                <c:pt idx="3">
                  <c:v>Élevé</c:v>
                </c:pt>
                <c:pt idx="4">
                  <c:v>Non noté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12968</c:v>
                </c:pt>
                <c:pt idx="2">
                  <c:v>2249</c:v>
                </c:pt>
                <c:pt idx="3">
                  <c:v>397</c:v>
                </c:pt>
                <c:pt idx="4">
                  <c:v>3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650"/>
          </a:pPr>
        </a:p>
      </c:txPr>
    </c:legend>
    <c:plotVisOnly val="1"/>
    <c:dispBlanksAs val="gap"/>
    <c:showDLblsOverMax val="0"/>
  </c:chart>
  <c:txPr>
    <a:bodyPr/>
    <a:lstStyle/>
    <a:p>
      <a:pPr>
        <a:defRPr sz="650">
          <a:latin typeface="Calibri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Particuliers</c:v>
                </c:pt>
              </c:strCache>
            </c:strRef>
          </c:tx>
          <c:spPr>
            <a:solidFill>
              <a:srgbClr val="009A56"/>
            </a:solidFill>
          </c:spPr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172454</c:v>
                </c:pt>
                <c:pt idx="1">
                  <c:v>31053</c:v>
                </c:pt>
                <c:pt idx="2">
                  <c:v>44192</c:v>
                </c:pt>
                <c:pt idx="3">
                  <c:v>38558</c:v>
                </c:pt>
                <c:pt idx="4">
                  <c:v>20040</c:v>
                </c:pt>
                <c:pt idx="5">
                  <c:v>83124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Entreprises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Sheet1!$A$2:$A$8</c:f>
              <c:strCache>
                <c:ptCount val="7"/>
                <c:pt idx="0">
                  <c:v>Échue</c:v>
                </c:pt>
                <c:pt idx="1">
                  <c:v>Non renseignée</c:v>
                </c:pt>
                <c:pt idx="2">
                  <c:v>&lt; 3 mois</c:v>
                </c:pt>
                <c:pt idx="3">
                  <c:v>3–6 mois</c:v>
                </c:pt>
                <c:pt idx="4">
                  <c:v>6–12 mois</c:v>
                </c:pt>
                <c:pt idx="5">
                  <c:v>&gt; 12 mois</c:v>
                </c:pt>
                <c:pt idx="6">
                  <c:v>Format invalide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246</c:v>
                </c:pt>
                <c:pt idx="1">
                  <c:v>10534</c:v>
                </c:pt>
                <c:pt idx="2">
                  <c:v>98</c:v>
                </c:pt>
                <c:pt idx="3">
                  <c:v>120</c:v>
                </c:pt>
                <c:pt idx="4">
                  <c:v>298</c:v>
                </c:pt>
                <c:pt idx="5">
                  <c:v>4380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650" b="1">
                  <a:solidFill>
                    <a:srgbClr val="3333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/>
          </a:pPr>
        </a:p>
      </c:txPr>
    </c:legend>
    <c:dispBlanksAs val="gap"/>
  </c:chart>
  <c:txPr>
    <a:bodyPr/>
    <a:lstStyle/>
    <a:p>
      <a:pPr>
        <a:defRPr sz="65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77240"/>
            <a:ext cx="66751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AUDIT QUALITÉ ET COMPLÉTUDE DES DONNÉES KYC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F0D8"/>
                </a:solidFill>
                <a:latin typeface="Calibri"/>
              </a:rPr>
              <a:t>BOA SN — Sénégal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07792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272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F5E4"/>
                </a:solidFill>
                <a:latin typeface="Calibri"/>
              </a:rPr>
              <a:t>Stock au 31 juillet 2026  |  389 421 particuliers  |  15 677 entreprises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0D4B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5029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9A56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Périmètre et méthodologie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67128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Complétude des données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24328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07208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34056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34056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Qualité des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91256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74136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00984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00984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PPE, comptes en devise et non-résidents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58184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41064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67912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867912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Revue Scoring AML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25112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507992"/>
            <a:ext cx="64008" cy="347472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34840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43484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Synthèse et plan d'action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92040"/>
            <a:ext cx="5943600" cy="274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BASE DE L'AUDIT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389 421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371 132 identifiants uniques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9A56"/>
                </a:solidFill>
                <a:latin typeface="Calibri"/>
              </a:rPr>
              <a:t>15 677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15 677 identifiants uniques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de complétude suivis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11 champs PP · 8 champs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Règles qualité applicables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sur 54 règles du référentiel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MÉTHODES DE CALCUL APPLIQUÉES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— Script_V3.r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par champ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floor(100 − vides / effectif × 100)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global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floor(100 × (1 − vides / (champs × effectif)))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Valeur « vide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chaîne vide après nettoyage des espaces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Appréciation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Faible &lt; 80 % · Moyen 80–99 % · Bon = 100 %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66344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3624"/>
                <a:gridCol w="255117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— plateforme KYC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Définition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Référentiel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54 règles, 28 applicables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Combinaison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forme normale disjonctive (OU ouvre un groupe)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Taux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Σ conformes / Σ évaluations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référence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31 juillet 2026 (opérateurs expired / age_gt)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Réserves méthodologiques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Les exports pp/pm_STOCK sont produits par Script_V3.r : clients déjà regroupés par identifiant et clients non fiabilisables (code OI) déjà exclus.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La devise locale ayant été vidée par le script R, tout compte à devise renseignée est traité comme compte en devise étrangère.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Champs absents de l'export entreprises : PPE — les règles associées sont inévaluables.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I.  PÉRIMÈTRE ET MÉTHODOLOGIE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SYNTHÈSE EXÉCUTIVE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Moyen · 88.8 % de dossiers complets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Complétude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Moyen · 13.2 % de dossiers complets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95.6 %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16 règles · 273 047 anomalies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Qualité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· 27 484 anomalies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Complétude affichée et information exploitable divergent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Origine du revenu : 83.6 % des particuliers portent « Non communiquée », comptée comme renseignée.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Côté entreprises, la proportion atteint 75.8 %.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Le champ le plus faible reste Salaire (90 %).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7168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87168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1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Le bloc financier entreprises est peu alimenté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6896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Résultat net : 13 % de complétude (13 532 dossiers vides).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Capital social 75 % · Chiffre d'affaires 86 % · Numéro de registre de commerce 88 %.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Seuls 13.2 % des dossiers entreprises sont complets.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8576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08576" y="1993392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00016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32F2F"/>
                </a:solidFill>
                <a:latin typeface="Calibri"/>
              </a:rPr>
              <a:t>La révision KYC n'est pas maîtrisée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8304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52.3 % des particuliers sont sans révision opposable (203 507 clients).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68.8 % côté entreprises (10 781 sociétés).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202 clients à risque élevé sont concernés, soit 6.6 % de ce niveau.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3" y="1993392"/>
            <a:ext cx="2048256" cy="2487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29983" y="1993392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21423" y="21031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7" y="2103120"/>
            <a:ext cx="1554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Calibri"/>
              </a:rPr>
              <a:t>Les segments sensibles concentrent les écarts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2688336"/>
            <a:ext cx="182880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Non-résidents : complétude 93 % et qualité 85.6 % (global 98 % / 95.6 %).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493 entreprises en devise étrangère (3.14 % du portefeuille).</a:t>
            </a:r>
          </a:p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sensible consolidé : 6 384 particuliers.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Complétude calculée selon Script_V3.r ; qualité selon le moteur de règles de la plateforme KYC restreint aux règles applicables à la filiale.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11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98 %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88.8 %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345 949 sur 389 421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11 /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50 971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35 894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Profession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7 214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naissance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naissance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Adresse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211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Salaire (90 %, 35 894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88.8 % des dossiers ne présentent aucun champ vide.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8 CHAMPS DU RÉFÉRENTIEL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complétude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Appréciation : Moyen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13.2 %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Dossiers intégralement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2 065 sur 15 677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115568"/>
            <a:ext cx="274320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115568"/>
            <a:ext cx="2743200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179576"/>
            <a:ext cx="2523744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8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1554480"/>
            <a:ext cx="2523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Champs sous les 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1728216"/>
            <a:ext cx="2523744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22 310 cellules vides au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1956816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Taux de complétude par champ (%)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365760" y="2157984"/>
          <a:ext cx="4937760" cy="26700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486400" y="19568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champs incomplets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0" y="2157984"/>
          <a:ext cx="3291838" cy="2029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756"/>
                <a:gridCol w="724204"/>
                <a:gridCol w="855878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 incomplet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Cellules vides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Résultat net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13 532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Capital social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3 817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2 181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Numéro de registre de commerce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1 754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Téléphone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Secteur d'activité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Code agent économique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486400" y="4315968"/>
            <a:ext cx="3291840" cy="54864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4315968"/>
            <a:ext cx="4572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2704" y="4389120"/>
            <a:ext cx="3035808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Champ le plus en retrait : Résultat net (13 %, 13 532 vides).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13.2 % des dossiers ne présentent aucun champ vide.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DISPERSION DU TAUX DE COMPLÉTUDE PAR AGENCE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9 agences les plus en retrait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DIASPORA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2 173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VDN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2 059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19 071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ZI PARTICULIER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6 956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LAMINE GUEYE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847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KEUR MASSAR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12 621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63440" y="1115568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9 agences les plus en retrait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335024"/>
          <a:ext cx="411480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3776"/>
                <a:gridCol w="2057400"/>
                <a:gridCol w="740664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Agence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SIEGE BOA - SENEGAL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ELITE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PARCELLES ASSAINIES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CENTRALE DAKAR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1 209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INDEPENDANCE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CAF ZONE INDUSTRIELLE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05001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TAMBACOUNDA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76 %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01009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BOURGUIBA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01015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AGENCE GRAND YOFF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35661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agences les plus faibles (effectif ≥ 100 clients)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65760" y="3767328"/>
          <a:ext cx="8412480" cy="10607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310128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Particuliers : de 87 % (CAF ZONE INDUSTRIELLE) à 99 %.  Entreprises : de 62 % à 99 %, soit 37 points d'écart.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II.  COMPLÉTUDE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APPARENTE ET INFORMATION RÉELLEMENT EXPLOITABLE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8412480" cy="51206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45720" cy="51206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1188720"/>
            <a:ext cx="81564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800" b="0" i="0">
                <a:solidFill>
                  <a:srgbClr val="333333"/>
                </a:solidFill>
                <a:latin typeface="Calibri"/>
              </a:rPr>
              <a:t>•  Le taux de complétude mesure la présence d'une valeur, pas sa portée informative : les valeurs par défaut et les champs jamais alimentés élèvent mécaniquement les taux affichés.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55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VALEURS PAR DÉFAUT COMPTÉES COMME RENSEIGNÉES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11680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139696"/>
          <a:ext cx="8412478" cy="749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0745"/>
                <a:gridCol w="1261872"/>
                <a:gridCol w="1850745"/>
                <a:gridCol w="1093622"/>
                <a:gridCol w="1261872"/>
                <a:gridCol w="109362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Valeur dominante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affiché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325 726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83.6 %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Origine du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11 879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75.8 %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0358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CHAMPS PRÉSENTS DANS L'EXPORT MAIS NON ALIMENTÉS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39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419856"/>
          <a:ext cx="8412478" cy="1115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7244"/>
                <a:gridCol w="1345996"/>
                <a:gridCol w="1682496"/>
                <a:gridCol w="3196742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Champ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Taux de remplissage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Conséquence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Lieu de délivrance CIN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1.0 %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7.1 %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contrôle peu ou pas opérant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DISPOSITIF DE CONTRÔLE ET TAUX DE CONFORMITÉ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0AD47"/>
                </a:solidFill>
                <a:latin typeface="Calibri"/>
              </a:rPr>
              <a:t>95.6 %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particuliers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16 règles appliquées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85.4 %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Taux de qualité entreprises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12 règles appliquées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273 047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particuliers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27 484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Anomalies entreprises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toutes règles confondues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RÈGLES PRODUISANT LE PLUS D'ANOMALIES, TOUTES TYPOLOGIES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8412479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33241"/>
                <a:gridCol w="1261872"/>
                <a:gridCol w="1177747"/>
                <a:gridCol w="1261872"/>
                <a:gridCol w="1177747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Typologie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portefeuille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172 454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55.7 %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91 529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76.5 %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9 146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4 230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27.0 %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73.0 %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65760" y="4059936"/>
            <a:ext cx="8412480" cy="7680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059936"/>
            <a:ext cx="45720" cy="7680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4133088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Précautions de lecture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4370832"/>
            <a:ext cx="81564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Le taux agrégé dilue les écarts : une règle défaillante sur 40 % du portefeuille est compensée par les règles sans anomalie.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Règles inévaluables faute de champ dans l'export : « PPE déclarée sans risque élevé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PARTICULIERS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3273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172 454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 (4.5 %)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55.7 %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91 529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130 (4.3 %)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76.5 %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long)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(0.1 %)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NUMID trop court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 (0.2 %)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court)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1 490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 (0.5 %)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Retraité avec revenu positif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28 (0.9 %)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99.8 %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 (4.5 %)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Détection des employés de banque sans salaire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Salarié sans revenu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Salarié sans employeur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Âge client supérieur à 100 ans (aberrant)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Mineur de plus de plus de 21 ans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Revenus élevés sans origine déclarée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PPE déclaré sans risque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PPE sans origine des revenus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Date de révision KYC expirée » : 172 454 clients, soit 44.3 %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Document d'identité expiré » : 91 529 clients, soit 23.5 %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Non-résident sans boîte postale » : 2 963 clients, soit 0.8 % du portefeuille.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III.  QUALITÉ DES DONNÉES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ENTREPRISES — ANOMALIES DÉTECTÉES PAR RÈGLE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525780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3432"/>
                <a:gridCol w="683514"/>
                <a:gridCol w="630936"/>
                <a:gridCol w="998982"/>
                <a:gridCol w="63093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 de contrôle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portef.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Conformité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10 877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69.4 %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220 (55.4 %)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actionnaire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9 146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58.3 %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208 (52.4 %)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41.7 %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fiscal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4 230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102 (25.7 %)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73.0 %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2 065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55 (13.9 %)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86.8 %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long)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441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27 (6.8 %)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Numéro RCS trop court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42 (10.6 %)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97.7 %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Mandataire absent pour société active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(3.0 %)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Sociétés sans adresse sociale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 (10.8 %)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court ou contenant des lettres (PM)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PPE déclarée sans risque élevé (inévaluable)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Résultat renseigné sans chiffre d'affaires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113385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Règles les plus impactantes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715000" y="1353312"/>
          <a:ext cx="306324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715000" y="3154680"/>
            <a:ext cx="3063240" cy="1673352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3154680"/>
            <a:ext cx="45720" cy="1673352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3227832"/>
            <a:ext cx="28072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Constats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3465576"/>
            <a:ext cx="280720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CA positif mais résultat vide » : 10 877 clients, soit 69.4 %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Société avec capital mais sans actionnaire » : 9 146 clients, soit 58.3 %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« RCS renseigné mais sans numéro fiscal » : 4 230 clients, soit 27.0 % du portefeuille.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Inévaluable faute de champ : « PPE déclarée sans risque élevé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DES SEGMENTS SENSIBLES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2 805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PPE (PPE = 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0.72 %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1 150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Comptes en devise étrangère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657 PP · 493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3 055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non-résidents (RESID = 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2 963 PP · 92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6 957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Périmètre sensible consolidé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union des segments, sans double compte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POIDS DES SEGMENTS DANS CHAQUE PORTEFEUILLE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/>
                <a:gridCol w="493776"/>
                <a:gridCol w="452628"/>
                <a:gridCol w="781812"/>
                <a:gridCol w="493776"/>
                <a:gridCol w="65836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dont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2 805 (100.0 %)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champ absent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0.17 %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29 (4.4 %)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 (2.2 %)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0.76 %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18 (0.6 %)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 (3.3 %)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Périmètre sensible consolidé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6 384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1.64 %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2 837 (44.4 %)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573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 (2.4 %)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Devises étrangères rencontrées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663440" y="2596896"/>
          <a:ext cx="4114800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895344"/>
            <a:ext cx="8412480" cy="9326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895344"/>
            <a:ext cx="45720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96849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Croisements entre segments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06240"/>
            <a:ext cx="8156448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Non-résident et devise étrangère : 26 PP · 12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non-résident : 18 PP · 3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Risque élevé et devise étrangère : 29 PP · 11 PM.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non-résident : 14 PP · — PM (champ absent).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PPE et devise étrangère : 1 PP · — PM (champ absent).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COMPARÉE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009497"/>
                <a:gridCol w="1261872"/>
                <a:gridCol w="1009497"/>
                <a:gridCol w="1009497"/>
                <a:gridCol w="1261872"/>
                <a:gridCol w="8412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Complétude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389 421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+1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-7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78 %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-4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champs les plus faibles, par segment (%)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576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2615184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champs les plus faibles, par segment (%)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663440" y="2816352"/>
          <a:ext cx="4114800" cy="1956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IV.  PPE, COMPTES EN DEVISE ET NON-RÉSIDENTS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QUALITÉ ET ANOMALIES DES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009497"/>
                <a:gridCol w="1261872"/>
                <a:gridCol w="1009497"/>
                <a:gridCol w="1009497"/>
                <a:gridCol w="1261872"/>
                <a:gridCol w="8412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Eff.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Qualité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Écart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Portefeuille global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389 421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95.6 %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15 677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85.4 %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PPE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2 805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+3.9 pt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Comptes en devise étrangère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93.5 %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-2.1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86.3 %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+0.9 pt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Clients non-résidents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85.6 %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-10.0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Calibri"/>
                        </a:rPr>
                        <a:t>80.1 %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Calibri"/>
                        </a:rPr>
                        <a:t>-5.3 pt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Non-résidents PP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2 064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69.7 %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1 722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58.1 %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PP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69.1 %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24.2 %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Non-résident sans boîte postale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co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26151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Devise étrangère PM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816352"/>
          <a:ext cx="2697478" cy="12938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4538"/>
                <a:gridCol w="566470"/>
                <a:gridCol w="56647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Anomalie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 positif mais résultat vide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74.4 %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Société avec capital mais sans act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45.4 %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RCS renseigné mais sans numéro fis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Format téléphone invalide (trop lo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Capital social nul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3.2 %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5760" y="4096512"/>
            <a:ext cx="8412480" cy="7315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4169664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Constats sur le périmètre sensible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4407408"/>
            <a:ext cx="815644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particuliers : qualité 85.6 % contre 95.6 % en global.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Entreprises en devise étrangère : complétude 78 % et qualité 86.3 %.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PPE particuliers : 2 805 clients, dont 0 sans classement en risque élevé.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CARTOGRAPHIE DU RISQUE CLIENT (CHAMP RISQUE)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0.8 % du portefeuille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2.5 % du portefeuille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383 920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en « moyen faible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98.6 % — concentration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Clients sans notation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43 PP · 3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Particuliers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91840" y="19933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2A4A"/>
                </a:solidFill>
                <a:latin typeface="Calibri"/>
              </a:rPr>
              <a:t>Entreprises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200400" y="2194560"/>
          <a:ext cx="274320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172200" y="1993392"/>
            <a:ext cx="26060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Effectifs par niveau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2200" y="2194560"/>
          <a:ext cx="260603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1812"/>
                <a:gridCol w="469087"/>
                <a:gridCol w="443026"/>
                <a:gridCol w="469087"/>
                <a:gridCol w="443026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383 920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12 968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82.7 %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2 404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2 249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3 040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397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2.5 %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172200" y="3749039"/>
            <a:ext cx="2606040" cy="107899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749039"/>
            <a:ext cx="4572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3822191"/>
            <a:ext cx="2350008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98.6 % des particuliers relèvent d'un seul niveau : la segmentation discrimine peu.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46 clients restent sans notation de risque.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ÉTAT DES ÉCHÉANCES DE RÉVISION (CHAMP DATREV)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52.3 %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sans révision opposable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203 507 clients : échue, absente ou invalide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68.8 %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sans révision opposable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10 781 sociétés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172 454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Révisions particuliers échues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44.3 % du portefeuille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  <a:latin typeface="Calibri"/>
              </a:rPr>
              <a:t>10 534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DATREV entreprises absentes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67.2 % du portefeuille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1993392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Répartition des échéances de révision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65760" y="2194560"/>
          <a:ext cx="5120640" cy="1719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0" y="1993392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Détail des statuts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69280" y="2194560"/>
          <a:ext cx="3108958" cy="18059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7046"/>
                <a:gridCol w="528523"/>
                <a:gridCol w="497433"/>
                <a:gridCol w="528523"/>
                <a:gridCol w="497433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PP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PM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172 454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31 053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10 534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67.2 %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&lt; 3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44 192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11.3 %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3–6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38 558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9.9 %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6–12 mois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20 040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5.1 %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1.9 %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À échoir &gt;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83 124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21.3 %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4 380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27.9 %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Format invalide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365760" y="4059936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Ancienneté des révisions échues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261104"/>
          <a:ext cx="5120639" cy="6766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33779"/>
                <a:gridCol w="921715"/>
                <a:gridCol w="921715"/>
                <a:gridCol w="921715"/>
                <a:gridCol w="921715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Retard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&lt; 6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6 à 12 mois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1 à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&gt; 2 ans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Particuliers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154 068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17 663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CROISEMENT RISQUE ET ÉCHÉANCE — ZONE CRITIQUE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3385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Particuliers — état de la révision par niveau de risque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335024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261872"/>
                <a:gridCol w="1177747"/>
                <a:gridCol w="1345996"/>
                <a:gridCol w="1514246"/>
                <a:gridCol w="109362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383 920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171 408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30 220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201 628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52.5 %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2 404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1 620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67.4 %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3 040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265176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Entreprises — état de la révision par niveau de risque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2852928"/>
          <a:ext cx="8412478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8995"/>
                <a:gridCol w="1261872"/>
                <a:gridCol w="1177747"/>
                <a:gridCol w="1345996"/>
                <a:gridCol w="1514246"/>
                <a:gridCol w="1093622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Niveau de risque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Effectif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Échue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Non renseignée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1.7 %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faible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12 968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8 190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8 360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64.5 %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Moyen élevé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2 249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2 070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92.0 %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397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87.2 %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 noté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169663"/>
            <a:ext cx="8412480" cy="658368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69663"/>
            <a:ext cx="45720" cy="65836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4242816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Zone critique — risque élevé sans révision opposable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4480559"/>
            <a:ext cx="8156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Particuliers : 202 clients à risque élevé sur 3 040 (6.6 %) sont sans révision opposable — 138 échues, 64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Entreprises : 346 sociétés sur 397 (87.2 %) — 43 échues, 303 absentes.</a:t>
            </a:r>
          </a:p>
          <a:p>
            <a:pPr algn="l">
              <a:spcAft>
                <a:spcPts val="350"/>
              </a:spcAft>
            </a:pPr>
            <a:r>
              <a:rPr sz="700" b="0" i="0">
                <a:solidFill>
                  <a:srgbClr val="333333"/>
                </a:solidFill>
                <a:latin typeface="Calibri"/>
              </a:rPr>
              <a:t>•  Périmètre prioritaire de régularisation : 548 clients à risque élevé.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V.  REVUE SCORING AML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PROFIL DES CLIENTS À RISQUE ÉLEVÉ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3 040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Particuliers à risque élevé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0.78 % du portefeuille particuliers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87168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7168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397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Entreprises à risque élevé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2.53 % du portefeuille entreprises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576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6.6 %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Sans révision opposable (PP)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202 clients concernés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9983" y="1115568"/>
            <a:ext cx="2048256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9983" y="1115568"/>
            <a:ext cx="2048256" cy="457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1179576"/>
            <a:ext cx="1828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32F2F"/>
                </a:solidFill>
                <a:latin typeface="Calibri"/>
              </a:rPr>
              <a:t>87.2 %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155448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B2A4A"/>
                </a:solidFill>
                <a:latin typeface="Calibri"/>
              </a:rPr>
              <a:t>Sans révision opposable (PM)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728216"/>
            <a:ext cx="18288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66666"/>
                </a:solidFill>
                <a:latin typeface="Calibri"/>
              </a:rPr>
              <a:t>346 sociétés concernées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011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COMPLÉTUDE ET QUALITÉ COMPARÉES AU PORTEFEUILLE GLOBAL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6771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2395728"/>
          <a:ext cx="4114800" cy="13533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9032"/>
                <a:gridCol w="699516"/>
                <a:gridCol w="699516"/>
                <a:gridCol w="658368"/>
                <a:gridCol w="65836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Particuliers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PP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Entreprises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PM risque élevé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complétude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98 %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77 %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Dossiers intégralement complets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88.8 %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94.8 %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11.3 %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Taux de qualité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95.6 %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99.0 %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85.4 %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85.1 %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Sans révision opposable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52.3 %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6.6 %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68.8 %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87.2 %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63440" y="237744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Calibri"/>
              </a:rPr>
              <a:t>Anomalies les plus fréquentes sur ce niveau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663440" y="2596896"/>
          <a:ext cx="4114800" cy="12252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5104"/>
                <a:gridCol w="699516"/>
                <a:gridCol w="740664"/>
                <a:gridCol w="699516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Règle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du niveau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global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KYC expirée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Risque élevé sans révision KYC à jour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4.5 %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0.0 %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Document d'identité expiré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4.3 %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23.5 %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Retraité avec revenu positif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>
                          <a:solidFill>
                            <a:srgbClr val="333333"/>
                          </a:solidFill>
                          <a:latin typeface="Calibri"/>
                        </a:rPr>
                        <a:t>0.9 %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0">
                          <a:solidFill>
                            <a:srgbClr val="333333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65760" y="3950208"/>
            <a:ext cx="8412480" cy="877824"/>
          </a:xfrm>
          <a:prstGeom prst="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950208"/>
            <a:ext cx="45720" cy="877824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4023360"/>
            <a:ext cx="81564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D32F2F"/>
                </a:solidFill>
                <a:latin typeface="Calibri"/>
              </a:rPr>
              <a:t>Exposition du niveau « risque élevé » aux segments sensibles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4261104"/>
            <a:ext cx="81564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Non-résidents : 18 PP · 3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Comptes en devise étrangère : 29 PP · 11 PM.</a:t>
            </a:r>
          </a:p>
          <a:p>
            <a:pPr algn="l">
              <a:spcAft>
                <a:spcPts val="350"/>
              </a:spcAft>
            </a:pPr>
            <a:r>
              <a:rPr sz="750" b="0" i="0">
                <a:solidFill>
                  <a:srgbClr val="333333"/>
                </a:solidFill>
                <a:latin typeface="Calibri"/>
              </a:rPr>
              <a:t>•  Clients PPE classés à risque élevé : 2 805 sur 2 805 PPE identifiés.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3625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Clients à risque élevé sans révision KYC opposable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548 clients (PP + PM)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Campagne de révision ciblée pilotée par le module Rappels Scoring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45720" marR="45720" marT="9144" marB="9144" anchor="ctr">
                    <a:solidFill>
                      <a:srgbClr val="FBE9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Révisions KYC échues sur l'ensemble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172 700 clients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Plan de rattrapage par agence, en priorité les retards de plus de 12 mois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Date de révision absente côté entreprises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10 534 sociétés (67.2 %)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Initialiser DATREV à partir de la date d'entrée en relation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Résultat net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13 532 dossiers vides (13 %)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325 726 dossiers (83.6 %)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« Non communiquée » dominante sur Origine du revenu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11 879 dossiers (75.8 %)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Retirer la valeur par défaut du référentiel et la traiter comme une non-réponse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Date de révision KYC expirée » (particuliers)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172 454 anomalies (44.3 %)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Document d'identité expiré » (particuliers)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91 529 anomalies (23.5 %)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CA positif mais résultat vide »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10 877 anomalies (69.4 %)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 « Société avec capital mais sans actionnaire » (entreprises)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9 146 anomalies (58.3 %)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Chantier de correction dédié, piloté par agence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45720" marR="45720" marT="9144" marB="9144" anchor="ctr">
                    <a:solidFill>
                      <a:srgbClr val="FDF3D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« Capital social » peu alimenté (entreprises)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3 817 dossiers vides (75 %)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Collecte au renouvellement et contrôle bloquant à la saisie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VI.  SYNTHÈSE ET PLAN D'ACTION</a:t>
            </a:r>
          </a:p>
        </p:txBody>
      </p:sp>
      <p:pic>
        <p:nvPicPr>
          <p:cNvPr id="6" name="Picture 5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7132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9A56"/>
                </a:solidFill>
                <a:latin typeface="Calibri"/>
              </a:rPr>
              <a:t>CHANTIERS DE FIABILISATION PROPOSÉS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8412480" cy="36576"/>
          </a:xfrm>
          <a:prstGeom prst="rect">
            <a:avLst/>
          </a:prstGeom>
          <a:solidFill>
            <a:srgbClr val="009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892040"/>
            <a:ext cx="3108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Conformité BOA Group | Fiabilisation KYC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33856"/>
          <a:ext cx="8412479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6499"/>
                <a:gridCol w="2523744"/>
                <a:gridCol w="1682496"/>
                <a:gridCol w="3028492"/>
                <a:gridCol w="841248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Constat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Volumétrie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Action proposée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Priorité</a:t>
                      </a:r>
                    </a:p>
                  </a:txBody>
                  <a:tcPr marL="45720" marR="45720" marT="9144" marB="9144" anchor="ctr">
                    <a:solidFill>
                      <a:srgbClr val="009A56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Non-résidents : complétude et qualité en retrait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2 963 PP · 92 PM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Revue dossier par dossier du segment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Boîte postale jamais alimenté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100 % du portefeuille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Arbitrer : alimenter le champ ou désactiver les règles associées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Champ Personne politiquement exposée absent de l'export entreprises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règles associées inévaluables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333333"/>
                          </a:solidFill>
                          <a:latin typeface="Calibri"/>
                        </a:rPr>
                        <a:t>Ajouter la colonne à l'export ou désactiver les règles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333333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45720" marR="45720" marT="9144" marB="9144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4626864"/>
            <a:ext cx="8412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Calibri"/>
              </a:rPr>
              <a:t>Priorité « Critique » : impact direct sur la conformité LBC/FT. « Élevée » : fiabilité des indicateurs publiés. « Moyenne » : dette de qualité à résorber.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371600"/>
            <a:ext cx="3657600" cy="457200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828800"/>
            <a:ext cx="2743200" cy="3474720"/>
          </a:xfrm>
          <a:prstGeom prst="ellipse">
            <a:avLst/>
          </a:prstGeom>
          <a:solidFill>
            <a:srgbClr val="00C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pl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0"/>
            <a:ext cx="2331720" cy="567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54864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34640"/>
            <a:ext cx="5029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F0D8"/>
                </a:solidFill>
                <a:latin typeface="Calibri"/>
              </a:rPr>
              <a:t>Audit KYC BOA SN — Conformité BOA Group | Fiabilisation KYC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0D4B8"/>
                </a:solidFill>
                <a:latin typeface="Calibri"/>
              </a:rPr>
              <a:t>31 juillet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