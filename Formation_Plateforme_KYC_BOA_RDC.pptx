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9"/>
    <p:sldId id="257" r:id="rId10"/>
    <p:sldId id="258" r:id="rId8"/>
    <p:sldId id="259" r:id="rId7"/>
    <p:sldId id="260" r:id="rId6"/>
    <p:sldId id="261" r:id="rId5"/>
    <p:sldId id="262" r:id="rId4"/>
    <p:sldId id="263" r:id="rId3"/>
    <p:sldId id="264" r:id="rId2"/>
    <p:sldId id="265" r:id="rId18"/>
    <p:sldId id="266" r:id="rId19"/>
    <p:sldId id="267" r:id="rId20"/>
    <p:sldId id="268" r:id="rId21"/>
    <p:sldId id="269" r:id="rId22"/>
    <p:sldId id="270" r:id="rId23"/>
    <p:sldId id="271" r:id="rId24"/>
    <p:sldId id="272" r:id="rId25"/>
    <p:sldId id="273" r:id="rId26"/>
    <p:sldId id="274" r:id="rId27"/>
    <p:sldId id="275" r:id="rId2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8D5237E-7655-497C-9474-451EF1EF2F4C}" v="2" dt="2026-06-10T14:59:37.37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3" d="100"/>
          <a:sy n="143" d="100"/>
        </p:scale>
        <p:origin x="102"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6/11/relationships/changesInfo" Target="changesInfos/changesInfo1.xml"/><Relationship Id="rId17" Type="http://schemas.microsoft.com/office/2015/10/relationships/revisionInfo" Target="revisionInfo.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madou Fallou Sylla" userId="c456aed9-8824-4632-add3-85c26a03832d" providerId="ADAL" clId="{59587479-4389-46B4-BE53-52C117EAA1BD}"/>
    <pc:docChg chg="undo custSel addSld delSld modSld">
      <pc:chgData name="Mamadou Fallou Sylla" userId="c456aed9-8824-4632-add3-85c26a03832d" providerId="ADAL" clId="{59587479-4389-46B4-BE53-52C117EAA1BD}" dt="2026-06-10T16:05:47.061" v="239" actId="47"/>
      <pc:docMkLst>
        <pc:docMk/>
      </pc:docMkLst>
      <pc:sldChg chg="modSp mod">
        <pc:chgData name="Mamadou Fallou Sylla" userId="c456aed9-8824-4632-add3-85c26a03832d" providerId="ADAL" clId="{59587479-4389-46B4-BE53-52C117EAA1BD}" dt="2026-06-10T14:35:06.102" v="39" actId="1076"/>
        <pc:sldMkLst>
          <pc:docMk/>
          <pc:sldMk cId="0" sldId="256"/>
        </pc:sldMkLst>
        <pc:spChg chg="mod">
          <ac:chgData name="Mamadou Fallou Sylla" userId="c456aed9-8824-4632-add3-85c26a03832d" providerId="ADAL" clId="{59587479-4389-46B4-BE53-52C117EAA1BD}" dt="2026-06-10T14:35:06.102" v="39" actId="1076"/>
          <ac:spMkLst>
            <pc:docMk/>
            <pc:sldMk cId="0" sldId="256"/>
            <ac:spMk id="2" creationId="{00000000-0000-0000-0000-000000000000}"/>
          </ac:spMkLst>
        </pc:spChg>
        <pc:spChg chg="mod">
          <ac:chgData name="Mamadou Fallou Sylla" userId="c456aed9-8824-4632-add3-85c26a03832d" providerId="ADAL" clId="{59587479-4389-46B4-BE53-52C117EAA1BD}" dt="2026-06-05T09:31:35.803" v="13" actId="20577"/>
          <ac:spMkLst>
            <pc:docMk/>
            <pc:sldMk cId="0" sldId="256"/>
            <ac:spMk id="10" creationId="{00000000-0000-0000-0000-000000000000}"/>
          </ac:spMkLst>
        </pc:spChg>
      </pc:sldChg>
      <pc:sldChg chg="modSp mod">
        <pc:chgData name="Mamadou Fallou Sylla" userId="c456aed9-8824-4632-add3-85c26a03832d" providerId="ADAL" clId="{59587479-4389-46B4-BE53-52C117EAA1BD}" dt="2026-06-10T14:59:58.565" v="237" actId="20577"/>
        <pc:sldMkLst>
          <pc:docMk/>
          <pc:sldMk cId="0" sldId="257"/>
        </pc:sldMkLst>
        <pc:spChg chg="mod">
          <ac:chgData name="Mamadou Fallou Sylla" userId="c456aed9-8824-4632-add3-85c26a03832d" providerId="ADAL" clId="{59587479-4389-46B4-BE53-52C117EAA1BD}" dt="2026-06-05T09:31:27.105" v="9" actId="20577"/>
          <ac:spMkLst>
            <pc:docMk/>
            <pc:sldMk cId="0" sldId="257"/>
            <ac:spMk id="7" creationId="{00000000-0000-0000-0000-000000000000}"/>
          </ac:spMkLst>
        </pc:spChg>
        <pc:spChg chg="mod">
          <ac:chgData name="Mamadou Fallou Sylla" userId="c456aed9-8824-4632-add3-85c26a03832d" providerId="ADAL" clId="{59587479-4389-46B4-BE53-52C117EAA1BD}" dt="2026-06-10T14:59:58.565" v="237" actId="20577"/>
          <ac:spMkLst>
            <pc:docMk/>
            <pc:sldMk cId="0" sldId="257"/>
            <ac:spMk id="18" creationId="{00000000-0000-0000-0000-000000000000}"/>
          </ac:spMkLst>
        </pc:spChg>
      </pc:sldChg>
      <pc:sldChg chg="modSp mod">
        <pc:chgData name="Mamadou Fallou Sylla" userId="c456aed9-8824-4632-add3-85c26a03832d" providerId="ADAL" clId="{59587479-4389-46B4-BE53-52C117EAA1BD}" dt="2026-06-10T14:49:55.992" v="225" actId="20577"/>
        <pc:sldMkLst>
          <pc:docMk/>
          <pc:sldMk cId="0" sldId="258"/>
        </pc:sldMkLst>
        <pc:spChg chg="mod">
          <ac:chgData name="Mamadou Fallou Sylla" userId="c456aed9-8824-4632-add3-85c26a03832d" providerId="ADAL" clId="{59587479-4389-46B4-BE53-52C117EAA1BD}" dt="2026-06-10T14:49:55.992" v="225" actId="20577"/>
          <ac:spMkLst>
            <pc:docMk/>
            <pc:sldMk cId="0" sldId="258"/>
            <ac:spMk id="18" creationId="{00000000-0000-0000-0000-000000000000}"/>
          </ac:spMkLst>
        </pc:spChg>
      </pc:sldChg>
      <pc:sldChg chg="modSp mod">
        <pc:chgData name="Mamadou Fallou Sylla" userId="c456aed9-8824-4632-add3-85c26a03832d" providerId="ADAL" clId="{59587479-4389-46B4-BE53-52C117EAA1BD}" dt="2026-06-10T14:38:54.910" v="211" actId="207"/>
        <pc:sldMkLst>
          <pc:docMk/>
          <pc:sldMk cId="0" sldId="260"/>
        </pc:sldMkLst>
        <pc:spChg chg="mod">
          <ac:chgData name="Mamadou Fallou Sylla" userId="c456aed9-8824-4632-add3-85c26a03832d" providerId="ADAL" clId="{59587479-4389-46B4-BE53-52C117EAA1BD}" dt="2026-06-05T09:32:38.891" v="21" actId="20577"/>
          <ac:spMkLst>
            <pc:docMk/>
            <pc:sldMk cId="0" sldId="260"/>
            <ac:spMk id="9" creationId="{00000000-0000-0000-0000-000000000000}"/>
          </ac:spMkLst>
        </pc:spChg>
        <pc:spChg chg="mod">
          <ac:chgData name="Mamadou Fallou Sylla" userId="c456aed9-8824-4632-add3-85c26a03832d" providerId="ADAL" clId="{59587479-4389-46B4-BE53-52C117EAA1BD}" dt="2026-06-05T09:30:30.437" v="0"/>
          <ac:spMkLst>
            <pc:docMk/>
            <pc:sldMk cId="0" sldId="260"/>
            <ac:spMk id="39" creationId="{00000000-0000-0000-0000-000000000000}"/>
          </ac:spMkLst>
        </pc:spChg>
        <pc:spChg chg="mod">
          <ac:chgData name="Mamadou Fallou Sylla" userId="c456aed9-8824-4632-add3-85c26a03832d" providerId="ADAL" clId="{59587479-4389-46B4-BE53-52C117EAA1BD}" dt="2026-06-10T14:35:37.255" v="104" actId="20577"/>
          <ac:spMkLst>
            <pc:docMk/>
            <pc:sldMk cId="0" sldId="260"/>
            <ac:spMk id="40" creationId="{00000000-0000-0000-0000-000000000000}"/>
          </ac:spMkLst>
        </pc:spChg>
        <pc:graphicFrameChg chg="modGraphic">
          <ac:chgData name="Mamadou Fallou Sylla" userId="c456aed9-8824-4632-add3-85c26a03832d" providerId="ADAL" clId="{59587479-4389-46B4-BE53-52C117EAA1BD}" dt="2026-06-10T14:38:54.910" v="211" actId="207"/>
          <ac:graphicFrameMkLst>
            <pc:docMk/>
            <pc:sldMk cId="0" sldId="260"/>
            <ac:graphicFrameMk id="42" creationId="{00000000-0000-0000-0000-000000000000}"/>
          </ac:graphicFrameMkLst>
        </pc:graphicFrameChg>
      </pc:sldChg>
      <pc:sldChg chg="delSp modSp mod">
        <pc:chgData name="Mamadou Fallou Sylla" userId="c456aed9-8824-4632-add3-85c26a03832d" providerId="ADAL" clId="{59587479-4389-46B4-BE53-52C117EAA1BD}" dt="2026-06-10T14:52:49.827" v="232" actId="1076"/>
        <pc:sldMkLst>
          <pc:docMk/>
          <pc:sldMk cId="0" sldId="261"/>
        </pc:sldMkLst>
        <pc:spChg chg="mod">
          <ac:chgData name="Mamadou Fallou Sylla" userId="c456aed9-8824-4632-add3-85c26a03832d" providerId="ADAL" clId="{59587479-4389-46B4-BE53-52C117EAA1BD}" dt="2026-06-10T14:52:39.463" v="231" actId="1076"/>
          <ac:spMkLst>
            <pc:docMk/>
            <pc:sldMk cId="0" sldId="261"/>
            <ac:spMk id="3" creationId="{00000000-0000-0000-0000-000000000000}"/>
          </ac:spMkLst>
        </pc:spChg>
        <pc:spChg chg="mod">
          <ac:chgData name="Mamadou Fallou Sylla" userId="c456aed9-8824-4632-add3-85c26a03832d" providerId="ADAL" clId="{59587479-4389-46B4-BE53-52C117EAA1BD}" dt="2026-06-05T09:35:13.105" v="37" actId="20577"/>
          <ac:spMkLst>
            <pc:docMk/>
            <pc:sldMk cId="0" sldId="261"/>
            <ac:spMk id="8" creationId="{00000000-0000-0000-0000-000000000000}"/>
          </ac:spMkLst>
        </pc:spChg>
        <pc:spChg chg="mod">
          <ac:chgData name="Mamadou Fallou Sylla" userId="c456aed9-8824-4632-add3-85c26a03832d" providerId="ADAL" clId="{59587479-4389-46B4-BE53-52C117EAA1BD}" dt="2026-06-10T14:52:49.827" v="232" actId="1076"/>
          <ac:spMkLst>
            <pc:docMk/>
            <pc:sldMk cId="0" sldId="261"/>
            <ac:spMk id="10" creationId="{00000000-0000-0000-0000-000000000000}"/>
          </ac:spMkLst>
        </pc:spChg>
        <pc:spChg chg="mod">
          <ac:chgData name="Mamadou Fallou Sylla" userId="c456aed9-8824-4632-add3-85c26a03832d" providerId="ADAL" clId="{59587479-4389-46B4-BE53-52C117EAA1BD}" dt="2026-06-10T14:52:49.827" v="232" actId="1076"/>
          <ac:spMkLst>
            <pc:docMk/>
            <pc:sldMk cId="0" sldId="261"/>
            <ac:spMk id="13" creationId="{00000000-0000-0000-0000-000000000000}"/>
          </ac:spMkLst>
        </pc:spChg>
        <pc:spChg chg="mod">
          <ac:chgData name="Mamadou Fallou Sylla" userId="c456aed9-8824-4632-add3-85c26a03832d" providerId="ADAL" clId="{59587479-4389-46B4-BE53-52C117EAA1BD}" dt="2026-06-10T14:52:49.827" v="232" actId="1076"/>
          <ac:spMkLst>
            <pc:docMk/>
            <pc:sldMk cId="0" sldId="261"/>
            <ac:spMk id="18" creationId="{00000000-0000-0000-0000-000000000000}"/>
          </ac:spMkLst>
        </pc:spChg>
        <pc:spChg chg="mod">
          <ac:chgData name="Mamadou Fallou Sylla" userId="c456aed9-8824-4632-add3-85c26a03832d" providerId="ADAL" clId="{59587479-4389-46B4-BE53-52C117EAA1BD}" dt="2026-06-10T14:52:49.827" v="232" actId="1076"/>
          <ac:spMkLst>
            <pc:docMk/>
            <pc:sldMk cId="0" sldId="261"/>
            <ac:spMk id="19" creationId="{00000000-0000-0000-0000-000000000000}"/>
          </ac:spMkLst>
        </pc:spChg>
        <pc:spChg chg="mod">
          <ac:chgData name="Mamadou Fallou Sylla" userId="c456aed9-8824-4632-add3-85c26a03832d" providerId="ADAL" clId="{59587479-4389-46B4-BE53-52C117EAA1BD}" dt="2026-06-10T14:52:49.827" v="232" actId="1076"/>
          <ac:spMkLst>
            <pc:docMk/>
            <pc:sldMk cId="0" sldId="261"/>
            <ac:spMk id="20" creationId="{00000000-0000-0000-0000-000000000000}"/>
          </ac:spMkLst>
        </pc:spChg>
        <pc:spChg chg="mod">
          <ac:chgData name="Mamadou Fallou Sylla" userId="c456aed9-8824-4632-add3-85c26a03832d" providerId="ADAL" clId="{59587479-4389-46B4-BE53-52C117EAA1BD}" dt="2026-06-10T14:52:49.827" v="232" actId="1076"/>
          <ac:spMkLst>
            <pc:docMk/>
            <pc:sldMk cId="0" sldId="261"/>
            <ac:spMk id="22" creationId="{00000000-0000-0000-0000-000000000000}"/>
          </ac:spMkLst>
        </pc:spChg>
        <pc:spChg chg="mod">
          <ac:chgData name="Mamadou Fallou Sylla" userId="c456aed9-8824-4632-add3-85c26a03832d" providerId="ADAL" clId="{59587479-4389-46B4-BE53-52C117EAA1BD}" dt="2026-06-10T14:52:49.827" v="232" actId="1076"/>
          <ac:spMkLst>
            <pc:docMk/>
            <pc:sldMk cId="0" sldId="261"/>
            <ac:spMk id="30" creationId="{00000000-0000-0000-0000-000000000000}"/>
          </ac:spMkLst>
        </pc:spChg>
        <pc:spChg chg="mod">
          <ac:chgData name="Mamadou Fallou Sylla" userId="c456aed9-8824-4632-add3-85c26a03832d" providerId="ADAL" clId="{59587479-4389-46B4-BE53-52C117EAA1BD}" dt="2026-06-10T14:52:49.827" v="232" actId="1076"/>
          <ac:spMkLst>
            <pc:docMk/>
            <pc:sldMk cId="0" sldId="261"/>
            <ac:spMk id="39" creationId="{00000000-0000-0000-0000-000000000000}"/>
          </ac:spMkLst>
        </pc:spChg>
        <pc:spChg chg="mod">
          <ac:chgData name="Mamadou Fallou Sylla" userId="c456aed9-8824-4632-add3-85c26a03832d" providerId="ADAL" clId="{59587479-4389-46B4-BE53-52C117EAA1BD}" dt="2026-06-10T14:52:49.827" v="232" actId="1076"/>
          <ac:spMkLst>
            <pc:docMk/>
            <pc:sldMk cId="0" sldId="261"/>
            <ac:spMk id="50" creationId="{00000000-0000-0000-0000-000000000000}"/>
          </ac:spMkLst>
        </pc:spChg>
        <pc:spChg chg="mod">
          <ac:chgData name="Mamadou Fallou Sylla" userId="c456aed9-8824-4632-add3-85c26a03832d" providerId="ADAL" clId="{59587479-4389-46B4-BE53-52C117EAA1BD}" dt="2026-06-10T14:52:49.827" v="232" actId="1076"/>
          <ac:spMkLst>
            <pc:docMk/>
            <pc:sldMk cId="0" sldId="261"/>
            <ac:spMk id="51" creationId="{00000000-0000-0000-0000-000000000000}"/>
          </ac:spMkLst>
        </pc:spChg>
        <pc:spChg chg="del">
          <ac:chgData name="Mamadou Fallou Sylla" userId="c456aed9-8824-4632-add3-85c26a03832d" providerId="ADAL" clId="{59587479-4389-46B4-BE53-52C117EAA1BD}" dt="2026-06-10T14:52:33.839" v="229" actId="478"/>
          <ac:spMkLst>
            <pc:docMk/>
            <pc:sldMk cId="0" sldId="261"/>
            <ac:spMk id="52" creationId="{00000000-0000-0000-0000-000000000000}"/>
          </ac:spMkLst>
        </pc:spChg>
        <pc:spChg chg="del">
          <ac:chgData name="Mamadou Fallou Sylla" userId="c456aed9-8824-4632-add3-85c26a03832d" providerId="ADAL" clId="{59587479-4389-46B4-BE53-52C117EAA1BD}" dt="2026-06-10T14:52:28.852" v="228" actId="478"/>
          <ac:spMkLst>
            <pc:docMk/>
            <pc:sldMk cId="0" sldId="261"/>
            <ac:spMk id="55" creationId="{00000000-0000-0000-0000-000000000000}"/>
          </ac:spMkLst>
        </pc:spChg>
        <pc:spChg chg="del">
          <ac:chgData name="Mamadou Fallou Sylla" userId="c456aed9-8824-4632-add3-85c26a03832d" providerId="ADAL" clId="{59587479-4389-46B4-BE53-52C117EAA1BD}" dt="2026-06-10T14:52:28.852" v="228" actId="478"/>
          <ac:spMkLst>
            <pc:docMk/>
            <pc:sldMk cId="0" sldId="261"/>
            <ac:spMk id="57" creationId="{00000000-0000-0000-0000-000000000000}"/>
          </ac:spMkLst>
        </pc:spChg>
        <pc:spChg chg="del">
          <ac:chgData name="Mamadou Fallou Sylla" userId="c456aed9-8824-4632-add3-85c26a03832d" providerId="ADAL" clId="{59587479-4389-46B4-BE53-52C117EAA1BD}" dt="2026-06-10T14:52:28.852" v="228" actId="478"/>
          <ac:spMkLst>
            <pc:docMk/>
            <pc:sldMk cId="0" sldId="261"/>
            <ac:spMk id="60" creationId="{00000000-0000-0000-0000-000000000000}"/>
          </ac:spMkLst>
        </pc:spChg>
        <pc:spChg chg="del">
          <ac:chgData name="Mamadou Fallou Sylla" userId="c456aed9-8824-4632-add3-85c26a03832d" providerId="ADAL" clId="{59587479-4389-46B4-BE53-52C117EAA1BD}" dt="2026-06-10T14:52:28.852" v="228" actId="478"/>
          <ac:spMkLst>
            <pc:docMk/>
            <pc:sldMk cId="0" sldId="261"/>
            <ac:spMk id="61" creationId="{00000000-0000-0000-0000-000000000000}"/>
          </ac:spMkLst>
        </pc:spChg>
        <pc:spChg chg="del">
          <ac:chgData name="Mamadou Fallou Sylla" userId="c456aed9-8824-4632-add3-85c26a03832d" providerId="ADAL" clId="{59587479-4389-46B4-BE53-52C117EAA1BD}" dt="2026-06-10T14:52:28.852" v="228" actId="478"/>
          <ac:spMkLst>
            <pc:docMk/>
            <pc:sldMk cId="0" sldId="261"/>
            <ac:spMk id="62" creationId="{00000000-0000-0000-0000-000000000000}"/>
          </ac:spMkLst>
        </pc:spChg>
        <pc:spChg chg="del">
          <ac:chgData name="Mamadou Fallou Sylla" userId="c456aed9-8824-4632-add3-85c26a03832d" providerId="ADAL" clId="{59587479-4389-46B4-BE53-52C117EAA1BD}" dt="2026-06-10T14:52:28.852" v="228" actId="478"/>
          <ac:spMkLst>
            <pc:docMk/>
            <pc:sldMk cId="0" sldId="261"/>
            <ac:spMk id="64" creationId="{00000000-0000-0000-0000-000000000000}"/>
          </ac:spMkLst>
        </pc:spChg>
        <pc:spChg chg="del">
          <ac:chgData name="Mamadou Fallou Sylla" userId="c456aed9-8824-4632-add3-85c26a03832d" providerId="ADAL" clId="{59587479-4389-46B4-BE53-52C117EAA1BD}" dt="2026-06-10T14:52:28.852" v="228" actId="478"/>
          <ac:spMkLst>
            <pc:docMk/>
            <pc:sldMk cId="0" sldId="261"/>
            <ac:spMk id="66" creationId="{00000000-0000-0000-0000-000000000000}"/>
          </ac:spMkLst>
        </pc:spChg>
        <pc:spChg chg="del">
          <ac:chgData name="Mamadou Fallou Sylla" userId="c456aed9-8824-4632-add3-85c26a03832d" providerId="ADAL" clId="{59587479-4389-46B4-BE53-52C117EAA1BD}" dt="2026-06-10T14:52:28.852" v="228" actId="478"/>
          <ac:spMkLst>
            <pc:docMk/>
            <pc:sldMk cId="0" sldId="261"/>
            <ac:spMk id="68" creationId="{00000000-0000-0000-0000-000000000000}"/>
          </ac:spMkLst>
        </pc:spChg>
        <pc:spChg chg="del">
          <ac:chgData name="Mamadou Fallou Sylla" userId="c456aed9-8824-4632-add3-85c26a03832d" providerId="ADAL" clId="{59587479-4389-46B4-BE53-52C117EAA1BD}" dt="2026-06-10T14:52:28.852" v="228" actId="478"/>
          <ac:spMkLst>
            <pc:docMk/>
            <pc:sldMk cId="0" sldId="261"/>
            <ac:spMk id="69" creationId="{00000000-0000-0000-0000-000000000000}"/>
          </ac:spMkLst>
        </pc:spChg>
        <pc:spChg chg="del">
          <ac:chgData name="Mamadou Fallou Sylla" userId="c456aed9-8824-4632-add3-85c26a03832d" providerId="ADAL" clId="{59587479-4389-46B4-BE53-52C117EAA1BD}" dt="2026-06-10T14:52:28.852" v="228" actId="478"/>
          <ac:spMkLst>
            <pc:docMk/>
            <pc:sldMk cId="0" sldId="261"/>
            <ac:spMk id="70" creationId="{00000000-0000-0000-0000-000000000000}"/>
          </ac:spMkLst>
        </pc:spChg>
      </pc:sldChg>
      <pc:sldChg chg="modSp mod">
        <pc:chgData name="Mamadou Fallou Sylla" userId="c456aed9-8824-4632-add3-85c26a03832d" providerId="ADAL" clId="{59587479-4389-46B4-BE53-52C117EAA1BD}" dt="2026-06-10T14:53:15.801" v="234" actId="20577"/>
        <pc:sldMkLst>
          <pc:docMk/>
          <pc:sldMk cId="0" sldId="262"/>
        </pc:sldMkLst>
        <pc:spChg chg="mod">
          <ac:chgData name="Mamadou Fallou Sylla" userId="c456aed9-8824-4632-add3-85c26a03832d" providerId="ADAL" clId="{59587479-4389-46B4-BE53-52C117EAA1BD}" dt="2026-06-10T14:53:15.801" v="234" actId="20577"/>
          <ac:spMkLst>
            <pc:docMk/>
            <pc:sldMk cId="0" sldId="262"/>
            <ac:spMk id="9" creationId="{00000000-0000-0000-0000-000000000000}"/>
          </ac:spMkLst>
        </pc:spChg>
        <pc:spChg chg="mod">
          <ac:chgData name="Mamadou Fallou Sylla" userId="c456aed9-8824-4632-add3-85c26a03832d" providerId="ADAL" clId="{59587479-4389-46B4-BE53-52C117EAA1BD}" dt="2026-06-05T09:30:30.437" v="0"/>
          <ac:spMkLst>
            <pc:docMk/>
            <pc:sldMk cId="0" sldId="262"/>
            <ac:spMk id="24" creationId="{00000000-0000-0000-0000-000000000000}"/>
          </ac:spMkLst>
        </pc:spChg>
        <pc:spChg chg="mod">
          <ac:chgData name="Mamadou Fallou Sylla" userId="c456aed9-8824-4632-add3-85c26a03832d" providerId="ADAL" clId="{59587479-4389-46B4-BE53-52C117EAA1BD}" dt="2026-06-05T09:30:30.437" v="0"/>
          <ac:spMkLst>
            <pc:docMk/>
            <pc:sldMk cId="0" sldId="262"/>
            <ac:spMk id="25" creationId="{00000000-0000-0000-0000-000000000000}"/>
          </ac:spMkLst>
        </pc:spChg>
      </pc:sldChg>
      <pc:sldChg chg="modSp mod">
        <pc:chgData name="Mamadou Fallou Sylla" userId="c456aed9-8824-4632-add3-85c26a03832d" providerId="ADAL" clId="{59587479-4389-46B4-BE53-52C117EAA1BD}" dt="2026-06-05T09:34:15.327" v="33" actId="20577"/>
        <pc:sldMkLst>
          <pc:docMk/>
          <pc:sldMk cId="0" sldId="264"/>
        </pc:sldMkLst>
        <pc:spChg chg="mod">
          <ac:chgData name="Mamadou Fallou Sylla" userId="c456aed9-8824-4632-add3-85c26a03832d" providerId="ADAL" clId="{59587479-4389-46B4-BE53-52C117EAA1BD}" dt="2026-06-05T09:34:15.327" v="33" actId="20577"/>
          <ac:spMkLst>
            <pc:docMk/>
            <pc:sldMk cId="0" sldId="264"/>
            <ac:spMk id="10" creationId="{00000000-0000-0000-0000-000000000000}"/>
          </ac:spMkLst>
        </pc:spChg>
      </pc:sldChg>
      <pc:sldChg chg="add del mod setBg modShow">
        <pc:chgData name="Mamadou Fallou Sylla" userId="c456aed9-8824-4632-add3-85c26a03832d" providerId="ADAL" clId="{59587479-4389-46B4-BE53-52C117EAA1BD}" dt="2026-06-10T16:05:47.061" v="239" actId="47"/>
        <pc:sldMkLst>
          <pc:docMk/>
          <pc:sldMk cId="3341009548" sldId="265"/>
        </pc:sldMkLst>
      </pc:sldChg>
      <pc:sldChg chg="add del mod setBg modShow">
        <pc:chgData name="Mamadou Fallou Sylla" userId="c456aed9-8824-4632-add3-85c26a03832d" providerId="ADAL" clId="{59587479-4389-46B4-BE53-52C117EAA1BD}" dt="2026-06-10T16:05:40.295" v="238" actId="47"/>
        <pc:sldMkLst>
          <pc:docMk/>
          <pc:sldMk cId="1359394268"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72542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Accueil. Se présenter, présenter le Pôle Projet et la Conformité RDC. Annoncer la durée et le fait que la session se termine par un atelier sur des dossiers réels.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Annoncer le fil conducteur : on part du pourquoi, on descend jusqu'au geste quotidien. Demander aux participants de noter leurs questions, un temps leur est réservé en fin de journée.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Faire reformuler les objectifs par deux ou trois participants pour vérifier les attentes. Rappeler les horaires et la pause du midi.</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Laisser les participants réagir au constat avant de dévoiler la colonne de droite. Demander un exemple vécu de dossier incomplet : cela ancre la suite de la session.</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Ces quatre repères servent de grille de lecture pour toute la journée. Insister sur J+1 : c'est la source de la majorité des incompréhensions sur les taux.</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Faire réaliser la connexion en direct si la salle dispose de postes. Rappeler que le verrouillage après échecs est une protection, pas une sanction.</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Faire situer chaque participant dans le tableau avant de commenter. Préciser qu'un périmètre incorrect se corrige auprès du correspondant filiale, pas dans l'écran.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Projeter l'écran réel en parallèle et pointer les cinq zones une à une. Faire manipuler un filtre pour montrer que tout l'écran suit.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Point le plus souvent mal compris de la journée : prendre le temps. Demander un exemple de dossier complet mais non conforme.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Utiliser un exemple chiffré de la filiale : le flux d'un chargé qui n'a rien ouvert hier. Bien dire que le flux vide n'est jamais remplacé par le stock.</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Construire une règle à l'écran avec la salle, sur un champ qu'ils connaissent. Rappeler que toute règle contestée doit être remontée avec un dossier à l'appui.</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C'est le cœur opérationnel : cinq gestes qui transforment un taux en travail réel. Faire réaliser un export en direct et ouvrir le fichier obtenu.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Présenter la chaîne complète avant de rentrer dans les écrans. Insister sur la dernière étape : la machine propose, l'humain décide.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Montrer un bon et un mauvais scan côte à côte. Rappeler que le traitement est différé : inutile d'attendre devant l'écran.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Faire traiter trois cas préparés à l'avance, un par niveau de score. Faire verbaliser la règle : dans le doute, on rejette.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Faire remplir à chacun son propre rituel sur la fiche de session. Le directeur d'agence s'engage sur le point hebdomadaire devant le groupe.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Passer rapidement : la colonne de droite se commente d'elle-même. Insister sur l'export hors du poste bancaire, qui est un vrai risque de conformité.</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Situer la salle dans le calendrier et annoncer la date de la prochaine vague. Nommer publiquement le correspondant KYC de chaque agence présente.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Faire noter les contacts. Demander s'il reste des questions non traitées dans la journée. Distribuer et récupérer la fiche d'évaluation.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00" name="Notes Placeholder"/>
          <p:cNvSpPr>
            <a:spLocks noGrp="1"/>
          </p:cNvSpPr>
          <p:nvPr>
            <p:ph type="body" idx="1"/>
          </p:nvPr>
        </p:nvSpPr>
        <p:spPr/>
        <p:txBody>
          <a:bodyPr/>
          <a:lstStyle/>
          <a:p>
            <a:r>
              <a:rPr lang="fr-FR" dirty="0"/>
              <a:t>Remercier, rappeler l'atelier pratique et la mise à disposition du support. Donner le premier rendez-vous de suivi.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9A56"/>
        </a:solidFill>
        <a:effectLst/>
      </p:bgPr>
    </p:bg>
    <p:spTree>
      <p:nvGrpSpPr>
        <p:cNvPr id="1" name=""/>
        <p:cNvGrpSpPr/>
        <p:nvPr/>
      </p:nvGrpSpPr>
      <p:grpSpPr/>
      <p:sp>
        <p:nvSpPr>
          <p:cNvPr id="2" name="Oval 1"/>
          <p:cNvSpPr/>
          <p:nvPr/>
        </p:nvSpPr>
        <p:spPr>
          <a:xfrm>
            <a:off x="7498079" y="-1371600"/>
            <a:ext cx="3657600" cy="4572000"/>
          </a:xfrm>
          <a:prstGeom prst="ellipse">
            <a:avLst/>
          </a:prstGeom>
          <a:solidFill>
            <a:srgbClr val="00C060">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8046720" y="1828800"/>
            <a:ext cx="2743200" cy="3474720"/>
          </a:xfrm>
          <a:prstGeom prst="ellipse">
            <a:avLst/>
          </a:prstGeom>
          <a:solidFill>
            <a:srgbClr val="00C060">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TextBox 4"/>
          <p:cNvSpPr txBox="1"/>
          <p:nvPr/>
        </p:nvSpPr>
        <p:spPr>
          <a:xfrm>
            <a:off x="457200" y="868680"/>
            <a:ext cx="6675120" cy="1188720"/>
          </a:xfrm>
          <a:prstGeom prst="rect">
            <a:avLst/>
          </a:prstGeom>
          <a:noFill/>
        </p:spPr>
        <p:txBody>
          <a:bodyPr wrap="square" lIns="0" rIns="0" tIns="0" bIns="0" anchor="ctr">
            <a:spAutoFit/>
          </a:bodyPr>
          <a:lstStyle/>
          <a:p>
            <a:pPr algn="l"/>
            <a:r>
              <a:rPr sz="5000" b="1" i="0" spc="400">
                <a:solidFill>
                  <a:srgbClr val="FFFFFF"/>
                </a:solidFill>
                <a:latin typeface="Calibri"/>
                <a:ea typeface="Calibri"/>
                <a:cs typeface="Calibri"/>
              </a:rPr>
              <a:t>PLATEFORME KYC</a:t>
            </a:r>
          </a:p>
        </p:txBody>
      </p:sp>
      <p:sp>
        <p:nvSpPr>
          <p:cNvPr id="6" name="TextBox 5"/>
          <p:cNvSpPr txBox="1"/>
          <p:nvPr/>
        </p:nvSpPr>
        <p:spPr>
          <a:xfrm>
            <a:off x="457200" y="2148840"/>
            <a:ext cx="6675120" cy="365760"/>
          </a:xfrm>
          <a:prstGeom prst="rect">
            <a:avLst/>
          </a:prstGeom>
          <a:noFill/>
        </p:spPr>
        <p:txBody>
          <a:bodyPr wrap="square" lIns="0" rIns="0" tIns="0" bIns="0" anchor="ctr">
            <a:spAutoFit/>
          </a:bodyPr>
          <a:lstStyle/>
          <a:p>
            <a:pPr algn="l"/>
            <a:r>
              <a:rPr sz="1400" b="1" i="0" spc="200">
                <a:solidFill>
                  <a:srgbClr val="C8F0D8"/>
                </a:solidFill>
                <a:latin typeface="Calibri"/>
                <a:ea typeface="Calibri"/>
                <a:cs typeface="Calibri"/>
              </a:rPr>
              <a:t>FORMATION DES UTILISATEURS  •  BOA RDC</a:t>
            </a:r>
          </a:p>
        </p:txBody>
      </p:sp>
      <p:sp>
        <p:nvSpPr>
          <p:cNvPr id="7" name="Rectangle 6"/>
          <p:cNvSpPr/>
          <p:nvPr/>
        </p:nvSpPr>
        <p:spPr>
          <a:xfrm>
            <a:off x="457200" y="2697480"/>
            <a:ext cx="50292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57200" y="2926080"/>
            <a:ext cx="6400800" cy="320040"/>
          </a:xfrm>
          <a:prstGeom prst="rect">
            <a:avLst/>
          </a:prstGeom>
          <a:noFill/>
        </p:spPr>
        <p:txBody>
          <a:bodyPr wrap="square" lIns="0" rIns="0" tIns="0" bIns="0" anchor="ctr">
            <a:spAutoFit/>
          </a:bodyPr>
          <a:lstStyle/>
          <a:p>
            <a:pPr algn="l"/>
            <a:r>
              <a:rPr sz="1100" b="0" i="0">
                <a:solidFill>
                  <a:srgbClr val="D4F5E4"/>
                </a:solidFill>
                <a:latin typeface="Calibri"/>
                <a:ea typeface="Calibri"/>
                <a:cs typeface="Calibri"/>
              </a:rPr>
              <a:t>Septembre 2026  |  Kinshasa</a:t>
            </a:r>
          </a:p>
        </p:txBody>
      </p:sp>
      <p:sp>
        <p:nvSpPr>
          <p:cNvPr id="9" name="Oval 8"/>
          <p:cNvSpPr/>
          <p:nvPr/>
        </p:nvSpPr>
        <p:spPr>
          <a:xfrm>
            <a:off x="457200" y="3429000"/>
            <a:ext cx="420624" cy="420624"/>
          </a:xfrm>
          <a:prstGeom prst="ellipse">
            <a:avLst/>
          </a:prstGeom>
          <a:solidFill>
            <a:srgbClr val="FFFFFF">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reeform 9"/>
          <p:cNvSpPr/>
          <p:nvPr/>
        </p:nvSpPr>
        <p:spPr>
          <a:xfrm>
            <a:off x="541661" y="3527762"/>
            <a:ext cx="251701" cy="71506"/>
          </a:xfrm>
          <a:custGeom>
            <a:avLst/>
            <a:gdLst/>
            <a:ahLst/>
            <a:cxnLst/>
            <a:rect l="l" t="t" r="r" b="b"/>
            <a:pathLst>
              <a:path w="251701" h="71506">
                <a:moveTo>
                  <a:pt x="0" y="71506"/>
                </a:moveTo>
                <a:lnTo>
                  <a:pt x="125851" y="0"/>
                </a:lnTo>
                <a:lnTo>
                  <a:pt x="251701" y="71506"/>
                </a:lnTo>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553102" y="3619290"/>
            <a:ext cx="228819" cy="0"/>
          </a:xfrm>
          <a:custGeom>
            <a:avLst/>
            <a:gdLst/>
            <a:ahLst/>
            <a:cxnLst/>
            <a:rect l="l" t="t" r="r" b="b"/>
            <a:pathLst>
              <a:path w="228819" h="0">
                <a:moveTo>
                  <a:pt x="0" y="0"/>
                </a:moveTo>
                <a:lnTo>
                  <a:pt x="228819" y="0"/>
                </a:lnTo>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593145" y="3633591"/>
            <a:ext cx="0" cy="91528"/>
          </a:xfrm>
          <a:custGeom>
            <a:avLst/>
            <a:gdLst/>
            <a:ahLst/>
            <a:cxnLst/>
            <a:rect l="l" t="t" r="r" b="b"/>
            <a:pathLst>
              <a:path w="0" h="91528">
                <a:moveTo>
                  <a:pt x="0" y="0"/>
                </a:moveTo>
                <a:lnTo>
                  <a:pt x="0" y="91528"/>
                </a:lnTo>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667512" y="3633591"/>
            <a:ext cx="0" cy="91528"/>
          </a:xfrm>
          <a:custGeom>
            <a:avLst/>
            <a:gdLst/>
            <a:ahLst/>
            <a:cxnLst/>
            <a:rect l="l" t="t" r="r" b="b"/>
            <a:pathLst>
              <a:path w="0" h="91528">
                <a:moveTo>
                  <a:pt x="0" y="0"/>
                </a:moveTo>
                <a:lnTo>
                  <a:pt x="0" y="91528"/>
                </a:lnTo>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741878" y="3633591"/>
            <a:ext cx="0" cy="91528"/>
          </a:xfrm>
          <a:custGeom>
            <a:avLst/>
            <a:gdLst/>
            <a:ahLst/>
            <a:cxnLst/>
            <a:rect l="l" t="t" r="r" b="b"/>
            <a:pathLst>
              <a:path w="0" h="91528">
                <a:moveTo>
                  <a:pt x="0" y="0"/>
                </a:moveTo>
                <a:lnTo>
                  <a:pt x="0" y="91528"/>
                </a:lnTo>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541661" y="3753721"/>
            <a:ext cx="251701" cy="0"/>
          </a:xfrm>
          <a:custGeom>
            <a:avLst/>
            <a:gdLst/>
            <a:ahLst/>
            <a:cxnLst/>
            <a:rect l="l" t="t" r="r" b="b"/>
            <a:pathLst>
              <a:path w="251701" h="0">
                <a:moveTo>
                  <a:pt x="0" y="0"/>
                </a:moveTo>
                <a:lnTo>
                  <a:pt x="251701" y="0"/>
                </a:lnTo>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8600" y="3895344"/>
            <a:ext cx="877824" cy="219456"/>
          </a:xfrm>
          <a:prstGeom prst="rect">
            <a:avLst/>
          </a:prstGeom>
          <a:noFill/>
        </p:spPr>
        <p:txBody>
          <a:bodyPr wrap="square" lIns="0" rIns="0" tIns="0" bIns="0" anchor="ctr">
            <a:spAutoFit/>
          </a:bodyPr>
          <a:lstStyle/>
          <a:p>
            <a:pPr algn="ctr"/>
            <a:r>
              <a:rPr sz="750" b="0" i="0">
                <a:solidFill>
                  <a:srgbClr val="C8F0D8"/>
                </a:solidFill>
                <a:latin typeface="Calibri"/>
                <a:ea typeface="Calibri"/>
                <a:cs typeface="Calibri"/>
              </a:rPr>
              <a:t>Référentiel</a:t>
            </a:r>
          </a:p>
        </p:txBody>
      </p:sp>
      <p:sp>
        <p:nvSpPr>
          <p:cNvPr id="17" name="Oval 16"/>
          <p:cNvSpPr/>
          <p:nvPr/>
        </p:nvSpPr>
        <p:spPr>
          <a:xfrm>
            <a:off x="1755648" y="3429000"/>
            <a:ext cx="420624" cy="420624"/>
          </a:xfrm>
          <a:prstGeom prst="ellipse">
            <a:avLst/>
          </a:prstGeom>
          <a:solidFill>
            <a:srgbClr val="FFFFFF">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Freeform 17"/>
          <p:cNvSpPr/>
          <p:nvPr/>
        </p:nvSpPr>
        <p:spPr>
          <a:xfrm>
            <a:off x="1851550" y="3519181"/>
            <a:ext cx="228819" cy="240261"/>
          </a:xfrm>
          <a:custGeom>
            <a:avLst/>
            <a:gdLst/>
            <a:ahLst/>
            <a:cxnLst/>
            <a:rect l="l" t="t" r="r" b="b"/>
            <a:pathLst>
              <a:path w="228819" h="240261">
                <a:moveTo>
                  <a:pt x="114410" y="0"/>
                </a:moveTo>
                <a:lnTo>
                  <a:pt x="228819" y="45764"/>
                </a:lnTo>
                <a:lnTo>
                  <a:pt x="217378" y="137292"/>
                </a:lnTo>
                <a:lnTo>
                  <a:pt x="114410" y="240261"/>
                </a:lnTo>
                <a:lnTo>
                  <a:pt x="11441" y="137292"/>
                </a:lnTo>
                <a:lnTo>
                  <a:pt x="0" y="45764"/>
                </a:lnTo>
                <a:close/>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914475" y="3587827"/>
            <a:ext cx="108689" cy="80087"/>
          </a:xfrm>
          <a:custGeom>
            <a:avLst/>
            <a:gdLst/>
            <a:ahLst/>
            <a:cxnLst/>
            <a:rect l="l" t="t" r="r" b="b"/>
            <a:pathLst>
              <a:path w="108689" h="80087">
                <a:moveTo>
                  <a:pt x="0" y="40044"/>
                </a:moveTo>
                <a:lnTo>
                  <a:pt x="34323" y="80087"/>
                </a:lnTo>
                <a:lnTo>
                  <a:pt x="108689" y="0"/>
                </a:lnTo>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27048" y="3895344"/>
            <a:ext cx="877824" cy="219456"/>
          </a:xfrm>
          <a:prstGeom prst="rect">
            <a:avLst/>
          </a:prstGeom>
          <a:noFill/>
        </p:spPr>
        <p:txBody>
          <a:bodyPr wrap="square" lIns="0" rIns="0" tIns="0" bIns="0" anchor="ctr">
            <a:spAutoFit/>
          </a:bodyPr>
          <a:lstStyle/>
          <a:p>
            <a:pPr algn="ctr"/>
            <a:r>
              <a:rPr sz="750" b="0" i="0">
                <a:solidFill>
                  <a:srgbClr val="C8F0D8"/>
                </a:solidFill>
                <a:latin typeface="Calibri"/>
                <a:ea typeface="Calibri"/>
                <a:cs typeface="Calibri"/>
              </a:rPr>
              <a:t>Conformité</a:t>
            </a:r>
          </a:p>
        </p:txBody>
      </p:sp>
      <p:sp>
        <p:nvSpPr>
          <p:cNvPr id="21" name="Oval 20"/>
          <p:cNvSpPr/>
          <p:nvPr/>
        </p:nvSpPr>
        <p:spPr>
          <a:xfrm>
            <a:off x="3054096" y="3429000"/>
            <a:ext cx="420624" cy="420624"/>
          </a:xfrm>
          <a:prstGeom prst="ellipse">
            <a:avLst/>
          </a:prstGeom>
          <a:solidFill>
            <a:srgbClr val="FFFFFF">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Freeform 21"/>
          <p:cNvSpPr/>
          <p:nvPr/>
        </p:nvSpPr>
        <p:spPr>
          <a:xfrm>
            <a:off x="3149998" y="3748001"/>
            <a:ext cx="234540" cy="0"/>
          </a:xfrm>
          <a:custGeom>
            <a:avLst/>
            <a:gdLst/>
            <a:ahLst/>
            <a:cxnLst/>
            <a:rect l="l" t="t" r="r" b="b"/>
            <a:pathLst>
              <a:path w="234540" h="0">
                <a:moveTo>
                  <a:pt x="0" y="0"/>
                </a:moveTo>
                <a:lnTo>
                  <a:pt x="234540" y="0"/>
                </a:lnTo>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70019" y="3645032"/>
            <a:ext cx="45763" cy="102968"/>
          </a:xfrm>
          <a:prstGeom prst="rect">
            <a:avLst/>
          </a:pr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1526" y="3593548"/>
            <a:ext cx="45763" cy="154453"/>
          </a:xfrm>
          <a:prstGeom prst="rect">
            <a:avLst/>
          </a:pr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313032" y="3542063"/>
            <a:ext cx="45763" cy="205937"/>
          </a:xfrm>
          <a:prstGeom prst="rect">
            <a:avLst/>
          </a:pr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25496" y="3895344"/>
            <a:ext cx="877824" cy="219456"/>
          </a:xfrm>
          <a:prstGeom prst="rect">
            <a:avLst/>
          </a:prstGeom>
          <a:noFill/>
        </p:spPr>
        <p:txBody>
          <a:bodyPr wrap="square" lIns="0" rIns="0" tIns="0" bIns="0" anchor="ctr">
            <a:spAutoFit/>
          </a:bodyPr>
          <a:lstStyle/>
          <a:p>
            <a:pPr algn="ctr"/>
            <a:r>
              <a:rPr sz="750" b="0" i="0">
                <a:solidFill>
                  <a:srgbClr val="C8F0D8"/>
                </a:solidFill>
                <a:latin typeface="Calibri"/>
                <a:ea typeface="Calibri"/>
                <a:cs typeface="Calibri"/>
              </a:rPr>
              <a:t>Pilotage</a:t>
            </a:r>
          </a:p>
        </p:txBody>
      </p:sp>
      <p:sp>
        <p:nvSpPr>
          <p:cNvPr id="27" name="Oval 26"/>
          <p:cNvSpPr/>
          <p:nvPr/>
        </p:nvSpPr>
        <p:spPr>
          <a:xfrm>
            <a:off x="4352544" y="3429000"/>
            <a:ext cx="420624" cy="420624"/>
          </a:xfrm>
          <a:prstGeom prst="ellipse">
            <a:avLst/>
          </a:prstGeom>
          <a:solidFill>
            <a:srgbClr val="FFFFFF">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437005" y="3564945"/>
            <a:ext cx="251701" cy="148732"/>
          </a:xfrm>
          <a:prstGeom prst="rect">
            <a:avLst/>
          </a:pr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471328" y="3587827"/>
            <a:ext cx="57204" cy="57204"/>
          </a:xfrm>
          <a:prstGeom prst="ellipse">
            <a:avLst/>
          </a:pr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4471328" y="3679355"/>
            <a:ext cx="57205" cy="0"/>
          </a:xfrm>
          <a:custGeom>
            <a:avLst/>
            <a:gdLst/>
            <a:ahLst/>
            <a:cxnLst/>
            <a:rect l="l" t="t" r="r" b="b"/>
            <a:pathLst>
              <a:path w="57205" h="0">
                <a:moveTo>
                  <a:pt x="0" y="0"/>
                </a:moveTo>
                <a:lnTo>
                  <a:pt x="57205" y="0"/>
                </a:lnTo>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4562855" y="3604989"/>
            <a:ext cx="97249" cy="0"/>
          </a:xfrm>
          <a:custGeom>
            <a:avLst/>
            <a:gdLst/>
            <a:ahLst/>
            <a:cxnLst/>
            <a:rect l="l" t="t" r="r" b="b"/>
            <a:pathLst>
              <a:path w="97249" h="0">
                <a:moveTo>
                  <a:pt x="0" y="0"/>
                </a:moveTo>
                <a:lnTo>
                  <a:pt x="97249" y="0"/>
                </a:lnTo>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4562855" y="3639312"/>
            <a:ext cx="97249" cy="0"/>
          </a:xfrm>
          <a:custGeom>
            <a:avLst/>
            <a:gdLst/>
            <a:ahLst/>
            <a:cxnLst/>
            <a:rect l="l" t="t" r="r" b="b"/>
            <a:pathLst>
              <a:path w="97249" h="0">
                <a:moveTo>
                  <a:pt x="0" y="0"/>
                </a:moveTo>
                <a:lnTo>
                  <a:pt x="97249" y="0"/>
                </a:lnTo>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4562855" y="3673634"/>
            <a:ext cx="62926" cy="0"/>
          </a:xfrm>
          <a:custGeom>
            <a:avLst/>
            <a:gdLst/>
            <a:ahLst/>
            <a:cxnLst/>
            <a:rect l="l" t="t" r="r" b="b"/>
            <a:pathLst>
              <a:path w="62926" h="0">
                <a:moveTo>
                  <a:pt x="0" y="0"/>
                </a:moveTo>
                <a:lnTo>
                  <a:pt x="62926" y="0"/>
                </a:lnTo>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23944" y="3895344"/>
            <a:ext cx="877824" cy="219456"/>
          </a:xfrm>
          <a:prstGeom prst="rect">
            <a:avLst/>
          </a:prstGeom>
          <a:noFill/>
        </p:spPr>
        <p:txBody>
          <a:bodyPr wrap="square" lIns="0" rIns="0" tIns="0" bIns="0" anchor="ctr">
            <a:spAutoFit/>
          </a:bodyPr>
          <a:lstStyle/>
          <a:p>
            <a:pPr algn="ctr"/>
            <a:r>
              <a:rPr sz="750" b="0" i="0">
                <a:solidFill>
                  <a:srgbClr val="C8F0D8"/>
                </a:solidFill>
                <a:latin typeface="Calibri"/>
                <a:ea typeface="Calibri"/>
                <a:cs typeface="Calibri"/>
              </a:rPr>
              <a:t>Pièces d'identité</a:t>
            </a:r>
          </a:p>
        </p:txBody>
      </p:sp>
      <p:sp>
        <p:nvSpPr>
          <p:cNvPr id="35" name="Oval 34"/>
          <p:cNvSpPr/>
          <p:nvPr/>
        </p:nvSpPr>
        <p:spPr>
          <a:xfrm>
            <a:off x="5650992" y="3429000"/>
            <a:ext cx="420624" cy="420624"/>
          </a:xfrm>
          <a:prstGeom prst="ellipse">
            <a:avLst/>
          </a:prstGeom>
          <a:solidFill>
            <a:srgbClr val="FFFFFF">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5775496" y="3622150"/>
            <a:ext cx="171614" cy="131571"/>
          </a:xfrm>
          <a:prstGeom prst="rect">
            <a:avLst/>
          </a:pr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5809819" y="3542063"/>
            <a:ext cx="102969" cy="80087"/>
          </a:xfrm>
          <a:custGeom>
            <a:avLst/>
            <a:gdLst/>
            <a:ahLst/>
            <a:cxnLst/>
            <a:rect l="l" t="t" r="r" b="b"/>
            <a:pathLst>
              <a:path w="102969" h="80087">
                <a:moveTo>
                  <a:pt x="0" y="80087"/>
                </a:moveTo>
                <a:lnTo>
                  <a:pt x="0" y="40044"/>
                </a:lnTo>
                <a:lnTo>
                  <a:pt x="17162" y="11441"/>
                </a:lnTo>
                <a:lnTo>
                  <a:pt x="51484" y="0"/>
                </a:lnTo>
                <a:lnTo>
                  <a:pt x="85807" y="11441"/>
                </a:lnTo>
                <a:lnTo>
                  <a:pt x="102969" y="40044"/>
                </a:lnTo>
                <a:lnTo>
                  <a:pt x="102969" y="80087"/>
                </a:lnTo>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845572" y="3657903"/>
            <a:ext cx="31462" cy="314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Freeform 38"/>
          <p:cNvSpPr/>
          <p:nvPr/>
        </p:nvSpPr>
        <p:spPr>
          <a:xfrm>
            <a:off x="5861303" y="3685075"/>
            <a:ext cx="0" cy="31463"/>
          </a:xfrm>
          <a:custGeom>
            <a:avLst/>
            <a:gdLst/>
            <a:ahLst/>
            <a:cxnLst/>
            <a:rect l="l" t="t" r="r" b="b"/>
            <a:pathLst>
              <a:path w="0" h="31463">
                <a:moveTo>
                  <a:pt x="0" y="0"/>
                </a:moveTo>
                <a:lnTo>
                  <a:pt x="0" y="31463"/>
                </a:lnTo>
              </a:path>
            </a:pathLst>
          </a:custGeom>
          <a:noFill/>
          <a:ln w="22246"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22392" y="3895344"/>
            <a:ext cx="877824" cy="219456"/>
          </a:xfrm>
          <a:prstGeom prst="rect">
            <a:avLst/>
          </a:prstGeom>
          <a:noFill/>
        </p:spPr>
        <p:txBody>
          <a:bodyPr wrap="square" lIns="0" rIns="0" tIns="0" bIns="0" anchor="ctr">
            <a:spAutoFit/>
          </a:bodyPr>
          <a:lstStyle/>
          <a:p>
            <a:pPr algn="ctr"/>
            <a:r>
              <a:rPr sz="750" b="0" i="0">
                <a:solidFill>
                  <a:srgbClr val="C8F0D8"/>
                </a:solidFill>
                <a:latin typeface="Calibri"/>
                <a:ea typeface="Calibri"/>
                <a:cs typeface="Calibri"/>
              </a:rPr>
              <a:t>Traçabilité</a:t>
            </a:r>
          </a:p>
        </p:txBody>
      </p:sp>
      <p:sp>
        <p:nvSpPr>
          <p:cNvPr id="41" name="TextBox 40"/>
          <p:cNvSpPr txBox="1"/>
          <p:nvPr/>
        </p:nvSpPr>
        <p:spPr>
          <a:xfrm>
            <a:off x="457200" y="4343400"/>
            <a:ext cx="6400800" cy="548640"/>
          </a:xfrm>
          <a:prstGeom prst="rect">
            <a:avLst/>
          </a:prstGeom>
          <a:noFill/>
        </p:spPr>
        <p:txBody>
          <a:bodyPr wrap="square" lIns="0" rIns="0" tIns="0" bIns="0" anchor="t">
            <a:spAutoFit/>
          </a:bodyPr>
          <a:lstStyle/>
          <a:p>
            <a:pPr algn="l">
              <a:spcAft>
                <a:spcPts val="400"/>
              </a:spcAft>
            </a:pPr>
            <a:r>
              <a:rPr sz="1000" b="0" i="0">
                <a:solidFill>
                  <a:srgbClr val="A0D4B8"/>
                </a:solidFill>
                <a:latin typeface="Calibri"/>
                <a:ea typeface="Calibri"/>
                <a:cs typeface="Calibri"/>
              </a:rPr>
              <a:t>Fiabilisation et suivi de la qualité du référentiel client</a:t>
            </a:r>
          </a:p>
          <a:p>
            <a:pPr algn="l">
              <a:spcAft>
                <a:spcPts val="400"/>
              </a:spcAft>
            </a:pPr>
            <a:r>
              <a:rPr sz="1000" b="0" i="0">
                <a:solidFill>
                  <a:srgbClr val="A0D4B8"/>
                </a:solidFill>
                <a:latin typeface="Calibri"/>
                <a:ea typeface="Calibri"/>
                <a:cs typeface="Calibri"/>
              </a:rPr>
              <a:t>Conformité BOA Group  |  Pôle Projet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50"/>
                                        <p:tgtEl>
                                          <p:spTgt spid="5"/>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50"/>
                                        <p:tgtEl>
                                          <p:spTgt spid="7"/>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450"/>
                                        <p:tgtEl>
                                          <p:spTgt spid="6"/>
                                        </p:tgtEl>
                                      </p:cBhvr>
                                    </p:animEffect>
                                  </p:childTnLst>
                                </p:cTn>
                              </p:par>
                              <p:par>
                                <p:cTn id="14" presetID="10" presetClass="entr" presetSubtype="0" fill="hold" grpId="0" nodeType="withEffect">
                                  <p:stCondLst>
                                    <p:cond delay="12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childTnLst>
                          </p:cTn>
                        </p:par>
                      </p:childTnLst>
                    </p:cTn>
                  </p:par>
                  <p:par>
                    <p:cTn id="115" fill="hold">
                      <p:stCondLst>
                        <p:cond delay="indefinite"/>
                      </p:stCondLst>
                      <p:childTnLst>
                        <p:par>
                          <p:cTn id="11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12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24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10" presetClass="entr" presetSubtype="0" fill="hold" grpId="0" nodeType="withEffect">
                                  <p:stCondLst>
                                    <p:cond delay="36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50"/>
                                        <p:tgtEl>
                                          <p:spTgt spid="12"/>
                                        </p:tgtEl>
                                      </p:cBhvr>
                                    </p:animEffect>
                                  </p:childTnLst>
                                </p:cTn>
                              </p:par>
                              <p:par>
                                <p:cTn id="31" presetID="10" presetClass="entr" presetSubtype="0" fill="hold" grpId="0" nodeType="withEffect">
                                  <p:stCondLst>
                                    <p:cond delay="48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par>
                                <p:cTn id="34" presetID="10" presetClass="entr" presetSubtype="0" fill="hold" grpId="0" nodeType="withEffect">
                                  <p:stCondLst>
                                    <p:cond delay="60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grpId="0" nodeType="withEffect">
                                  <p:stCondLst>
                                    <p:cond delay="72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50"/>
                                        <p:tgtEl>
                                          <p:spTgt spid="15"/>
                                        </p:tgtEl>
                                      </p:cBhvr>
                                    </p:animEffect>
                                  </p:childTnLst>
                                </p:cTn>
                              </p:par>
                              <p:par>
                                <p:cTn id="40" presetID="10" presetClass="entr" presetSubtype="0" fill="hold" grpId="0" nodeType="withEffect">
                                  <p:stCondLst>
                                    <p:cond delay="84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450"/>
                                        <p:tgtEl>
                                          <p:spTgt spid="16"/>
                                        </p:tgtEl>
                                      </p:cBhvr>
                                    </p:animEffect>
                                  </p:childTnLst>
                                </p:cTn>
                              </p:par>
                              <p:par>
                                <p:cTn id="43" presetID="10" presetClass="entr" presetSubtype="0" fill="hold" grpId="0" nodeType="withEffect">
                                  <p:stCondLst>
                                    <p:cond delay="96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grpId="0" nodeType="withEffect">
                                  <p:stCondLst>
                                    <p:cond delay="108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par>
                                <p:cTn id="49" presetID="10" presetClass="entr" presetSubtype="0" fill="hold" grpId="0" nodeType="withEffect">
                                  <p:stCondLst>
                                    <p:cond delay="120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50"/>
                                        <p:tgtEl>
                                          <p:spTgt spid="19"/>
                                        </p:tgtEl>
                                      </p:cBhvr>
                                    </p:animEffect>
                                  </p:childTnLst>
                                </p:cTn>
                              </p:par>
                              <p:par>
                                <p:cTn id="52" presetID="10" presetClass="entr" presetSubtype="0" fill="hold" grpId="0" nodeType="withEffect">
                                  <p:stCondLst>
                                    <p:cond delay="132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50"/>
                                        <p:tgtEl>
                                          <p:spTgt spid="20"/>
                                        </p:tgtEl>
                                      </p:cBhvr>
                                    </p:animEffect>
                                  </p:childTnLst>
                                </p:cTn>
                              </p:par>
                              <p:par>
                                <p:cTn id="55" presetID="10" presetClass="entr" presetSubtype="0" fill="hold" grpId="0" nodeType="withEffect">
                                  <p:stCondLst>
                                    <p:cond delay="144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450"/>
                                        <p:tgtEl>
                                          <p:spTgt spid="21"/>
                                        </p:tgtEl>
                                      </p:cBhvr>
                                    </p:animEffect>
                                  </p:childTnLst>
                                </p:cTn>
                              </p:par>
                              <p:par>
                                <p:cTn id="58" presetID="10" presetClass="entr" presetSubtype="0" fill="hold" grpId="0" nodeType="withEffect">
                                  <p:stCondLst>
                                    <p:cond delay="1560"/>
                                  </p:stCondLst>
                                  <p:childTnLst>
                                    <p:set>
                                      <p:cBhvr>
                                        <p:cTn id="59" dur="1" fill="hold">
                                          <p:stCondLst>
                                            <p:cond delay="0"/>
                                          </p:stCondLst>
                                        </p:cTn>
                                        <p:tgtEl>
                                          <p:spTgt spid="22"/>
                                        </p:tgtEl>
                                        <p:attrNameLst>
                                          <p:attrName>style.visibility</p:attrName>
                                        </p:attrNameLst>
                                      </p:cBhvr>
                                      <p:to>
                                        <p:strVal val="visible"/>
                                      </p:to>
                                    </p:set>
                                    <p:animEffect transition="in" filter="fade">
                                      <p:cBhvr>
                                        <p:cTn id="60" dur="450"/>
                                        <p:tgtEl>
                                          <p:spTgt spid="22"/>
                                        </p:tgtEl>
                                      </p:cBhvr>
                                    </p:animEffect>
                                  </p:childTnLst>
                                </p:cTn>
                              </p:par>
                              <p:par>
                                <p:cTn id="61" presetID="10" presetClass="entr" presetSubtype="0" fill="hold" grpId="0" nodeType="withEffect">
                                  <p:stCondLst>
                                    <p:cond delay="168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450"/>
                                        <p:tgtEl>
                                          <p:spTgt spid="23"/>
                                        </p:tgtEl>
                                      </p:cBhvr>
                                    </p:animEffect>
                                  </p:childTnLst>
                                </p:cTn>
                              </p:par>
                              <p:par>
                                <p:cTn id="64" presetID="10" presetClass="entr" presetSubtype="0" fill="hold" grpId="0" nodeType="withEffect">
                                  <p:stCondLst>
                                    <p:cond delay="180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450"/>
                                        <p:tgtEl>
                                          <p:spTgt spid="24"/>
                                        </p:tgtEl>
                                      </p:cBhvr>
                                    </p:animEffect>
                                  </p:childTnLst>
                                </p:cTn>
                              </p:par>
                              <p:par>
                                <p:cTn id="67" presetID="10" presetClass="entr" presetSubtype="0" fill="hold" grpId="0" nodeType="withEffect">
                                  <p:stCondLst>
                                    <p:cond delay="1920"/>
                                  </p:stCondLst>
                                  <p:childTnLst>
                                    <p:set>
                                      <p:cBhvr>
                                        <p:cTn id="68" dur="1" fill="hold">
                                          <p:stCondLst>
                                            <p:cond delay="0"/>
                                          </p:stCondLst>
                                        </p:cTn>
                                        <p:tgtEl>
                                          <p:spTgt spid="25"/>
                                        </p:tgtEl>
                                        <p:attrNameLst>
                                          <p:attrName>style.visibility</p:attrName>
                                        </p:attrNameLst>
                                      </p:cBhvr>
                                      <p:to>
                                        <p:strVal val="visible"/>
                                      </p:to>
                                    </p:set>
                                    <p:animEffect transition="in" filter="fade">
                                      <p:cBhvr>
                                        <p:cTn id="69" dur="450"/>
                                        <p:tgtEl>
                                          <p:spTgt spid="25"/>
                                        </p:tgtEl>
                                      </p:cBhvr>
                                    </p:animEffect>
                                  </p:childTnLst>
                                </p:cTn>
                              </p:par>
                              <p:par>
                                <p:cTn id="70" presetID="10" presetClass="entr" presetSubtype="0" fill="hold" grpId="0" nodeType="withEffect">
                                  <p:stCondLst>
                                    <p:cond delay="2040"/>
                                  </p:stCondLst>
                                  <p:childTnLst>
                                    <p:set>
                                      <p:cBhvr>
                                        <p:cTn id="71" dur="1" fill="hold">
                                          <p:stCondLst>
                                            <p:cond delay="0"/>
                                          </p:stCondLst>
                                        </p:cTn>
                                        <p:tgtEl>
                                          <p:spTgt spid="26"/>
                                        </p:tgtEl>
                                        <p:attrNameLst>
                                          <p:attrName>style.visibility</p:attrName>
                                        </p:attrNameLst>
                                      </p:cBhvr>
                                      <p:to>
                                        <p:strVal val="visible"/>
                                      </p:to>
                                    </p:set>
                                    <p:animEffect transition="in" filter="fade">
                                      <p:cBhvr>
                                        <p:cTn id="72" dur="450"/>
                                        <p:tgtEl>
                                          <p:spTgt spid="26"/>
                                        </p:tgtEl>
                                      </p:cBhvr>
                                    </p:animEffect>
                                  </p:childTnLst>
                                </p:cTn>
                              </p:par>
                              <p:par>
                                <p:cTn id="73" presetID="10" presetClass="entr" presetSubtype="0" fill="hold" grpId="0" nodeType="withEffect">
                                  <p:stCondLst>
                                    <p:cond delay="216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450"/>
                                        <p:tgtEl>
                                          <p:spTgt spid="27"/>
                                        </p:tgtEl>
                                      </p:cBhvr>
                                    </p:animEffect>
                                  </p:childTnLst>
                                </p:cTn>
                              </p:par>
                              <p:par>
                                <p:cTn id="76" presetID="10" presetClass="entr" presetSubtype="0" fill="hold" grpId="0" nodeType="withEffect">
                                  <p:stCondLst>
                                    <p:cond delay="2280"/>
                                  </p:stCondLst>
                                  <p:childTnLst>
                                    <p:set>
                                      <p:cBhvr>
                                        <p:cTn id="77" dur="1" fill="hold">
                                          <p:stCondLst>
                                            <p:cond delay="0"/>
                                          </p:stCondLst>
                                        </p:cTn>
                                        <p:tgtEl>
                                          <p:spTgt spid="28"/>
                                        </p:tgtEl>
                                        <p:attrNameLst>
                                          <p:attrName>style.visibility</p:attrName>
                                        </p:attrNameLst>
                                      </p:cBhvr>
                                      <p:to>
                                        <p:strVal val="visible"/>
                                      </p:to>
                                    </p:set>
                                    <p:animEffect transition="in" filter="fade">
                                      <p:cBhvr>
                                        <p:cTn id="78" dur="450"/>
                                        <p:tgtEl>
                                          <p:spTgt spid="28"/>
                                        </p:tgtEl>
                                      </p:cBhvr>
                                    </p:animEffect>
                                  </p:childTnLst>
                                </p:cTn>
                              </p:par>
                              <p:par>
                                <p:cTn id="79" presetID="10" presetClass="entr" presetSubtype="0" fill="hold" grpId="0" nodeType="withEffect">
                                  <p:stCondLst>
                                    <p:cond delay="2400"/>
                                  </p:stCondLst>
                                  <p:childTnLst>
                                    <p:set>
                                      <p:cBhvr>
                                        <p:cTn id="80" dur="1" fill="hold">
                                          <p:stCondLst>
                                            <p:cond delay="0"/>
                                          </p:stCondLst>
                                        </p:cTn>
                                        <p:tgtEl>
                                          <p:spTgt spid="29"/>
                                        </p:tgtEl>
                                        <p:attrNameLst>
                                          <p:attrName>style.visibility</p:attrName>
                                        </p:attrNameLst>
                                      </p:cBhvr>
                                      <p:to>
                                        <p:strVal val="visible"/>
                                      </p:to>
                                    </p:set>
                                    <p:animEffect transition="in" filter="fade">
                                      <p:cBhvr>
                                        <p:cTn id="81" dur="450"/>
                                        <p:tgtEl>
                                          <p:spTgt spid="29"/>
                                        </p:tgtEl>
                                      </p:cBhvr>
                                    </p:animEffect>
                                  </p:childTnLst>
                                </p:cTn>
                              </p:par>
                              <p:par>
                                <p:cTn id="82" presetID="10" presetClass="entr" presetSubtype="0" fill="hold" grpId="0" nodeType="withEffect">
                                  <p:stCondLst>
                                    <p:cond delay="252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450"/>
                                        <p:tgtEl>
                                          <p:spTgt spid="30"/>
                                        </p:tgtEl>
                                      </p:cBhvr>
                                    </p:animEffect>
                                  </p:childTnLst>
                                </p:cTn>
                              </p:par>
                              <p:par>
                                <p:cTn id="85" presetID="10" presetClass="entr" presetSubtype="0" fill="hold" grpId="0" nodeType="withEffect">
                                  <p:stCondLst>
                                    <p:cond delay="2640"/>
                                  </p:stCondLst>
                                  <p:childTnLst>
                                    <p:set>
                                      <p:cBhvr>
                                        <p:cTn id="86" dur="1" fill="hold">
                                          <p:stCondLst>
                                            <p:cond delay="0"/>
                                          </p:stCondLst>
                                        </p:cTn>
                                        <p:tgtEl>
                                          <p:spTgt spid="31"/>
                                        </p:tgtEl>
                                        <p:attrNameLst>
                                          <p:attrName>style.visibility</p:attrName>
                                        </p:attrNameLst>
                                      </p:cBhvr>
                                      <p:to>
                                        <p:strVal val="visible"/>
                                      </p:to>
                                    </p:set>
                                    <p:animEffect transition="in" filter="fade">
                                      <p:cBhvr>
                                        <p:cTn id="87" dur="450"/>
                                        <p:tgtEl>
                                          <p:spTgt spid="31"/>
                                        </p:tgtEl>
                                      </p:cBhvr>
                                    </p:animEffect>
                                  </p:childTnLst>
                                </p:cTn>
                              </p:par>
                              <p:par>
                                <p:cTn id="88" presetID="10" presetClass="entr" presetSubtype="0" fill="hold" grpId="0" nodeType="withEffect">
                                  <p:stCondLst>
                                    <p:cond delay="276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450"/>
                                        <p:tgtEl>
                                          <p:spTgt spid="32"/>
                                        </p:tgtEl>
                                      </p:cBhvr>
                                    </p:animEffect>
                                  </p:childTnLst>
                                </p:cTn>
                              </p:par>
                              <p:par>
                                <p:cTn id="91" presetID="10" presetClass="entr" presetSubtype="0" fill="hold" grpId="0" nodeType="withEffect">
                                  <p:stCondLst>
                                    <p:cond delay="288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450"/>
                                        <p:tgtEl>
                                          <p:spTgt spid="33"/>
                                        </p:tgtEl>
                                      </p:cBhvr>
                                    </p:animEffect>
                                  </p:childTnLst>
                                </p:cTn>
                              </p:par>
                              <p:par>
                                <p:cTn id="94" presetID="10" presetClass="entr" presetSubtype="0" fill="hold" grpId="0" nodeType="withEffect">
                                  <p:stCondLst>
                                    <p:cond delay="3000"/>
                                  </p:stCondLst>
                                  <p:childTnLst>
                                    <p:set>
                                      <p:cBhvr>
                                        <p:cTn id="95" dur="1" fill="hold">
                                          <p:stCondLst>
                                            <p:cond delay="0"/>
                                          </p:stCondLst>
                                        </p:cTn>
                                        <p:tgtEl>
                                          <p:spTgt spid="34"/>
                                        </p:tgtEl>
                                        <p:attrNameLst>
                                          <p:attrName>style.visibility</p:attrName>
                                        </p:attrNameLst>
                                      </p:cBhvr>
                                      <p:to>
                                        <p:strVal val="visible"/>
                                      </p:to>
                                    </p:set>
                                    <p:animEffect transition="in" filter="fade">
                                      <p:cBhvr>
                                        <p:cTn id="96" dur="450"/>
                                        <p:tgtEl>
                                          <p:spTgt spid="34"/>
                                        </p:tgtEl>
                                      </p:cBhvr>
                                    </p:animEffect>
                                  </p:childTnLst>
                                </p:cTn>
                              </p:par>
                              <p:par>
                                <p:cTn id="97" presetID="10" presetClass="entr" presetSubtype="0" fill="hold" grpId="0" nodeType="withEffect">
                                  <p:stCondLst>
                                    <p:cond delay="3120"/>
                                  </p:stCondLst>
                                  <p:childTnLst>
                                    <p:set>
                                      <p:cBhvr>
                                        <p:cTn id="98" dur="1" fill="hold">
                                          <p:stCondLst>
                                            <p:cond delay="0"/>
                                          </p:stCondLst>
                                        </p:cTn>
                                        <p:tgtEl>
                                          <p:spTgt spid="35"/>
                                        </p:tgtEl>
                                        <p:attrNameLst>
                                          <p:attrName>style.visibility</p:attrName>
                                        </p:attrNameLst>
                                      </p:cBhvr>
                                      <p:to>
                                        <p:strVal val="visible"/>
                                      </p:to>
                                    </p:set>
                                    <p:animEffect transition="in" filter="fade">
                                      <p:cBhvr>
                                        <p:cTn id="99" dur="450"/>
                                        <p:tgtEl>
                                          <p:spTgt spid="35"/>
                                        </p:tgtEl>
                                      </p:cBhvr>
                                    </p:animEffect>
                                  </p:childTnLst>
                                </p:cTn>
                              </p:par>
                              <p:par>
                                <p:cTn id="100" presetID="10" presetClass="entr" presetSubtype="0" fill="hold" grpId="0" nodeType="withEffect">
                                  <p:stCondLst>
                                    <p:cond delay="3240"/>
                                  </p:stCondLst>
                                  <p:childTnLst>
                                    <p:set>
                                      <p:cBhvr>
                                        <p:cTn id="101" dur="1" fill="hold">
                                          <p:stCondLst>
                                            <p:cond delay="0"/>
                                          </p:stCondLst>
                                        </p:cTn>
                                        <p:tgtEl>
                                          <p:spTgt spid="36"/>
                                        </p:tgtEl>
                                        <p:attrNameLst>
                                          <p:attrName>style.visibility</p:attrName>
                                        </p:attrNameLst>
                                      </p:cBhvr>
                                      <p:to>
                                        <p:strVal val="visible"/>
                                      </p:to>
                                    </p:set>
                                    <p:animEffect transition="in" filter="fade">
                                      <p:cBhvr>
                                        <p:cTn id="102" dur="450"/>
                                        <p:tgtEl>
                                          <p:spTgt spid="36"/>
                                        </p:tgtEl>
                                      </p:cBhvr>
                                    </p:animEffect>
                                  </p:childTnLst>
                                </p:cTn>
                              </p:par>
                              <p:par>
                                <p:cTn id="103" presetID="10" presetClass="entr" presetSubtype="0" fill="hold" grpId="0" nodeType="withEffect">
                                  <p:stCondLst>
                                    <p:cond delay="3360"/>
                                  </p:stCondLst>
                                  <p:childTnLst>
                                    <p:set>
                                      <p:cBhvr>
                                        <p:cTn id="104" dur="1" fill="hold">
                                          <p:stCondLst>
                                            <p:cond delay="0"/>
                                          </p:stCondLst>
                                        </p:cTn>
                                        <p:tgtEl>
                                          <p:spTgt spid="37"/>
                                        </p:tgtEl>
                                        <p:attrNameLst>
                                          <p:attrName>style.visibility</p:attrName>
                                        </p:attrNameLst>
                                      </p:cBhvr>
                                      <p:to>
                                        <p:strVal val="visible"/>
                                      </p:to>
                                    </p:set>
                                    <p:animEffect transition="in" filter="fade">
                                      <p:cBhvr>
                                        <p:cTn id="105" dur="450"/>
                                        <p:tgtEl>
                                          <p:spTgt spid="37"/>
                                        </p:tgtEl>
                                      </p:cBhvr>
                                    </p:animEffect>
                                  </p:childTnLst>
                                </p:cTn>
                              </p:par>
                              <p:par>
                                <p:cTn id="106" presetID="10" presetClass="entr" presetSubtype="0" fill="hold" grpId="0" nodeType="withEffect">
                                  <p:stCondLst>
                                    <p:cond delay="3480"/>
                                  </p:stCondLst>
                                  <p:childTnLst>
                                    <p:set>
                                      <p:cBhvr>
                                        <p:cTn id="107" dur="1" fill="hold">
                                          <p:stCondLst>
                                            <p:cond delay="0"/>
                                          </p:stCondLst>
                                        </p:cTn>
                                        <p:tgtEl>
                                          <p:spTgt spid="38"/>
                                        </p:tgtEl>
                                        <p:attrNameLst>
                                          <p:attrName>style.visibility</p:attrName>
                                        </p:attrNameLst>
                                      </p:cBhvr>
                                      <p:to>
                                        <p:strVal val="visible"/>
                                      </p:to>
                                    </p:set>
                                    <p:animEffect transition="in" filter="fade">
                                      <p:cBhvr>
                                        <p:cTn id="108" dur="450"/>
                                        <p:tgtEl>
                                          <p:spTgt spid="38"/>
                                        </p:tgtEl>
                                      </p:cBhvr>
                                    </p:animEffect>
                                  </p:childTnLst>
                                </p:cTn>
                              </p:par>
                              <p:par>
                                <p:cTn id="109" presetID="10" presetClass="entr" presetSubtype="0" fill="hold" grpId="0" nodeType="withEffect">
                                  <p:stCondLst>
                                    <p:cond delay="360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450"/>
                                        <p:tgtEl>
                                          <p:spTgt spid="39"/>
                                        </p:tgtEl>
                                      </p:cBhvr>
                                    </p:animEffect>
                                  </p:childTnLst>
                                </p:cTn>
                              </p:par>
                              <p:par>
                                <p:cTn id="112" presetID="10" presetClass="entr" presetSubtype="0" fill="hold" grpId="0" nodeType="withEffect">
                                  <p:stCondLst>
                                    <p:cond delay="3720"/>
                                  </p:stCondLst>
                                  <p:childTnLst>
                                    <p:set>
                                      <p:cBhvr>
                                        <p:cTn id="113" dur="1" fill="hold">
                                          <p:stCondLst>
                                            <p:cond delay="0"/>
                                          </p:stCondLst>
                                        </p:cTn>
                                        <p:tgtEl>
                                          <p:spTgt spid="40"/>
                                        </p:tgtEl>
                                        <p:attrNameLst>
                                          <p:attrName>style.visibility</p:attrName>
                                        </p:attrNameLst>
                                      </p:cBhvr>
                                      <p:to>
                                        <p:strVal val="visible"/>
                                      </p:to>
                                    </p:set>
                                    <p:animEffect transition="in" filter="fade">
                                      <p:cBhvr>
                                        <p:cTn id="114" dur="450"/>
                                        <p:tgtEl>
                                          <p:spTgt spid="40"/>
                                        </p:tgtEl>
                                      </p:cBhvr>
                                    </p:animEffect>
                                  </p:childTnLst>
                                </p:cTn>
                              </p:par>
                            </p:childTnLst>
                          </p:cTn>
                        </p:par>
                      </p:childTnLst>
                    </p:cTn>
                  </p:par>
                  <p:par>
                    <p:cTn id="120" fill="hold">
                      <p:stCondLst>
                        <p:cond delay="indefinite"/>
                      </p:stCondLst>
                      <p:childTnLst>
                        <p:par>
                          <p:cTn id="121" fill="hold">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4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_boa.png"/>
          <p:cNvPicPr>
            <a:picLocks noChangeAspect="1"/>
          </p:cNvPicPr>
          <p:nvPr/>
        </p:nvPicPr>
        <p:blipFill>
          <a:blip r:embed="rId2"/>
          <a:stretch>
            <a:fillRect/>
          </a:stretch>
        </p:blipFill>
        <p:spPr>
          <a:xfrm>
            <a:off x="6812280" y="0"/>
            <a:ext cx="2331720" cy="566928"/>
          </a:xfrm>
          <a:prstGeom prst="rect">
            <a:avLst/>
          </a:prstGeom>
        </p:spPr>
      </p:pic>
      <p:sp>
        <p:nvSpPr>
          <p:cNvPr id="3" name="TextBox 2"/>
          <p:cNvSpPr txBox="1"/>
          <p:nvPr/>
        </p:nvSpPr>
        <p:spPr>
          <a:xfrm>
            <a:off x="457200" y="502920"/>
            <a:ext cx="5029200" cy="914400"/>
          </a:xfrm>
          <a:prstGeom prst="rect">
            <a:avLst/>
          </a:prstGeom>
          <a:noFill/>
        </p:spPr>
        <p:txBody>
          <a:bodyPr wrap="square" lIns="0" rIns="0" tIns="0" bIns="0" anchor="ctr">
            <a:spAutoFit/>
          </a:bodyPr>
          <a:lstStyle/>
          <a:p>
            <a:pPr algn="l"/>
            <a:r>
              <a:rPr sz="4400" b="1" i="0" spc="200">
                <a:solidFill>
                  <a:srgbClr val="009A56"/>
                </a:solidFill>
                <a:latin typeface="Calibri"/>
                <a:ea typeface="Calibri"/>
                <a:cs typeface="Calibri"/>
              </a:rPr>
              <a:t>SOMMAIRE</a:t>
            </a:r>
          </a:p>
        </p:txBody>
      </p:sp>
      <p:sp>
        <p:nvSpPr>
          <p:cNvPr id="4" name="Rectangle 3"/>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6" name="TextBox 5"/>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02 / 20</a:t>
            </a:r>
          </a:p>
        </p:txBody>
      </p:sp>
      <p:sp>
        <p:nvSpPr>
          <p:cNvPr id="7" name="Rectangle 6"/>
          <p:cNvSpPr/>
          <p:nvPr/>
        </p:nvSpPr>
        <p:spPr>
          <a:xfrm>
            <a:off x="457200" y="1627632"/>
            <a:ext cx="64008" cy="347472"/>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21792" y="1554480"/>
            <a:ext cx="685800" cy="502920"/>
          </a:xfrm>
          <a:prstGeom prst="rect">
            <a:avLst/>
          </a:prstGeom>
          <a:noFill/>
        </p:spPr>
        <p:txBody>
          <a:bodyPr wrap="square" lIns="0" rIns="0" tIns="0" bIns="0" anchor="ctr">
            <a:spAutoFit/>
          </a:bodyPr>
          <a:lstStyle/>
          <a:p>
            <a:pPr algn="l"/>
            <a:r>
              <a:rPr sz="1100" b="1" i="0" spc="50">
                <a:solidFill>
                  <a:srgbClr val="009A56"/>
                </a:solidFill>
                <a:latin typeface="Calibri"/>
                <a:ea typeface="Calibri"/>
                <a:cs typeface="Calibri"/>
              </a:rPr>
              <a:t>I</a:t>
            </a:r>
          </a:p>
        </p:txBody>
      </p:sp>
      <p:sp>
        <p:nvSpPr>
          <p:cNvPr id="9" name="Oval 8"/>
          <p:cNvSpPr/>
          <p:nvPr/>
        </p:nvSpPr>
        <p:spPr>
          <a:xfrm>
            <a:off x="1351753" y="1667221"/>
            <a:ext cx="277436" cy="277436"/>
          </a:xfrm>
          <a:prstGeom prst="ellipse">
            <a:avLst/>
          </a:pr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414507" y="1729975"/>
            <a:ext cx="151929" cy="151929"/>
          </a:xfrm>
          <a:prstGeom prst="ellipse">
            <a:avLst/>
          </a:pr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64049" y="1779517"/>
            <a:ext cx="52845" cy="52845"/>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37360" y="1554480"/>
            <a:ext cx="6400800" cy="502920"/>
          </a:xfrm>
          <a:prstGeom prst="rect">
            <a:avLst/>
          </a:prstGeom>
          <a:noFill/>
        </p:spPr>
        <p:txBody>
          <a:bodyPr wrap="square" lIns="0" rIns="0" tIns="0" bIns="0" anchor="ctr">
            <a:spAutoFit/>
          </a:bodyPr>
          <a:lstStyle/>
          <a:p>
            <a:pPr algn="l"/>
            <a:r>
              <a:rPr sz="1400" b="1" i="0">
                <a:solidFill>
                  <a:srgbClr val="1B2A4A"/>
                </a:solidFill>
                <a:latin typeface="Calibri"/>
                <a:ea typeface="Calibri"/>
                <a:cs typeface="Calibri"/>
              </a:rPr>
              <a:t>Contexte et objectifs de la plateforme</a:t>
            </a:r>
          </a:p>
        </p:txBody>
      </p:sp>
      <p:sp>
        <p:nvSpPr>
          <p:cNvPr id="13" name="Rectangle 12"/>
          <p:cNvSpPr/>
          <p:nvPr/>
        </p:nvSpPr>
        <p:spPr>
          <a:xfrm>
            <a:off x="457200" y="2011680"/>
            <a:ext cx="621792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139696"/>
            <a:ext cx="64008" cy="347472"/>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 y="2066543"/>
            <a:ext cx="685800" cy="502920"/>
          </a:xfrm>
          <a:prstGeom prst="rect">
            <a:avLst/>
          </a:prstGeom>
          <a:noFill/>
        </p:spPr>
        <p:txBody>
          <a:bodyPr wrap="square" lIns="0" rIns="0" tIns="0" bIns="0" anchor="ctr">
            <a:spAutoFit/>
          </a:bodyPr>
          <a:lstStyle/>
          <a:p>
            <a:pPr algn="l"/>
            <a:r>
              <a:rPr sz="1100" b="1" i="0" spc="50">
                <a:solidFill>
                  <a:srgbClr val="009A56"/>
                </a:solidFill>
                <a:latin typeface="Calibri"/>
                <a:ea typeface="Calibri"/>
                <a:cs typeface="Calibri"/>
              </a:rPr>
              <a:t>II</a:t>
            </a:r>
          </a:p>
        </p:txBody>
      </p:sp>
      <p:sp>
        <p:nvSpPr>
          <p:cNvPr id="16" name="Rectangle 15"/>
          <p:cNvSpPr/>
          <p:nvPr/>
        </p:nvSpPr>
        <p:spPr>
          <a:xfrm>
            <a:off x="1391387" y="2298187"/>
            <a:ext cx="198168" cy="151929"/>
          </a:xfrm>
          <a:prstGeom prst="rect">
            <a:avLst/>
          </a:pr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1431021" y="2205708"/>
            <a:ext cx="118901" cy="92479"/>
          </a:xfrm>
          <a:custGeom>
            <a:avLst/>
            <a:gdLst/>
            <a:ahLst/>
            <a:cxnLst/>
            <a:rect l="l" t="t" r="r" b="b"/>
            <a:pathLst>
              <a:path w="118901" h="92479">
                <a:moveTo>
                  <a:pt x="0" y="92479"/>
                </a:moveTo>
                <a:lnTo>
                  <a:pt x="0" y="46239"/>
                </a:lnTo>
                <a:lnTo>
                  <a:pt x="19817" y="13211"/>
                </a:lnTo>
                <a:lnTo>
                  <a:pt x="59451" y="0"/>
                </a:lnTo>
                <a:lnTo>
                  <a:pt x="99084" y="13211"/>
                </a:lnTo>
                <a:lnTo>
                  <a:pt x="118901" y="46239"/>
                </a:lnTo>
                <a:lnTo>
                  <a:pt x="118901" y="92479"/>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472306" y="2339472"/>
            <a:ext cx="36330" cy="36330"/>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490472" y="2370849"/>
            <a:ext cx="0" cy="36330"/>
          </a:xfrm>
          <a:custGeom>
            <a:avLst/>
            <a:gdLst/>
            <a:ahLst/>
            <a:cxnLst/>
            <a:rect l="l" t="t" r="r" b="b"/>
            <a:pathLst>
              <a:path w="0" h="36330">
                <a:moveTo>
                  <a:pt x="0" y="0"/>
                </a:moveTo>
                <a:lnTo>
                  <a:pt x="0" y="36330"/>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37360" y="2066543"/>
            <a:ext cx="6400800" cy="502920"/>
          </a:xfrm>
          <a:prstGeom prst="rect">
            <a:avLst/>
          </a:prstGeom>
          <a:noFill/>
        </p:spPr>
        <p:txBody>
          <a:bodyPr wrap="square" lIns="0" rIns="0" tIns="0" bIns="0" anchor="ctr">
            <a:spAutoFit/>
          </a:bodyPr>
          <a:lstStyle/>
          <a:p>
            <a:pPr algn="l"/>
            <a:r>
              <a:rPr sz="1400" b="1" i="0">
                <a:solidFill>
                  <a:srgbClr val="1B2A4A"/>
                </a:solidFill>
                <a:latin typeface="Calibri"/>
                <a:ea typeface="Calibri"/>
                <a:cs typeface="Calibri"/>
              </a:rPr>
              <a:t>Accès, périmètre et habilitations</a:t>
            </a:r>
          </a:p>
        </p:txBody>
      </p:sp>
      <p:sp>
        <p:nvSpPr>
          <p:cNvPr id="21" name="Rectangle 20"/>
          <p:cNvSpPr/>
          <p:nvPr/>
        </p:nvSpPr>
        <p:spPr>
          <a:xfrm>
            <a:off x="457200" y="2523744"/>
            <a:ext cx="621792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2651760"/>
            <a:ext cx="64008" cy="347472"/>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1792" y="2578608"/>
            <a:ext cx="685800" cy="502920"/>
          </a:xfrm>
          <a:prstGeom prst="rect">
            <a:avLst/>
          </a:prstGeom>
          <a:noFill/>
        </p:spPr>
        <p:txBody>
          <a:bodyPr wrap="square" lIns="0" rIns="0" tIns="0" bIns="0" anchor="ctr">
            <a:spAutoFit/>
          </a:bodyPr>
          <a:lstStyle/>
          <a:p>
            <a:pPr algn="l"/>
            <a:r>
              <a:rPr sz="1100" b="1" i="0" spc="50">
                <a:solidFill>
                  <a:srgbClr val="009A56"/>
                </a:solidFill>
                <a:latin typeface="Calibri"/>
                <a:ea typeface="Calibri"/>
                <a:cs typeface="Calibri"/>
              </a:rPr>
              <a:t>III</a:t>
            </a:r>
          </a:p>
        </p:txBody>
      </p:sp>
      <p:sp>
        <p:nvSpPr>
          <p:cNvPr id="24" name="Freeform 23"/>
          <p:cNvSpPr/>
          <p:nvPr/>
        </p:nvSpPr>
        <p:spPr>
          <a:xfrm>
            <a:off x="1358359" y="2955574"/>
            <a:ext cx="270831" cy="0"/>
          </a:xfrm>
          <a:custGeom>
            <a:avLst/>
            <a:gdLst/>
            <a:ahLst/>
            <a:cxnLst/>
            <a:rect l="l" t="t" r="r" b="b"/>
            <a:pathLst>
              <a:path w="270831" h="0">
                <a:moveTo>
                  <a:pt x="0" y="0"/>
                </a:moveTo>
                <a:lnTo>
                  <a:pt x="270831" y="0"/>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381479" y="2836673"/>
            <a:ext cx="52845" cy="118901"/>
          </a:xfrm>
          <a:prstGeom prst="rect">
            <a:avLst/>
          </a:pr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464049" y="2777222"/>
            <a:ext cx="52845" cy="178351"/>
          </a:xfrm>
          <a:prstGeom prst="rect">
            <a:avLst/>
          </a:pr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546619" y="2717772"/>
            <a:ext cx="52845" cy="237802"/>
          </a:xfrm>
          <a:prstGeom prst="rect">
            <a:avLst/>
          </a:pr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737360" y="2578608"/>
            <a:ext cx="6400800" cy="502920"/>
          </a:xfrm>
          <a:prstGeom prst="rect">
            <a:avLst/>
          </a:prstGeom>
          <a:noFill/>
        </p:spPr>
        <p:txBody>
          <a:bodyPr wrap="square" lIns="0" rIns="0" tIns="0" bIns="0" anchor="ctr">
            <a:spAutoFit/>
          </a:bodyPr>
          <a:lstStyle/>
          <a:p>
            <a:pPr algn="l"/>
            <a:r>
              <a:rPr sz="1400" b="1" i="0">
                <a:solidFill>
                  <a:srgbClr val="1B2A4A"/>
                </a:solidFill>
                <a:latin typeface="Calibri"/>
                <a:ea typeface="Calibri"/>
                <a:cs typeface="Calibri"/>
              </a:rPr>
              <a:t>Lire les indicateurs KYC</a:t>
            </a:r>
          </a:p>
        </p:txBody>
      </p:sp>
      <p:sp>
        <p:nvSpPr>
          <p:cNvPr id="29" name="Rectangle 28"/>
          <p:cNvSpPr/>
          <p:nvPr/>
        </p:nvSpPr>
        <p:spPr>
          <a:xfrm>
            <a:off x="457200" y="3035808"/>
            <a:ext cx="621792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3163824"/>
            <a:ext cx="64008" cy="347472"/>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1792" y="3090672"/>
            <a:ext cx="685800" cy="502920"/>
          </a:xfrm>
          <a:prstGeom prst="rect">
            <a:avLst/>
          </a:prstGeom>
          <a:noFill/>
        </p:spPr>
        <p:txBody>
          <a:bodyPr wrap="square" lIns="0" rIns="0" tIns="0" bIns="0" anchor="ctr">
            <a:spAutoFit/>
          </a:bodyPr>
          <a:lstStyle/>
          <a:p>
            <a:pPr algn="l"/>
            <a:r>
              <a:rPr sz="1100" b="1" i="0" spc="50">
                <a:solidFill>
                  <a:srgbClr val="009A56"/>
                </a:solidFill>
                <a:latin typeface="Calibri"/>
                <a:ea typeface="Calibri"/>
                <a:cs typeface="Calibri"/>
              </a:rPr>
              <a:t>IV</a:t>
            </a:r>
          </a:p>
        </p:txBody>
      </p:sp>
      <p:sp>
        <p:nvSpPr>
          <p:cNvPr id="32" name="Freeform 31"/>
          <p:cNvSpPr/>
          <p:nvPr/>
        </p:nvSpPr>
        <p:spPr>
          <a:xfrm>
            <a:off x="1490472" y="3243047"/>
            <a:ext cx="0" cy="204775"/>
          </a:xfrm>
          <a:custGeom>
            <a:avLst/>
            <a:gdLst/>
            <a:ahLst/>
            <a:cxnLst/>
            <a:rect l="l" t="t" r="r" b="b"/>
            <a:pathLst>
              <a:path w="0" h="204775">
                <a:moveTo>
                  <a:pt x="0" y="0"/>
                </a:moveTo>
                <a:lnTo>
                  <a:pt x="0" y="204775"/>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1417810" y="3461033"/>
            <a:ext cx="145323" cy="0"/>
          </a:xfrm>
          <a:custGeom>
            <a:avLst/>
            <a:gdLst/>
            <a:ahLst/>
            <a:cxnLst/>
            <a:rect l="l" t="t" r="r" b="b"/>
            <a:pathLst>
              <a:path w="145323" h="0">
                <a:moveTo>
                  <a:pt x="0" y="0"/>
                </a:moveTo>
                <a:lnTo>
                  <a:pt x="145323" y="0"/>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1378176" y="3276075"/>
            <a:ext cx="224591" cy="0"/>
          </a:xfrm>
          <a:custGeom>
            <a:avLst/>
            <a:gdLst/>
            <a:ahLst/>
            <a:cxnLst/>
            <a:rect l="l" t="t" r="r" b="b"/>
            <a:pathLst>
              <a:path w="224591" h="0">
                <a:moveTo>
                  <a:pt x="0" y="0"/>
                </a:moveTo>
                <a:lnTo>
                  <a:pt x="224591" y="0"/>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reeform 34"/>
          <p:cNvSpPr/>
          <p:nvPr/>
        </p:nvSpPr>
        <p:spPr>
          <a:xfrm>
            <a:off x="1378176" y="3276075"/>
            <a:ext cx="0" cy="26423"/>
          </a:xfrm>
          <a:custGeom>
            <a:avLst/>
            <a:gdLst/>
            <a:ahLst/>
            <a:cxnLst/>
            <a:rect l="l" t="t" r="r" b="b"/>
            <a:pathLst>
              <a:path w="0" h="26423">
                <a:moveTo>
                  <a:pt x="0" y="0"/>
                </a:moveTo>
                <a:lnTo>
                  <a:pt x="0" y="26423"/>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Freeform 35"/>
          <p:cNvSpPr/>
          <p:nvPr/>
        </p:nvSpPr>
        <p:spPr>
          <a:xfrm>
            <a:off x="1602767" y="3276075"/>
            <a:ext cx="0" cy="26423"/>
          </a:xfrm>
          <a:custGeom>
            <a:avLst/>
            <a:gdLst/>
            <a:ahLst/>
            <a:cxnLst/>
            <a:rect l="l" t="t" r="r" b="b"/>
            <a:pathLst>
              <a:path w="0" h="26423">
                <a:moveTo>
                  <a:pt x="0" y="0"/>
                </a:moveTo>
                <a:lnTo>
                  <a:pt x="0" y="26423"/>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1335239" y="3302498"/>
            <a:ext cx="85873" cy="72662"/>
          </a:xfrm>
          <a:custGeom>
            <a:avLst/>
            <a:gdLst/>
            <a:ahLst/>
            <a:cxnLst/>
            <a:rect l="l" t="t" r="r" b="b"/>
            <a:pathLst>
              <a:path w="85873" h="72662">
                <a:moveTo>
                  <a:pt x="0" y="0"/>
                </a:moveTo>
                <a:lnTo>
                  <a:pt x="85873" y="0"/>
                </a:lnTo>
                <a:lnTo>
                  <a:pt x="42937" y="72662"/>
                </a:lnTo>
                <a:close/>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1559831" y="3302498"/>
            <a:ext cx="85873" cy="72662"/>
          </a:xfrm>
          <a:custGeom>
            <a:avLst/>
            <a:gdLst/>
            <a:ahLst/>
            <a:cxnLst/>
            <a:rect l="l" t="t" r="r" b="b"/>
            <a:pathLst>
              <a:path w="85873" h="72662">
                <a:moveTo>
                  <a:pt x="0" y="0"/>
                </a:moveTo>
                <a:lnTo>
                  <a:pt x="85873" y="0"/>
                </a:lnTo>
                <a:lnTo>
                  <a:pt x="42936" y="72662"/>
                </a:lnTo>
                <a:close/>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470655" y="3256258"/>
            <a:ext cx="39633" cy="39633"/>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090672"/>
            <a:ext cx="6400800" cy="502920"/>
          </a:xfrm>
          <a:prstGeom prst="rect">
            <a:avLst/>
          </a:prstGeom>
          <a:noFill/>
        </p:spPr>
        <p:txBody>
          <a:bodyPr wrap="square" lIns="0" rIns="0" tIns="0" bIns="0" anchor="ctr">
            <a:spAutoFit/>
          </a:bodyPr>
          <a:lstStyle/>
          <a:p>
            <a:pPr algn="l"/>
            <a:r>
              <a:rPr sz="1400" b="1" i="0">
                <a:solidFill>
                  <a:srgbClr val="1B2A4A"/>
                </a:solidFill>
                <a:latin typeface="Calibri"/>
                <a:ea typeface="Calibri"/>
                <a:cs typeface="Calibri"/>
              </a:rPr>
              <a:t>Règles qualité et plans de correction</a:t>
            </a:r>
          </a:p>
        </p:txBody>
      </p:sp>
      <p:sp>
        <p:nvSpPr>
          <p:cNvPr id="41" name="Rectangle 40"/>
          <p:cNvSpPr/>
          <p:nvPr/>
        </p:nvSpPr>
        <p:spPr>
          <a:xfrm>
            <a:off x="457200" y="3547872"/>
            <a:ext cx="621792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57200" y="3675887"/>
            <a:ext cx="64008" cy="347472"/>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21792" y="3602736"/>
            <a:ext cx="685800" cy="502920"/>
          </a:xfrm>
          <a:prstGeom prst="rect">
            <a:avLst/>
          </a:prstGeom>
          <a:noFill/>
        </p:spPr>
        <p:txBody>
          <a:bodyPr wrap="square" lIns="0" rIns="0" tIns="0" bIns="0" anchor="ctr">
            <a:spAutoFit/>
          </a:bodyPr>
          <a:lstStyle/>
          <a:p>
            <a:pPr algn="l"/>
            <a:r>
              <a:rPr sz="1100" b="1" i="0" spc="50">
                <a:solidFill>
                  <a:srgbClr val="009A56"/>
                </a:solidFill>
                <a:latin typeface="Calibri"/>
                <a:ea typeface="Calibri"/>
                <a:cs typeface="Calibri"/>
              </a:rPr>
              <a:t>V</a:t>
            </a:r>
          </a:p>
        </p:txBody>
      </p:sp>
      <p:sp>
        <p:nvSpPr>
          <p:cNvPr id="44" name="Rectangle 43"/>
          <p:cNvSpPr/>
          <p:nvPr/>
        </p:nvSpPr>
        <p:spPr>
          <a:xfrm>
            <a:off x="1345148" y="3768322"/>
            <a:ext cx="290647" cy="171746"/>
          </a:xfrm>
          <a:prstGeom prst="rect">
            <a:avLst/>
          </a:pr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384781" y="3794745"/>
            <a:ext cx="66056" cy="66056"/>
          </a:xfrm>
          <a:prstGeom prst="ellipse">
            <a:avLst/>
          </a:pr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Freeform 45"/>
          <p:cNvSpPr/>
          <p:nvPr/>
        </p:nvSpPr>
        <p:spPr>
          <a:xfrm>
            <a:off x="1384781" y="3900435"/>
            <a:ext cx="66057" cy="0"/>
          </a:xfrm>
          <a:custGeom>
            <a:avLst/>
            <a:gdLst/>
            <a:ahLst/>
            <a:cxnLst/>
            <a:rect l="l" t="t" r="r" b="b"/>
            <a:pathLst>
              <a:path w="66057" h="0">
                <a:moveTo>
                  <a:pt x="0" y="0"/>
                </a:moveTo>
                <a:lnTo>
                  <a:pt x="66057" y="0"/>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Freeform 46"/>
          <p:cNvSpPr/>
          <p:nvPr/>
        </p:nvSpPr>
        <p:spPr>
          <a:xfrm>
            <a:off x="1490472" y="3814562"/>
            <a:ext cx="112295" cy="0"/>
          </a:xfrm>
          <a:custGeom>
            <a:avLst/>
            <a:gdLst/>
            <a:ahLst/>
            <a:cxnLst/>
            <a:rect l="l" t="t" r="r" b="b"/>
            <a:pathLst>
              <a:path w="112295" h="0">
                <a:moveTo>
                  <a:pt x="0" y="0"/>
                </a:moveTo>
                <a:lnTo>
                  <a:pt x="112295" y="0"/>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Freeform 47"/>
          <p:cNvSpPr/>
          <p:nvPr/>
        </p:nvSpPr>
        <p:spPr>
          <a:xfrm>
            <a:off x="1490472" y="3854196"/>
            <a:ext cx="112295" cy="0"/>
          </a:xfrm>
          <a:custGeom>
            <a:avLst/>
            <a:gdLst/>
            <a:ahLst/>
            <a:cxnLst/>
            <a:rect l="l" t="t" r="r" b="b"/>
            <a:pathLst>
              <a:path w="112295" h="0">
                <a:moveTo>
                  <a:pt x="0" y="0"/>
                </a:moveTo>
                <a:lnTo>
                  <a:pt x="112295" y="0"/>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Freeform 48"/>
          <p:cNvSpPr/>
          <p:nvPr/>
        </p:nvSpPr>
        <p:spPr>
          <a:xfrm>
            <a:off x="1490472" y="3893829"/>
            <a:ext cx="72661" cy="0"/>
          </a:xfrm>
          <a:custGeom>
            <a:avLst/>
            <a:gdLst/>
            <a:ahLst/>
            <a:cxnLst/>
            <a:rect l="l" t="t" r="r" b="b"/>
            <a:pathLst>
              <a:path w="72661" h="0">
                <a:moveTo>
                  <a:pt x="0" y="0"/>
                </a:moveTo>
                <a:lnTo>
                  <a:pt x="72661" y="0"/>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737360" y="3602736"/>
            <a:ext cx="6400800" cy="502920"/>
          </a:xfrm>
          <a:prstGeom prst="rect">
            <a:avLst/>
          </a:prstGeom>
          <a:noFill/>
        </p:spPr>
        <p:txBody>
          <a:bodyPr wrap="square" lIns="0" rIns="0" tIns="0" bIns="0" anchor="ctr">
            <a:spAutoFit/>
          </a:bodyPr>
          <a:lstStyle/>
          <a:p>
            <a:pPr algn="l"/>
            <a:r>
              <a:rPr sz="1400" b="1" i="0">
                <a:solidFill>
                  <a:srgbClr val="1B2A4A"/>
                </a:solidFill>
                <a:latin typeface="Calibri"/>
                <a:ea typeface="Calibri"/>
                <a:cs typeface="Calibri"/>
              </a:rPr>
              <a:t>Screening KYC ID : du document au dossier corrigé</a:t>
            </a:r>
          </a:p>
        </p:txBody>
      </p:sp>
      <p:sp>
        <p:nvSpPr>
          <p:cNvPr id="51" name="Rectangle 50"/>
          <p:cNvSpPr/>
          <p:nvPr/>
        </p:nvSpPr>
        <p:spPr>
          <a:xfrm>
            <a:off x="457200" y="4059935"/>
            <a:ext cx="621792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457200" y="4187952"/>
            <a:ext cx="64008" cy="347472"/>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621792" y="4114800"/>
            <a:ext cx="685800" cy="502920"/>
          </a:xfrm>
          <a:prstGeom prst="rect">
            <a:avLst/>
          </a:prstGeom>
          <a:noFill/>
        </p:spPr>
        <p:txBody>
          <a:bodyPr wrap="square" lIns="0" rIns="0" tIns="0" bIns="0" anchor="ctr">
            <a:spAutoFit/>
          </a:bodyPr>
          <a:lstStyle/>
          <a:p>
            <a:pPr algn="l"/>
            <a:r>
              <a:rPr sz="1100" b="1" i="0" spc="50">
                <a:solidFill>
                  <a:srgbClr val="009A56"/>
                </a:solidFill>
                <a:latin typeface="Calibri"/>
                <a:ea typeface="Calibri"/>
                <a:cs typeface="Calibri"/>
              </a:rPr>
              <a:t>VI</a:t>
            </a:r>
          </a:p>
        </p:txBody>
      </p:sp>
      <p:sp>
        <p:nvSpPr>
          <p:cNvPr id="54" name="Rectangle 53"/>
          <p:cNvSpPr/>
          <p:nvPr/>
        </p:nvSpPr>
        <p:spPr>
          <a:xfrm>
            <a:off x="1358359" y="4267175"/>
            <a:ext cx="264225" cy="231196"/>
          </a:xfrm>
          <a:prstGeom prst="rect">
            <a:avLst/>
          </a:pr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Freeform 54"/>
          <p:cNvSpPr/>
          <p:nvPr/>
        </p:nvSpPr>
        <p:spPr>
          <a:xfrm>
            <a:off x="1358359" y="4333231"/>
            <a:ext cx="264225" cy="0"/>
          </a:xfrm>
          <a:custGeom>
            <a:avLst/>
            <a:gdLst/>
            <a:ahLst/>
            <a:cxnLst/>
            <a:rect l="l" t="t" r="r" b="b"/>
            <a:pathLst>
              <a:path w="264225" h="0">
                <a:moveTo>
                  <a:pt x="0" y="0"/>
                </a:moveTo>
                <a:lnTo>
                  <a:pt x="264225" y="0"/>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Freeform 55"/>
          <p:cNvSpPr/>
          <p:nvPr/>
        </p:nvSpPr>
        <p:spPr>
          <a:xfrm>
            <a:off x="1424415" y="4227541"/>
            <a:ext cx="0" cy="39634"/>
          </a:xfrm>
          <a:custGeom>
            <a:avLst/>
            <a:gdLst/>
            <a:ahLst/>
            <a:cxnLst/>
            <a:rect l="l" t="t" r="r" b="b"/>
            <a:pathLst>
              <a:path w="0" h="39634">
                <a:moveTo>
                  <a:pt x="0" y="39634"/>
                </a:moveTo>
                <a:lnTo>
                  <a:pt x="0" y="0"/>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Freeform 56"/>
          <p:cNvSpPr/>
          <p:nvPr/>
        </p:nvSpPr>
        <p:spPr>
          <a:xfrm>
            <a:off x="1556528" y="4227541"/>
            <a:ext cx="0" cy="39634"/>
          </a:xfrm>
          <a:custGeom>
            <a:avLst/>
            <a:gdLst/>
            <a:ahLst/>
            <a:cxnLst/>
            <a:rect l="l" t="t" r="r" b="b"/>
            <a:pathLst>
              <a:path w="0" h="39634">
                <a:moveTo>
                  <a:pt x="0" y="39634"/>
                </a:moveTo>
                <a:lnTo>
                  <a:pt x="0" y="0"/>
                </a:lnTo>
              </a:path>
            </a:pathLst>
          </a:custGeom>
          <a:noFill/>
          <a:ln w="2568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412855" y="4371214"/>
            <a:ext cx="29725" cy="29725"/>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475609" y="4371214"/>
            <a:ext cx="29725" cy="29725"/>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538362" y="4371214"/>
            <a:ext cx="29725" cy="29725"/>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412855" y="4430664"/>
            <a:ext cx="29725" cy="29725"/>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475609" y="4430664"/>
            <a:ext cx="29725" cy="29725"/>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737360" y="4114800"/>
            <a:ext cx="6400800" cy="502920"/>
          </a:xfrm>
          <a:prstGeom prst="rect">
            <a:avLst/>
          </a:prstGeom>
          <a:noFill/>
        </p:spPr>
        <p:txBody>
          <a:bodyPr wrap="square" lIns="0" rIns="0" tIns="0" bIns="0" anchor="ctr">
            <a:spAutoFit/>
          </a:bodyPr>
          <a:lstStyle/>
          <a:p>
            <a:pPr algn="l"/>
            <a:r>
              <a:rPr sz="1400" b="1" i="0">
                <a:solidFill>
                  <a:srgbClr val="1B2A4A"/>
                </a:solidFill>
                <a:latin typeface="Calibri"/>
                <a:ea typeface="Calibri"/>
                <a:cs typeface="Calibri"/>
              </a:rPr>
              <a:t>Rituels, bonnes pratiques et déploiement RDC</a:t>
            </a:r>
          </a:p>
        </p:txBody>
      </p:sp>
      <p:sp>
        <p:nvSpPr>
          <p:cNvPr id="64" name="Rectangle 63"/>
          <p:cNvSpPr/>
          <p:nvPr/>
        </p:nvSpPr>
        <p:spPr>
          <a:xfrm>
            <a:off x="457200" y="4572000"/>
            <a:ext cx="621792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50"/>
                                        <p:tgtEl>
                                          <p:spTgt spid="9"/>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450"/>
                                        <p:tgtEl>
                                          <p:spTgt spid="10"/>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450"/>
                                        <p:tgtEl>
                                          <p:spTgt spid="11"/>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450"/>
                                        <p:tgtEl>
                                          <p:spTgt spid="12"/>
                                        </p:tgtEl>
                                      </p:cBhvr>
                                    </p:animEffect>
                                  </p:childTnLst>
                                </p:cTn>
                              </p:par>
                            </p:childTnLst>
                          </p:cTn>
                        </p:par>
                      </p:childTnLst>
                    </p:cTn>
                  </p:par>
                  <p:par>
                    <p:cTn id="44" fill="hold">
                      <p:stCondLst>
                        <p:cond delay="indefinite"/>
                      </p:stCondLst>
                      <p:childTnLst>
                        <p:par>
                          <p:cTn id="45"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50"/>
                                        <p:tgtEl>
                                          <p:spTgt spid="14"/>
                                        </p:tgtEl>
                                      </p:cBhvr>
                                    </p:animEffect>
                                  </p:childTnLst>
                                </p:cTn>
                              </p:par>
                              <p:par>
                                <p:cTn id="26" presetID="10" presetClass="entr" presetSubtype="0" fill="hold" grpId="0" nodeType="withEffect">
                                  <p:stCondLst>
                                    <p:cond delay="12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50"/>
                                        <p:tgtEl>
                                          <p:spTgt spid="15"/>
                                        </p:tgtEl>
                                      </p:cBhvr>
                                    </p:animEffect>
                                  </p:childTnLst>
                                </p:cTn>
                              </p:par>
                              <p:par>
                                <p:cTn id="29" presetID="10" presetClass="entr" presetSubtype="0" fill="hold" grpId="0" nodeType="withEffect">
                                  <p:stCondLst>
                                    <p:cond delay="24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50"/>
                                        <p:tgtEl>
                                          <p:spTgt spid="16"/>
                                        </p:tgtEl>
                                      </p:cBhvr>
                                    </p:animEffect>
                                  </p:childTnLst>
                                </p:cTn>
                              </p:par>
                              <p:par>
                                <p:cTn id="32" presetID="10" presetClass="entr" presetSubtype="0" fill="hold" grpId="0" nodeType="withEffect">
                                  <p:stCondLst>
                                    <p:cond delay="36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50"/>
                                        <p:tgtEl>
                                          <p:spTgt spid="17"/>
                                        </p:tgtEl>
                                      </p:cBhvr>
                                    </p:animEffect>
                                  </p:childTnLst>
                                </p:cTn>
                              </p:par>
                              <p:par>
                                <p:cTn id="35" presetID="10" presetClass="entr" presetSubtype="0" fill="hold" grpId="0" nodeType="withEffect">
                                  <p:stCondLst>
                                    <p:cond delay="48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50"/>
                                        <p:tgtEl>
                                          <p:spTgt spid="18"/>
                                        </p:tgtEl>
                                      </p:cBhvr>
                                    </p:animEffect>
                                  </p:childTnLst>
                                </p:cTn>
                              </p:par>
                              <p:par>
                                <p:cTn id="38" presetID="10" presetClass="entr" presetSubtype="0" fill="hold" grpId="0" nodeType="withEffect">
                                  <p:stCondLst>
                                    <p:cond delay="60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50"/>
                                        <p:tgtEl>
                                          <p:spTgt spid="19"/>
                                        </p:tgtEl>
                                      </p:cBhvr>
                                    </p:animEffect>
                                  </p:childTnLst>
                                </p:cTn>
                              </p:par>
                              <p:par>
                                <p:cTn id="41" presetID="10" presetClass="entr" presetSubtype="0" fill="hold" grpId="0" nodeType="withEffect">
                                  <p:stCondLst>
                                    <p:cond delay="72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50"/>
                                        <p:tgtEl>
                                          <p:spTgt spid="20"/>
                                        </p:tgtEl>
                                      </p:cBhvr>
                                    </p:animEffect>
                                  </p:childTnLst>
                                </p:cTn>
                              </p:par>
                            </p:childTnLst>
                          </p:cTn>
                        </p:par>
                      </p:childTnLst>
                    </p:cTn>
                  </p:par>
                  <p:par>
                    <p:cTn id="67" fill="hold">
                      <p:stCondLst>
                        <p:cond delay="indefinite"/>
                      </p:stCondLst>
                      <p:childTnLst>
                        <p:par>
                          <p:cTn id="68"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450"/>
                                        <p:tgtEl>
                                          <p:spTgt spid="22"/>
                                        </p:tgtEl>
                                      </p:cBhvr>
                                    </p:animEffect>
                                  </p:childTnLst>
                                </p:cTn>
                              </p:par>
                              <p:par>
                                <p:cTn id="49" presetID="10" presetClass="entr" presetSubtype="0" fill="hold" grpId="0" nodeType="withEffect">
                                  <p:stCondLst>
                                    <p:cond delay="12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50"/>
                                        <p:tgtEl>
                                          <p:spTgt spid="23"/>
                                        </p:tgtEl>
                                      </p:cBhvr>
                                    </p:animEffect>
                                  </p:childTnLst>
                                </p:cTn>
                              </p:par>
                              <p:par>
                                <p:cTn id="52" presetID="10" presetClass="entr" presetSubtype="0" fill="hold" grpId="0" nodeType="withEffect">
                                  <p:stCondLst>
                                    <p:cond delay="24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50"/>
                                        <p:tgtEl>
                                          <p:spTgt spid="24"/>
                                        </p:tgtEl>
                                      </p:cBhvr>
                                    </p:animEffect>
                                  </p:childTnLst>
                                </p:cTn>
                              </p:par>
                              <p:par>
                                <p:cTn id="55" presetID="10" presetClass="entr" presetSubtype="0" fill="hold" grpId="0" nodeType="withEffect">
                                  <p:stCondLst>
                                    <p:cond delay="36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50"/>
                                        <p:tgtEl>
                                          <p:spTgt spid="25"/>
                                        </p:tgtEl>
                                      </p:cBhvr>
                                    </p:animEffect>
                                  </p:childTnLst>
                                </p:cTn>
                              </p:par>
                              <p:par>
                                <p:cTn id="58" presetID="10" presetClass="entr" presetSubtype="0" fill="hold" grpId="0" nodeType="withEffect">
                                  <p:stCondLst>
                                    <p:cond delay="48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450"/>
                                        <p:tgtEl>
                                          <p:spTgt spid="26"/>
                                        </p:tgtEl>
                                      </p:cBhvr>
                                    </p:animEffect>
                                  </p:childTnLst>
                                </p:cTn>
                              </p:par>
                              <p:par>
                                <p:cTn id="61" presetID="10" presetClass="entr" presetSubtype="0" fill="hold" grpId="0" nodeType="withEffect">
                                  <p:stCondLst>
                                    <p:cond delay="60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450"/>
                                        <p:tgtEl>
                                          <p:spTgt spid="27"/>
                                        </p:tgtEl>
                                      </p:cBhvr>
                                    </p:animEffect>
                                  </p:childTnLst>
                                </p:cTn>
                              </p:par>
                              <p:par>
                                <p:cTn id="64" presetID="10" presetClass="entr" presetSubtype="0" fill="hold" grpId="0" nodeType="withEffect">
                                  <p:stCondLst>
                                    <p:cond delay="720"/>
                                  </p:stCondLst>
                                  <p:childTnLst>
                                    <p:set>
                                      <p:cBhvr>
                                        <p:cTn id="65" dur="1" fill="hold">
                                          <p:stCondLst>
                                            <p:cond delay="0"/>
                                          </p:stCondLst>
                                        </p:cTn>
                                        <p:tgtEl>
                                          <p:spTgt spid="28"/>
                                        </p:tgtEl>
                                        <p:attrNameLst>
                                          <p:attrName>style.visibility</p:attrName>
                                        </p:attrNameLst>
                                      </p:cBhvr>
                                      <p:to>
                                        <p:strVal val="visible"/>
                                      </p:to>
                                    </p:set>
                                    <p:animEffect transition="in" filter="fade">
                                      <p:cBhvr>
                                        <p:cTn id="66" dur="450"/>
                                        <p:tgtEl>
                                          <p:spTgt spid="28"/>
                                        </p:tgtEl>
                                      </p:cBhvr>
                                    </p:animEffect>
                                  </p:childTnLst>
                                </p:cTn>
                              </p:par>
                            </p:childTnLst>
                          </p:cTn>
                        </p:par>
                      </p:childTnLst>
                    </p:cTn>
                  </p:par>
                  <p:par>
                    <p:cTn id="102" fill="hold">
                      <p:stCondLst>
                        <p:cond delay="indefinite"/>
                      </p:stCondLst>
                      <p:childTnLst>
                        <p:par>
                          <p:cTn id="103"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450"/>
                                        <p:tgtEl>
                                          <p:spTgt spid="30"/>
                                        </p:tgtEl>
                                      </p:cBhvr>
                                    </p:animEffect>
                                  </p:childTnLst>
                                </p:cTn>
                              </p:par>
                              <p:par>
                                <p:cTn id="72" presetID="10" presetClass="entr" presetSubtype="0" fill="hold" grpId="0" nodeType="withEffect">
                                  <p:stCondLst>
                                    <p:cond delay="12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450"/>
                                        <p:tgtEl>
                                          <p:spTgt spid="31"/>
                                        </p:tgtEl>
                                      </p:cBhvr>
                                    </p:animEffect>
                                  </p:childTnLst>
                                </p:cTn>
                              </p:par>
                              <p:par>
                                <p:cTn id="75" presetID="10" presetClass="entr" presetSubtype="0" fill="hold" grpId="0" nodeType="withEffect">
                                  <p:stCondLst>
                                    <p:cond delay="24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450"/>
                                        <p:tgtEl>
                                          <p:spTgt spid="32"/>
                                        </p:tgtEl>
                                      </p:cBhvr>
                                    </p:animEffect>
                                  </p:childTnLst>
                                </p:cTn>
                              </p:par>
                              <p:par>
                                <p:cTn id="78" presetID="10" presetClass="entr" presetSubtype="0" fill="hold" grpId="0" nodeType="withEffect">
                                  <p:stCondLst>
                                    <p:cond delay="360"/>
                                  </p:stCondLst>
                                  <p:childTnLst>
                                    <p:set>
                                      <p:cBhvr>
                                        <p:cTn id="79" dur="1" fill="hold">
                                          <p:stCondLst>
                                            <p:cond delay="0"/>
                                          </p:stCondLst>
                                        </p:cTn>
                                        <p:tgtEl>
                                          <p:spTgt spid="33"/>
                                        </p:tgtEl>
                                        <p:attrNameLst>
                                          <p:attrName>style.visibility</p:attrName>
                                        </p:attrNameLst>
                                      </p:cBhvr>
                                      <p:to>
                                        <p:strVal val="visible"/>
                                      </p:to>
                                    </p:set>
                                    <p:animEffect transition="in" filter="fade">
                                      <p:cBhvr>
                                        <p:cTn id="80" dur="450"/>
                                        <p:tgtEl>
                                          <p:spTgt spid="33"/>
                                        </p:tgtEl>
                                      </p:cBhvr>
                                    </p:animEffect>
                                  </p:childTnLst>
                                </p:cTn>
                              </p:par>
                              <p:par>
                                <p:cTn id="81" presetID="10" presetClass="entr" presetSubtype="0" fill="hold" grpId="0" nodeType="withEffect">
                                  <p:stCondLst>
                                    <p:cond delay="480"/>
                                  </p:stCondLst>
                                  <p:childTnLst>
                                    <p:set>
                                      <p:cBhvr>
                                        <p:cTn id="82" dur="1" fill="hold">
                                          <p:stCondLst>
                                            <p:cond delay="0"/>
                                          </p:stCondLst>
                                        </p:cTn>
                                        <p:tgtEl>
                                          <p:spTgt spid="34"/>
                                        </p:tgtEl>
                                        <p:attrNameLst>
                                          <p:attrName>style.visibility</p:attrName>
                                        </p:attrNameLst>
                                      </p:cBhvr>
                                      <p:to>
                                        <p:strVal val="visible"/>
                                      </p:to>
                                    </p:set>
                                    <p:animEffect transition="in" filter="fade">
                                      <p:cBhvr>
                                        <p:cTn id="83" dur="450"/>
                                        <p:tgtEl>
                                          <p:spTgt spid="34"/>
                                        </p:tgtEl>
                                      </p:cBhvr>
                                    </p:animEffect>
                                  </p:childTnLst>
                                </p:cTn>
                              </p:par>
                              <p:par>
                                <p:cTn id="84" presetID="10" presetClass="entr" presetSubtype="0" fill="hold" grpId="0" nodeType="withEffect">
                                  <p:stCondLst>
                                    <p:cond delay="600"/>
                                  </p:stCondLst>
                                  <p:childTnLst>
                                    <p:set>
                                      <p:cBhvr>
                                        <p:cTn id="85" dur="1" fill="hold">
                                          <p:stCondLst>
                                            <p:cond delay="0"/>
                                          </p:stCondLst>
                                        </p:cTn>
                                        <p:tgtEl>
                                          <p:spTgt spid="35"/>
                                        </p:tgtEl>
                                        <p:attrNameLst>
                                          <p:attrName>style.visibility</p:attrName>
                                        </p:attrNameLst>
                                      </p:cBhvr>
                                      <p:to>
                                        <p:strVal val="visible"/>
                                      </p:to>
                                    </p:set>
                                    <p:animEffect transition="in" filter="fade">
                                      <p:cBhvr>
                                        <p:cTn id="86" dur="450"/>
                                        <p:tgtEl>
                                          <p:spTgt spid="35"/>
                                        </p:tgtEl>
                                      </p:cBhvr>
                                    </p:animEffect>
                                  </p:childTnLst>
                                </p:cTn>
                              </p:par>
                              <p:par>
                                <p:cTn id="87" presetID="10" presetClass="entr" presetSubtype="0" fill="hold" grpId="0" nodeType="withEffect">
                                  <p:stCondLst>
                                    <p:cond delay="72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450"/>
                                        <p:tgtEl>
                                          <p:spTgt spid="36"/>
                                        </p:tgtEl>
                                      </p:cBhvr>
                                    </p:animEffect>
                                  </p:childTnLst>
                                </p:cTn>
                              </p:par>
                              <p:par>
                                <p:cTn id="90" presetID="10" presetClass="entr" presetSubtype="0" fill="hold" grpId="0" nodeType="withEffect">
                                  <p:stCondLst>
                                    <p:cond delay="840"/>
                                  </p:stCondLst>
                                  <p:childTnLst>
                                    <p:set>
                                      <p:cBhvr>
                                        <p:cTn id="91" dur="1" fill="hold">
                                          <p:stCondLst>
                                            <p:cond delay="0"/>
                                          </p:stCondLst>
                                        </p:cTn>
                                        <p:tgtEl>
                                          <p:spTgt spid="37"/>
                                        </p:tgtEl>
                                        <p:attrNameLst>
                                          <p:attrName>style.visibility</p:attrName>
                                        </p:attrNameLst>
                                      </p:cBhvr>
                                      <p:to>
                                        <p:strVal val="visible"/>
                                      </p:to>
                                    </p:set>
                                    <p:animEffect transition="in" filter="fade">
                                      <p:cBhvr>
                                        <p:cTn id="92" dur="450"/>
                                        <p:tgtEl>
                                          <p:spTgt spid="37"/>
                                        </p:tgtEl>
                                      </p:cBhvr>
                                    </p:animEffect>
                                  </p:childTnLst>
                                </p:cTn>
                              </p:par>
                              <p:par>
                                <p:cTn id="93" presetID="10" presetClass="entr" presetSubtype="0" fill="hold" grpId="0" nodeType="withEffect">
                                  <p:stCondLst>
                                    <p:cond delay="96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450"/>
                                        <p:tgtEl>
                                          <p:spTgt spid="38"/>
                                        </p:tgtEl>
                                      </p:cBhvr>
                                    </p:animEffect>
                                  </p:childTnLst>
                                </p:cTn>
                              </p:par>
                              <p:par>
                                <p:cTn id="96" presetID="10" presetClass="entr" presetSubtype="0" fill="hold" grpId="0" nodeType="withEffect">
                                  <p:stCondLst>
                                    <p:cond delay="1080"/>
                                  </p:stCondLst>
                                  <p:childTnLst>
                                    <p:set>
                                      <p:cBhvr>
                                        <p:cTn id="97" dur="1" fill="hold">
                                          <p:stCondLst>
                                            <p:cond delay="0"/>
                                          </p:stCondLst>
                                        </p:cTn>
                                        <p:tgtEl>
                                          <p:spTgt spid="39"/>
                                        </p:tgtEl>
                                        <p:attrNameLst>
                                          <p:attrName>style.visibility</p:attrName>
                                        </p:attrNameLst>
                                      </p:cBhvr>
                                      <p:to>
                                        <p:strVal val="visible"/>
                                      </p:to>
                                    </p:set>
                                    <p:animEffect transition="in" filter="fade">
                                      <p:cBhvr>
                                        <p:cTn id="98" dur="450"/>
                                        <p:tgtEl>
                                          <p:spTgt spid="39"/>
                                        </p:tgtEl>
                                      </p:cBhvr>
                                    </p:animEffect>
                                  </p:childTnLst>
                                </p:cTn>
                              </p:par>
                              <p:par>
                                <p:cTn id="99" presetID="10" presetClass="entr" presetSubtype="0" fill="hold" grpId="0" nodeType="withEffect">
                                  <p:stCondLst>
                                    <p:cond delay="120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450"/>
                                        <p:tgtEl>
                                          <p:spTgt spid="40"/>
                                        </p:tgtEl>
                                      </p:cBhvr>
                                    </p:animEffect>
                                  </p:childTnLst>
                                </p:cTn>
                              </p:par>
                            </p:childTnLst>
                          </p:cTn>
                        </p:par>
                      </p:childTnLst>
                    </p:cTn>
                  </p:par>
                  <p:par>
                    <p:cTn id="131" fill="hold">
                      <p:stCondLst>
                        <p:cond delay="indefinite"/>
                      </p:stCondLst>
                      <p:childTnLst>
                        <p:par>
                          <p:cTn id="132" fill="hold">
                            <p:stCondLst>
                              <p:cond delay="0"/>
                            </p:stCondLst>
                            <p:childTnLst>
                              <p:par>
                                <p:cTn id="104" presetID="10" presetClass="entr" presetSubtype="0" fill="hold" grpId="0" nodeType="clickEffect">
                                  <p:stCondLst>
                                    <p:cond delay="0"/>
                                  </p:stCondLst>
                                  <p:childTnLst>
                                    <p:set>
                                      <p:cBhvr>
                                        <p:cTn id="105" dur="1" fill="hold">
                                          <p:stCondLst>
                                            <p:cond delay="0"/>
                                          </p:stCondLst>
                                        </p:cTn>
                                        <p:tgtEl>
                                          <p:spTgt spid="42"/>
                                        </p:tgtEl>
                                        <p:attrNameLst>
                                          <p:attrName>style.visibility</p:attrName>
                                        </p:attrNameLst>
                                      </p:cBhvr>
                                      <p:to>
                                        <p:strVal val="visible"/>
                                      </p:to>
                                    </p:set>
                                    <p:animEffect transition="in" filter="fade">
                                      <p:cBhvr>
                                        <p:cTn id="106" dur="450"/>
                                        <p:tgtEl>
                                          <p:spTgt spid="42"/>
                                        </p:tgtEl>
                                      </p:cBhvr>
                                    </p:animEffect>
                                  </p:childTnLst>
                                </p:cTn>
                              </p:par>
                              <p:par>
                                <p:cTn id="107" presetID="10" presetClass="entr" presetSubtype="0" fill="hold" grpId="0" nodeType="withEffect">
                                  <p:stCondLst>
                                    <p:cond delay="120"/>
                                  </p:stCondLst>
                                  <p:childTnLst>
                                    <p:set>
                                      <p:cBhvr>
                                        <p:cTn id="108" dur="1" fill="hold">
                                          <p:stCondLst>
                                            <p:cond delay="0"/>
                                          </p:stCondLst>
                                        </p:cTn>
                                        <p:tgtEl>
                                          <p:spTgt spid="43"/>
                                        </p:tgtEl>
                                        <p:attrNameLst>
                                          <p:attrName>style.visibility</p:attrName>
                                        </p:attrNameLst>
                                      </p:cBhvr>
                                      <p:to>
                                        <p:strVal val="visible"/>
                                      </p:to>
                                    </p:set>
                                    <p:animEffect transition="in" filter="fade">
                                      <p:cBhvr>
                                        <p:cTn id="109" dur="450"/>
                                        <p:tgtEl>
                                          <p:spTgt spid="43"/>
                                        </p:tgtEl>
                                      </p:cBhvr>
                                    </p:animEffect>
                                  </p:childTnLst>
                                </p:cTn>
                              </p:par>
                              <p:par>
                                <p:cTn id="110" presetID="10" presetClass="entr" presetSubtype="0" fill="hold" grpId="0" nodeType="withEffect">
                                  <p:stCondLst>
                                    <p:cond delay="240"/>
                                  </p:stCondLst>
                                  <p:childTnLst>
                                    <p:set>
                                      <p:cBhvr>
                                        <p:cTn id="111" dur="1" fill="hold">
                                          <p:stCondLst>
                                            <p:cond delay="0"/>
                                          </p:stCondLst>
                                        </p:cTn>
                                        <p:tgtEl>
                                          <p:spTgt spid="44"/>
                                        </p:tgtEl>
                                        <p:attrNameLst>
                                          <p:attrName>style.visibility</p:attrName>
                                        </p:attrNameLst>
                                      </p:cBhvr>
                                      <p:to>
                                        <p:strVal val="visible"/>
                                      </p:to>
                                    </p:set>
                                    <p:animEffect transition="in" filter="fade">
                                      <p:cBhvr>
                                        <p:cTn id="112" dur="450"/>
                                        <p:tgtEl>
                                          <p:spTgt spid="44"/>
                                        </p:tgtEl>
                                      </p:cBhvr>
                                    </p:animEffect>
                                  </p:childTnLst>
                                </p:cTn>
                              </p:par>
                              <p:par>
                                <p:cTn id="113" presetID="10" presetClass="entr" presetSubtype="0" fill="hold" grpId="0" nodeType="withEffect">
                                  <p:stCondLst>
                                    <p:cond delay="360"/>
                                  </p:stCondLst>
                                  <p:childTnLst>
                                    <p:set>
                                      <p:cBhvr>
                                        <p:cTn id="114" dur="1" fill="hold">
                                          <p:stCondLst>
                                            <p:cond delay="0"/>
                                          </p:stCondLst>
                                        </p:cTn>
                                        <p:tgtEl>
                                          <p:spTgt spid="45"/>
                                        </p:tgtEl>
                                        <p:attrNameLst>
                                          <p:attrName>style.visibility</p:attrName>
                                        </p:attrNameLst>
                                      </p:cBhvr>
                                      <p:to>
                                        <p:strVal val="visible"/>
                                      </p:to>
                                    </p:set>
                                    <p:animEffect transition="in" filter="fade">
                                      <p:cBhvr>
                                        <p:cTn id="115" dur="450"/>
                                        <p:tgtEl>
                                          <p:spTgt spid="45"/>
                                        </p:tgtEl>
                                      </p:cBhvr>
                                    </p:animEffect>
                                  </p:childTnLst>
                                </p:cTn>
                              </p:par>
                              <p:par>
                                <p:cTn id="116" presetID="10" presetClass="entr" presetSubtype="0" fill="hold" grpId="0" nodeType="withEffect">
                                  <p:stCondLst>
                                    <p:cond delay="480"/>
                                  </p:stCondLst>
                                  <p:childTnLst>
                                    <p:set>
                                      <p:cBhvr>
                                        <p:cTn id="117" dur="1" fill="hold">
                                          <p:stCondLst>
                                            <p:cond delay="0"/>
                                          </p:stCondLst>
                                        </p:cTn>
                                        <p:tgtEl>
                                          <p:spTgt spid="46"/>
                                        </p:tgtEl>
                                        <p:attrNameLst>
                                          <p:attrName>style.visibility</p:attrName>
                                        </p:attrNameLst>
                                      </p:cBhvr>
                                      <p:to>
                                        <p:strVal val="visible"/>
                                      </p:to>
                                    </p:set>
                                    <p:animEffect transition="in" filter="fade">
                                      <p:cBhvr>
                                        <p:cTn id="118" dur="450"/>
                                        <p:tgtEl>
                                          <p:spTgt spid="46"/>
                                        </p:tgtEl>
                                      </p:cBhvr>
                                    </p:animEffect>
                                  </p:childTnLst>
                                </p:cTn>
                              </p:par>
                              <p:par>
                                <p:cTn id="119" presetID="10" presetClass="entr" presetSubtype="0" fill="hold" grpId="0" nodeType="withEffect">
                                  <p:stCondLst>
                                    <p:cond delay="600"/>
                                  </p:stCondLst>
                                  <p:childTnLst>
                                    <p:set>
                                      <p:cBhvr>
                                        <p:cTn id="120" dur="1" fill="hold">
                                          <p:stCondLst>
                                            <p:cond delay="0"/>
                                          </p:stCondLst>
                                        </p:cTn>
                                        <p:tgtEl>
                                          <p:spTgt spid="47"/>
                                        </p:tgtEl>
                                        <p:attrNameLst>
                                          <p:attrName>style.visibility</p:attrName>
                                        </p:attrNameLst>
                                      </p:cBhvr>
                                      <p:to>
                                        <p:strVal val="visible"/>
                                      </p:to>
                                    </p:set>
                                    <p:animEffect transition="in" filter="fade">
                                      <p:cBhvr>
                                        <p:cTn id="121" dur="450"/>
                                        <p:tgtEl>
                                          <p:spTgt spid="47"/>
                                        </p:tgtEl>
                                      </p:cBhvr>
                                    </p:animEffect>
                                  </p:childTnLst>
                                </p:cTn>
                              </p:par>
                              <p:par>
                                <p:cTn id="122" presetID="10" presetClass="entr" presetSubtype="0" fill="hold" grpId="0" nodeType="withEffect">
                                  <p:stCondLst>
                                    <p:cond delay="720"/>
                                  </p:stCondLst>
                                  <p:childTnLst>
                                    <p:set>
                                      <p:cBhvr>
                                        <p:cTn id="123" dur="1" fill="hold">
                                          <p:stCondLst>
                                            <p:cond delay="0"/>
                                          </p:stCondLst>
                                        </p:cTn>
                                        <p:tgtEl>
                                          <p:spTgt spid="48"/>
                                        </p:tgtEl>
                                        <p:attrNameLst>
                                          <p:attrName>style.visibility</p:attrName>
                                        </p:attrNameLst>
                                      </p:cBhvr>
                                      <p:to>
                                        <p:strVal val="visible"/>
                                      </p:to>
                                    </p:set>
                                    <p:animEffect transition="in" filter="fade">
                                      <p:cBhvr>
                                        <p:cTn id="124" dur="450"/>
                                        <p:tgtEl>
                                          <p:spTgt spid="48"/>
                                        </p:tgtEl>
                                      </p:cBhvr>
                                    </p:animEffect>
                                  </p:childTnLst>
                                </p:cTn>
                              </p:par>
                              <p:par>
                                <p:cTn id="125" presetID="10" presetClass="entr" presetSubtype="0" fill="hold" grpId="0" nodeType="withEffect">
                                  <p:stCondLst>
                                    <p:cond delay="840"/>
                                  </p:stCondLst>
                                  <p:childTnLst>
                                    <p:set>
                                      <p:cBhvr>
                                        <p:cTn id="126" dur="1" fill="hold">
                                          <p:stCondLst>
                                            <p:cond delay="0"/>
                                          </p:stCondLst>
                                        </p:cTn>
                                        <p:tgtEl>
                                          <p:spTgt spid="49"/>
                                        </p:tgtEl>
                                        <p:attrNameLst>
                                          <p:attrName>style.visibility</p:attrName>
                                        </p:attrNameLst>
                                      </p:cBhvr>
                                      <p:to>
                                        <p:strVal val="visible"/>
                                      </p:to>
                                    </p:set>
                                    <p:animEffect transition="in" filter="fade">
                                      <p:cBhvr>
                                        <p:cTn id="127" dur="450"/>
                                        <p:tgtEl>
                                          <p:spTgt spid="49"/>
                                        </p:tgtEl>
                                      </p:cBhvr>
                                    </p:animEffect>
                                  </p:childTnLst>
                                </p:cTn>
                              </p:par>
                              <p:par>
                                <p:cTn id="128" presetID="10" presetClass="entr" presetSubtype="0" fill="hold" grpId="0" nodeType="withEffect">
                                  <p:stCondLst>
                                    <p:cond delay="960"/>
                                  </p:stCondLst>
                                  <p:childTnLst>
                                    <p:set>
                                      <p:cBhvr>
                                        <p:cTn id="129" dur="1" fill="hold">
                                          <p:stCondLst>
                                            <p:cond delay="0"/>
                                          </p:stCondLst>
                                        </p:cTn>
                                        <p:tgtEl>
                                          <p:spTgt spid="50"/>
                                        </p:tgtEl>
                                        <p:attrNameLst>
                                          <p:attrName>style.visibility</p:attrName>
                                        </p:attrNameLst>
                                      </p:cBhvr>
                                      <p:to>
                                        <p:strVal val="visible"/>
                                      </p:to>
                                    </p:set>
                                    <p:animEffect transition="in" filter="fade">
                                      <p:cBhvr>
                                        <p:cTn id="130" dur="450"/>
                                        <p:tgtEl>
                                          <p:spTgt spid="50"/>
                                        </p:tgtEl>
                                      </p:cBhvr>
                                    </p:animEffect>
                                  </p:childTnLst>
                                </p:cTn>
                              </p:par>
                            </p:childTnLst>
                          </p:cTn>
                        </p:par>
                      </p:childTnLst>
                    </p:cTn>
                  </p:par>
                  <p:par>
                    <p:cTn id="169" fill="hold">
                      <p:stCondLst>
                        <p:cond delay="indefinite"/>
                      </p:stCondLst>
                      <p:childTnLst>
                        <p:par>
                          <p:cTn id="170" fill="hold">
                            <p:stCondLst>
                              <p:cond delay="0"/>
                            </p:stCondLst>
                            <p:childTnLst>
                              <p:par>
                                <p:cTn id="133" presetID="10" presetClass="entr" presetSubtype="0" fill="hold" grpId="0" nodeType="clickEffect">
                                  <p:stCondLst>
                                    <p:cond delay="0"/>
                                  </p:stCondLst>
                                  <p:childTnLst>
                                    <p:set>
                                      <p:cBhvr>
                                        <p:cTn id="134" dur="1" fill="hold">
                                          <p:stCondLst>
                                            <p:cond delay="0"/>
                                          </p:stCondLst>
                                        </p:cTn>
                                        <p:tgtEl>
                                          <p:spTgt spid="52"/>
                                        </p:tgtEl>
                                        <p:attrNameLst>
                                          <p:attrName>style.visibility</p:attrName>
                                        </p:attrNameLst>
                                      </p:cBhvr>
                                      <p:to>
                                        <p:strVal val="visible"/>
                                      </p:to>
                                    </p:set>
                                    <p:animEffect transition="in" filter="fade">
                                      <p:cBhvr>
                                        <p:cTn id="135" dur="450"/>
                                        <p:tgtEl>
                                          <p:spTgt spid="52"/>
                                        </p:tgtEl>
                                      </p:cBhvr>
                                    </p:animEffect>
                                  </p:childTnLst>
                                </p:cTn>
                              </p:par>
                              <p:par>
                                <p:cTn id="136" presetID="10" presetClass="entr" presetSubtype="0" fill="hold" grpId="0" nodeType="withEffect">
                                  <p:stCondLst>
                                    <p:cond delay="120"/>
                                  </p:stCondLst>
                                  <p:childTnLst>
                                    <p:set>
                                      <p:cBhvr>
                                        <p:cTn id="137" dur="1" fill="hold">
                                          <p:stCondLst>
                                            <p:cond delay="0"/>
                                          </p:stCondLst>
                                        </p:cTn>
                                        <p:tgtEl>
                                          <p:spTgt spid="53"/>
                                        </p:tgtEl>
                                        <p:attrNameLst>
                                          <p:attrName>style.visibility</p:attrName>
                                        </p:attrNameLst>
                                      </p:cBhvr>
                                      <p:to>
                                        <p:strVal val="visible"/>
                                      </p:to>
                                    </p:set>
                                    <p:animEffect transition="in" filter="fade">
                                      <p:cBhvr>
                                        <p:cTn id="138" dur="450"/>
                                        <p:tgtEl>
                                          <p:spTgt spid="53"/>
                                        </p:tgtEl>
                                      </p:cBhvr>
                                    </p:animEffect>
                                  </p:childTnLst>
                                </p:cTn>
                              </p:par>
                              <p:par>
                                <p:cTn id="139" presetID="10" presetClass="entr" presetSubtype="0" fill="hold" grpId="0" nodeType="withEffect">
                                  <p:stCondLst>
                                    <p:cond delay="240"/>
                                  </p:stCondLst>
                                  <p:childTnLst>
                                    <p:set>
                                      <p:cBhvr>
                                        <p:cTn id="140" dur="1" fill="hold">
                                          <p:stCondLst>
                                            <p:cond delay="0"/>
                                          </p:stCondLst>
                                        </p:cTn>
                                        <p:tgtEl>
                                          <p:spTgt spid="54"/>
                                        </p:tgtEl>
                                        <p:attrNameLst>
                                          <p:attrName>style.visibility</p:attrName>
                                        </p:attrNameLst>
                                      </p:cBhvr>
                                      <p:to>
                                        <p:strVal val="visible"/>
                                      </p:to>
                                    </p:set>
                                    <p:animEffect transition="in" filter="fade">
                                      <p:cBhvr>
                                        <p:cTn id="141" dur="450"/>
                                        <p:tgtEl>
                                          <p:spTgt spid="54"/>
                                        </p:tgtEl>
                                      </p:cBhvr>
                                    </p:animEffect>
                                  </p:childTnLst>
                                </p:cTn>
                              </p:par>
                              <p:par>
                                <p:cTn id="142" presetID="10" presetClass="entr" presetSubtype="0" fill="hold" grpId="0" nodeType="withEffect">
                                  <p:stCondLst>
                                    <p:cond delay="360"/>
                                  </p:stCondLst>
                                  <p:childTnLst>
                                    <p:set>
                                      <p:cBhvr>
                                        <p:cTn id="143" dur="1" fill="hold">
                                          <p:stCondLst>
                                            <p:cond delay="0"/>
                                          </p:stCondLst>
                                        </p:cTn>
                                        <p:tgtEl>
                                          <p:spTgt spid="55"/>
                                        </p:tgtEl>
                                        <p:attrNameLst>
                                          <p:attrName>style.visibility</p:attrName>
                                        </p:attrNameLst>
                                      </p:cBhvr>
                                      <p:to>
                                        <p:strVal val="visible"/>
                                      </p:to>
                                    </p:set>
                                    <p:animEffect transition="in" filter="fade">
                                      <p:cBhvr>
                                        <p:cTn id="144" dur="450"/>
                                        <p:tgtEl>
                                          <p:spTgt spid="55"/>
                                        </p:tgtEl>
                                      </p:cBhvr>
                                    </p:animEffect>
                                  </p:childTnLst>
                                </p:cTn>
                              </p:par>
                              <p:par>
                                <p:cTn id="145" presetID="10" presetClass="entr" presetSubtype="0" fill="hold" grpId="0" nodeType="withEffect">
                                  <p:stCondLst>
                                    <p:cond delay="480"/>
                                  </p:stCondLst>
                                  <p:childTnLst>
                                    <p:set>
                                      <p:cBhvr>
                                        <p:cTn id="146" dur="1" fill="hold">
                                          <p:stCondLst>
                                            <p:cond delay="0"/>
                                          </p:stCondLst>
                                        </p:cTn>
                                        <p:tgtEl>
                                          <p:spTgt spid="56"/>
                                        </p:tgtEl>
                                        <p:attrNameLst>
                                          <p:attrName>style.visibility</p:attrName>
                                        </p:attrNameLst>
                                      </p:cBhvr>
                                      <p:to>
                                        <p:strVal val="visible"/>
                                      </p:to>
                                    </p:set>
                                    <p:animEffect transition="in" filter="fade">
                                      <p:cBhvr>
                                        <p:cTn id="147" dur="450"/>
                                        <p:tgtEl>
                                          <p:spTgt spid="56"/>
                                        </p:tgtEl>
                                      </p:cBhvr>
                                    </p:animEffect>
                                  </p:childTnLst>
                                </p:cTn>
                              </p:par>
                              <p:par>
                                <p:cTn id="148" presetID="10" presetClass="entr" presetSubtype="0" fill="hold" grpId="0" nodeType="withEffect">
                                  <p:stCondLst>
                                    <p:cond delay="600"/>
                                  </p:stCondLst>
                                  <p:childTnLst>
                                    <p:set>
                                      <p:cBhvr>
                                        <p:cTn id="149" dur="1" fill="hold">
                                          <p:stCondLst>
                                            <p:cond delay="0"/>
                                          </p:stCondLst>
                                        </p:cTn>
                                        <p:tgtEl>
                                          <p:spTgt spid="57"/>
                                        </p:tgtEl>
                                        <p:attrNameLst>
                                          <p:attrName>style.visibility</p:attrName>
                                        </p:attrNameLst>
                                      </p:cBhvr>
                                      <p:to>
                                        <p:strVal val="visible"/>
                                      </p:to>
                                    </p:set>
                                    <p:animEffect transition="in" filter="fade">
                                      <p:cBhvr>
                                        <p:cTn id="150" dur="450"/>
                                        <p:tgtEl>
                                          <p:spTgt spid="57"/>
                                        </p:tgtEl>
                                      </p:cBhvr>
                                    </p:animEffect>
                                  </p:childTnLst>
                                </p:cTn>
                              </p:par>
                              <p:par>
                                <p:cTn id="151" presetID="10" presetClass="entr" presetSubtype="0" fill="hold" grpId="0" nodeType="withEffect">
                                  <p:stCondLst>
                                    <p:cond delay="720"/>
                                  </p:stCondLst>
                                  <p:childTnLst>
                                    <p:set>
                                      <p:cBhvr>
                                        <p:cTn id="152" dur="1" fill="hold">
                                          <p:stCondLst>
                                            <p:cond delay="0"/>
                                          </p:stCondLst>
                                        </p:cTn>
                                        <p:tgtEl>
                                          <p:spTgt spid="58"/>
                                        </p:tgtEl>
                                        <p:attrNameLst>
                                          <p:attrName>style.visibility</p:attrName>
                                        </p:attrNameLst>
                                      </p:cBhvr>
                                      <p:to>
                                        <p:strVal val="visible"/>
                                      </p:to>
                                    </p:set>
                                    <p:animEffect transition="in" filter="fade">
                                      <p:cBhvr>
                                        <p:cTn id="153" dur="450"/>
                                        <p:tgtEl>
                                          <p:spTgt spid="58"/>
                                        </p:tgtEl>
                                      </p:cBhvr>
                                    </p:animEffect>
                                  </p:childTnLst>
                                </p:cTn>
                              </p:par>
                              <p:par>
                                <p:cTn id="154" presetID="10" presetClass="entr" presetSubtype="0" fill="hold" grpId="0" nodeType="withEffect">
                                  <p:stCondLst>
                                    <p:cond delay="840"/>
                                  </p:stCondLst>
                                  <p:childTnLst>
                                    <p:set>
                                      <p:cBhvr>
                                        <p:cTn id="155" dur="1" fill="hold">
                                          <p:stCondLst>
                                            <p:cond delay="0"/>
                                          </p:stCondLst>
                                        </p:cTn>
                                        <p:tgtEl>
                                          <p:spTgt spid="59"/>
                                        </p:tgtEl>
                                        <p:attrNameLst>
                                          <p:attrName>style.visibility</p:attrName>
                                        </p:attrNameLst>
                                      </p:cBhvr>
                                      <p:to>
                                        <p:strVal val="visible"/>
                                      </p:to>
                                    </p:set>
                                    <p:animEffect transition="in" filter="fade">
                                      <p:cBhvr>
                                        <p:cTn id="156" dur="450"/>
                                        <p:tgtEl>
                                          <p:spTgt spid="59"/>
                                        </p:tgtEl>
                                      </p:cBhvr>
                                    </p:animEffect>
                                  </p:childTnLst>
                                </p:cTn>
                              </p:par>
                              <p:par>
                                <p:cTn id="157" presetID="10" presetClass="entr" presetSubtype="0" fill="hold" grpId="0" nodeType="withEffect">
                                  <p:stCondLst>
                                    <p:cond delay="960"/>
                                  </p:stCondLst>
                                  <p:childTnLst>
                                    <p:set>
                                      <p:cBhvr>
                                        <p:cTn id="158" dur="1" fill="hold">
                                          <p:stCondLst>
                                            <p:cond delay="0"/>
                                          </p:stCondLst>
                                        </p:cTn>
                                        <p:tgtEl>
                                          <p:spTgt spid="60"/>
                                        </p:tgtEl>
                                        <p:attrNameLst>
                                          <p:attrName>style.visibility</p:attrName>
                                        </p:attrNameLst>
                                      </p:cBhvr>
                                      <p:to>
                                        <p:strVal val="visible"/>
                                      </p:to>
                                    </p:set>
                                    <p:animEffect transition="in" filter="fade">
                                      <p:cBhvr>
                                        <p:cTn id="159" dur="450"/>
                                        <p:tgtEl>
                                          <p:spTgt spid="60"/>
                                        </p:tgtEl>
                                      </p:cBhvr>
                                    </p:animEffect>
                                  </p:childTnLst>
                                </p:cTn>
                              </p:par>
                              <p:par>
                                <p:cTn id="160" presetID="10" presetClass="entr" presetSubtype="0" fill="hold" grpId="0" nodeType="withEffect">
                                  <p:stCondLst>
                                    <p:cond delay="1080"/>
                                  </p:stCondLst>
                                  <p:childTnLst>
                                    <p:set>
                                      <p:cBhvr>
                                        <p:cTn id="161" dur="1" fill="hold">
                                          <p:stCondLst>
                                            <p:cond delay="0"/>
                                          </p:stCondLst>
                                        </p:cTn>
                                        <p:tgtEl>
                                          <p:spTgt spid="61"/>
                                        </p:tgtEl>
                                        <p:attrNameLst>
                                          <p:attrName>style.visibility</p:attrName>
                                        </p:attrNameLst>
                                      </p:cBhvr>
                                      <p:to>
                                        <p:strVal val="visible"/>
                                      </p:to>
                                    </p:set>
                                    <p:animEffect transition="in" filter="fade">
                                      <p:cBhvr>
                                        <p:cTn id="162" dur="450"/>
                                        <p:tgtEl>
                                          <p:spTgt spid="61"/>
                                        </p:tgtEl>
                                      </p:cBhvr>
                                    </p:animEffect>
                                  </p:childTnLst>
                                </p:cTn>
                              </p:par>
                              <p:par>
                                <p:cTn id="163" presetID="10" presetClass="entr" presetSubtype="0" fill="hold" grpId="0" nodeType="withEffect">
                                  <p:stCondLst>
                                    <p:cond delay="1200"/>
                                  </p:stCondLst>
                                  <p:childTnLst>
                                    <p:set>
                                      <p:cBhvr>
                                        <p:cTn id="164" dur="1" fill="hold">
                                          <p:stCondLst>
                                            <p:cond delay="0"/>
                                          </p:stCondLst>
                                        </p:cTn>
                                        <p:tgtEl>
                                          <p:spTgt spid="62"/>
                                        </p:tgtEl>
                                        <p:attrNameLst>
                                          <p:attrName>style.visibility</p:attrName>
                                        </p:attrNameLst>
                                      </p:cBhvr>
                                      <p:to>
                                        <p:strVal val="visible"/>
                                      </p:to>
                                    </p:set>
                                    <p:animEffect transition="in" filter="fade">
                                      <p:cBhvr>
                                        <p:cTn id="165" dur="450"/>
                                        <p:tgtEl>
                                          <p:spTgt spid="62"/>
                                        </p:tgtEl>
                                      </p:cBhvr>
                                    </p:animEffect>
                                  </p:childTnLst>
                                </p:cTn>
                              </p:par>
                              <p:par>
                                <p:cTn id="166" presetID="10" presetClass="entr" presetSubtype="0" fill="hold" grpId="0" nodeType="withEffect">
                                  <p:stCondLst>
                                    <p:cond delay="1320"/>
                                  </p:stCondLst>
                                  <p:childTnLst>
                                    <p:set>
                                      <p:cBhvr>
                                        <p:cTn id="167" dur="1" fill="hold">
                                          <p:stCondLst>
                                            <p:cond delay="0"/>
                                          </p:stCondLst>
                                        </p:cTn>
                                        <p:tgtEl>
                                          <p:spTgt spid="63"/>
                                        </p:tgtEl>
                                        <p:attrNameLst>
                                          <p:attrName>style.visibility</p:attrName>
                                        </p:attrNameLst>
                                      </p:cBhvr>
                                      <p:to>
                                        <p:strVal val="visible"/>
                                      </p:to>
                                    </p:set>
                                    <p:animEffect transition="in" filter="fade">
                                      <p:cBhvr>
                                        <p:cTn id="168" dur="45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OBJECTIFS ET DÉROULÉ DE LA SESSION</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Oval 4"/>
          <p:cNvSpPr/>
          <p:nvPr/>
        </p:nvSpPr>
        <p:spPr>
          <a:xfrm>
            <a:off x="393162" y="740634"/>
            <a:ext cx="237802" cy="237802"/>
          </a:xfrm>
          <a:prstGeom prst="ellipse">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46951" y="794423"/>
            <a:ext cx="130225" cy="130225"/>
          </a:xfrm>
          <a:prstGeom prst="ellipse">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89416" y="836888"/>
            <a:ext cx="45295" cy="45295"/>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CE QUE VOUS SAUREZ FAIRE À LA FIN DE LA JOURNÉE</a:t>
            </a:r>
          </a:p>
        </p:txBody>
      </p:sp>
      <p:sp>
        <p:nvSpPr>
          <p:cNvPr id="9" name="Rectangle 8"/>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2" name="TextBox 11"/>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03 / 20</a:t>
            </a:r>
          </a:p>
        </p:txBody>
      </p:sp>
      <p:sp>
        <p:nvSpPr>
          <p:cNvPr id="13" name="Rounded Rectangle 12"/>
          <p:cNvSpPr/>
          <p:nvPr/>
        </p:nvSpPr>
        <p:spPr>
          <a:xfrm>
            <a:off x="365760" y="1143000"/>
            <a:ext cx="4023360" cy="34290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65760" y="1143000"/>
            <a:ext cx="4023360"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81998" y="1185793"/>
            <a:ext cx="169858" cy="188732"/>
          </a:xfrm>
          <a:prstGeom prst="rect">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505590" y="1218822"/>
            <a:ext cx="49542" cy="33028"/>
          </a:xfrm>
          <a:custGeom>
            <a:avLst/>
            <a:gdLst/>
            <a:ahLst/>
            <a:cxnLst/>
            <a:rect l="l" t="t" r="r" b="b"/>
            <a:pathLst>
              <a:path w="49542" h="33028">
                <a:moveTo>
                  <a:pt x="0" y="14154"/>
                </a:moveTo>
                <a:lnTo>
                  <a:pt x="18873" y="33028"/>
                </a:lnTo>
                <a:lnTo>
                  <a:pt x="49542"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576364" y="1235336"/>
            <a:ext cx="51901" cy="0"/>
          </a:xfrm>
          <a:custGeom>
            <a:avLst/>
            <a:gdLst/>
            <a:ahLst/>
            <a:cxnLst/>
            <a:rect l="l" t="t" r="r" b="b"/>
            <a:pathLst>
              <a:path w="51901" h="0">
                <a:moveTo>
                  <a:pt x="0" y="0"/>
                </a:moveTo>
                <a:lnTo>
                  <a:pt x="5190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505590" y="1270723"/>
            <a:ext cx="49542" cy="33028"/>
          </a:xfrm>
          <a:custGeom>
            <a:avLst/>
            <a:gdLst/>
            <a:ahLst/>
            <a:cxnLst/>
            <a:rect l="l" t="t" r="r" b="b"/>
            <a:pathLst>
              <a:path w="49542" h="33028">
                <a:moveTo>
                  <a:pt x="0" y="14155"/>
                </a:moveTo>
                <a:lnTo>
                  <a:pt x="18873" y="33028"/>
                </a:lnTo>
                <a:lnTo>
                  <a:pt x="49542"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576364" y="1287237"/>
            <a:ext cx="51901" cy="0"/>
          </a:xfrm>
          <a:custGeom>
            <a:avLst/>
            <a:gdLst/>
            <a:ahLst/>
            <a:cxnLst/>
            <a:rect l="l" t="t" r="r" b="b"/>
            <a:pathLst>
              <a:path w="51901" h="0">
                <a:moveTo>
                  <a:pt x="0" y="0"/>
                </a:moveTo>
                <a:lnTo>
                  <a:pt x="5190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505590" y="1322624"/>
            <a:ext cx="49542" cy="33028"/>
          </a:xfrm>
          <a:custGeom>
            <a:avLst/>
            <a:gdLst/>
            <a:ahLst/>
            <a:cxnLst/>
            <a:rect l="l" t="t" r="r" b="b"/>
            <a:pathLst>
              <a:path w="49542" h="33028">
                <a:moveTo>
                  <a:pt x="0" y="14155"/>
                </a:moveTo>
                <a:lnTo>
                  <a:pt x="18873" y="33028"/>
                </a:lnTo>
                <a:lnTo>
                  <a:pt x="49542"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576364" y="1339138"/>
            <a:ext cx="51901" cy="0"/>
          </a:xfrm>
          <a:custGeom>
            <a:avLst/>
            <a:gdLst/>
            <a:ahLst/>
            <a:cxnLst/>
            <a:rect l="l" t="t" r="r" b="b"/>
            <a:pathLst>
              <a:path w="51901" h="0">
                <a:moveTo>
                  <a:pt x="0" y="0"/>
                </a:moveTo>
                <a:lnTo>
                  <a:pt x="5190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1143000"/>
            <a:ext cx="3529584"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OBJECTIFS PÉDAGOGIQUES</a:t>
            </a:r>
          </a:p>
        </p:txBody>
      </p:sp>
      <p:sp>
        <p:nvSpPr>
          <p:cNvPr id="23" name="TextBox 22"/>
          <p:cNvSpPr txBox="1"/>
          <p:nvPr/>
        </p:nvSpPr>
        <p:spPr>
          <a:xfrm>
            <a:off x="530352" y="1563624"/>
            <a:ext cx="3694176" cy="2880360"/>
          </a:xfrm>
          <a:prstGeom prst="rect">
            <a:avLst/>
          </a:prstGeom>
          <a:noFill/>
        </p:spPr>
        <p:txBody>
          <a:bodyPr wrap="square" lIns="0" rIns="0" tIns="0" bIns="0" anchor="t">
            <a:spAutoFit/>
          </a:bodyPr>
          <a:lstStyle/>
          <a:p>
            <a:pPr algn="l" marL="152400" indent="-152400">
              <a:lnSpc>
                <a:spcPct val="105000"/>
              </a:lnSpc>
              <a:spcAft>
                <a:spcPts val="1700"/>
              </a:spcAft>
              <a:buClr>
                <a:srgbClr val="009A56"/>
              </a:buClr>
              <a:buFont typeface="Arial" pitchFamily="34" charset="0"/>
              <a:buChar char="▪"/>
            </a:pPr>
            <a:r>
              <a:rPr sz="1050" b="0" i="0">
                <a:solidFill>
                  <a:srgbClr val="333333"/>
                </a:solidFill>
                <a:latin typeface="Calibri"/>
                <a:ea typeface="Calibri"/>
                <a:cs typeface="Calibri"/>
              </a:rPr>
              <a:t>Me connecter et reconnaître le périmètre associé à mon profil</a:t>
            </a:r>
          </a:p>
          <a:p>
            <a:pPr algn="l" marL="152400" indent="-152400">
              <a:lnSpc>
                <a:spcPct val="105000"/>
              </a:lnSpc>
              <a:spcAft>
                <a:spcPts val="1700"/>
              </a:spcAft>
              <a:buClr>
                <a:srgbClr val="009A56"/>
              </a:buClr>
              <a:buFont typeface="Arial" pitchFamily="34" charset="0"/>
              <a:buChar char="▪"/>
            </a:pPr>
            <a:r>
              <a:rPr sz="1050" b="0" i="0">
                <a:solidFill>
                  <a:srgbClr val="333333"/>
                </a:solidFill>
                <a:latin typeface="Calibri"/>
                <a:ea typeface="Calibri"/>
                <a:cs typeface="Calibri"/>
              </a:rPr>
              <a:t>Lire un tableau de bord et interpréter les taux affichés</a:t>
            </a:r>
          </a:p>
          <a:p>
            <a:pPr algn="l" marL="152400" indent="-152400">
              <a:lnSpc>
                <a:spcPct val="105000"/>
              </a:lnSpc>
              <a:spcAft>
                <a:spcPts val="1700"/>
              </a:spcAft>
              <a:buClr>
                <a:srgbClr val="009A56"/>
              </a:buClr>
              <a:buFont typeface="Arial" pitchFamily="34" charset="0"/>
              <a:buChar char="▪"/>
            </a:pPr>
            <a:r>
              <a:rPr sz="1050" b="0" i="0">
                <a:solidFill>
                  <a:srgbClr val="333333"/>
                </a:solidFill>
                <a:latin typeface="Calibri"/>
                <a:ea typeface="Calibri"/>
                <a:cs typeface="Calibri"/>
              </a:rPr>
              <a:t>Distinguer complétude et qualité, stock et flux</a:t>
            </a:r>
          </a:p>
          <a:p>
            <a:pPr algn="l" marL="152400" indent="-152400">
              <a:lnSpc>
                <a:spcPct val="105000"/>
              </a:lnSpc>
              <a:spcAft>
                <a:spcPts val="1700"/>
              </a:spcAft>
              <a:buClr>
                <a:srgbClr val="009A56"/>
              </a:buClr>
              <a:buFont typeface="Arial" pitchFamily="34" charset="0"/>
              <a:buChar char="▪"/>
            </a:pPr>
            <a:r>
              <a:rPr sz="1050" b="0" i="0">
                <a:solidFill>
                  <a:srgbClr val="333333"/>
                </a:solidFill>
                <a:latin typeface="Calibri"/>
                <a:ea typeface="Calibri"/>
                <a:cs typeface="Calibri"/>
              </a:rPr>
              <a:t>Extraire la liste de mes dossiers à corriger et la traiter</a:t>
            </a:r>
          </a:p>
          <a:p>
            <a:pPr algn="l" marL="152400" indent="-152400">
              <a:lnSpc>
                <a:spcPct val="105000"/>
              </a:lnSpc>
              <a:spcAft>
                <a:spcPts val="1700"/>
              </a:spcAft>
              <a:buClr>
                <a:srgbClr val="009A56"/>
              </a:buClr>
              <a:buFont typeface="Arial" pitchFamily="34" charset="0"/>
              <a:buChar char="▪"/>
            </a:pPr>
            <a:r>
              <a:rPr sz="1050" b="0" i="0">
                <a:solidFill>
                  <a:srgbClr val="333333"/>
                </a:solidFill>
                <a:latin typeface="Calibri"/>
                <a:ea typeface="Calibri"/>
                <a:cs typeface="Calibri"/>
              </a:rPr>
              <a:t>Charger un lot de documents et valider un rapprochement</a:t>
            </a:r>
          </a:p>
          <a:p>
            <a:pPr algn="l" marL="152400" indent="-152400">
              <a:lnSpc>
                <a:spcPct val="105000"/>
              </a:lnSpc>
              <a:spcAft>
                <a:spcPts val="1700"/>
              </a:spcAft>
              <a:buClr>
                <a:srgbClr val="009A56"/>
              </a:buClr>
              <a:buFont typeface="Arial" pitchFamily="34" charset="0"/>
              <a:buChar char="▪"/>
            </a:pPr>
            <a:r>
              <a:rPr sz="1050" b="0" i="0">
                <a:solidFill>
                  <a:srgbClr val="333333"/>
                </a:solidFill>
                <a:latin typeface="Calibri"/>
                <a:ea typeface="Calibri"/>
                <a:cs typeface="Calibri"/>
              </a:rPr>
              <a:t>Inscrire la plateforme dans mon rituel de travail quotidien</a:t>
            </a:r>
          </a:p>
        </p:txBody>
      </p:sp>
      <p:sp>
        <p:nvSpPr>
          <p:cNvPr id="24" name="Rounded Rectangle 23"/>
          <p:cNvSpPr/>
          <p:nvPr/>
        </p:nvSpPr>
        <p:spPr>
          <a:xfrm>
            <a:off x="4754880" y="1143000"/>
            <a:ext cx="4023360" cy="3429000"/>
          </a:xfrm>
          <a:prstGeom prst="roundRect">
            <a:avLst>
              <a:gd name="adj" fmla="val 6000"/>
            </a:avLst>
          </a:prstGeom>
          <a:solidFill>
            <a:srgbClr val="F0F7F4"/>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754880" y="1143000"/>
            <a:ext cx="4023360" cy="2743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4861681" y="1185793"/>
            <a:ext cx="188732" cy="188732"/>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4956048" y="1223540"/>
            <a:ext cx="0" cy="56620"/>
          </a:xfrm>
          <a:custGeom>
            <a:avLst/>
            <a:gdLst/>
            <a:ahLst/>
            <a:cxnLst/>
            <a:rect l="l" t="t" r="r" b="b"/>
            <a:pathLst>
              <a:path w="0" h="56620">
                <a:moveTo>
                  <a:pt x="0" y="56620"/>
                </a:moveTo>
                <a:lnTo>
                  <a:pt x="0"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Freeform 27"/>
          <p:cNvSpPr/>
          <p:nvPr/>
        </p:nvSpPr>
        <p:spPr>
          <a:xfrm>
            <a:off x="4956048" y="1280160"/>
            <a:ext cx="44823" cy="23591"/>
          </a:xfrm>
          <a:custGeom>
            <a:avLst/>
            <a:gdLst/>
            <a:ahLst/>
            <a:cxnLst/>
            <a:rect l="l" t="t" r="r" b="b"/>
            <a:pathLst>
              <a:path w="44823" h="23591">
                <a:moveTo>
                  <a:pt x="0" y="0"/>
                </a:moveTo>
                <a:lnTo>
                  <a:pt x="44823" y="23591"/>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38928" y="1143000"/>
            <a:ext cx="3529584"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DÉROULÉ DE LA SESSION</a:t>
            </a:r>
          </a:p>
        </p:txBody>
      </p:sp>
      <p:sp>
        <p:nvSpPr>
          <p:cNvPr id="30" name="TextBox 29"/>
          <p:cNvSpPr txBox="1"/>
          <p:nvPr/>
        </p:nvSpPr>
        <p:spPr>
          <a:xfrm>
            <a:off x="4919472" y="1664208"/>
            <a:ext cx="777240" cy="420624"/>
          </a:xfrm>
          <a:prstGeom prst="rect">
            <a:avLst/>
          </a:prstGeom>
          <a:noFill/>
        </p:spPr>
        <p:txBody>
          <a:bodyPr wrap="square" lIns="0" rIns="0" tIns="0" bIns="0" anchor="ctr">
            <a:spAutoFit/>
          </a:bodyPr>
          <a:lstStyle/>
          <a:p>
            <a:pPr algn="l"/>
            <a:r>
              <a:rPr sz="1050" b="1" i="0">
                <a:solidFill>
                  <a:srgbClr val="009A56"/>
                </a:solidFill>
                <a:latin typeface="Calibri"/>
                <a:ea typeface="Calibri"/>
                <a:cs typeface="Calibri"/>
              </a:rPr>
              <a:t>09h00</a:t>
            </a:r>
          </a:p>
        </p:txBody>
      </p:sp>
      <p:sp>
        <p:nvSpPr>
          <p:cNvPr id="31" name="TextBox 30"/>
          <p:cNvSpPr txBox="1"/>
          <p:nvPr/>
        </p:nvSpPr>
        <p:spPr>
          <a:xfrm>
            <a:off x="5715000" y="1664208"/>
            <a:ext cx="2926080" cy="420624"/>
          </a:xfrm>
          <a:prstGeom prst="rect">
            <a:avLst/>
          </a:prstGeom>
          <a:noFill/>
        </p:spPr>
        <p:txBody>
          <a:bodyPr wrap="square" lIns="0" rIns="0" tIns="0" bIns="0" anchor="ctr">
            <a:spAutoFit/>
          </a:bodyPr>
          <a:lstStyle/>
          <a:p>
            <a:pPr algn="l">
              <a:lnSpc>
                <a:spcPct val="100000"/>
              </a:lnSpc>
            </a:pPr>
            <a:r>
              <a:rPr sz="950" b="0" i="0">
                <a:solidFill>
                  <a:srgbClr val="333333"/>
                </a:solidFill>
                <a:latin typeface="Calibri"/>
                <a:ea typeface="Calibri"/>
                <a:cs typeface="Calibri"/>
              </a:rPr>
              <a:t>Contexte, enjeux et tour de la plateforme</a:t>
            </a:r>
          </a:p>
        </p:txBody>
      </p:sp>
      <p:sp>
        <p:nvSpPr>
          <p:cNvPr id="32" name="Rectangle 31"/>
          <p:cNvSpPr/>
          <p:nvPr/>
        </p:nvSpPr>
        <p:spPr>
          <a:xfrm>
            <a:off x="4937760" y="2121408"/>
            <a:ext cx="3657600"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19472" y="2148840"/>
            <a:ext cx="777240" cy="420624"/>
          </a:xfrm>
          <a:prstGeom prst="rect">
            <a:avLst/>
          </a:prstGeom>
          <a:noFill/>
        </p:spPr>
        <p:txBody>
          <a:bodyPr wrap="square" lIns="0" rIns="0" tIns="0" bIns="0" anchor="ctr">
            <a:spAutoFit/>
          </a:bodyPr>
          <a:lstStyle/>
          <a:p>
            <a:pPr algn="l"/>
            <a:r>
              <a:rPr sz="1050" b="1" i="0">
                <a:solidFill>
                  <a:srgbClr val="009A56"/>
                </a:solidFill>
                <a:latin typeface="Calibri"/>
                <a:ea typeface="Calibri"/>
                <a:cs typeface="Calibri"/>
              </a:rPr>
              <a:t>10h00</a:t>
            </a:r>
          </a:p>
        </p:txBody>
      </p:sp>
      <p:sp>
        <p:nvSpPr>
          <p:cNvPr id="34" name="TextBox 33"/>
          <p:cNvSpPr txBox="1"/>
          <p:nvPr/>
        </p:nvSpPr>
        <p:spPr>
          <a:xfrm>
            <a:off x="5715000" y="2148840"/>
            <a:ext cx="2926080" cy="420624"/>
          </a:xfrm>
          <a:prstGeom prst="rect">
            <a:avLst/>
          </a:prstGeom>
          <a:noFill/>
        </p:spPr>
        <p:txBody>
          <a:bodyPr wrap="square" lIns="0" rIns="0" tIns="0" bIns="0" anchor="ctr">
            <a:spAutoFit/>
          </a:bodyPr>
          <a:lstStyle/>
          <a:p>
            <a:pPr algn="l">
              <a:lnSpc>
                <a:spcPct val="100000"/>
              </a:lnSpc>
            </a:pPr>
            <a:r>
              <a:rPr sz="950" b="0" i="0">
                <a:solidFill>
                  <a:srgbClr val="333333"/>
                </a:solidFill>
                <a:latin typeface="Calibri"/>
                <a:ea typeface="Calibri"/>
                <a:cs typeface="Calibri"/>
              </a:rPr>
              <a:t>Accès, périmètre et habilitations</a:t>
            </a:r>
          </a:p>
        </p:txBody>
      </p:sp>
      <p:sp>
        <p:nvSpPr>
          <p:cNvPr id="35" name="Rectangle 34"/>
          <p:cNvSpPr/>
          <p:nvPr/>
        </p:nvSpPr>
        <p:spPr>
          <a:xfrm>
            <a:off x="4937760" y="2606040"/>
            <a:ext cx="3657600"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919472" y="2633472"/>
            <a:ext cx="777240" cy="420624"/>
          </a:xfrm>
          <a:prstGeom prst="rect">
            <a:avLst/>
          </a:prstGeom>
          <a:noFill/>
        </p:spPr>
        <p:txBody>
          <a:bodyPr wrap="square" lIns="0" rIns="0" tIns="0" bIns="0" anchor="ctr">
            <a:spAutoFit/>
          </a:bodyPr>
          <a:lstStyle/>
          <a:p>
            <a:pPr algn="l"/>
            <a:r>
              <a:rPr sz="1050" b="1" i="0">
                <a:solidFill>
                  <a:srgbClr val="009A56"/>
                </a:solidFill>
                <a:latin typeface="Calibri"/>
                <a:ea typeface="Calibri"/>
                <a:cs typeface="Calibri"/>
              </a:rPr>
              <a:t>11h00</a:t>
            </a:r>
          </a:p>
        </p:txBody>
      </p:sp>
      <p:sp>
        <p:nvSpPr>
          <p:cNvPr id="37" name="TextBox 36"/>
          <p:cNvSpPr txBox="1"/>
          <p:nvPr/>
        </p:nvSpPr>
        <p:spPr>
          <a:xfrm>
            <a:off x="5715000" y="2633472"/>
            <a:ext cx="2926080" cy="420624"/>
          </a:xfrm>
          <a:prstGeom prst="rect">
            <a:avLst/>
          </a:prstGeom>
          <a:noFill/>
        </p:spPr>
        <p:txBody>
          <a:bodyPr wrap="square" lIns="0" rIns="0" tIns="0" bIns="0" anchor="ctr">
            <a:spAutoFit/>
          </a:bodyPr>
          <a:lstStyle/>
          <a:p>
            <a:pPr algn="l">
              <a:lnSpc>
                <a:spcPct val="100000"/>
              </a:lnSpc>
            </a:pPr>
            <a:r>
              <a:rPr sz="950" b="0" i="0">
                <a:solidFill>
                  <a:srgbClr val="333333"/>
                </a:solidFill>
                <a:latin typeface="Calibri"/>
                <a:ea typeface="Calibri"/>
                <a:cs typeface="Calibri"/>
              </a:rPr>
              <a:t>Indicateurs : complétude, qualité, stock et flux</a:t>
            </a:r>
          </a:p>
        </p:txBody>
      </p:sp>
      <p:sp>
        <p:nvSpPr>
          <p:cNvPr id="38" name="Rectangle 37"/>
          <p:cNvSpPr/>
          <p:nvPr/>
        </p:nvSpPr>
        <p:spPr>
          <a:xfrm>
            <a:off x="4937760" y="3090672"/>
            <a:ext cx="3657600"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919472" y="3118104"/>
            <a:ext cx="777240" cy="420624"/>
          </a:xfrm>
          <a:prstGeom prst="rect">
            <a:avLst/>
          </a:prstGeom>
          <a:noFill/>
        </p:spPr>
        <p:txBody>
          <a:bodyPr wrap="square" lIns="0" rIns="0" tIns="0" bIns="0" anchor="ctr">
            <a:spAutoFit/>
          </a:bodyPr>
          <a:lstStyle/>
          <a:p>
            <a:pPr algn="l"/>
            <a:r>
              <a:rPr sz="1050" b="1" i="0">
                <a:solidFill>
                  <a:srgbClr val="009A56"/>
                </a:solidFill>
                <a:latin typeface="Calibri"/>
                <a:ea typeface="Calibri"/>
                <a:cs typeface="Calibri"/>
              </a:rPr>
              <a:t>14h00</a:t>
            </a:r>
          </a:p>
        </p:txBody>
      </p:sp>
      <p:sp>
        <p:nvSpPr>
          <p:cNvPr id="40" name="TextBox 39"/>
          <p:cNvSpPr txBox="1"/>
          <p:nvPr/>
        </p:nvSpPr>
        <p:spPr>
          <a:xfrm>
            <a:off x="5715000" y="3118104"/>
            <a:ext cx="2926080" cy="420624"/>
          </a:xfrm>
          <a:prstGeom prst="rect">
            <a:avLst/>
          </a:prstGeom>
          <a:noFill/>
        </p:spPr>
        <p:txBody>
          <a:bodyPr wrap="square" lIns="0" rIns="0" tIns="0" bIns="0" anchor="ctr">
            <a:spAutoFit/>
          </a:bodyPr>
          <a:lstStyle/>
          <a:p>
            <a:pPr algn="l">
              <a:lnSpc>
                <a:spcPct val="100000"/>
              </a:lnSpc>
            </a:pPr>
            <a:r>
              <a:rPr sz="950" b="0" i="0">
                <a:solidFill>
                  <a:srgbClr val="333333"/>
                </a:solidFill>
                <a:latin typeface="Calibri"/>
                <a:ea typeface="Calibri"/>
                <a:cs typeface="Calibri"/>
              </a:rPr>
              <a:t>Règles qualité et exploitation des listes</a:t>
            </a:r>
          </a:p>
        </p:txBody>
      </p:sp>
      <p:sp>
        <p:nvSpPr>
          <p:cNvPr id="41" name="Rectangle 40"/>
          <p:cNvSpPr/>
          <p:nvPr/>
        </p:nvSpPr>
        <p:spPr>
          <a:xfrm>
            <a:off x="4937760" y="3575304"/>
            <a:ext cx="3657600"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919472" y="3602736"/>
            <a:ext cx="777240" cy="420624"/>
          </a:xfrm>
          <a:prstGeom prst="rect">
            <a:avLst/>
          </a:prstGeom>
          <a:noFill/>
        </p:spPr>
        <p:txBody>
          <a:bodyPr wrap="square" lIns="0" rIns="0" tIns="0" bIns="0" anchor="ctr">
            <a:spAutoFit/>
          </a:bodyPr>
          <a:lstStyle/>
          <a:p>
            <a:pPr algn="l"/>
            <a:r>
              <a:rPr sz="1050" b="1" i="0">
                <a:solidFill>
                  <a:srgbClr val="009A56"/>
                </a:solidFill>
                <a:latin typeface="Calibri"/>
                <a:ea typeface="Calibri"/>
                <a:cs typeface="Calibri"/>
              </a:rPr>
              <a:t>15h00</a:t>
            </a:r>
          </a:p>
        </p:txBody>
      </p:sp>
      <p:sp>
        <p:nvSpPr>
          <p:cNvPr id="43" name="TextBox 42"/>
          <p:cNvSpPr txBox="1"/>
          <p:nvPr/>
        </p:nvSpPr>
        <p:spPr>
          <a:xfrm>
            <a:off x="5715000" y="3602736"/>
            <a:ext cx="2926080" cy="420624"/>
          </a:xfrm>
          <a:prstGeom prst="rect">
            <a:avLst/>
          </a:prstGeom>
          <a:noFill/>
        </p:spPr>
        <p:txBody>
          <a:bodyPr wrap="square" lIns="0" rIns="0" tIns="0" bIns="0" anchor="ctr">
            <a:spAutoFit/>
          </a:bodyPr>
          <a:lstStyle/>
          <a:p>
            <a:pPr algn="l">
              <a:lnSpc>
                <a:spcPct val="100000"/>
              </a:lnSpc>
            </a:pPr>
            <a:r>
              <a:rPr sz="950" b="0" i="0">
                <a:solidFill>
                  <a:srgbClr val="333333"/>
                </a:solidFill>
                <a:latin typeface="Calibri"/>
                <a:ea typeface="Calibri"/>
                <a:cs typeface="Calibri"/>
              </a:rPr>
              <a:t>Screening KYC ID : atelier sur cas réels</a:t>
            </a:r>
          </a:p>
        </p:txBody>
      </p:sp>
      <p:sp>
        <p:nvSpPr>
          <p:cNvPr id="44" name="Rectangle 43"/>
          <p:cNvSpPr/>
          <p:nvPr/>
        </p:nvSpPr>
        <p:spPr>
          <a:xfrm>
            <a:off x="4937760" y="4059936"/>
            <a:ext cx="3657600"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4919472" y="4087368"/>
            <a:ext cx="777240" cy="420624"/>
          </a:xfrm>
          <a:prstGeom prst="rect">
            <a:avLst/>
          </a:prstGeom>
          <a:noFill/>
        </p:spPr>
        <p:txBody>
          <a:bodyPr wrap="square" lIns="0" rIns="0" tIns="0" bIns="0" anchor="ctr">
            <a:spAutoFit/>
          </a:bodyPr>
          <a:lstStyle/>
          <a:p>
            <a:pPr algn="l"/>
            <a:r>
              <a:rPr sz="1050" b="1" i="0">
                <a:solidFill>
                  <a:srgbClr val="009A56"/>
                </a:solidFill>
                <a:latin typeface="Calibri"/>
                <a:ea typeface="Calibri"/>
                <a:cs typeface="Calibri"/>
              </a:rPr>
              <a:t>16h30</a:t>
            </a:r>
          </a:p>
        </p:txBody>
      </p:sp>
      <p:sp>
        <p:nvSpPr>
          <p:cNvPr id="46" name="TextBox 45"/>
          <p:cNvSpPr txBox="1"/>
          <p:nvPr/>
        </p:nvSpPr>
        <p:spPr>
          <a:xfrm>
            <a:off x="5715000" y="4087368"/>
            <a:ext cx="2926080" cy="420624"/>
          </a:xfrm>
          <a:prstGeom prst="rect">
            <a:avLst/>
          </a:prstGeom>
          <a:noFill/>
        </p:spPr>
        <p:txBody>
          <a:bodyPr wrap="square" lIns="0" rIns="0" tIns="0" bIns="0" anchor="ctr">
            <a:spAutoFit/>
          </a:bodyPr>
          <a:lstStyle/>
          <a:p>
            <a:pPr algn="l">
              <a:lnSpc>
                <a:spcPct val="100000"/>
              </a:lnSpc>
            </a:pPr>
            <a:r>
              <a:rPr sz="950" b="0" i="0">
                <a:solidFill>
                  <a:srgbClr val="333333"/>
                </a:solidFill>
                <a:latin typeface="Calibri"/>
                <a:ea typeface="Calibri"/>
                <a:cs typeface="Calibri"/>
              </a:rPr>
              <a:t>Rituels, questions et évaluation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3"/>
                                        </p:tgtEl>
                                        <p:attrNameLst>
                                          <p:attrName>style.visibility</p:attrName>
                                        </p:attrNameLst>
                                      </p:cBhvr>
                                      <p:to>
                                        <p:strVal val="visible"/>
                                      </p:to>
                                    </p:set>
                                    <p:animEffect transition="in" filter="fade">
                                      <p:cBhvr>
                                        <p:cTn id="5" dur="450"/>
                                        <p:tgtEl>
                                          <p:spTgt spid="13"/>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4"/>
                                        </p:tgtEl>
                                        <p:attrNameLst>
                                          <p:attrName>style.visibility</p:attrName>
                                        </p:attrNameLst>
                                      </p:cBhvr>
                                      <p:to>
                                        <p:strVal val="visible"/>
                                      </p:to>
                                    </p:set>
                                    <p:animEffect transition="in" filter="fade">
                                      <p:cBhvr>
                                        <p:cTn id="8" dur="450"/>
                                        <p:tgtEl>
                                          <p:spTgt spid="14"/>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450"/>
                                        <p:tgtEl>
                                          <p:spTgt spid="15"/>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450"/>
                                        <p:tgtEl>
                                          <p:spTgt spid="16"/>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50"/>
                                        <p:tgtEl>
                                          <p:spTgt spid="17"/>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450"/>
                                        <p:tgtEl>
                                          <p:spTgt spid="18"/>
                                        </p:tgtEl>
                                      </p:cBhvr>
                                    </p:animEffect>
                                  </p:childTnLst>
                                </p:cTn>
                              </p:par>
                              <p:par>
                                <p:cTn id="21" presetID="10" presetClass="entr" presetSubtype="0" fill="hold" grpId="0" nodeType="withEffect">
                                  <p:stCondLst>
                                    <p:cond delay="72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450"/>
                                        <p:tgtEl>
                                          <p:spTgt spid="19"/>
                                        </p:tgtEl>
                                      </p:cBhvr>
                                    </p:animEffect>
                                  </p:childTnLst>
                                </p:cTn>
                              </p:par>
                              <p:par>
                                <p:cTn id="24" presetID="10" presetClass="entr" presetSubtype="0" fill="hold" grpId="0" nodeType="withEffect">
                                  <p:stCondLst>
                                    <p:cond delay="84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450"/>
                                        <p:tgtEl>
                                          <p:spTgt spid="20"/>
                                        </p:tgtEl>
                                      </p:cBhvr>
                                    </p:animEffect>
                                  </p:childTnLst>
                                </p:cTn>
                              </p:par>
                              <p:par>
                                <p:cTn id="27" presetID="10" presetClass="entr" presetSubtype="0" fill="hold" grpId="0" nodeType="withEffect">
                                  <p:stCondLst>
                                    <p:cond delay="96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450"/>
                                        <p:tgtEl>
                                          <p:spTgt spid="21"/>
                                        </p:tgtEl>
                                      </p:cBhvr>
                                    </p:animEffect>
                                  </p:childTnLst>
                                </p:cTn>
                              </p:par>
                              <p:par>
                                <p:cTn id="30" presetID="10" presetClass="entr" presetSubtype="0" fill="hold" grpId="0" nodeType="withEffect">
                                  <p:stCondLst>
                                    <p:cond delay="108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450"/>
                                        <p:tgtEl>
                                          <p:spTgt spid="22"/>
                                        </p:tgtEl>
                                      </p:cBhvr>
                                    </p:animEffect>
                                  </p:childTnLst>
                                </p:cTn>
                              </p:par>
                              <p:par>
                                <p:cTn id="33" presetID="10" presetClass="entr" presetSubtype="0" fill="hold" grpId="0" nodeType="withEffect">
                                  <p:stCondLst>
                                    <p:cond delay="120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450"/>
                                        <p:tgtEl>
                                          <p:spTgt spid="23"/>
                                        </p:tgtEl>
                                      </p:cBhvr>
                                    </p:animEffect>
                                  </p:childTnLst>
                                </p:cTn>
                              </p:par>
                            </p:childTnLst>
                          </p:cTn>
                        </p:par>
                      </p:childTnLst>
                    </p:cTn>
                  </p:par>
                  <p:par>
                    <p:cTn id="56" fill="hold">
                      <p:stCondLst>
                        <p:cond delay="indefinite"/>
                      </p:stCondLst>
                      <p:childTnLst>
                        <p:par>
                          <p:cTn id="5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450"/>
                                        <p:tgtEl>
                                          <p:spTgt spid="24"/>
                                        </p:tgtEl>
                                      </p:cBhvr>
                                    </p:animEffect>
                                  </p:childTnLst>
                                </p:cTn>
                              </p:par>
                              <p:par>
                                <p:cTn id="41" presetID="10" presetClass="entr" presetSubtype="0" fill="hold" grpId="0" nodeType="withEffect">
                                  <p:stCondLst>
                                    <p:cond delay="12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450"/>
                                        <p:tgtEl>
                                          <p:spTgt spid="25"/>
                                        </p:tgtEl>
                                      </p:cBhvr>
                                    </p:animEffect>
                                  </p:childTnLst>
                                </p:cTn>
                              </p:par>
                              <p:par>
                                <p:cTn id="44" presetID="10" presetClass="entr" presetSubtype="0" fill="hold" grpId="0" nodeType="withEffect">
                                  <p:stCondLst>
                                    <p:cond delay="24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450"/>
                                        <p:tgtEl>
                                          <p:spTgt spid="26"/>
                                        </p:tgtEl>
                                      </p:cBhvr>
                                    </p:animEffect>
                                  </p:childTnLst>
                                </p:cTn>
                              </p:par>
                              <p:par>
                                <p:cTn id="47" presetID="10" presetClass="entr" presetSubtype="0" fill="hold" grpId="0" nodeType="withEffect">
                                  <p:stCondLst>
                                    <p:cond delay="36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450"/>
                                        <p:tgtEl>
                                          <p:spTgt spid="27"/>
                                        </p:tgtEl>
                                      </p:cBhvr>
                                    </p:animEffect>
                                  </p:childTnLst>
                                </p:cTn>
                              </p:par>
                              <p:par>
                                <p:cTn id="50" presetID="10" presetClass="entr" presetSubtype="0" fill="hold" grpId="0" nodeType="withEffect">
                                  <p:stCondLst>
                                    <p:cond delay="48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50"/>
                                        <p:tgtEl>
                                          <p:spTgt spid="28"/>
                                        </p:tgtEl>
                                      </p:cBhvr>
                                    </p:animEffect>
                                  </p:childTnLst>
                                </p:cTn>
                              </p:par>
                              <p:par>
                                <p:cTn id="53" presetID="10" presetClass="entr" presetSubtype="0" fill="hold" grpId="0" nodeType="withEffect">
                                  <p:stCondLst>
                                    <p:cond delay="60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4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I.  CONTEXTE ET OBJECTIFS</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Oval 4"/>
          <p:cNvSpPr/>
          <p:nvPr/>
        </p:nvSpPr>
        <p:spPr>
          <a:xfrm>
            <a:off x="393162" y="740634"/>
            <a:ext cx="237802" cy="237802"/>
          </a:xfrm>
          <a:prstGeom prst="ellipse">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466768" y="814240"/>
            <a:ext cx="90591" cy="90591"/>
          </a:xfrm>
          <a:custGeom>
            <a:avLst/>
            <a:gdLst/>
            <a:ahLst/>
            <a:cxnLst/>
            <a:rect l="l" t="t" r="r" b="b"/>
            <a:pathLst>
              <a:path w="90591" h="90591">
                <a:moveTo>
                  <a:pt x="90591" y="0"/>
                </a:moveTo>
                <a:lnTo>
                  <a:pt x="62281" y="62281"/>
                </a:lnTo>
                <a:lnTo>
                  <a:pt x="0" y="90591"/>
                </a:lnTo>
                <a:lnTo>
                  <a:pt x="28310" y="28310"/>
                </a:lnTo>
                <a:close/>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POURQUOI UNE PLATEFORME DE FIABILISATION KYC</a:t>
            </a:r>
          </a:p>
        </p:txBody>
      </p:sp>
      <p:sp>
        <p:nvSpPr>
          <p:cNvPr id="8" name="Rectangle 7"/>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1" name="TextBox 10"/>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04 / 20</a:t>
            </a:r>
          </a:p>
        </p:txBody>
      </p:sp>
      <p:sp>
        <p:nvSpPr>
          <p:cNvPr id="12" name="Rounded Rectangle 11"/>
          <p:cNvSpPr/>
          <p:nvPr/>
        </p:nvSpPr>
        <p:spPr>
          <a:xfrm>
            <a:off x="365760" y="1143000"/>
            <a:ext cx="4023360" cy="34290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365760" y="1143000"/>
            <a:ext cx="4023360" cy="2743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Freeform 13"/>
          <p:cNvSpPr/>
          <p:nvPr/>
        </p:nvSpPr>
        <p:spPr>
          <a:xfrm>
            <a:off x="463125" y="1185793"/>
            <a:ext cx="207605" cy="184014"/>
          </a:xfrm>
          <a:custGeom>
            <a:avLst/>
            <a:gdLst/>
            <a:ahLst/>
            <a:cxnLst/>
            <a:rect l="l" t="t" r="r" b="b"/>
            <a:pathLst>
              <a:path w="207605" h="184014">
                <a:moveTo>
                  <a:pt x="103803" y="0"/>
                </a:moveTo>
                <a:lnTo>
                  <a:pt x="207605" y="184014"/>
                </a:lnTo>
                <a:lnTo>
                  <a:pt x="0" y="184014"/>
                </a:lnTo>
                <a:close/>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566928" y="1256568"/>
            <a:ext cx="0" cy="51901"/>
          </a:xfrm>
          <a:custGeom>
            <a:avLst/>
            <a:gdLst/>
            <a:ahLst/>
            <a:cxnLst/>
            <a:rect l="l" t="t" r="r" b="b"/>
            <a:pathLst>
              <a:path w="0" h="51901">
                <a:moveTo>
                  <a:pt x="0" y="0"/>
                </a:moveTo>
                <a:lnTo>
                  <a:pt x="0" y="51901"/>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132" y="1327343"/>
            <a:ext cx="23591" cy="23591"/>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1143000"/>
            <a:ext cx="3529584"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LE CONSTAT</a:t>
            </a:r>
          </a:p>
        </p:txBody>
      </p:sp>
      <p:sp>
        <p:nvSpPr>
          <p:cNvPr id="18" name="TextBox 17"/>
          <p:cNvSpPr txBox="1"/>
          <p:nvPr/>
        </p:nvSpPr>
        <p:spPr>
          <a:xfrm>
            <a:off x="530352" y="1572768"/>
            <a:ext cx="3703320" cy="2834640"/>
          </a:xfrm>
          <a:prstGeom prst="rect">
            <a:avLst/>
          </a:prstGeom>
          <a:noFill/>
        </p:spPr>
        <p:txBody>
          <a:bodyPr wrap="square" lIns="0" rIns="0" tIns="0" bIns="0" anchor="t">
            <a:spAutoFit/>
          </a:bodyPr>
          <a:lstStyle/>
          <a:p>
            <a:pPr algn="l">
              <a:lnSpc>
                <a:spcPct val="105000"/>
              </a:lnSpc>
              <a:spcAft>
                <a:spcPts val="1700"/>
              </a:spcAft>
            </a:pPr>
            <a:r>
              <a:rPr sz="1050" b="0" i="0">
                <a:solidFill>
                  <a:srgbClr val="333333"/>
                </a:solidFill>
                <a:latin typeface="Calibri"/>
                <a:ea typeface="Calibri"/>
                <a:cs typeface="Calibri"/>
              </a:rPr>
              <a:t>Les dossiers clients de la filiale comportent des champs manquants, obsolètes ou saisis dans des formats hétérogènes.</a:t>
            </a:r>
          </a:p>
          <a:p>
            <a:pPr algn="l">
              <a:lnSpc>
                <a:spcPct val="105000"/>
              </a:lnSpc>
              <a:spcAft>
                <a:spcPts val="1700"/>
              </a:spcAft>
            </a:pPr>
            <a:r>
              <a:rPr sz="1050" b="0" i="0">
                <a:solidFill>
                  <a:srgbClr val="333333"/>
                </a:solidFill>
                <a:latin typeface="Calibri"/>
                <a:ea typeface="Calibri"/>
                <a:cs typeface="Calibri"/>
              </a:rPr>
              <a:t>Les pièces d'identité sont archivées sous forme d'images : l'information existe, mais elle n'est pas exploitable en masse.</a:t>
            </a:r>
          </a:p>
          <a:p>
            <a:pPr algn="l">
              <a:lnSpc>
                <a:spcPct val="105000"/>
              </a:lnSpc>
              <a:spcAft>
                <a:spcPts val="1700"/>
              </a:spcAft>
            </a:pPr>
            <a:r>
              <a:rPr sz="1050" b="0" i="0">
                <a:solidFill>
                  <a:srgbClr val="333333"/>
                </a:solidFill>
                <a:latin typeface="Calibri"/>
                <a:ea typeface="Calibri"/>
                <a:cs typeface="Calibri"/>
              </a:rPr>
              <a:t>Les campagnes de mise à jour reposent sur des extractions manuelles, sans mesure fiable de la progression.</a:t>
            </a:r>
          </a:p>
          <a:p>
            <a:pPr algn="l">
              <a:lnSpc>
                <a:spcPct val="105000"/>
              </a:lnSpc>
              <a:spcAft>
                <a:spcPts val="1700"/>
              </a:spcAft>
            </a:pPr>
            <a:r>
              <a:rPr sz="1050" b="0" i="0">
                <a:solidFill>
                  <a:srgbClr val="333333"/>
                </a:solidFill>
                <a:latin typeface="Calibri"/>
                <a:ea typeface="Calibri"/>
                <a:cs typeface="Calibri"/>
              </a:rPr>
              <a:t>Faute d'outil commun, chaque agence mesure sa qualité à sa manière : les comparaisons et les objectifs deviennent impossibles à tenir.</a:t>
            </a:r>
          </a:p>
        </p:txBody>
      </p:sp>
      <p:sp>
        <p:nvSpPr>
          <p:cNvPr id="19" name="Rounded Rectangle 18"/>
          <p:cNvSpPr/>
          <p:nvPr/>
        </p:nvSpPr>
        <p:spPr>
          <a:xfrm>
            <a:off x="4754880" y="1143000"/>
            <a:ext cx="4023360" cy="34290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754880" y="1143000"/>
            <a:ext cx="4023360"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856963" y="1181075"/>
            <a:ext cx="198168" cy="198168"/>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904146" y="1240054"/>
            <a:ext cx="108521" cy="82570"/>
          </a:xfrm>
          <a:custGeom>
            <a:avLst/>
            <a:gdLst/>
            <a:ahLst/>
            <a:cxnLst/>
            <a:rect l="l" t="t" r="r" b="b"/>
            <a:pathLst>
              <a:path w="108521" h="82570">
                <a:moveTo>
                  <a:pt x="0" y="44824"/>
                </a:moveTo>
                <a:lnTo>
                  <a:pt x="37747" y="82570"/>
                </a:lnTo>
                <a:lnTo>
                  <a:pt x="10852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1143000"/>
            <a:ext cx="3529584"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CE QUE LA PLATEFORME APPORTE</a:t>
            </a:r>
          </a:p>
        </p:txBody>
      </p:sp>
      <p:sp>
        <p:nvSpPr>
          <p:cNvPr id="24" name="TextBox 23"/>
          <p:cNvSpPr txBox="1"/>
          <p:nvPr/>
        </p:nvSpPr>
        <p:spPr>
          <a:xfrm>
            <a:off x="4919472" y="1572768"/>
            <a:ext cx="3703320" cy="457200"/>
          </a:xfrm>
          <a:prstGeom prst="rect">
            <a:avLst/>
          </a:prstGeom>
          <a:noFill/>
        </p:spPr>
        <p:txBody>
          <a:bodyPr wrap="square" lIns="0" rIns="0" tIns="0" bIns="0" anchor="t">
            <a:spAutoFit/>
          </a:bodyPr>
          <a:lstStyle/>
          <a:p>
            <a:pPr algn="l">
              <a:lnSpc>
                <a:spcPct val="105000"/>
              </a:lnSpc>
            </a:pPr>
            <a:r>
              <a:rPr sz="1050" b="1" i="0">
                <a:solidFill>
                  <a:srgbClr val="009A56"/>
                </a:solidFill>
                <a:latin typeface="Calibri"/>
                <a:ea typeface="Calibri"/>
                <a:cs typeface="Calibri"/>
              </a:rPr>
              <a:t>Une mesure partagée et quotidienne</a:t>
            </a:r>
            <a:r>
              <a:rPr sz="1050" b="0" i="0">
                <a:solidFill>
                  <a:srgbClr val="333333"/>
                </a:solidFill>
                <a:latin typeface="Calibri"/>
                <a:ea typeface="Calibri"/>
                <a:cs typeface="Calibri"/>
              </a:rPr>
              <a:t> de la qualité du référentiel client, du Groupe jusqu'au chargé de clientèle.</a:t>
            </a:r>
          </a:p>
        </p:txBody>
      </p:sp>
      <p:sp>
        <p:nvSpPr>
          <p:cNvPr id="25" name="TextBox 24"/>
          <p:cNvSpPr txBox="1"/>
          <p:nvPr/>
        </p:nvSpPr>
        <p:spPr>
          <a:xfrm>
            <a:off x="4919472" y="2194560"/>
            <a:ext cx="3703320" cy="2194560"/>
          </a:xfrm>
          <a:prstGeom prst="rect">
            <a:avLst/>
          </a:prstGeom>
          <a:noFill/>
        </p:spPr>
        <p:txBody>
          <a:bodyPr wrap="square" lIns="0" rIns="0" tIns="0" bIns="0" anchor="t">
            <a:spAutoFit/>
          </a:bodyPr>
          <a:lstStyle/>
          <a:p>
            <a:pPr algn="l" marL="152400" indent="-152400">
              <a:lnSpc>
                <a:spcPct val="105000"/>
              </a:lnSpc>
              <a:spcAft>
                <a:spcPts val="1500"/>
              </a:spcAft>
              <a:buClr>
                <a:srgbClr val="009A56"/>
              </a:buClr>
              <a:buFont typeface="Arial" pitchFamily="34" charset="0"/>
              <a:buChar char="▪"/>
            </a:pPr>
            <a:r>
              <a:rPr sz="1050" b="0" i="0">
                <a:solidFill>
                  <a:srgbClr val="333333"/>
                </a:solidFill>
                <a:latin typeface="Calibri"/>
                <a:ea typeface="Calibri"/>
                <a:cs typeface="Calibri"/>
              </a:rPr>
              <a:t>Des taux de complétude et de qualité calculés chaque matin</a:t>
            </a:r>
          </a:p>
          <a:p>
            <a:pPr algn="l" marL="152400" indent="-152400">
              <a:lnSpc>
                <a:spcPct val="105000"/>
              </a:lnSpc>
              <a:spcAft>
                <a:spcPts val="1500"/>
              </a:spcAft>
              <a:buClr>
                <a:srgbClr val="009A56"/>
              </a:buClr>
              <a:buFont typeface="Arial" pitchFamily="34" charset="0"/>
              <a:buChar char="▪"/>
            </a:pPr>
            <a:r>
              <a:rPr sz="1050" b="0" i="0">
                <a:solidFill>
                  <a:srgbClr val="333333"/>
                </a:solidFill>
                <a:latin typeface="Calibri"/>
                <a:ea typeface="Calibri"/>
                <a:cs typeface="Calibri"/>
              </a:rPr>
              <a:t>Des listes nominatives de dossiers à corriger, par agence et par chargé</a:t>
            </a:r>
          </a:p>
          <a:p>
            <a:pPr algn="l" marL="152400" indent="-152400">
              <a:lnSpc>
                <a:spcPct val="105000"/>
              </a:lnSpc>
              <a:spcAft>
                <a:spcPts val="1500"/>
              </a:spcAft>
              <a:buClr>
                <a:srgbClr val="009A56"/>
              </a:buClr>
              <a:buFont typeface="Arial" pitchFamily="34" charset="0"/>
              <a:buChar char="▪"/>
            </a:pPr>
            <a:r>
              <a:rPr sz="1050" b="0" i="0">
                <a:solidFill>
                  <a:srgbClr val="333333"/>
                </a:solidFill>
                <a:latin typeface="Calibri"/>
                <a:ea typeface="Calibri"/>
                <a:cs typeface="Calibri"/>
              </a:rPr>
              <a:t>Des règles de contrôle paramétrables et tracées</a:t>
            </a:r>
          </a:p>
          <a:p>
            <a:pPr algn="l" marL="152400" indent="-152400">
              <a:lnSpc>
                <a:spcPct val="105000"/>
              </a:lnSpc>
              <a:spcAft>
                <a:spcPts val="1500"/>
              </a:spcAft>
              <a:buClr>
                <a:srgbClr val="009A56"/>
              </a:buClr>
              <a:buFont typeface="Arial" pitchFamily="34" charset="0"/>
              <a:buChar char="▪"/>
            </a:pPr>
            <a:r>
              <a:rPr sz="1050" b="0" i="0">
                <a:solidFill>
                  <a:srgbClr val="333333"/>
                </a:solidFill>
                <a:latin typeface="Calibri"/>
                <a:ea typeface="Calibri"/>
                <a:cs typeface="Calibri"/>
              </a:rPr>
              <a:t>L'extraction automatique des pièces d'identité scannées</a:t>
            </a:r>
          </a:p>
          <a:p>
            <a:pPr algn="l" marL="152400" indent="-152400">
              <a:lnSpc>
                <a:spcPct val="105000"/>
              </a:lnSpc>
              <a:spcAft>
                <a:spcPts val="1500"/>
              </a:spcAft>
              <a:buClr>
                <a:srgbClr val="009A56"/>
              </a:buClr>
              <a:buFont typeface="Arial" pitchFamily="34" charset="0"/>
              <a:buChar char="▪"/>
            </a:pPr>
            <a:r>
              <a:rPr sz="1050" b="0" i="0">
                <a:solidFill>
                  <a:srgbClr val="333333"/>
                </a:solidFill>
                <a:latin typeface="Calibri"/>
                <a:ea typeface="Calibri"/>
                <a:cs typeface="Calibri"/>
              </a:rPr>
              <a:t>Une validation humaine avant toute mise à jour du corebanking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2"/>
                                        </p:tgtEl>
                                        <p:attrNameLst>
                                          <p:attrName>style.visibility</p:attrName>
                                        </p:attrNameLst>
                                      </p:cBhvr>
                                      <p:to>
                                        <p:strVal val="visible"/>
                                      </p:to>
                                    </p:set>
                                    <p:animEffect transition="in" filter="fade">
                                      <p:cBhvr>
                                        <p:cTn id="5" dur="450"/>
                                        <p:tgtEl>
                                          <p:spTgt spid="12"/>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3"/>
                                        </p:tgtEl>
                                        <p:attrNameLst>
                                          <p:attrName>style.visibility</p:attrName>
                                        </p:attrNameLst>
                                      </p:cBhvr>
                                      <p:to>
                                        <p:strVal val="visible"/>
                                      </p:to>
                                    </p:set>
                                    <p:animEffect transition="in" filter="fade">
                                      <p:cBhvr>
                                        <p:cTn id="8" dur="450"/>
                                        <p:tgtEl>
                                          <p:spTgt spid="13"/>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50"/>
                                        <p:tgtEl>
                                          <p:spTgt spid="14"/>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450"/>
                                        <p:tgtEl>
                                          <p:spTgt spid="15"/>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450"/>
                                        <p:tgtEl>
                                          <p:spTgt spid="16"/>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450"/>
                                        <p:tgtEl>
                                          <p:spTgt spid="17"/>
                                        </p:tgtEl>
                                      </p:cBhvr>
                                    </p:animEffect>
                                  </p:childTnLst>
                                </p:cTn>
                              </p:par>
                              <p:par>
                                <p:cTn id="21" presetID="10" presetClass="entr" presetSubtype="0" fill="hold" grpId="0" nodeType="withEffect">
                                  <p:stCondLst>
                                    <p:cond delay="72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50"/>
                                        <p:tgtEl>
                                          <p:spTgt spid="18"/>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50"/>
                                        <p:tgtEl>
                                          <p:spTgt spid="19"/>
                                        </p:tgtEl>
                                      </p:cBhvr>
                                    </p:animEffect>
                                  </p:childTnLst>
                                </p:cTn>
                              </p:par>
                              <p:par>
                                <p:cTn id="29" presetID="10" presetClass="entr" presetSubtype="0" fill="hold" grpId="0" nodeType="withEffect">
                                  <p:stCondLst>
                                    <p:cond delay="12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50"/>
                                        <p:tgtEl>
                                          <p:spTgt spid="20"/>
                                        </p:tgtEl>
                                      </p:cBhvr>
                                    </p:animEffect>
                                  </p:childTnLst>
                                </p:cTn>
                              </p:par>
                              <p:par>
                                <p:cTn id="32" presetID="10" presetClass="entr" presetSubtype="0" fill="hold" grpId="0" nodeType="withEffect">
                                  <p:stCondLst>
                                    <p:cond delay="24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50"/>
                                        <p:tgtEl>
                                          <p:spTgt spid="21"/>
                                        </p:tgtEl>
                                      </p:cBhvr>
                                    </p:animEffect>
                                  </p:childTnLst>
                                </p:cTn>
                              </p:par>
                              <p:par>
                                <p:cTn id="35" presetID="10" presetClass="entr" presetSubtype="0" fill="hold" grpId="0" nodeType="withEffect">
                                  <p:stCondLst>
                                    <p:cond delay="36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50"/>
                                        <p:tgtEl>
                                          <p:spTgt spid="22"/>
                                        </p:tgtEl>
                                      </p:cBhvr>
                                    </p:animEffect>
                                  </p:childTnLst>
                                </p:cTn>
                              </p:par>
                              <p:par>
                                <p:cTn id="38" presetID="10" presetClass="entr" presetSubtype="0" fill="hold" grpId="0" nodeType="withEffect">
                                  <p:stCondLst>
                                    <p:cond delay="48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1" presetID="10" presetClass="entr" presetSubtype="0" fill="hold" grpId="0" nodeType="withEffect">
                                  <p:stCondLst>
                                    <p:cond delay="60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4" presetID="10" presetClass="entr" presetSubtype="0" fill="hold" grpId="0" nodeType="withEffect">
                                  <p:stCondLst>
                                    <p:cond delay="72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I.  CONTEXTE ET OBJECTIFS</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Oval 4"/>
          <p:cNvSpPr/>
          <p:nvPr/>
        </p:nvSpPr>
        <p:spPr>
          <a:xfrm>
            <a:off x="438458" y="751958"/>
            <a:ext cx="147211" cy="147211"/>
          </a:xfrm>
          <a:prstGeom prst="ellipse">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478092" y="882183"/>
            <a:ext cx="67943" cy="50958"/>
          </a:xfrm>
          <a:custGeom>
            <a:avLst/>
            <a:gdLst/>
            <a:ahLst/>
            <a:cxnLst/>
            <a:rect l="l" t="t" r="r" b="b"/>
            <a:pathLst>
              <a:path w="67943" h="50958">
                <a:moveTo>
                  <a:pt x="0" y="0"/>
                </a:moveTo>
                <a:lnTo>
                  <a:pt x="0" y="50958"/>
                </a:lnTo>
                <a:lnTo>
                  <a:pt x="67943" y="50958"/>
                </a:lnTo>
                <a:lnTo>
                  <a:pt x="67943"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486585" y="961451"/>
            <a:ext cx="50957" cy="0"/>
          </a:xfrm>
          <a:custGeom>
            <a:avLst/>
            <a:gdLst/>
            <a:ahLst/>
            <a:cxnLst/>
            <a:rect l="l" t="t" r="r" b="b"/>
            <a:pathLst>
              <a:path w="50957" h="0">
                <a:moveTo>
                  <a:pt x="0" y="0"/>
                </a:moveTo>
                <a:lnTo>
                  <a:pt x="50957"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QUATRE REPÈRES À GARDER EN TÊTE</a:t>
            </a:r>
          </a:p>
        </p:txBody>
      </p:sp>
      <p:sp>
        <p:nvSpPr>
          <p:cNvPr id="9" name="Rectangle 8"/>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2" name="TextBox 11"/>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05 / 20</a:t>
            </a:r>
          </a:p>
        </p:txBody>
      </p:sp>
      <p:sp>
        <p:nvSpPr>
          <p:cNvPr id="13" name="Rounded Rectangle 12"/>
          <p:cNvSpPr/>
          <p:nvPr/>
        </p:nvSpPr>
        <p:spPr>
          <a:xfrm>
            <a:off x="365760" y="1188720"/>
            <a:ext cx="1965960" cy="1783080"/>
          </a:xfrm>
          <a:prstGeom prst="roundRect">
            <a:avLst>
              <a:gd name="adj" fmla="val 6000"/>
            </a:avLst>
          </a:prstGeom>
          <a:solidFill>
            <a:srgbClr val="F0F7F4"/>
          </a:solidFill>
          <a:ln w="12700">
            <a:solidFill>
              <a:srgbClr val="C8E6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Freeform 13"/>
          <p:cNvSpPr/>
          <p:nvPr/>
        </p:nvSpPr>
        <p:spPr>
          <a:xfrm>
            <a:off x="1238017" y="1273459"/>
            <a:ext cx="221445" cy="62910"/>
          </a:xfrm>
          <a:custGeom>
            <a:avLst/>
            <a:gdLst/>
            <a:ahLst/>
            <a:cxnLst/>
            <a:rect l="l" t="t" r="r" b="b"/>
            <a:pathLst>
              <a:path w="221445" h="62910">
                <a:moveTo>
                  <a:pt x="0" y="62910"/>
                </a:moveTo>
                <a:lnTo>
                  <a:pt x="110723" y="0"/>
                </a:lnTo>
                <a:lnTo>
                  <a:pt x="221445" y="62910"/>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1248082" y="1353984"/>
            <a:ext cx="201315" cy="0"/>
          </a:xfrm>
          <a:custGeom>
            <a:avLst/>
            <a:gdLst/>
            <a:ahLst/>
            <a:cxnLst/>
            <a:rect l="l" t="t" r="r" b="b"/>
            <a:pathLst>
              <a:path w="201315" h="0">
                <a:moveTo>
                  <a:pt x="0" y="0"/>
                </a:moveTo>
                <a:lnTo>
                  <a:pt x="201315" y="0"/>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1283312" y="1366567"/>
            <a:ext cx="0" cy="80525"/>
          </a:xfrm>
          <a:custGeom>
            <a:avLst/>
            <a:gdLst/>
            <a:ahLst/>
            <a:cxnLst/>
            <a:rect l="l" t="t" r="r" b="b"/>
            <a:pathLst>
              <a:path w="0" h="80525">
                <a:moveTo>
                  <a:pt x="0" y="0"/>
                </a:moveTo>
                <a:lnTo>
                  <a:pt x="0" y="80525"/>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1348740" y="1366567"/>
            <a:ext cx="0" cy="80525"/>
          </a:xfrm>
          <a:custGeom>
            <a:avLst/>
            <a:gdLst/>
            <a:ahLst/>
            <a:cxnLst/>
            <a:rect l="l" t="t" r="r" b="b"/>
            <a:pathLst>
              <a:path w="0" h="80525">
                <a:moveTo>
                  <a:pt x="0" y="0"/>
                </a:moveTo>
                <a:lnTo>
                  <a:pt x="0" y="80525"/>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1414167" y="1366567"/>
            <a:ext cx="0" cy="80525"/>
          </a:xfrm>
          <a:custGeom>
            <a:avLst/>
            <a:gdLst/>
            <a:ahLst/>
            <a:cxnLst/>
            <a:rect l="l" t="t" r="r" b="b"/>
            <a:pathLst>
              <a:path w="0" h="80525">
                <a:moveTo>
                  <a:pt x="0" y="0"/>
                </a:moveTo>
                <a:lnTo>
                  <a:pt x="0" y="80525"/>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238017" y="1472257"/>
            <a:ext cx="221445" cy="0"/>
          </a:xfrm>
          <a:custGeom>
            <a:avLst/>
            <a:gdLst/>
            <a:ahLst/>
            <a:cxnLst/>
            <a:rect l="l" t="t" r="r" b="b"/>
            <a:pathLst>
              <a:path w="221445" h="0">
                <a:moveTo>
                  <a:pt x="0" y="0"/>
                </a:moveTo>
                <a:lnTo>
                  <a:pt x="221445" y="0"/>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1499616"/>
            <a:ext cx="1965960" cy="603504"/>
          </a:xfrm>
          <a:prstGeom prst="rect">
            <a:avLst/>
          </a:prstGeom>
          <a:noFill/>
        </p:spPr>
        <p:txBody>
          <a:bodyPr wrap="square" lIns="0" rIns="0" tIns="0" bIns="0" anchor="ctr">
            <a:spAutoFit/>
          </a:bodyPr>
          <a:lstStyle/>
          <a:p>
            <a:pPr algn="ctr"/>
            <a:r>
              <a:rPr sz="3400" b="1" i="0">
                <a:solidFill>
                  <a:srgbClr val="009A56"/>
                </a:solidFill>
                <a:latin typeface="Calibri"/>
                <a:ea typeface="Calibri"/>
                <a:cs typeface="Calibri"/>
              </a:rPr>
              <a:t>4</a:t>
            </a:r>
          </a:p>
        </p:txBody>
      </p:sp>
      <p:sp>
        <p:nvSpPr>
          <p:cNvPr id="21" name="TextBox 20"/>
          <p:cNvSpPr txBox="1"/>
          <p:nvPr/>
        </p:nvSpPr>
        <p:spPr>
          <a:xfrm>
            <a:off x="475488" y="2121408"/>
            <a:ext cx="1746504" cy="256032"/>
          </a:xfrm>
          <a:prstGeom prst="rect">
            <a:avLst/>
          </a:prstGeom>
          <a:noFill/>
        </p:spPr>
        <p:txBody>
          <a:bodyPr wrap="square" lIns="0" rIns="0" tIns="0" bIns="0" anchor="ctr">
            <a:spAutoFit/>
          </a:bodyPr>
          <a:lstStyle/>
          <a:p>
            <a:pPr algn="ctr"/>
            <a:r>
              <a:rPr sz="950" b="1" i="0">
                <a:solidFill>
                  <a:srgbClr val="1B2A4A"/>
                </a:solidFill>
                <a:latin typeface="Calibri"/>
                <a:ea typeface="Calibri"/>
                <a:cs typeface="Calibri"/>
              </a:rPr>
              <a:t>NIVEAUX DE PILOTAGE</a:t>
            </a:r>
          </a:p>
        </p:txBody>
      </p:sp>
      <p:sp>
        <p:nvSpPr>
          <p:cNvPr id="22" name="TextBox 21"/>
          <p:cNvSpPr txBox="1"/>
          <p:nvPr/>
        </p:nvSpPr>
        <p:spPr>
          <a:xfrm>
            <a:off x="475488" y="2395728"/>
            <a:ext cx="1746504" cy="548640"/>
          </a:xfrm>
          <a:prstGeom prst="rect">
            <a:avLst/>
          </a:prstGeom>
          <a:noFill/>
        </p:spPr>
        <p:txBody>
          <a:bodyPr wrap="square" lIns="0" rIns="0" tIns="0" bIns="0" anchor="t">
            <a:spAutoFit/>
          </a:bodyPr>
          <a:lstStyle/>
          <a:p>
            <a:pPr algn="ctr">
              <a:lnSpc>
                <a:spcPct val="105000"/>
              </a:lnSpc>
            </a:pPr>
            <a:r>
              <a:rPr sz="850" b="0" i="0">
                <a:solidFill>
                  <a:srgbClr val="666666"/>
                </a:solidFill>
                <a:latin typeface="Calibri"/>
                <a:ea typeface="Calibri"/>
                <a:cs typeface="Calibri"/>
              </a:rPr>
              <a:t>Groupe, filiale, agence et chargé de clientèle</a:t>
            </a:r>
          </a:p>
        </p:txBody>
      </p:sp>
      <p:sp>
        <p:nvSpPr>
          <p:cNvPr id="23" name="Rounded Rectangle 22"/>
          <p:cNvSpPr/>
          <p:nvPr/>
        </p:nvSpPr>
        <p:spPr>
          <a:xfrm>
            <a:off x="2514600" y="1188720"/>
            <a:ext cx="1965960" cy="1783080"/>
          </a:xfrm>
          <a:prstGeom prst="roundRect">
            <a:avLst>
              <a:gd name="adj" fmla="val 6000"/>
            </a:avLst>
          </a:prstGeom>
          <a:solidFill>
            <a:srgbClr val="F0F7F4"/>
          </a:solidFill>
          <a:ln w="12700">
            <a:solidFill>
              <a:srgbClr val="C8E6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Freeform 23"/>
          <p:cNvSpPr/>
          <p:nvPr/>
        </p:nvSpPr>
        <p:spPr>
          <a:xfrm>
            <a:off x="3396922" y="1467224"/>
            <a:ext cx="206348" cy="0"/>
          </a:xfrm>
          <a:custGeom>
            <a:avLst/>
            <a:gdLst/>
            <a:ahLst/>
            <a:cxnLst/>
            <a:rect l="l" t="t" r="r" b="b"/>
            <a:pathLst>
              <a:path w="206348" h="0">
                <a:moveTo>
                  <a:pt x="0" y="0"/>
                </a:moveTo>
                <a:lnTo>
                  <a:pt x="206348" y="0"/>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414537" y="1376632"/>
            <a:ext cx="40262" cy="90591"/>
          </a:xfrm>
          <a:prstGeom prst="rect">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477448" y="1331337"/>
            <a:ext cx="40262" cy="135887"/>
          </a:xfrm>
          <a:prstGeom prst="rect">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540359" y="1286041"/>
            <a:ext cx="40262" cy="181182"/>
          </a:xfrm>
          <a:prstGeom prst="rect">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14600" y="1499616"/>
            <a:ext cx="1965960" cy="603504"/>
          </a:xfrm>
          <a:prstGeom prst="rect">
            <a:avLst/>
          </a:prstGeom>
          <a:noFill/>
        </p:spPr>
        <p:txBody>
          <a:bodyPr wrap="square" lIns="0" rIns="0" tIns="0" bIns="0" anchor="ctr">
            <a:spAutoFit/>
          </a:bodyPr>
          <a:lstStyle/>
          <a:p>
            <a:pPr algn="ctr"/>
            <a:r>
              <a:rPr sz="3400" b="1" i="0">
                <a:solidFill>
                  <a:srgbClr val="009A56"/>
                </a:solidFill>
                <a:latin typeface="Calibri"/>
                <a:ea typeface="Calibri"/>
                <a:cs typeface="Calibri"/>
              </a:rPr>
              <a:t>2</a:t>
            </a:r>
          </a:p>
        </p:txBody>
      </p:sp>
      <p:sp>
        <p:nvSpPr>
          <p:cNvPr id="29" name="TextBox 28"/>
          <p:cNvSpPr txBox="1"/>
          <p:nvPr/>
        </p:nvSpPr>
        <p:spPr>
          <a:xfrm>
            <a:off x="2624328" y="2121408"/>
            <a:ext cx="1746504" cy="256032"/>
          </a:xfrm>
          <a:prstGeom prst="rect">
            <a:avLst/>
          </a:prstGeom>
          <a:noFill/>
        </p:spPr>
        <p:txBody>
          <a:bodyPr wrap="square" lIns="0" rIns="0" tIns="0" bIns="0" anchor="ctr">
            <a:spAutoFit/>
          </a:bodyPr>
          <a:lstStyle/>
          <a:p>
            <a:pPr algn="ctr"/>
            <a:r>
              <a:rPr sz="950" b="1" i="0">
                <a:solidFill>
                  <a:srgbClr val="1B2A4A"/>
                </a:solidFill>
                <a:latin typeface="Calibri"/>
                <a:ea typeface="Calibri"/>
                <a:cs typeface="Calibri"/>
              </a:rPr>
              <a:t>FAMILLES D'INDICATEURS</a:t>
            </a:r>
          </a:p>
        </p:txBody>
      </p:sp>
      <p:sp>
        <p:nvSpPr>
          <p:cNvPr id="30" name="TextBox 29"/>
          <p:cNvSpPr txBox="1"/>
          <p:nvPr/>
        </p:nvSpPr>
        <p:spPr>
          <a:xfrm>
            <a:off x="2624328" y="2395728"/>
            <a:ext cx="1746504" cy="548640"/>
          </a:xfrm>
          <a:prstGeom prst="rect">
            <a:avLst/>
          </a:prstGeom>
          <a:noFill/>
        </p:spPr>
        <p:txBody>
          <a:bodyPr wrap="square" lIns="0" rIns="0" tIns="0" bIns="0" anchor="t">
            <a:spAutoFit/>
          </a:bodyPr>
          <a:lstStyle/>
          <a:p>
            <a:pPr algn="ctr">
              <a:lnSpc>
                <a:spcPct val="105000"/>
              </a:lnSpc>
            </a:pPr>
            <a:r>
              <a:rPr sz="850" b="0" i="0">
                <a:solidFill>
                  <a:srgbClr val="666666"/>
                </a:solidFill>
                <a:latin typeface="Calibri"/>
                <a:ea typeface="Calibri"/>
                <a:cs typeface="Calibri"/>
              </a:rPr>
              <a:t>La complétude des champs et la qualité des données</a:t>
            </a:r>
          </a:p>
        </p:txBody>
      </p:sp>
      <p:sp>
        <p:nvSpPr>
          <p:cNvPr id="31" name="Rounded Rectangle 30"/>
          <p:cNvSpPr/>
          <p:nvPr/>
        </p:nvSpPr>
        <p:spPr>
          <a:xfrm>
            <a:off x="4663440" y="1188720"/>
            <a:ext cx="1965960" cy="1783080"/>
          </a:xfrm>
          <a:prstGeom prst="roundRect">
            <a:avLst>
              <a:gd name="adj" fmla="val 6000"/>
            </a:avLst>
          </a:prstGeom>
          <a:solidFill>
            <a:srgbClr val="F0F7F4"/>
          </a:solidFill>
          <a:ln w="12700">
            <a:solidFill>
              <a:srgbClr val="C8E6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5555828" y="1281008"/>
            <a:ext cx="140920" cy="140920"/>
          </a:xfrm>
          <a:prstGeom prst="ellipse">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5679133" y="1404313"/>
            <a:ext cx="67944" cy="67944"/>
          </a:xfrm>
          <a:custGeom>
            <a:avLst/>
            <a:gdLst/>
            <a:ahLst/>
            <a:cxnLst/>
            <a:rect l="l" t="t" r="r" b="b"/>
            <a:pathLst>
              <a:path w="67944" h="67944">
                <a:moveTo>
                  <a:pt x="0" y="0"/>
                </a:moveTo>
                <a:lnTo>
                  <a:pt x="67944" y="67944"/>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63440" y="1499616"/>
            <a:ext cx="1965960" cy="603504"/>
          </a:xfrm>
          <a:prstGeom prst="rect">
            <a:avLst/>
          </a:prstGeom>
          <a:noFill/>
        </p:spPr>
        <p:txBody>
          <a:bodyPr wrap="square" lIns="0" rIns="0" tIns="0" bIns="0" anchor="ctr">
            <a:spAutoFit/>
          </a:bodyPr>
          <a:lstStyle/>
          <a:p>
            <a:pPr algn="ctr"/>
            <a:r>
              <a:rPr sz="3400" b="1" i="0">
                <a:solidFill>
                  <a:srgbClr val="009A56"/>
                </a:solidFill>
                <a:latin typeface="Calibri"/>
                <a:ea typeface="Calibri"/>
                <a:cs typeface="Calibri"/>
              </a:rPr>
              <a:t>2</a:t>
            </a:r>
          </a:p>
        </p:txBody>
      </p:sp>
      <p:sp>
        <p:nvSpPr>
          <p:cNvPr id="35" name="TextBox 34"/>
          <p:cNvSpPr txBox="1"/>
          <p:nvPr/>
        </p:nvSpPr>
        <p:spPr>
          <a:xfrm>
            <a:off x="4773168" y="2121408"/>
            <a:ext cx="1746504" cy="256032"/>
          </a:xfrm>
          <a:prstGeom prst="rect">
            <a:avLst/>
          </a:prstGeom>
          <a:noFill/>
        </p:spPr>
        <p:txBody>
          <a:bodyPr wrap="square" lIns="0" rIns="0" tIns="0" bIns="0" anchor="ctr">
            <a:spAutoFit/>
          </a:bodyPr>
          <a:lstStyle/>
          <a:p>
            <a:pPr algn="ctr"/>
            <a:r>
              <a:rPr sz="950" b="1" i="0">
                <a:solidFill>
                  <a:srgbClr val="1B2A4A"/>
                </a:solidFill>
                <a:latin typeface="Calibri"/>
                <a:ea typeface="Calibri"/>
                <a:cs typeface="Calibri"/>
              </a:rPr>
              <a:t>PÉRIMÈTRES DE LECTURE</a:t>
            </a:r>
          </a:p>
        </p:txBody>
      </p:sp>
      <p:sp>
        <p:nvSpPr>
          <p:cNvPr id="36" name="TextBox 35"/>
          <p:cNvSpPr txBox="1"/>
          <p:nvPr/>
        </p:nvSpPr>
        <p:spPr>
          <a:xfrm>
            <a:off x="4773168" y="2395728"/>
            <a:ext cx="1746504" cy="548640"/>
          </a:xfrm>
          <a:prstGeom prst="rect">
            <a:avLst/>
          </a:prstGeom>
          <a:noFill/>
        </p:spPr>
        <p:txBody>
          <a:bodyPr wrap="square" lIns="0" rIns="0" tIns="0" bIns="0" anchor="t">
            <a:spAutoFit/>
          </a:bodyPr>
          <a:lstStyle/>
          <a:p>
            <a:pPr algn="ctr">
              <a:lnSpc>
                <a:spcPct val="105000"/>
              </a:lnSpc>
            </a:pPr>
            <a:r>
              <a:rPr sz="850" b="0" i="0">
                <a:solidFill>
                  <a:srgbClr val="666666"/>
                </a:solidFill>
                <a:latin typeface="Calibri"/>
                <a:ea typeface="Calibri"/>
                <a:cs typeface="Calibri"/>
              </a:rPr>
              <a:t>Le stock du portefeuille et le flux du jour</a:t>
            </a:r>
          </a:p>
        </p:txBody>
      </p:sp>
      <p:sp>
        <p:nvSpPr>
          <p:cNvPr id="37" name="Rounded Rectangle 36"/>
          <p:cNvSpPr/>
          <p:nvPr/>
        </p:nvSpPr>
        <p:spPr>
          <a:xfrm>
            <a:off x="6812280" y="1188720"/>
            <a:ext cx="1965960" cy="1783080"/>
          </a:xfrm>
          <a:prstGeom prst="roundRect">
            <a:avLst>
              <a:gd name="adj" fmla="val 6000"/>
            </a:avLst>
          </a:prstGeom>
          <a:solidFill>
            <a:srgbClr val="F0F7F4"/>
          </a:solidFill>
          <a:ln w="12700">
            <a:solidFill>
              <a:srgbClr val="C8E6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7734865" y="1371600"/>
            <a:ext cx="120788" cy="120788"/>
          </a:xfrm>
          <a:prstGeom prst="ellipse">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Freeform 38"/>
          <p:cNvSpPr/>
          <p:nvPr/>
        </p:nvSpPr>
        <p:spPr>
          <a:xfrm>
            <a:off x="7679504" y="1462191"/>
            <a:ext cx="231511" cy="0"/>
          </a:xfrm>
          <a:custGeom>
            <a:avLst/>
            <a:gdLst/>
            <a:ahLst/>
            <a:cxnLst/>
            <a:rect l="l" t="t" r="r" b="b"/>
            <a:pathLst>
              <a:path w="231511" h="0">
                <a:moveTo>
                  <a:pt x="0" y="0"/>
                </a:moveTo>
                <a:lnTo>
                  <a:pt x="231511" y="0"/>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Freeform 39"/>
          <p:cNvSpPr/>
          <p:nvPr/>
        </p:nvSpPr>
        <p:spPr>
          <a:xfrm>
            <a:off x="7795260" y="1296107"/>
            <a:ext cx="0" cy="35230"/>
          </a:xfrm>
          <a:custGeom>
            <a:avLst/>
            <a:gdLst/>
            <a:ahLst/>
            <a:cxnLst/>
            <a:rect l="l" t="t" r="r" b="b"/>
            <a:pathLst>
              <a:path w="0" h="35230">
                <a:moveTo>
                  <a:pt x="0" y="35230"/>
                </a:moveTo>
                <a:lnTo>
                  <a:pt x="0" y="0"/>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Freeform 40"/>
          <p:cNvSpPr/>
          <p:nvPr/>
        </p:nvSpPr>
        <p:spPr>
          <a:xfrm>
            <a:off x="7697119" y="1336369"/>
            <a:ext cx="20131" cy="25165"/>
          </a:xfrm>
          <a:custGeom>
            <a:avLst/>
            <a:gdLst/>
            <a:ahLst/>
            <a:cxnLst/>
            <a:rect l="l" t="t" r="r" b="b"/>
            <a:pathLst>
              <a:path w="20131" h="25165">
                <a:moveTo>
                  <a:pt x="20131" y="25165"/>
                </a:moveTo>
                <a:lnTo>
                  <a:pt x="0" y="0"/>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7873269" y="1336369"/>
            <a:ext cx="20131" cy="25165"/>
          </a:xfrm>
          <a:custGeom>
            <a:avLst/>
            <a:gdLst/>
            <a:ahLst/>
            <a:cxnLst/>
            <a:rect l="l" t="t" r="r" b="b"/>
            <a:pathLst>
              <a:path w="20131" h="25165">
                <a:moveTo>
                  <a:pt x="0" y="25165"/>
                </a:moveTo>
                <a:lnTo>
                  <a:pt x="20131" y="0"/>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12280" y="1499616"/>
            <a:ext cx="1965960" cy="603504"/>
          </a:xfrm>
          <a:prstGeom prst="rect">
            <a:avLst/>
          </a:prstGeom>
          <a:noFill/>
        </p:spPr>
        <p:txBody>
          <a:bodyPr wrap="square" lIns="0" rIns="0" tIns="0" bIns="0" anchor="ctr">
            <a:spAutoFit/>
          </a:bodyPr>
          <a:lstStyle/>
          <a:p>
            <a:pPr algn="ctr"/>
            <a:r>
              <a:rPr sz="3400" b="1" i="0">
                <a:solidFill>
                  <a:srgbClr val="009A56"/>
                </a:solidFill>
                <a:latin typeface="Calibri"/>
                <a:ea typeface="Calibri"/>
                <a:cs typeface="Calibri"/>
              </a:rPr>
              <a:t>J+1</a:t>
            </a:r>
          </a:p>
        </p:txBody>
      </p:sp>
      <p:sp>
        <p:nvSpPr>
          <p:cNvPr id="44" name="TextBox 43"/>
          <p:cNvSpPr txBox="1"/>
          <p:nvPr/>
        </p:nvSpPr>
        <p:spPr>
          <a:xfrm>
            <a:off x="6922008" y="2121408"/>
            <a:ext cx="1746504" cy="256032"/>
          </a:xfrm>
          <a:prstGeom prst="rect">
            <a:avLst/>
          </a:prstGeom>
          <a:noFill/>
        </p:spPr>
        <p:txBody>
          <a:bodyPr wrap="square" lIns="0" rIns="0" tIns="0" bIns="0" anchor="ctr">
            <a:spAutoFit/>
          </a:bodyPr>
          <a:lstStyle/>
          <a:p>
            <a:pPr algn="ctr"/>
            <a:r>
              <a:rPr sz="950" b="1" i="0">
                <a:solidFill>
                  <a:srgbClr val="1B2A4A"/>
                </a:solidFill>
                <a:latin typeface="Calibri"/>
                <a:ea typeface="Calibri"/>
                <a:cs typeface="Calibri"/>
              </a:rPr>
              <a:t>FRAÎCHEUR DES DONNÉES</a:t>
            </a:r>
          </a:p>
        </p:txBody>
      </p:sp>
      <p:sp>
        <p:nvSpPr>
          <p:cNvPr id="45" name="TextBox 44"/>
          <p:cNvSpPr txBox="1"/>
          <p:nvPr/>
        </p:nvSpPr>
        <p:spPr>
          <a:xfrm>
            <a:off x="6922008" y="2395728"/>
            <a:ext cx="1746504" cy="548640"/>
          </a:xfrm>
          <a:prstGeom prst="rect">
            <a:avLst/>
          </a:prstGeom>
          <a:noFill/>
        </p:spPr>
        <p:txBody>
          <a:bodyPr wrap="square" lIns="0" rIns="0" tIns="0" bIns="0" anchor="t">
            <a:spAutoFit/>
          </a:bodyPr>
          <a:lstStyle/>
          <a:p>
            <a:pPr algn="ctr">
              <a:lnSpc>
                <a:spcPct val="105000"/>
              </a:lnSpc>
            </a:pPr>
            <a:r>
              <a:rPr sz="850" b="0" i="0">
                <a:solidFill>
                  <a:srgbClr val="666666"/>
                </a:solidFill>
                <a:latin typeface="Calibri"/>
                <a:ea typeface="Calibri"/>
                <a:cs typeface="Calibri"/>
              </a:rPr>
              <a:t>Injection et recalcul automatiques chaque matin</a:t>
            </a:r>
          </a:p>
        </p:txBody>
      </p:sp>
      <p:sp>
        <p:nvSpPr>
          <p:cNvPr id="46" name="Rounded Rectangle 45"/>
          <p:cNvSpPr/>
          <p:nvPr/>
        </p:nvSpPr>
        <p:spPr>
          <a:xfrm>
            <a:off x="365760" y="3200400"/>
            <a:ext cx="8412480" cy="13716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365760" y="3200400"/>
            <a:ext cx="8412480"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481998" y="3243193"/>
            <a:ext cx="169858" cy="188732"/>
          </a:xfrm>
          <a:prstGeom prst="rect">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Freeform 48"/>
          <p:cNvSpPr/>
          <p:nvPr/>
        </p:nvSpPr>
        <p:spPr>
          <a:xfrm>
            <a:off x="505590" y="3276222"/>
            <a:ext cx="49542" cy="33028"/>
          </a:xfrm>
          <a:custGeom>
            <a:avLst/>
            <a:gdLst/>
            <a:ahLst/>
            <a:cxnLst/>
            <a:rect l="l" t="t" r="r" b="b"/>
            <a:pathLst>
              <a:path w="49542" h="33028">
                <a:moveTo>
                  <a:pt x="0" y="14154"/>
                </a:moveTo>
                <a:lnTo>
                  <a:pt x="18873" y="33028"/>
                </a:lnTo>
                <a:lnTo>
                  <a:pt x="49542"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Freeform 49"/>
          <p:cNvSpPr/>
          <p:nvPr/>
        </p:nvSpPr>
        <p:spPr>
          <a:xfrm>
            <a:off x="576364" y="3292736"/>
            <a:ext cx="51901" cy="0"/>
          </a:xfrm>
          <a:custGeom>
            <a:avLst/>
            <a:gdLst/>
            <a:ahLst/>
            <a:cxnLst/>
            <a:rect l="l" t="t" r="r" b="b"/>
            <a:pathLst>
              <a:path w="51901" h="0">
                <a:moveTo>
                  <a:pt x="0" y="0"/>
                </a:moveTo>
                <a:lnTo>
                  <a:pt x="5190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Freeform 50"/>
          <p:cNvSpPr/>
          <p:nvPr/>
        </p:nvSpPr>
        <p:spPr>
          <a:xfrm>
            <a:off x="505590" y="3328123"/>
            <a:ext cx="49542" cy="33028"/>
          </a:xfrm>
          <a:custGeom>
            <a:avLst/>
            <a:gdLst/>
            <a:ahLst/>
            <a:cxnLst/>
            <a:rect l="l" t="t" r="r" b="b"/>
            <a:pathLst>
              <a:path w="49542" h="33028">
                <a:moveTo>
                  <a:pt x="0" y="14155"/>
                </a:moveTo>
                <a:lnTo>
                  <a:pt x="18873" y="33028"/>
                </a:lnTo>
                <a:lnTo>
                  <a:pt x="49542"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Freeform 51"/>
          <p:cNvSpPr/>
          <p:nvPr/>
        </p:nvSpPr>
        <p:spPr>
          <a:xfrm>
            <a:off x="576364" y="3344637"/>
            <a:ext cx="51901" cy="0"/>
          </a:xfrm>
          <a:custGeom>
            <a:avLst/>
            <a:gdLst/>
            <a:ahLst/>
            <a:cxnLst/>
            <a:rect l="l" t="t" r="r" b="b"/>
            <a:pathLst>
              <a:path w="51901" h="0">
                <a:moveTo>
                  <a:pt x="0" y="0"/>
                </a:moveTo>
                <a:lnTo>
                  <a:pt x="5190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Freeform 52"/>
          <p:cNvSpPr/>
          <p:nvPr/>
        </p:nvSpPr>
        <p:spPr>
          <a:xfrm>
            <a:off x="505590" y="3380024"/>
            <a:ext cx="49542" cy="33028"/>
          </a:xfrm>
          <a:custGeom>
            <a:avLst/>
            <a:gdLst/>
            <a:ahLst/>
            <a:cxnLst/>
            <a:rect l="l" t="t" r="r" b="b"/>
            <a:pathLst>
              <a:path w="49542" h="33028">
                <a:moveTo>
                  <a:pt x="0" y="14155"/>
                </a:moveTo>
                <a:lnTo>
                  <a:pt x="18873" y="33028"/>
                </a:lnTo>
                <a:lnTo>
                  <a:pt x="49542"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Freeform 53"/>
          <p:cNvSpPr/>
          <p:nvPr/>
        </p:nvSpPr>
        <p:spPr>
          <a:xfrm>
            <a:off x="576364" y="3396538"/>
            <a:ext cx="51901" cy="0"/>
          </a:xfrm>
          <a:custGeom>
            <a:avLst/>
            <a:gdLst/>
            <a:ahLst/>
            <a:cxnLst/>
            <a:rect l="l" t="t" r="r" b="b"/>
            <a:pathLst>
              <a:path w="51901" h="0">
                <a:moveTo>
                  <a:pt x="0" y="0"/>
                </a:moveTo>
                <a:lnTo>
                  <a:pt x="5190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9808" y="3200400"/>
            <a:ext cx="7918703"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À RETENIR AVANT D'ENTRER DANS L'OUTIL</a:t>
            </a:r>
          </a:p>
        </p:txBody>
      </p:sp>
      <p:sp>
        <p:nvSpPr>
          <p:cNvPr id="56" name="TextBox 55"/>
          <p:cNvSpPr txBox="1"/>
          <p:nvPr/>
        </p:nvSpPr>
        <p:spPr>
          <a:xfrm>
            <a:off x="548640" y="3639312"/>
            <a:ext cx="8046720" cy="868680"/>
          </a:xfrm>
          <a:prstGeom prst="rect">
            <a:avLst/>
          </a:prstGeom>
          <a:noFill/>
        </p:spPr>
        <p:txBody>
          <a:bodyPr wrap="square" lIns="0" rIns="0" tIns="0" bIns="0" anchor="t">
            <a:spAutoFit/>
          </a:bodyPr>
          <a:lstStyle/>
          <a:p>
            <a:pPr algn="l" marL="152400" indent="-152400">
              <a:lnSpc>
                <a:spcPct val="100000"/>
              </a:lnSpc>
              <a:spcAft>
                <a:spcPts val="900"/>
              </a:spcAft>
              <a:buClr>
                <a:srgbClr val="009A56"/>
              </a:buClr>
              <a:buFont typeface="Arial" pitchFamily="34" charset="0"/>
              <a:buChar char="▪"/>
            </a:pPr>
            <a:r>
              <a:rPr sz="1000" b="0" i="0">
                <a:solidFill>
                  <a:srgbClr val="333333"/>
                </a:solidFill>
                <a:latin typeface="Calibri"/>
                <a:ea typeface="Calibri"/>
                <a:cs typeface="Calibri"/>
              </a:rPr>
              <a:t>La plateforme ne corrige rien à votre place : elle désigne précisément ce qui doit être corrigé, et par qui.</a:t>
            </a:r>
          </a:p>
          <a:p>
            <a:pPr algn="l" marL="152400" indent="-152400">
              <a:lnSpc>
                <a:spcPct val="100000"/>
              </a:lnSpc>
              <a:spcAft>
                <a:spcPts val="900"/>
              </a:spcAft>
              <a:buClr>
                <a:srgbClr val="009A56"/>
              </a:buClr>
              <a:buFont typeface="Arial" pitchFamily="34" charset="0"/>
              <a:buChar char="▪"/>
            </a:pPr>
            <a:r>
              <a:rPr sz="1000" b="0" i="0">
                <a:solidFill>
                  <a:srgbClr val="333333"/>
                </a:solidFill>
                <a:latin typeface="Calibri"/>
                <a:ea typeface="Calibri"/>
                <a:cs typeface="Calibri"/>
              </a:rPr>
              <a:t>Chaque utilisateur ne voit que son périmètre. Les chiffres d'une agence sont la somme du travail de ses chargés.</a:t>
            </a:r>
          </a:p>
          <a:p>
            <a:pPr algn="l" marL="152400" indent="-152400">
              <a:lnSpc>
                <a:spcPct val="100000"/>
              </a:lnSpc>
              <a:spcAft>
                <a:spcPts val="900"/>
              </a:spcAft>
              <a:buClr>
                <a:srgbClr val="009A56"/>
              </a:buClr>
              <a:buFont typeface="Arial" pitchFamily="34" charset="0"/>
              <a:buChar char="▪"/>
            </a:pPr>
            <a:r>
              <a:rPr sz="1000" b="0" i="0">
                <a:solidFill>
                  <a:srgbClr val="333333"/>
                </a:solidFill>
                <a:latin typeface="Calibri"/>
                <a:ea typeface="Calibri"/>
                <a:cs typeface="Calibri"/>
              </a:rPr>
              <a:t>Les taux évoluent au rythme des corrections saisies dans le corebanking, reprises le lendemain matin.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3" fill="hold">
                      <p:stCondLst>
                        <p:cond delay="indefinite"/>
                      </p:stCondLst>
                      <p:childTnLst>
                        <p:par>
                          <p:cTn id="3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3"/>
                                        </p:tgtEl>
                                        <p:attrNameLst>
                                          <p:attrName>style.visibility</p:attrName>
                                        </p:attrNameLst>
                                      </p:cBhvr>
                                      <p:to>
                                        <p:strVal val="visible"/>
                                      </p:to>
                                    </p:set>
                                    <p:animEffect transition="in" filter="fade">
                                      <p:cBhvr>
                                        <p:cTn id="5" dur="450"/>
                                        <p:tgtEl>
                                          <p:spTgt spid="13"/>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4"/>
                                        </p:tgtEl>
                                        <p:attrNameLst>
                                          <p:attrName>style.visibility</p:attrName>
                                        </p:attrNameLst>
                                      </p:cBhvr>
                                      <p:to>
                                        <p:strVal val="visible"/>
                                      </p:to>
                                    </p:set>
                                    <p:animEffect transition="in" filter="fade">
                                      <p:cBhvr>
                                        <p:cTn id="8" dur="450"/>
                                        <p:tgtEl>
                                          <p:spTgt spid="14"/>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450"/>
                                        <p:tgtEl>
                                          <p:spTgt spid="15"/>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450"/>
                                        <p:tgtEl>
                                          <p:spTgt spid="16"/>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50"/>
                                        <p:tgtEl>
                                          <p:spTgt spid="17"/>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450"/>
                                        <p:tgtEl>
                                          <p:spTgt spid="18"/>
                                        </p:tgtEl>
                                      </p:cBhvr>
                                    </p:animEffect>
                                  </p:childTnLst>
                                </p:cTn>
                              </p:par>
                              <p:par>
                                <p:cTn id="21" presetID="10" presetClass="entr" presetSubtype="0" fill="hold" grpId="0" nodeType="withEffect">
                                  <p:stCondLst>
                                    <p:cond delay="72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450"/>
                                        <p:tgtEl>
                                          <p:spTgt spid="19"/>
                                        </p:tgtEl>
                                      </p:cBhvr>
                                    </p:animEffect>
                                  </p:childTnLst>
                                </p:cTn>
                              </p:par>
                              <p:par>
                                <p:cTn id="24" presetID="10" presetClass="entr" presetSubtype="0" fill="hold" grpId="0" nodeType="withEffect">
                                  <p:stCondLst>
                                    <p:cond delay="84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450"/>
                                        <p:tgtEl>
                                          <p:spTgt spid="20"/>
                                        </p:tgtEl>
                                      </p:cBhvr>
                                    </p:animEffect>
                                  </p:childTnLst>
                                </p:cTn>
                              </p:par>
                              <p:par>
                                <p:cTn id="27" presetID="10" presetClass="entr" presetSubtype="0" fill="hold" grpId="0" nodeType="withEffect">
                                  <p:stCondLst>
                                    <p:cond delay="96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450"/>
                                        <p:tgtEl>
                                          <p:spTgt spid="21"/>
                                        </p:tgtEl>
                                      </p:cBhvr>
                                    </p:animEffect>
                                  </p:childTnLst>
                                </p:cTn>
                              </p:par>
                              <p:par>
                                <p:cTn id="30" presetID="10" presetClass="entr" presetSubtype="0" fill="hold" grpId="0" nodeType="withEffect">
                                  <p:stCondLst>
                                    <p:cond delay="108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450"/>
                                        <p:tgtEl>
                                          <p:spTgt spid="22"/>
                                        </p:tgtEl>
                                      </p:cBhvr>
                                    </p:animEffect>
                                  </p:childTnLst>
                                </p:cTn>
                              </p:par>
                            </p:childTnLst>
                          </p:cTn>
                        </p:par>
                      </p:childTnLst>
                    </p:cTn>
                  </p:par>
                  <p:par>
                    <p:cTn id="59" fill="hold">
                      <p:stCondLst>
                        <p:cond delay="indefinite"/>
                      </p:stCondLst>
                      <p:childTnLst>
                        <p:par>
                          <p:cTn id="60"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450"/>
                                        <p:tgtEl>
                                          <p:spTgt spid="23"/>
                                        </p:tgtEl>
                                      </p:cBhvr>
                                    </p:animEffect>
                                  </p:childTnLst>
                                </p:cTn>
                              </p:par>
                              <p:par>
                                <p:cTn id="38" presetID="10" presetClass="entr" presetSubtype="0" fill="hold" grpId="0" nodeType="withEffect">
                                  <p:stCondLst>
                                    <p:cond delay="12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450"/>
                                        <p:tgtEl>
                                          <p:spTgt spid="24"/>
                                        </p:tgtEl>
                                      </p:cBhvr>
                                    </p:animEffect>
                                  </p:childTnLst>
                                </p:cTn>
                              </p:par>
                              <p:par>
                                <p:cTn id="41" presetID="10" presetClass="entr" presetSubtype="0" fill="hold" grpId="0" nodeType="withEffect">
                                  <p:stCondLst>
                                    <p:cond delay="24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450"/>
                                        <p:tgtEl>
                                          <p:spTgt spid="25"/>
                                        </p:tgtEl>
                                      </p:cBhvr>
                                    </p:animEffect>
                                  </p:childTnLst>
                                </p:cTn>
                              </p:par>
                              <p:par>
                                <p:cTn id="44" presetID="10" presetClass="entr" presetSubtype="0" fill="hold" grpId="0" nodeType="withEffect">
                                  <p:stCondLst>
                                    <p:cond delay="36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450"/>
                                        <p:tgtEl>
                                          <p:spTgt spid="26"/>
                                        </p:tgtEl>
                                      </p:cBhvr>
                                    </p:animEffect>
                                  </p:childTnLst>
                                </p:cTn>
                              </p:par>
                              <p:par>
                                <p:cTn id="47" presetID="10" presetClass="entr" presetSubtype="0" fill="hold" grpId="0" nodeType="withEffect">
                                  <p:stCondLst>
                                    <p:cond delay="48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450"/>
                                        <p:tgtEl>
                                          <p:spTgt spid="27"/>
                                        </p:tgtEl>
                                      </p:cBhvr>
                                    </p:animEffect>
                                  </p:childTnLst>
                                </p:cTn>
                              </p:par>
                              <p:par>
                                <p:cTn id="50" presetID="10" presetClass="entr" presetSubtype="0" fill="hold" grpId="0" nodeType="withEffect">
                                  <p:stCondLst>
                                    <p:cond delay="60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50"/>
                                        <p:tgtEl>
                                          <p:spTgt spid="28"/>
                                        </p:tgtEl>
                                      </p:cBhvr>
                                    </p:animEffect>
                                  </p:childTnLst>
                                </p:cTn>
                              </p:par>
                              <p:par>
                                <p:cTn id="53" presetID="10" presetClass="entr" presetSubtype="0" fill="hold" grpId="0" nodeType="withEffect">
                                  <p:stCondLst>
                                    <p:cond delay="72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450"/>
                                        <p:tgtEl>
                                          <p:spTgt spid="29"/>
                                        </p:tgtEl>
                                      </p:cBhvr>
                                    </p:animEffect>
                                  </p:childTnLst>
                                </p:cTn>
                              </p:par>
                              <p:par>
                                <p:cTn id="56" presetID="10" presetClass="entr" presetSubtype="0" fill="hold" grpId="0" nodeType="withEffect">
                                  <p:stCondLst>
                                    <p:cond delay="840"/>
                                  </p:stCondLst>
                                  <p:childTnLst>
                                    <p:set>
                                      <p:cBhvr>
                                        <p:cTn id="57" dur="1" fill="hold">
                                          <p:stCondLst>
                                            <p:cond delay="0"/>
                                          </p:stCondLst>
                                        </p:cTn>
                                        <p:tgtEl>
                                          <p:spTgt spid="30"/>
                                        </p:tgtEl>
                                        <p:attrNameLst>
                                          <p:attrName>style.visibility</p:attrName>
                                        </p:attrNameLst>
                                      </p:cBhvr>
                                      <p:to>
                                        <p:strVal val="visible"/>
                                      </p:to>
                                    </p:set>
                                    <p:animEffect transition="in" filter="fade">
                                      <p:cBhvr>
                                        <p:cTn id="58" dur="450"/>
                                        <p:tgtEl>
                                          <p:spTgt spid="30"/>
                                        </p:tgtEl>
                                      </p:cBhvr>
                                    </p:animEffect>
                                  </p:childTnLst>
                                </p:cTn>
                              </p:par>
                            </p:childTnLst>
                          </p:cTn>
                        </p:par>
                      </p:childTnLst>
                    </p:cTn>
                  </p:par>
                  <p:par>
                    <p:cTn id="79" fill="hold">
                      <p:stCondLst>
                        <p:cond delay="indefinite"/>
                      </p:stCondLst>
                      <p:childTnLst>
                        <p:par>
                          <p:cTn id="8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450"/>
                                        <p:tgtEl>
                                          <p:spTgt spid="31"/>
                                        </p:tgtEl>
                                      </p:cBhvr>
                                    </p:animEffect>
                                  </p:childTnLst>
                                </p:cTn>
                              </p:par>
                              <p:par>
                                <p:cTn id="64" presetID="10" presetClass="entr" presetSubtype="0" fill="hold" grpId="0" nodeType="withEffect">
                                  <p:stCondLst>
                                    <p:cond delay="120"/>
                                  </p:stCondLst>
                                  <p:childTnLst>
                                    <p:set>
                                      <p:cBhvr>
                                        <p:cTn id="65" dur="1" fill="hold">
                                          <p:stCondLst>
                                            <p:cond delay="0"/>
                                          </p:stCondLst>
                                        </p:cTn>
                                        <p:tgtEl>
                                          <p:spTgt spid="32"/>
                                        </p:tgtEl>
                                        <p:attrNameLst>
                                          <p:attrName>style.visibility</p:attrName>
                                        </p:attrNameLst>
                                      </p:cBhvr>
                                      <p:to>
                                        <p:strVal val="visible"/>
                                      </p:to>
                                    </p:set>
                                    <p:animEffect transition="in" filter="fade">
                                      <p:cBhvr>
                                        <p:cTn id="66" dur="450"/>
                                        <p:tgtEl>
                                          <p:spTgt spid="32"/>
                                        </p:tgtEl>
                                      </p:cBhvr>
                                    </p:animEffect>
                                  </p:childTnLst>
                                </p:cTn>
                              </p:par>
                              <p:par>
                                <p:cTn id="67" presetID="10" presetClass="entr" presetSubtype="0" fill="hold" grpId="0" nodeType="withEffect">
                                  <p:stCondLst>
                                    <p:cond delay="24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childTnLst>
                                </p:cTn>
                              </p:par>
                              <p:par>
                                <p:cTn id="70" presetID="10" presetClass="entr" presetSubtype="0" fill="hold" grpId="0" nodeType="withEffect">
                                  <p:stCondLst>
                                    <p:cond delay="360"/>
                                  </p:stCondLst>
                                  <p:childTnLst>
                                    <p:set>
                                      <p:cBhvr>
                                        <p:cTn id="71" dur="1" fill="hold">
                                          <p:stCondLst>
                                            <p:cond delay="0"/>
                                          </p:stCondLst>
                                        </p:cTn>
                                        <p:tgtEl>
                                          <p:spTgt spid="34"/>
                                        </p:tgtEl>
                                        <p:attrNameLst>
                                          <p:attrName>style.visibility</p:attrName>
                                        </p:attrNameLst>
                                      </p:cBhvr>
                                      <p:to>
                                        <p:strVal val="visible"/>
                                      </p:to>
                                    </p:set>
                                    <p:animEffect transition="in" filter="fade">
                                      <p:cBhvr>
                                        <p:cTn id="72" dur="450"/>
                                        <p:tgtEl>
                                          <p:spTgt spid="34"/>
                                        </p:tgtEl>
                                      </p:cBhvr>
                                    </p:animEffect>
                                  </p:childTnLst>
                                </p:cTn>
                              </p:par>
                              <p:par>
                                <p:cTn id="73" presetID="10" presetClass="entr" presetSubtype="0" fill="hold" grpId="0" nodeType="withEffect">
                                  <p:stCondLst>
                                    <p:cond delay="48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450"/>
                                        <p:tgtEl>
                                          <p:spTgt spid="35"/>
                                        </p:tgtEl>
                                      </p:cBhvr>
                                    </p:animEffect>
                                  </p:childTnLst>
                                </p:cTn>
                              </p:par>
                              <p:par>
                                <p:cTn id="76" presetID="10" presetClass="entr" presetSubtype="0" fill="hold" grpId="0" nodeType="withEffect">
                                  <p:stCondLst>
                                    <p:cond delay="600"/>
                                  </p:stCondLst>
                                  <p:childTnLst>
                                    <p:set>
                                      <p:cBhvr>
                                        <p:cTn id="77" dur="1" fill="hold">
                                          <p:stCondLst>
                                            <p:cond delay="0"/>
                                          </p:stCondLst>
                                        </p:cTn>
                                        <p:tgtEl>
                                          <p:spTgt spid="36"/>
                                        </p:tgtEl>
                                        <p:attrNameLst>
                                          <p:attrName>style.visibility</p:attrName>
                                        </p:attrNameLst>
                                      </p:cBhvr>
                                      <p:to>
                                        <p:strVal val="visible"/>
                                      </p:to>
                                    </p:set>
                                    <p:animEffect transition="in" filter="fade">
                                      <p:cBhvr>
                                        <p:cTn id="78" dur="450"/>
                                        <p:tgtEl>
                                          <p:spTgt spid="36"/>
                                        </p:tgtEl>
                                      </p:cBhvr>
                                    </p:animEffect>
                                  </p:childTnLst>
                                </p:cTn>
                              </p:par>
                            </p:childTnLst>
                          </p:cTn>
                        </p:par>
                      </p:childTnLst>
                    </p:cTn>
                  </p:par>
                  <p:par>
                    <p:cTn id="108" fill="hold">
                      <p:stCondLst>
                        <p:cond delay="indefinite"/>
                      </p:stCondLst>
                      <p:childTnLst>
                        <p:par>
                          <p:cTn id="109"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450"/>
                                        <p:tgtEl>
                                          <p:spTgt spid="37"/>
                                        </p:tgtEl>
                                      </p:cBhvr>
                                    </p:animEffect>
                                  </p:childTnLst>
                                </p:cTn>
                              </p:par>
                              <p:par>
                                <p:cTn id="84" presetID="10" presetClass="entr" presetSubtype="0" fill="hold" grpId="0" nodeType="withEffect">
                                  <p:stCondLst>
                                    <p:cond delay="120"/>
                                  </p:stCondLst>
                                  <p:childTnLst>
                                    <p:set>
                                      <p:cBhvr>
                                        <p:cTn id="85" dur="1" fill="hold">
                                          <p:stCondLst>
                                            <p:cond delay="0"/>
                                          </p:stCondLst>
                                        </p:cTn>
                                        <p:tgtEl>
                                          <p:spTgt spid="38"/>
                                        </p:tgtEl>
                                        <p:attrNameLst>
                                          <p:attrName>style.visibility</p:attrName>
                                        </p:attrNameLst>
                                      </p:cBhvr>
                                      <p:to>
                                        <p:strVal val="visible"/>
                                      </p:to>
                                    </p:set>
                                    <p:animEffect transition="in" filter="fade">
                                      <p:cBhvr>
                                        <p:cTn id="86" dur="450"/>
                                        <p:tgtEl>
                                          <p:spTgt spid="38"/>
                                        </p:tgtEl>
                                      </p:cBhvr>
                                    </p:animEffect>
                                  </p:childTnLst>
                                </p:cTn>
                              </p:par>
                              <p:par>
                                <p:cTn id="87" presetID="10" presetClass="entr" presetSubtype="0" fill="hold" grpId="0" nodeType="withEffect">
                                  <p:stCondLst>
                                    <p:cond delay="240"/>
                                  </p:stCondLst>
                                  <p:childTnLst>
                                    <p:set>
                                      <p:cBhvr>
                                        <p:cTn id="88" dur="1" fill="hold">
                                          <p:stCondLst>
                                            <p:cond delay="0"/>
                                          </p:stCondLst>
                                        </p:cTn>
                                        <p:tgtEl>
                                          <p:spTgt spid="39"/>
                                        </p:tgtEl>
                                        <p:attrNameLst>
                                          <p:attrName>style.visibility</p:attrName>
                                        </p:attrNameLst>
                                      </p:cBhvr>
                                      <p:to>
                                        <p:strVal val="visible"/>
                                      </p:to>
                                    </p:set>
                                    <p:animEffect transition="in" filter="fade">
                                      <p:cBhvr>
                                        <p:cTn id="89" dur="450"/>
                                        <p:tgtEl>
                                          <p:spTgt spid="39"/>
                                        </p:tgtEl>
                                      </p:cBhvr>
                                    </p:animEffect>
                                  </p:childTnLst>
                                </p:cTn>
                              </p:par>
                              <p:par>
                                <p:cTn id="90" presetID="10" presetClass="entr" presetSubtype="0" fill="hold" grpId="0" nodeType="withEffect">
                                  <p:stCondLst>
                                    <p:cond delay="360"/>
                                  </p:stCondLst>
                                  <p:childTnLst>
                                    <p:set>
                                      <p:cBhvr>
                                        <p:cTn id="91" dur="1" fill="hold">
                                          <p:stCondLst>
                                            <p:cond delay="0"/>
                                          </p:stCondLst>
                                        </p:cTn>
                                        <p:tgtEl>
                                          <p:spTgt spid="40"/>
                                        </p:tgtEl>
                                        <p:attrNameLst>
                                          <p:attrName>style.visibility</p:attrName>
                                        </p:attrNameLst>
                                      </p:cBhvr>
                                      <p:to>
                                        <p:strVal val="visible"/>
                                      </p:to>
                                    </p:set>
                                    <p:animEffect transition="in" filter="fade">
                                      <p:cBhvr>
                                        <p:cTn id="92" dur="450"/>
                                        <p:tgtEl>
                                          <p:spTgt spid="40"/>
                                        </p:tgtEl>
                                      </p:cBhvr>
                                    </p:animEffect>
                                  </p:childTnLst>
                                </p:cTn>
                              </p:par>
                              <p:par>
                                <p:cTn id="93" presetID="10" presetClass="entr" presetSubtype="0" fill="hold" grpId="0" nodeType="withEffect">
                                  <p:stCondLst>
                                    <p:cond delay="480"/>
                                  </p:stCondLst>
                                  <p:childTnLst>
                                    <p:set>
                                      <p:cBhvr>
                                        <p:cTn id="94" dur="1" fill="hold">
                                          <p:stCondLst>
                                            <p:cond delay="0"/>
                                          </p:stCondLst>
                                        </p:cTn>
                                        <p:tgtEl>
                                          <p:spTgt spid="41"/>
                                        </p:tgtEl>
                                        <p:attrNameLst>
                                          <p:attrName>style.visibility</p:attrName>
                                        </p:attrNameLst>
                                      </p:cBhvr>
                                      <p:to>
                                        <p:strVal val="visible"/>
                                      </p:to>
                                    </p:set>
                                    <p:animEffect transition="in" filter="fade">
                                      <p:cBhvr>
                                        <p:cTn id="95" dur="450"/>
                                        <p:tgtEl>
                                          <p:spTgt spid="41"/>
                                        </p:tgtEl>
                                      </p:cBhvr>
                                    </p:animEffect>
                                  </p:childTnLst>
                                </p:cTn>
                              </p:par>
                              <p:par>
                                <p:cTn id="96" presetID="10" presetClass="entr" presetSubtype="0" fill="hold" grpId="0" nodeType="withEffect">
                                  <p:stCondLst>
                                    <p:cond delay="600"/>
                                  </p:stCondLst>
                                  <p:childTnLst>
                                    <p:set>
                                      <p:cBhvr>
                                        <p:cTn id="97" dur="1" fill="hold">
                                          <p:stCondLst>
                                            <p:cond delay="0"/>
                                          </p:stCondLst>
                                        </p:cTn>
                                        <p:tgtEl>
                                          <p:spTgt spid="42"/>
                                        </p:tgtEl>
                                        <p:attrNameLst>
                                          <p:attrName>style.visibility</p:attrName>
                                        </p:attrNameLst>
                                      </p:cBhvr>
                                      <p:to>
                                        <p:strVal val="visible"/>
                                      </p:to>
                                    </p:set>
                                    <p:animEffect transition="in" filter="fade">
                                      <p:cBhvr>
                                        <p:cTn id="98" dur="450"/>
                                        <p:tgtEl>
                                          <p:spTgt spid="42"/>
                                        </p:tgtEl>
                                      </p:cBhvr>
                                    </p:animEffect>
                                  </p:childTnLst>
                                </p:cTn>
                              </p:par>
                              <p:par>
                                <p:cTn id="99" presetID="10" presetClass="entr" presetSubtype="0" fill="hold" grpId="0" nodeType="withEffect">
                                  <p:stCondLst>
                                    <p:cond delay="720"/>
                                  </p:stCondLst>
                                  <p:childTnLst>
                                    <p:set>
                                      <p:cBhvr>
                                        <p:cTn id="100" dur="1" fill="hold">
                                          <p:stCondLst>
                                            <p:cond delay="0"/>
                                          </p:stCondLst>
                                        </p:cTn>
                                        <p:tgtEl>
                                          <p:spTgt spid="43"/>
                                        </p:tgtEl>
                                        <p:attrNameLst>
                                          <p:attrName>style.visibility</p:attrName>
                                        </p:attrNameLst>
                                      </p:cBhvr>
                                      <p:to>
                                        <p:strVal val="visible"/>
                                      </p:to>
                                    </p:set>
                                    <p:animEffect transition="in" filter="fade">
                                      <p:cBhvr>
                                        <p:cTn id="101" dur="450"/>
                                        <p:tgtEl>
                                          <p:spTgt spid="43"/>
                                        </p:tgtEl>
                                      </p:cBhvr>
                                    </p:animEffect>
                                  </p:childTnLst>
                                </p:cTn>
                              </p:par>
                              <p:par>
                                <p:cTn id="102" presetID="10" presetClass="entr" presetSubtype="0" fill="hold" grpId="0" nodeType="withEffect">
                                  <p:stCondLst>
                                    <p:cond delay="840"/>
                                  </p:stCondLst>
                                  <p:childTnLst>
                                    <p:set>
                                      <p:cBhvr>
                                        <p:cTn id="103" dur="1" fill="hold">
                                          <p:stCondLst>
                                            <p:cond delay="0"/>
                                          </p:stCondLst>
                                        </p:cTn>
                                        <p:tgtEl>
                                          <p:spTgt spid="44"/>
                                        </p:tgtEl>
                                        <p:attrNameLst>
                                          <p:attrName>style.visibility</p:attrName>
                                        </p:attrNameLst>
                                      </p:cBhvr>
                                      <p:to>
                                        <p:strVal val="visible"/>
                                      </p:to>
                                    </p:set>
                                    <p:animEffect transition="in" filter="fade">
                                      <p:cBhvr>
                                        <p:cTn id="104" dur="450"/>
                                        <p:tgtEl>
                                          <p:spTgt spid="44"/>
                                        </p:tgtEl>
                                      </p:cBhvr>
                                    </p:animEffect>
                                  </p:childTnLst>
                                </p:cTn>
                              </p:par>
                              <p:par>
                                <p:cTn id="105" presetID="10" presetClass="entr" presetSubtype="0" fill="hold" grpId="0" nodeType="withEffect">
                                  <p:stCondLst>
                                    <p:cond delay="960"/>
                                  </p:stCondLst>
                                  <p:childTnLst>
                                    <p:set>
                                      <p:cBhvr>
                                        <p:cTn id="106" dur="1" fill="hold">
                                          <p:stCondLst>
                                            <p:cond delay="0"/>
                                          </p:stCondLst>
                                        </p:cTn>
                                        <p:tgtEl>
                                          <p:spTgt spid="45"/>
                                        </p:tgtEl>
                                        <p:attrNameLst>
                                          <p:attrName>style.visibility</p:attrName>
                                        </p:attrNameLst>
                                      </p:cBhvr>
                                      <p:to>
                                        <p:strVal val="visible"/>
                                      </p:to>
                                    </p:set>
                                    <p:animEffect transition="in" filter="fade">
                                      <p:cBhvr>
                                        <p:cTn id="107" dur="450"/>
                                        <p:tgtEl>
                                          <p:spTgt spid="45"/>
                                        </p:tgtEl>
                                      </p:cBhvr>
                                    </p:animEffect>
                                  </p:childTnLst>
                                </p:cTn>
                              </p:par>
                            </p:childTnLst>
                          </p:cTn>
                        </p:par>
                      </p:childTnLst>
                    </p:cTn>
                  </p:par>
                  <p:par>
                    <p:cTn id="143" fill="hold">
                      <p:stCondLst>
                        <p:cond delay="indefinite"/>
                      </p:stCondLst>
                      <p:childTnLst>
                        <p:par>
                          <p:cTn id="144" fill="hold">
                            <p:stCondLst>
                              <p:cond delay="0"/>
                            </p:stCondLst>
                            <p:childTnLst>
                              <p:par>
                                <p:cTn id="110" presetID="10" presetClass="entr" presetSubtype="0" fill="hold" grpId="0" nodeType="clickEffect">
                                  <p:stCondLst>
                                    <p:cond delay="0"/>
                                  </p:stCondLst>
                                  <p:childTnLst>
                                    <p:set>
                                      <p:cBhvr>
                                        <p:cTn id="111" dur="1" fill="hold">
                                          <p:stCondLst>
                                            <p:cond delay="0"/>
                                          </p:stCondLst>
                                        </p:cTn>
                                        <p:tgtEl>
                                          <p:spTgt spid="46"/>
                                        </p:tgtEl>
                                        <p:attrNameLst>
                                          <p:attrName>style.visibility</p:attrName>
                                        </p:attrNameLst>
                                      </p:cBhvr>
                                      <p:to>
                                        <p:strVal val="visible"/>
                                      </p:to>
                                    </p:set>
                                    <p:animEffect transition="in" filter="fade">
                                      <p:cBhvr>
                                        <p:cTn id="112" dur="450"/>
                                        <p:tgtEl>
                                          <p:spTgt spid="46"/>
                                        </p:tgtEl>
                                      </p:cBhvr>
                                    </p:animEffect>
                                  </p:childTnLst>
                                </p:cTn>
                              </p:par>
                              <p:par>
                                <p:cTn id="113" presetID="10" presetClass="entr" presetSubtype="0" fill="hold" grpId="0" nodeType="withEffect">
                                  <p:stCondLst>
                                    <p:cond delay="12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50"/>
                                        <p:tgtEl>
                                          <p:spTgt spid="47"/>
                                        </p:tgtEl>
                                      </p:cBhvr>
                                    </p:animEffect>
                                  </p:childTnLst>
                                </p:cTn>
                              </p:par>
                              <p:par>
                                <p:cTn id="116" presetID="10" presetClass="entr" presetSubtype="0" fill="hold" grpId="0" nodeType="withEffect">
                                  <p:stCondLst>
                                    <p:cond delay="24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50"/>
                                        <p:tgtEl>
                                          <p:spTgt spid="48"/>
                                        </p:tgtEl>
                                      </p:cBhvr>
                                    </p:animEffect>
                                  </p:childTnLst>
                                </p:cTn>
                              </p:par>
                              <p:par>
                                <p:cTn id="119" presetID="10" presetClass="entr" presetSubtype="0" fill="hold" grpId="0" nodeType="withEffect">
                                  <p:stCondLst>
                                    <p:cond delay="36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50"/>
                                        <p:tgtEl>
                                          <p:spTgt spid="49"/>
                                        </p:tgtEl>
                                      </p:cBhvr>
                                    </p:animEffect>
                                  </p:childTnLst>
                                </p:cTn>
                              </p:par>
                              <p:par>
                                <p:cTn id="122" presetID="10" presetClass="entr" presetSubtype="0" fill="hold" grpId="0" nodeType="withEffect">
                                  <p:stCondLst>
                                    <p:cond delay="48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50"/>
                                        <p:tgtEl>
                                          <p:spTgt spid="50"/>
                                        </p:tgtEl>
                                      </p:cBhvr>
                                    </p:animEffect>
                                  </p:childTnLst>
                                </p:cTn>
                              </p:par>
                              <p:par>
                                <p:cTn id="125" presetID="10" presetClass="entr" presetSubtype="0" fill="hold" grpId="0" nodeType="withEffect">
                                  <p:stCondLst>
                                    <p:cond delay="60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50"/>
                                        <p:tgtEl>
                                          <p:spTgt spid="51"/>
                                        </p:tgtEl>
                                      </p:cBhvr>
                                    </p:animEffect>
                                  </p:childTnLst>
                                </p:cTn>
                              </p:par>
                              <p:par>
                                <p:cTn id="128" presetID="10" presetClass="entr" presetSubtype="0" fill="hold" grpId="0" nodeType="withEffect">
                                  <p:stCondLst>
                                    <p:cond delay="72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50"/>
                                        <p:tgtEl>
                                          <p:spTgt spid="52"/>
                                        </p:tgtEl>
                                      </p:cBhvr>
                                    </p:animEffect>
                                  </p:childTnLst>
                                </p:cTn>
                              </p:par>
                              <p:par>
                                <p:cTn id="131" presetID="10" presetClass="entr" presetSubtype="0" fill="hold" grpId="0" nodeType="withEffect">
                                  <p:stCondLst>
                                    <p:cond delay="84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50"/>
                                        <p:tgtEl>
                                          <p:spTgt spid="53"/>
                                        </p:tgtEl>
                                      </p:cBhvr>
                                    </p:animEffect>
                                  </p:childTnLst>
                                </p:cTn>
                              </p:par>
                              <p:par>
                                <p:cTn id="134" presetID="10" presetClass="entr" presetSubtype="0" fill="hold" grpId="0" nodeType="withEffect">
                                  <p:stCondLst>
                                    <p:cond delay="960"/>
                                  </p:stCondLst>
                                  <p:childTnLst>
                                    <p:set>
                                      <p:cBhvr>
                                        <p:cTn id="135" dur="1" fill="hold">
                                          <p:stCondLst>
                                            <p:cond delay="0"/>
                                          </p:stCondLst>
                                        </p:cTn>
                                        <p:tgtEl>
                                          <p:spTgt spid="54"/>
                                        </p:tgtEl>
                                        <p:attrNameLst>
                                          <p:attrName>style.visibility</p:attrName>
                                        </p:attrNameLst>
                                      </p:cBhvr>
                                      <p:to>
                                        <p:strVal val="visible"/>
                                      </p:to>
                                    </p:set>
                                    <p:animEffect transition="in" filter="fade">
                                      <p:cBhvr>
                                        <p:cTn id="136" dur="450"/>
                                        <p:tgtEl>
                                          <p:spTgt spid="54"/>
                                        </p:tgtEl>
                                      </p:cBhvr>
                                    </p:animEffect>
                                  </p:childTnLst>
                                </p:cTn>
                              </p:par>
                              <p:par>
                                <p:cTn id="137" presetID="10" presetClass="entr" presetSubtype="0" fill="hold" grpId="0" nodeType="withEffect">
                                  <p:stCondLst>
                                    <p:cond delay="1080"/>
                                  </p:stCondLst>
                                  <p:childTnLst>
                                    <p:set>
                                      <p:cBhvr>
                                        <p:cTn id="138" dur="1" fill="hold">
                                          <p:stCondLst>
                                            <p:cond delay="0"/>
                                          </p:stCondLst>
                                        </p:cTn>
                                        <p:tgtEl>
                                          <p:spTgt spid="55"/>
                                        </p:tgtEl>
                                        <p:attrNameLst>
                                          <p:attrName>style.visibility</p:attrName>
                                        </p:attrNameLst>
                                      </p:cBhvr>
                                      <p:to>
                                        <p:strVal val="visible"/>
                                      </p:to>
                                    </p:set>
                                    <p:animEffect transition="in" filter="fade">
                                      <p:cBhvr>
                                        <p:cTn id="139" dur="450"/>
                                        <p:tgtEl>
                                          <p:spTgt spid="55"/>
                                        </p:tgtEl>
                                      </p:cBhvr>
                                    </p:animEffect>
                                  </p:childTnLst>
                                </p:cTn>
                              </p:par>
                              <p:par>
                                <p:cTn id="140" presetID="10" presetClass="entr" presetSubtype="0" fill="hold" grpId="0" nodeType="withEffect">
                                  <p:stCondLst>
                                    <p:cond delay="1200"/>
                                  </p:stCondLst>
                                  <p:childTnLst>
                                    <p:set>
                                      <p:cBhvr>
                                        <p:cTn id="141" dur="1" fill="hold">
                                          <p:stCondLst>
                                            <p:cond delay="0"/>
                                          </p:stCondLst>
                                        </p:cTn>
                                        <p:tgtEl>
                                          <p:spTgt spid="56"/>
                                        </p:tgtEl>
                                        <p:attrNameLst>
                                          <p:attrName>style.visibility</p:attrName>
                                        </p:attrNameLst>
                                      </p:cBhvr>
                                      <p:to>
                                        <p:strVal val="visible"/>
                                      </p:to>
                                    </p:set>
                                    <p:animEffect transition="in" filter="fade">
                                      <p:cBhvr>
                                        <p:cTn id="142" dur="45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II.  ACCÈS, PÉRIMÈTRE ET HABILITATIONS</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Oval 4"/>
          <p:cNvSpPr/>
          <p:nvPr/>
        </p:nvSpPr>
        <p:spPr>
          <a:xfrm>
            <a:off x="466768" y="751958"/>
            <a:ext cx="90591" cy="90591"/>
          </a:xfrm>
          <a:prstGeom prst="ellipse">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410148" y="870859"/>
            <a:ext cx="203831" cy="101916"/>
          </a:xfrm>
          <a:custGeom>
            <a:avLst/>
            <a:gdLst/>
            <a:ahLst/>
            <a:cxnLst/>
            <a:rect l="l" t="t" r="r" b="b"/>
            <a:pathLst>
              <a:path w="203831" h="101916">
                <a:moveTo>
                  <a:pt x="0" y="101916"/>
                </a:moveTo>
                <a:lnTo>
                  <a:pt x="16986" y="33972"/>
                </a:lnTo>
                <a:lnTo>
                  <a:pt x="101916" y="0"/>
                </a:lnTo>
                <a:lnTo>
                  <a:pt x="186845" y="33972"/>
                </a:lnTo>
                <a:lnTo>
                  <a:pt x="203831" y="101916"/>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SE CONNECTER À LA PLATEFORME</a:t>
            </a:r>
          </a:p>
        </p:txBody>
      </p:sp>
      <p:sp>
        <p:nvSpPr>
          <p:cNvPr id="8" name="Rectangle 7"/>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1" name="TextBox 10"/>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06 / 20</a:t>
            </a:r>
          </a:p>
        </p:txBody>
      </p:sp>
      <p:sp>
        <p:nvSpPr>
          <p:cNvPr id="12" name="Rounded Rectangle 11"/>
          <p:cNvSpPr/>
          <p:nvPr/>
        </p:nvSpPr>
        <p:spPr>
          <a:xfrm>
            <a:off x="365760" y="1188720"/>
            <a:ext cx="1965960" cy="1783080"/>
          </a:xfrm>
          <a:prstGeom prst="roundRect">
            <a:avLst>
              <a:gd name="adj" fmla="val 6000"/>
            </a:avLst>
          </a:prstGeom>
          <a:solidFill>
            <a:srgbClr val="009A56"/>
          </a:solidFill>
          <a:ln w="12700">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152144" y="1261872"/>
            <a:ext cx="402336" cy="402336"/>
          </a:xfrm>
          <a:prstGeom prst="ellipse">
            <a:avLst/>
          </a:prstGeom>
          <a:solidFill>
            <a:srgbClr val="FFFFFF">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1238404" y="1364548"/>
            <a:ext cx="229814" cy="153209"/>
          </a:xfrm>
          <a:prstGeom prst="rect">
            <a:avLst/>
          </a:pr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1353312" y="1517757"/>
            <a:ext cx="0" cy="43774"/>
          </a:xfrm>
          <a:custGeom>
            <a:avLst/>
            <a:gdLst/>
            <a:ahLst/>
            <a:cxnLst/>
            <a:rect l="l" t="t" r="r" b="b"/>
            <a:pathLst>
              <a:path w="0" h="43774">
                <a:moveTo>
                  <a:pt x="0" y="0"/>
                </a:moveTo>
                <a:lnTo>
                  <a:pt x="0" y="43774"/>
                </a:lnTo>
              </a:path>
            </a:pathLst>
          </a:cu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1298594" y="1567003"/>
            <a:ext cx="109435" cy="0"/>
          </a:xfrm>
          <a:custGeom>
            <a:avLst/>
            <a:gdLst/>
            <a:ahLst/>
            <a:cxnLst/>
            <a:rect l="l" t="t" r="r" b="b"/>
            <a:pathLst>
              <a:path w="109435" h="0">
                <a:moveTo>
                  <a:pt x="0" y="0"/>
                </a:moveTo>
                <a:lnTo>
                  <a:pt x="109435" y="0"/>
                </a:lnTo>
              </a:path>
            </a:pathLst>
          </a:cu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1271235" y="1413794"/>
            <a:ext cx="82077" cy="0"/>
          </a:xfrm>
          <a:custGeom>
            <a:avLst/>
            <a:gdLst/>
            <a:ahLst/>
            <a:cxnLst/>
            <a:rect l="l" t="t" r="r" b="b"/>
            <a:pathLst>
              <a:path w="82077" h="0">
                <a:moveTo>
                  <a:pt x="0" y="0"/>
                </a:moveTo>
                <a:lnTo>
                  <a:pt x="82077" y="0"/>
                </a:lnTo>
              </a:path>
            </a:pathLst>
          </a:cu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1271235" y="1457568"/>
            <a:ext cx="114907" cy="0"/>
          </a:xfrm>
          <a:custGeom>
            <a:avLst/>
            <a:gdLst/>
            <a:ahLst/>
            <a:cxnLst/>
            <a:rect l="l" t="t" r="r" b="b"/>
            <a:pathLst>
              <a:path w="114907" h="0">
                <a:moveTo>
                  <a:pt x="0" y="0"/>
                </a:moveTo>
                <a:lnTo>
                  <a:pt x="114907" y="0"/>
                </a:lnTo>
              </a:path>
            </a:pathLst>
          </a:cu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1700784"/>
            <a:ext cx="1965960" cy="274320"/>
          </a:xfrm>
          <a:prstGeom prst="rect">
            <a:avLst/>
          </a:prstGeom>
          <a:noFill/>
        </p:spPr>
        <p:txBody>
          <a:bodyPr wrap="square" lIns="0" rIns="0" tIns="0" bIns="0" anchor="ctr">
            <a:spAutoFit/>
          </a:bodyPr>
          <a:lstStyle/>
          <a:p>
            <a:pPr algn="ctr"/>
            <a:r>
              <a:rPr sz="950" b="1" i="0" spc="40">
                <a:solidFill>
                  <a:srgbClr val="FFFFFF"/>
                </a:solidFill>
                <a:latin typeface="Calibri"/>
                <a:ea typeface="Calibri"/>
                <a:cs typeface="Calibri"/>
              </a:rPr>
              <a:t>1.  ACCÈS</a:t>
            </a:r>
          </a:p>
        </p:txBody>
      </p:sp>
      <p:sp>
        <p:nvSpPr>
          <p:cNvPr id="20" name="TextBox 19"/>
          <p:cNvSpPr txBox="1"/>
          <p:nvPr/>
        </p:nvSpPr>
        <p:spPr>
          <a:xfrm>
            <a:off x="502920" y="2011680"/>
            <a:ext cx="1691640" cy="822960"/>
          </a:xfrm>
          <a:prstGeom prst="rect">
            <a:avLst/>
          </a:prstGeom>
          <a:noFill/>
        </p:spPr>
        <p:txBody>
          <a:bodyPr wrap="square" lIns="0" rIns="0" tIns="0" bIns="0" anchor="t">
            <a:spAutoFit/>
          </a:bodyPr>
          <a:lstStyle/>
          <a:p>
            <a:pPr algn="ctr">
              <a:lnSpc>
                <a:spcPct val="105000"/>
              </a:lnSpc>
            </a:pPr>
            <a:r>
              <a:rPr sz="850" b="0" i="0">
                <a:solidFill>
                  <a:srgbClr val="CCFFDD"/>
                </a:solidFill>
                <a:latin typeface="Calibri"/>
                <a:ea typeface="Calibri"/>
                <a:cs typeface="Calibri"/>
              </a:rPr>
              <a:t>Ouvrir l'adresse interne de la plateforme depuis le poste bancaire</a:t>
            </a:r>
          </a:p>
        </p:txBody>
      </p:sp>
      <p:sp>
        <p:nvSpPr>
          <p:cNvPr id="21" name="Rounded Rectangle 20"/>
          <p:cNvSpPr/>
          <p:nvPr/>
        </p:nvSpPr>
        <p:spPr>
          <a:xfrm>
            <a:off x="2514600" y="1188720"/>
            <a:ext cx="1965960" cy="1783080"/>
          </a:xfrm>
          <a:prstGeom prst="roundRect">
            <a:avLst>
              <a:gd name="adj" fmla="val 6000"/>
            </a:avLst>
          </a:prstGeom>
          <a:solidFill>
            <a:srgbClr val="009A56"/>
          </a:solidFill>
          <a:ln w="12700">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3300984" y="1261872"/>
            <a:ext cx="402336" cy="402336"/>
          </a:xfrm>
          <a:prstGeom prst="ellipse">
            <a:avLst/>
          </a:prstGeom>
          <a:solidFill>
            <a:srgbClr val="FFFFFF">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3381773" y="1391906"/>
            <a:ext cx="240757" cy="142266"/>
          </a:xfrm>
          <a:prstGeom prst="rect">
            <a:avLst/>
          </a:pr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414603" y="1413794"/>
            <a:ext cx="54717" cy="54717"/>
          </a:xfrm>
          <a:prstGeom prst="ellipse">
            <a:avLst/>
          </a:pr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3414603" y="1501342"/>
            <a:ext cx="54718" cy="0"/>
          </a:xfrm>
          <a:custGeom>
            <a:avLst/>
            <a:gdLst/>
            <a:ahLst/>
            <a:cxnLst/>
            <a:rect l="l" t="t" r="r" b="b"/>
            <a:pathLst>
              <a:path w="54718" h="0">
                <a:moveTo>
                  <a:pt x="0" y="0"/>
                </a:moveTo>
                <a:lnTo>
                  <a:pt x="54718" y="0"/>
                </a:lnTo>
              </a:path>
            </a:pathLst>
          </a:cu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3502151" y="1430209"/>
            <a:ext cx="93021" cy="0"/>
          </a:xfrm>
          <a:custGeom>
            <a:avLst/>
            <a:gdLst/>
            <a:ahLst/>
            <a:cxnLst/>
            <a:rect l="l" t="t" r="r" b="b"/>
            <a:pathLst>
              <a:path w="93021" h="0">
                <a:moveTo>
                  <a:pt x="0" y="0"/>
                </a:moveTo>
                <a:lnTo>
                  <a:pt x="93021" y="0"/>
                </a:lnTo>
              </a:path>
            </a:pathLst>
          </a:cu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3502151" y="1463039"/>
            <a:ext cx="93021" cy="0"/>
          </a:xfrm>
          <a:custGeom>
            <a:avLst/>
            <a:gdLst/>
            <a:ahLst/>
            <a:cxnLst/>
            <a:rect l="l" t="t" r="r" b="b"/>
            <a:pathLst>
              <a:path w="93021" h="0">
                <a:moveTo>
                  <a:pt x="0" y="0"/>
                </a:moveTo>
                <a:lnTo>
                  <a:pt x="93021" y="0"/>
                </a:lnTo>
              </a:path>
            </a:pathLst>
          </a:cu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Freeform 27"/>
          <p:cNvSpPr/>
          <p:nvPr/>
        </p:nvSpPr>
        <p:spPr>
          <a:xfrm>
            <a:off x="3502151" y="1495870"/>
            <a:ext cx="60190" cy="0"/>
          </a:xfrm>
          <a:custGeom>
            <a:avLst/>
            <a:gdLst/>
            <a:ahLst/>
            <a:cxnLst/>
            <a:rect l="l" t="t" r="r" b="b"/>
            <a:pathLst>
              <a:path w="60190" h="0">
                <a:moveTo>
                  <a:pt x="0" y="0"/>
                </a:moveTo>
                <a:lnTo>
                  <a:pt x="60190" y="0"/>
                </a:lnTo>
              </a:path>
            </a:pathLst>
          </a:cu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14600" y="1700784"/>
            <a:ext cx="1965960" cy="274320"/>
          </a:xfrm>
          <a:prstGeom prst="rect">
            <a:avLst/>
          </a:prstGeom>
          <a:noFill/>
        </p:spPr>
        <p:txBody>
          <a:bodyPr wrap="square" lIns="0" rIns="0" tIns="0" bIns="0" anchor="ctr">
            <a:spAutoFit/>
          </a:bodyPr>
          <a:lstStyle/>
          <a:p>
            <a:pPr algn="ctr"/>
            <a:r>
              <a:rPr sz="950" b="1" i="0" spc="40">
                <a:solidFill>
                  <a:srgbClr val="FFFFFF"/>
                </a:solidFill>
                <a:latin typeface="Calibri"/>
                <a:ea typeface="Calibri"/>
                <a:cs typeface="Calibri"/>
              </a:rPr>
              <a:t>2.  IDENTIFIANTS</a:t>
            </a:r>
          </a:p>
        </p:txBody>
      </p:sp>
      <p:sp>
        <p:nvSpPr>
          <p:cNvPr id="30" name="TextBox 29"/>
          <p:cNvSpPr txBox="1"/>
          <p:nvPr/>
        </p:nvSpPr>
        <p:spPr>
          <a:xfrm>
            <a:off x="2651760" y="2011680"/>
            <a:ext cx="1691640" cy="822960"/>
          </a:xfrm>
          <a:prstGeom prst="rect">
            <a:avLst/>
          </a:prstGeom>
          <a:noFill/>
        </p:spPr>
        <p:txBody>
          <a:bodyPr wrap="square" lIns="0" rIns="0" tIns="0" bIns="0" anchor="t">
            <a:spAutoFit/>
          </a:bodyPr>
          <a:lstStyle/>
          <a:p>
            <a:pPr algn="ctr">
              <a:lnSpc>
                <a:spcPct val="105000"/>
              </a:lnSpc>
            </a:pPr>
            <a:r>
              <a:rPr sz="850" b="0" i="0">
                <a:solidFill>
                  <a:srgbClr val="CCFFDD"/>
                </a:solidFill>
                <a:latin typeface="Calibri"/>
                <a:ea typeface="Calibri"/>
                <a:cs typeface="Calibri"/>
              </a:rPr>
              <a:t>Saisir l'identifiant nominatif transmis par la DSI et le mot de passe initial</a:t>
            </a:r>
          </a:p>
        </p:txBody>
      </p:sp>
      <p:sp>
        <p:nvSpPr>
          <p:cNvPr id="31" name="Rounded Rectangle 30"/>
          <p:cNvSpPr/>
          <p:nvPr/>
        </p:nvSpPr>
        <p:spPr>
          <a:xfrm>
            <a:off x="4663440" y="1188720"/>
            <a:ext cx="1965960" cy="1783080"/>
          </a:xfrm>
          <a:prstGeom prst="roundRect">
            <a:avLst>
              <a:gd name="adj" fmla="val 6000"/>
            </a:avLst>
          </a:prstGeom>
          <a:solidFill>
            <a:srgbClr val="009A56"/>
          </a:solidFill>
          <a:ln w="12700">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5449824" y="1261872"/>
            <a:ext cx="402336" cy="402336"/>
          </a:xfrm>
          <a:prstGeom prst="ellipse">
            <a:avLst/>
          </a:prstGeom>
          <a:solidFill>
            <a:srgbClr val="FFFFFF">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5549764" y="1361812"/>
            <a:ext cx="93020" cy="93020"/>
          </a:xfrm>
          <a:prstGeom prst="ellipse">
            <a:avLst/>
          </a:pr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5626369" y="1441152"/>
            <a:ext cx="125850" cy="125851"/>
          </a:xfrm>
          <a:custGeom>
            <a:avLst/>
            <a:gdLst/>
            <a:ahLst/>
            <a:cxnLst/>
            <a:rect l="l" t="t" r="r" b="b"/>
            <a:pathLst>
              <a:path w="125850" h="125851">
                <a:moveTo>
                  <a:pt x="0" y="0"/>
                </a:moveTo>
                <a:lnTo>
                  <a:pt x="125850" y="125851"/>
                </a:lnTo>
              </a:path>
            </a:pathLst>
          </a:cu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reeform 34"/>
          <p:cNvSpPr/>
          <p:nvPr/>
        </p:nvSpPr>
        <p:spPr>
          <a:xfrm>
            <a:off x="5678350" y="1463039"/>
            <a:ext cx="30095" cy="30095"/>
          </a:xfrm>
          <a:custGeom>
            <a:avLst/>
            <a:gdLst/>
            <a:ahLst/>
            <a:cxnLst/>
            <a:rect l="l" t="t" r="r" b="b"/>
            <a:pathLst>
              <a:path w="30095" h="30095">
                <a:moveTo>
                  <a:pt x="0" y="30095"/>
                </a:moveTo>
                <a:lnTo>
                  <a:pt x="30095" y="0"/>
                </a:lnTo>
              </a:path>
            </a:pathLst>
          </a:cu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Freeform 35"/>
          <p:cNvSpPr/>
          <p:nvPr/>
        </p:nvSpPr>
        <p:spPr>
          <a:xfrm>
            <a:off x="5708445" y="1493134"/>
            <a:ext cx="30095" cy="30095"/>
          </a:xfrm>
          <a:custGeom>
            <a:avLst/>
            <a:gdLst/>
            <a:ahLst/>
            <a:cxnLst/>
            <a:rect l="l" t="t" r="r" b="b"/>
            <a:pathLst>
              <a:path w="30095" h="30095">
                <a:moveTo>
                  <a:pt x="0" y="30095"/>
                </a:moveTo>
                <a:lnTo>
                  <a:pt x="30095" y="0"/>
                </a:lnTo>
              </a:path>
            </a:pathLst>
          </a:cu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1700784"/>
            <a:ext cx="1965960" cy="274320"/>
          </a:xfrm>
          <a:prstGeom prst="rect">
            <a:avLst/>
          </a:prstGeom>
          <a:noFill/>
        </p:spPr>
        <p:txBody>
          <a:bodyPr wrap="square" lIns="0" rIns="0" tIns="0" bIns="0" anchor="ctr">
            <a:spAutoFit/>
          </a:bodyPr>
          <a:lstStyle/>
          <a:p>
            <a:pPr algn="ctr"/>
            <a:r>
              <a:rPr sz="950" b="1" i="0" spc="40">
                <a:solidFill>
                  <a:srgbClr val="FFFFFF"/>
                </a:solidFill>
                <a:latin typeface="Calibri"/>
                <a:ea typeface="Calibri"/>
                <a:cs typeface="Calibri"/>
              </a:rPr>
              <a:t>3.  MOT DE PASSE</a:t>
            </a:r>
          </a:p>
        </p:txBody>
      </p:sp>
      <p:sp>
        <p:nvSpPr>
          <p:cNvPr id="38" name="TextBox 37"/>
          <p:cNvSpPr txBox="1"/>
          <p:nvPr/>
        </p:nvSpPr>
        <p:spPr>
          <a:xfrm>
            <a:off x="4800600" y="2011680"/>
            <a:ext cx="1691640" cy="822960"/>
          </a:xfrm>
          <a:prstGeom prst="rect">
            <a:avLst/>
          </a:prstGeom>
          <a:noFill/>
        </p:spPr>
        <p:txBody>
          <a:bodyPr wrap="square" lIns="0" rIns="0" tIns="0" bIns="0" anchor="t">
            <a:spAutoFit/>
          </a:bodyPr>
          <a:lstStyle/>
          <a:p>
            <a:pPr algn="ctr">
              <a:lnSpc>
                <a:spcPct val="105000"/>
              </a:lnSpc>
            </a:pPr>
            <a:r>
              <a:rPr sz="850" b="0" i="0">
                <a:solidFill>
                  <a:srgbClr val="CCFFDD"/>
                </a:solidFill>
                <a:latin typeface="Calibri"/>
                <a:ea typeface="Calibri"/>
                <a:cs typeface="Calibri"/>
              </a:rPr>
              <a:t>Le changement du mot de passe est imposé à la première connexion</a:t>
            </a:r>
          </a:p>
        </p:txBody>
      </p:sp>
      <p:sp>
        <p:nvSpPr>
          <p:cNvPr id="39" name="Rounded Rectangle 38"/>
          <p:cNvSpPr/>
          <p:nvPr/>
        </p:nvSpPr>
        <p:spPr>
          <a:xfrm>
            <a:off x="6812280" y="1188720"/>
            <a:ext cx="1965960" cy="1783080"/>
          </a:xfrm>
          <a:prstGeom prst="roundRect">
            <a:avLst>
              <a:gd name="adj" fmla="val 6000"/>
            </a:avLst>
          </a:prstGeom>
          <a:solidFill>
            <a:srgbClr val="009A56"/>
          </a:solidFill>
          <a:ln w="12700">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7598664" y="1261872"/>
            <a:ext cx="402336" cy="402336"/>
          </a:xfrm>
          <a:prstGeom prst="ellipse">
            <a:avLst/>
          </a:prstGeom>
          <a:solidFill>
            <a:srgbClr val="FFFFFF">
              <a:alpha val="2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7684924" y="1348132"/>
            <a:ext cx="229814" cy="229814"/>
          </a:xfrm>
          <a:prstGeom prst="ellipse">
            <a:avLst/>
          </a:pr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7756057" y="1419265"/>
            <a:ext cx="87549" cy="87549"/>
          </a:xfrm>
          <a:custGeom>
            <a:avLst/>
            <a:gdLst/>
            <a:ahLst/>
            <a:cxnLst/>
            <a:rect l="l" t="t" r="r" b="b"/>
            <a:pathLst>
              <a:path w="87549" h="87549">
                <a:moveTo>
                  <a:pt x="87549" y="0"/>
                </a:moveTo>
                <a:lnTo>
                  <a:pt x="60190" y="60190"/>
                </a:lnTo>
                <a:lnTo>
                  <a:pt x="0" y="87549"/>
                </a:lnTo>
                <a:lnTo>
                  <a:pt x="27359" y="27359"/>
                </a:lnTo>
                <a:close/>
              </a:path>
            </a:pathLst>
          </a:custGeom>
          <a:noFill/>
          <a:ln w="21279"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12280" y="1700784"/>
            <a:ext cx="1965960" cy="274320"/>
          </a:xfrm>
          <a:prstGeom prst="rect">
            <a:avLst/>
          </a:prstGeom>
          <a:noFill/>
        </p:spPr>
        <p:txBody>
          <a:bodyPr wrap="square" lIns="0" rIns="0" tIns="0" bIns="0" anchor="ctr">
            <a:spAutoFit/>
          </a:bodyPr>
          <a:lstStyle/>
          <a:p>
            <a:pPr algn="ctr"/>
            <a:r>
              <a:rPr sz="950" b="1" i="0" spc="40">
                <a:solidFill>
                  <a:srgbClr val="FFFFFF"/>
                </a:solidFill>
                <a:latin typeface="Calibri"/>
                <a:ea typeface="Calibri"/>
                <a:cs typeface="Calibri"/>
              </a:rPr>
              <a:t>4.  PÉRIMÈTRE</a:t>
            </a:r>
          </a:p>
        </p:txBody>
      </p:sp>
      <p:sp>
        <p:nvSpPr>
          <p:cNvPr id="44" name="TextBox 43"/>
          <p:cNvSpPr txBox="1"/>
          <p:nvPr/>
        </p:nvSpPr>
        <p:spPr>
          <a:xfrm>
            <a:off x="6949440" y="2011680"/>
            <a:ext cx="1691640" cy="822960"/>
          </a:xfrm>
          <a:prstGeom prst="rect">
            <a:avLst/>
          </a:prstGeom>
          <a:noFill/>
        </p:spPr>
        <p:txBody>
          <a:bodyPr wrap="square" lIns="0" rIns="0" tIns="0" bIns="0" anchor="t">
            <a:spAutoFit/>
          </a:bodyPr>
          <a:lstStyle/>
          <a:p>
            <a:pPr algn="ctr">
              <a:lnSpc>
                <a:spcPct val="105000"/>
              </a:lnSpc>
            </a:pPr>
            <a:r>
              <a:rPr sz="850" b="0" i="0">
                <a:solidFill>
                  <a:srgbClr val="CCFFDD"/>
                </a:solidFill>
                <a:latin typeface="Calibri"/>
                <a:ea typeface="Calibri"/>
                <a:cs typeface="Calibri"/>
              </a:rPr>
              <a:t>Le tableau de bord s'ouvre déjà filtré sur votre périmètre</a:t>
            </a:r>
          </a:p>
        </p:txBody>
      </p:sp>
      <p:sp>
        <p:nvSpPr>
          <p:cNvPr id="45" name="Rounded Rectangle 44"/>
          <p:cNvSpPr/>
          <p:nvPr/>
        </p:nvSpPr>
        <p:spPr>
          <a:xfrm>
            <a:off x="365760" y="3200400"/>
            <a:ext cx="8412480" cy="1371600"/>
          </a:xfrm>
          <a:prstGeom prst="roundRect">
            <a:avLst>
              <a:gd name="adj" fmla="val 6000"/>
            </a:avLst>
          </a:prstGeom>
          <a:solidFill>
            <a:srgbClr val="FDF6E7"/>
          </a:solidFill>
          <a:ln w="12700">
            <a:solidFill>
              <a:srgbClr val="F3D9A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365760" y="3200400"/>
            <a:ext cx="841248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96153" y="3323405"/>
            <a:ext cx="141549" cy="108520"/>
          </a:xfrm>
          <a:prstGeom prst="rect">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Freeform 47"/>
          <p:cNvSpPr/>
          <p:nvPr/>
        </p:nvSpPr>
        <p:spPr>
          <a:xfrm>
            <a:off x="524463" y="3257348"/>
            <a:ext cx="84929" cy="66057"/>
          </a:xfrm>
          <a:custGeom>
            <a:avLst/>
            <a:gdLst/>
            <a:ahLst/>
            <a:cxnLst/>
            <a:rect l="l" t="t" r="r" b="b"/>
            <a:pathLst>
              <a:path w="84929" h="66057">
                <a:moveTo>
                  <a:pt x="0" y="66057"/>
                </a:moveTo>
                <a:lnTo>
                  <a:pt x="0" y="33028"/>
                </a:lnTo>
                <a:lnTo>
                  <a:pt x="14155" y="9437"/>
                </a:lnTo>
                <a:lnTo>
                  <a:pt x="42465" y="0"/>
                </a:lnTo>
                <a:lnTo>
                  <a:pt x="70774" y="9437"/>
                </a:lnTo>
                <a:lnTo>
                  <a:pt x="84929" y="33028"/>
                </a:lnTo>
                <a:lnTo>
                  <a:pt x="84929" y="66057"/>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53952" y="3352894"/>
            <a:ext cx="25950" cy="2595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Freeform 49"/>
          <p:cNvSpPr/>
          <p:nvPr/>
        </p:nvSpPr>
        <p:spPr>
          <a:xfrm>
            <a:off x="566928" y="3375306"/>
            <a:ext cx="0" cy="25951"/>
          </a:xfrm>
          <a:custGeom>
            <a:avLst/>
            <a:gdLst/>
            <a:ahLst/>
            <a:cxnLst/>
            <a:rect l="l" t="t" r="r" b="b"/>
            <a:pathLst>
              <a:path w="0" h="25951">
                <a:moveTo>
                  <a:pt x="0" y="0"/>
                </a:moveTo>
                <a:lnTo>
                  <a:pt x="0" y="25951"/>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9808" y="3200400"/>
            <a:ext cx="7918703"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SÉCURITÉ  —  CE QUI EST NON NÉGOCIABLE</a:t>
            </a:r>
          </a:p>
        </p:txBody>
      </p:sp>
      <p:sp>
        <p:nvSpPr>
          <p:cNvPr id="52" name="TextBox 51"/>
          <p:cNvSpPr txBox="1"/>
          <p:nvPr/>
        </p:nvSpPr>
        <p:spPr>
          <a:xfrm>
            <a:off x="548640" y="3639312"/>
            <a:ext cx="8046720" cy="868680"/>
          </a:xfrm>
          <a:prstGeom prst="rect">
            <a:avLst/>
          </a:prstGeom>
          <a:noFill/>
        </p:spPr>
        <p:txBody>
          <a:bodyPr wrap="square" lIns="0" rIns="0" tIns="0" bIns="0" anchor="t">
            <a:spAutoFit/>
          </a:bodyPr>
          <a:lstStyle/>
          <a:p>
            <a:pPr algn="l" marL="152400" indent="-152400">
              <a:lnSpc>
                <a:spcPct val="100000"/>
              </a:lnSpc>
              <a:spcAft>
                <a:spcPts val="400"/>
              </a:spcAft>
              <a:buClr>
                <a:srgbClr val="F59E0B"/>
              </a:buClr>
              <a:buFont typeface="Arial" pitchFamily="34" charset="0"/>
              <a:buChar char="▪"/>
            </a:pPr>
            <a:r>
              <a:rPr sz="1000" b="0" i="0">
                <a:solidFill>
                  <a:srgbClr val="333333"/>
                </a:solidFill>
                <a:latin typeface="Calibri"/>
                <a:ea typeface="Calibri"/>
                <a:cs typeface="Calibri"/>
              </a:rPr>
              <a:t>Le compte est strictement nominatif : aucun partage d'identifiant, même entre collègues d'une même agence.</a:t>
            </a:r>
          </a:p>
          <a:p>
            <a:pPr algn="l" marL="152400" indent="-152400">
              <a:lnSpc>
                <a:spcPct val="100000"/>
              </a:lnSpc>
              <a:spcAft>
                <a:spcPts val="400"/>
              </a:spcAft>
              <a:buClr>
                <a:srgbClr val="F59E0B"/>
              </a:buClr>
              <a:buFont typeface="Arial" pitchFamily="34" charset="0"/>
              <a:buChar char="▪"/>
            </a:pPr>
            <a:r>
              <a:rPr sz="1000" b="0" i="0">
                <a:solidFill>
                  <a:srgbClr val="333333"/>
                </a:solidFill>
                <a:latin typeface="Calibri"/>
                <a:ea typeface="Calibri"/>
                <a:cs typeface="Calibri"/>
              </a:rPr>
              <a:t>Après plusieurs échecs de connexion, le compte est verrouillé automatiquement ; la réouverture passe par la DSI.</a:t>
            </a:r>
          </a:p>
          <a:p>
            <a:pPr algn="l" marL="152400" indent="-152400">
              <a:lnSpc>
                <a:spcPct val="100000"/>
              </a:lnSpc>
              <a:spcAft>
                <a:spcPts val="400"/>
              </a:spcAft>
              <a:buClr>
                <a:srgbClr val="F59E0B"/>
              </a:buClr>
              <a:buFont typeface="Arial" pitchFamily="34" charset="0"/>
              <a:buChar char="▪"/>
            </a:pPr>
            <a:r>
              <a:rPr sz="1000" b="0" i="0">
                <a:solidFill>
                  <a:srgbClr val="333333"/>
                </a:solidFill>
                <a:latin typeface="Calibri"/>
                <a:ea typeface="Calibri"/>
                <a:cs typeface="Calibri"/>
              </a:rPr>
              <a:t>Les connexions et les actions sensibles sont journalisées et consultables lors des contrôles.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2"/>
                                        </p:tgtEl>
                                        <p:attrNameLst>
                                          <p:attrName>style.visibility</p:attrName>
                                        </p:attrNameLst>
                                      </p:cBhvr>
                                      <p:to>
                                        <p:strVal val="visible"/>
                                      </p:to>
                                    </p:set>
                                    <p:animEffect transition="in" filter="fade">
                                      <p:cBhvr>
                                        <p:cTn id="5" dur="450"/>
                                        <p:tgtEl>
                                          <p:spTgt spid="12"/>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3"/>
                                        </p:tgtEl>
                                        <p:attrNameLst>
                                          <p:attrName>style.visibility</p:attrName>
                                        </p:attrNameLst>
                                      </p:cBhvr>
                                      <p:to>
                                        <p:strVal val="visible"/>
                                      </p:to>
                                    </p:set>
                                    <p:animEffect transition="in" filter="fade">
                                      <p:cBhvr>
                                        <p:cTn id="8" dur="450"/>
                                        <p:tgtEl>
                                          <p:spTgt spid="13"/>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50"/>
                                        <p:tgtEl>
                                          <p:spTgt spid="14"/>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450"/>
                                        <p:tgtEl>
                                          <p:spTgt spid="15"/>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450"/>
                                        <p:tgtEl>
                                          <p:spTgt spid="16"/>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450"/>
                                        <p:tgtEl>
                                          <p:spTgt spid="17"/>
                                        </p:tgtEl>
                                      </p:cBhvr>
                                    </p:animEffect>
                                  </p:childTnLst>
                                </p:cTn>
                              </p:par>
                              <p:par>
                                <p:cTn id="21" presetID="10" presetClass="entr" presetSubtype="0" fill="hold" grpId="0" nodeType="withEffect">
                                  <p:stCondLst>
                                    <p:cond delay="72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50"/>
                                        <p:tgtEl>
                                          <p:spTgt spid="18"/>
                                        </p:tgtEl>
                                      </p:cBhvr>
                                    </p:animEffect>
                                  </p:childTnLst>
                                </p:cTn>
                              </p:par>
                              <p:par>
                                <p:cTn id="24" presetID="10" presetClass="entr" presetSubtype="0" fill="hold" grpId="0" nodeType="withEffect">
                                  <p:stCondLst>
                                    <p:cond delay="84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50"/>
                                        <p:tgtEl>
                                          <p:spTgt spid="19"/>
                                        </p:tgtEl>
                                      </p:cBhvr>
                                    </p:animEffect>
                                  </p:childTnLst>
                                </p:cTn>
                              </p:par>
                              <p:par>
                                <p:cTn id="27" presetID="10" presetClass="entr" presetSubtype="0" fill="hold" grpId="0" nodeType="withEffect">
                                  <p:stCondLst>
                                    <p:cond delay="96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450"/>
                                        <p:tgtEl>
                                          <p:spTgt spid="20"/>
                                        </p:tgtEl>
                                      </p:cBhvr>
                                    </p:animEffect>
                                  </p:childTnLst>
                                </p:cTn>
                              </p:par>
                            </p:childTnLst>
                          </p:cTn>
                        </p:par>
                      </p:childTnLst>
                    </p:cTn>
                  </p:par>
                  <p:par>
                    <p:cTn id="62" fill="hold">
                      <p:stCondLst>
                        <p:cond delay="indefinite"/>
                      </p:stCondLst>
                      <p:childTnLst>
                        <p:par>
                          <p:cTn id="63"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50"/>
                                        <p:tgtEl>
                                          <p:spTgt spid="21"/>
                                        </p:tgtEl>
                                      </p:cBhvr>
                                    </p:animEffect>
                                  </p:childTnLst>
                                </p:cTn>
                              </p:par>
                              <p:par>
                                <p:cTn id="35" presetID="10" presetClass="entr" presetSubtype="0" fill="hold" grpId="0" nodeType="withEffect">
                                  <p:stCondLst>
                                    <p:cond delay="12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50"/>
                                        <p:tgtEl>
                                          <p:spTgt spid="22"/>
                                        </p:tgtEl>
                                      </p:cBhvr>
                                    </p:animEffect>
                                  </p:childTnLst>
                                </p:cTn>
                              </p:par>
                              <p:par>
                                <p:cTn id="38" presetID="10" presetClass="entr" presetSubtype="0" fill="hold" grpId="0" nodeType="withEffect">
                                  <p:stCondLst>
                                    <p:cond delay="24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1" presetID="10" presetClass="entr" presetSubtype="0" fill="hold" grpId="0" nodeType="withEffect">
                                  <p:stCondLst>
                                    <p:cond delay="36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4" presetID="10" presetClass="entr" presetSubtype="0" fill="hold" grpId="0" nodeType="withEffect">
                                  <p:stCondLst>
                                    <p:cond delay="48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50"/>
                                        <p:tgtEl>
                                          <p:spTgt spid="26"/>
                                        </p:tgtEl>
                                      </p:cBhvr>
                                    </p:animEffect>
                                  </p:childTnLst>
                                </p:cTn>
                              </p:par>
                              <p:par>
                                <p:cTn id="50" presetID="10" presetClass="entr" presetSubtype="0" fill="hold" grpId="0" nodeType="withEffect">
                                  <p:stCondLst>
                                    <p:cond delay="72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50"/>
                                        <p:tgtEl>
                                          <p:spTgt spid="27"/>
                                        </p:tgtEl>
                                      </p:cBhvr>
                                    </p:animEffect>
                                  </p:childTnLst>
                                </p:cTn>
                              </p:par>
                              <p:par>
                                <p:cTn id="53" presetID="10" presetClass="entr" presetSubtype="0" fill="hold" grpId="0" nodeType="withEffect">
                                  <p:stCondLst>
                                    <p:cond delay="84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50"/>
                                        <p:tgtEl>
                                          <p:spTgt spid="28"/>
                                        </p:tgtEl>
                                      </p:cBhvr>
                                    </p:animEffect>
                                  </p:childTnLst>
                                </p:cTn>
                              </p:par>
                              <p:par>
                                <p:cTn id="56" presetID="10" presetClass="entr" presetSubtype="0" fill="hold" grpId="0" nodeType="withEffect">
                                  <p:stCondLst>
                                    <p:cond delay="96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50"/>
                                        <p:tgtEl>
                                          <p:spTgt spid="29"/>
                                        </p:tgtEl>
                                      </p:cBhvr>
                                    </p:animEffect>
                                  </p:childTnLst>
                                </p:cTn>
                              </p:par>
                              <p:par>
                                <p:cTn id="59" presetID="10" presetClass="entr" presetSubtype="0" fill="hold" grpId="0" nodeType="withEffect">
                                  <p:stCondLst>
                                    <p:cond delay="108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50"/>
                                        <p:tgtEl>
                                          <p:spTgt spid="30"/>
                                        </p:tgtEl>
                                      </p:cBhvr>
                                    </p:animEffect>
                                  </p:childTnLst>
                                </p:cTn>
                              </p:par>
                            </p:childTnLst>
                          </p:cTn>
                        </p:par>
                      </p:childTnLst>
                    </p:cTn>
                  </p:par>
                  <p:par>
                    <p:cTn id="88" fill="hold">
                      <p:stCondLst>
                        <p:cond delay="indefinite"/>
                      </p:stCondLst>
                      <p:childTnLst>
                        <p:par>
                          <p:cTn id="89"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31"/>
                                        </p:tgtEl>
                                        <p:attrNameLst>
                                          <p:attrName>style.visibility</p:attrName>
                                        </p:attrNameLst>
                                      </p:cBhvr>
                                      <p:to>
                                        <p:strVal val="visible"/>
                                      </p:to>
                                    </p:set>
                                    <p:animEffect transition="in" filter="fade">
                                      <p:cBhvr>
                                        <p:cTn id="66" dur="450"/>
                                        <p:tgtEl>
                                          <p:spTgt spid="31"/>
                                        </p:tgtEl>
                                      </p:cBhvr>
                                    </p:animEffect>
                                  </p:childTnLst>
                                </p:cTn>
                              </p:par>
                              <p:par>
                                <p:cTn id="67" presetID="10" presetClass="entr" presetSubtype="0" fill="hold" grpId="0" nodeType="withEffect">
                                  <p:stCondLst>
                                    <p:cond delay="12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450"/>
                                        <p:tgtEl>
                                          <p:spTgt spid="32"/>
                                        </p:tgtEl>
                                      </p:cBhvr>
                                    </p:animEffect>
                                  </p:childTnLst>
                                </p:cTn>
                              </p:par>
                              <p:par>
                                <p:cTn id="70" presetID="10" presetClass="entr" presetSubtype="0" fill="hold" grpId="0" nodeType="withEffect">
                                  <p:stCondLst>
                                    <p:cond delay="240"/>
                                  </p:stCondLst>
                                  <p:childTnLst>
                                    <p:set>
                                      <p:cBhvr>
                                        <p:cTn id="71" dur="1" fill="hold">
                                          <p:stCondLst>
                                            <p:cond delay="0"/>
                                          </p:stCondLst>
                                        </p:cTn>
                                        <p:tgtEl>
                                          <p:spTgt spid="33"/>
                                        </p:tgtEl>
                                        <p:attrNameLst>
                                          <p:attrName>style.visibility</p:attrName>
                                        </p:attrNameLst>
                                      </p:cBhvr>
                                      <p:to>
                                        <p:strVal val="visible"/>
                                      </p:to>
                                    </p:set>
                                    <p:animEffect transition="in" filter="fade">
                                      <p:cBhvr>
                                        <p:cTn id="72" dur="450"/>
                                        <p:tgtEl>
                                          <p:spTgt spid="33"/>
                                        </p:tgtEl>
                                      </p:cBhvr>
                                    </p:animEffect>
                                  </p:childTnLst>
                                </p:cTn>
                              </p:par>
                              <p:par>
                                <p:cTn id="73" presetID="10" presetClass="entr" presetSubtype="0" fill="hold" grpId="0" nodeType="withEffect">
                                  <p:stCondLst>
                                    <p:cond delay="36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450"/>
                                        <p:tgtEl>
                                          <p:spTgt spid="34"/>
                                        </p:tgtEl>
                                      </p:cBhvr>
                                    </p:animEffect>
                                  </p:childTnLst>
                                </p:cTn>
                              </p:par>
                              <p:par>
                                <p:cTn id="76" presetID="10" presetClass="entr" presetSubtype="0" fill="hold" grpId="0" nodeType="withEffect">
                                  <p:stCondLst>
                                    <p:cond delay="48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450"/>
                                        <p:tgtEl>
                                          <p:spTgt spid="35"/>
                                        </p:tgtEl>
                                      </p:cBhvr>
                                    </p:animEffect>
                                  </p:childTnLst>
                                </p:cTn>
                              </p:par>
                              <p:par>
                                <p:cTn id="79" presetID="10" presetClass="entr" presetSubtype="0" fill="hold" grpId="0" nodeType="withEffect">
                                  <p:stCondLst>
                                    <p:cond delay="60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450"/>
                                        <p:tgtEl>
                                          <p:spTgt spid="36"/>
                                        </p:tgtEl>
                                      </p:cBhvr>
                                    </p:animEffect>
                                  </p:childTnLst>
                                </p:cTn>
                              </p:par>
                              <p:par>
                                <p:cTn id="82" presetID="10" presetClass="entr" presetSubtype="0" fill="hold" grpId="0" nodeType="withEffect">
                                  <p:stCondLst>
                                    <p:cond delay="720"/>
                                  </p:stCondLst>
                                  <p:childTnLst>
                                    <p:set>
                                      <p:cBhvr>
                                        <p:cTn id="83" dur="1" fill="hold">
                                          <p:stCondLst>
                                            <p:cond delay="0"/>
                                          </p:stCondLst>
                                        </p:cTn>
                                        <p:tgtEl>
                                          <p:spTgt spid="37"/>
                                        </p:tgtEl>
                                        <p:attrNameLst>
                                          <p:attrName>style.visibility</p:attrName>
                                        </p:attrNameLst>
                                      </p:cBhvr>
                                      <p:to>
                                        <p:strVal val="visible"/>
                                      </p:to>
                                    </p:set>
                                    <p:animEffect transition="in" filter="fade">
                                      <p:cBhvr>
                                        <p:cTn id="84" dur="450"/>
                                        <p:tgtEl>
                                          <p:spTgt spid="37"/>
                                        </p:tgtEl>
                                      </p:cBhvr>
                                    </p:animEffect>
                                  </p:childTnLst>
                                </p:cTn>
                              </p:par>
                              <p:par>
                                <p:cTn id="85" presetID="10" presetClass="entr" presetSubtype="0" fill="hold" grpId="0" nodeType="withEffect">
                                  <p:stCondLst>
                                    <p:cond delay="84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450"/>
                                        <p:tgtEl>
                                          <p:spTgt spid="38"/>
                                        </p:tgtEl>
                                      </p:cBhvr>
                                    </p:animEffect>
                                  </p:childTnLst>
                                </p:cTn>
                              </p:par>
                            </p:childTnLst>
                          </p:cTn>
                        </p:par>
                      </p:childTnLst>
                    </p:cTn>
                  </p:par>
                  <p:par>
                    <p:cTn id="108" fill="hold">
                      <p:stCondLst>
                        <p:cond delay="indefinite"/>
                      </p:stCondLst>
                      <p:childTnLst>
                        <p:par>
                          <p:cTn id="10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450"/>
                                        <p:tgtEl>
                                          <p:spTgt spid="39"/>
                                        </p:tgtEl>
                                      </p:cBhvr>
                                    </p:animEffect>
                                  </p:childTnLst>
                                </p:cTn>
                              </p:par>
                              <p:par>
                                <p:cTn id="93" presetID="10" presetClass="entr" presetSubtype="0" fill="hold" grpId="0" nodeType="withEffect">
                                  <p:stCondLst>
                                    <p:cond delay="120"/>
                                  </p:stCondLst>
                                  <p:childTnLst>
                                    <p:set>
                                      <p:cBhvr>
                                        <p:cTn id="94" dur="1" fill="hold">
                                          <p:stCondLst>
                                            <p:cond delay="0"/>
                                          </p:stCondLst>
                                        </p:cTn>
                                        <p:tgtEl>
                                          <p:spTgt spid="40"/>
                                        </p:tgtEl>
                                        <p:attrNameLst>
                                          <p:attrName>style.visibility</p:attrName>
                                        </p:attrNameLst>
                                      </p:cBhvr>
                                      <p:to>
                                        <p:strVal val="visible"/>
                                      </p:to>
                                    </p:set>
                                    <p:animEffect transition="in" filter="fade">
                                      <p:cBhvr>
                                        <p:cTn id="95" dur="450"/>
                                        <p:tgtEl>
                                          <p:spTgt spid="40"/>
                                        </p:tgtEl>
                                      </p:cBhvr>
                                    </p:animEffect>
                                  </p:childTnLst>
                                </p:cTn>
                              </p:par>
                              <p:par>
                                <p:cTn id="96" presetID="10" presetClass="entr" presetSubtype="0" fill="hold" grpId="0" nodeType="withEffect">
                                  <p:stCondLst>
                                    <p:cond delay="240"/>
                                  </p:stCondLst>
                                  <p:childTnLst>
                                    <p:set>
                                      <p:cBhvr>
                                        <p:cTn id="97" dur="1" fill="hold">
                                          <p:stCondLst>
                                            <p:cond delay="0"/>
                                          </p:stCondLst>
                                        </p:cTn>
                                        <p:tgtEl>
                                          <p:spTgt spid="41"/>
                                        </p:tgtEl>
                                        <p:attrNameLst>
                                          <p:attrName>style.visibility</p:attrName>
                                        </p:attrNameLst>
                                      </p:cBhvr>
                                      <p:to>
                                        <p:strVal val="visible"/>
                                      </p:to>
                                    </p:set>
                                    <p:animEffect transition="in" filter="fade">
                                      <p:cBhvr>
                                        <p:cTn id="98" dur="450"/>
                                        <p:tgtEl>
                                          <p:spTgt spid="41"/>
                                        </p:tgtEl>
                                      </p:cBhvr>
                                    </p:animEffect>
                                  </p:childTnLst>
                                </p:cTn>
                              </p:par>
                              <p:par>
                                <p:cTn id="99" presetID="10" presetClass="entr" presetSubtype="0" fill="hold" grpId="0" nodeType="withEffect">
                                  <p:stCondLst>
                                    <p:cond delay="360"/>
                                  </p:stCondLst>
                                  <p:childTnLst>
                                    <p:set>
                                      <p:cBhvr>
                                        <p:cTn id="100" dur="1" fill="hold">
                                          <p:stCondLst>
                                            <p:cond delay="0"/>
                                          </p:stCondLst>
                                        </p:cTn>
                                        <p:tgtEl>
                                          <p:spTgt spid="42"/>
                                        </p:tgtEl>
                                        <p:attrNameLst>
                                          <p:attrName>style.visibility</p:attrName>
                                        </p:attrNameLst>
                                      </p:cBhvr>
                                      <p:to>
                                        <p:strVal val="visible"/>
                                      </p:to>
                                    </p:set>
                                    <p:animEffect transition="in" filter="fade">
                                      <p:cBhvr>
                                        <p:cTn id="101" dur="450"/>
                                        <p:tgtEl>
                                          <p:spTgt spid="42"/>
                                        </p:tgtEl>
                                      </p:cBhvr>
                                    </p:animEffect>
                                  </p:childTnLst>
                                </p:cTn>
                              </p:par>
                              <p:par>
                                <p:cTn id="102" presetID="10" presetClass="entr" presetSubtype="0" fill="hold" grpId="0" nodeType="withEffect">
                                  <p:stCondLst>
                                    <p:cond delay="480"/>
                                  </p:stCondLst>
                                  <p:childTnLst>
                                    <p:set>
                                      <p:cBhvr>
                                        <p:cTn id="103" dur="1" fill="hold">
                                          <p:stCondLst>
                                            <p:cond delay="0"/>
                                          </p:stCondLst>
                                        </p:cTn>
                                        <p:tgtEl>
                                          <p:spTgt spid="43"/>
                                        </p:tgtEl>
                                        <p:attrNameLst>
                                          <p:attrName>style.visibility</p:attrName>
                                        </p:attrNameLst>
                                      </p:cBhvr>
                                      <p:to>
                                        <p:strVal val="visible"/>
                                      </p:to>
                                    </p:set>
                                    <p:animEffect transition="in" filter="fade">
                                      <p:cBhvr>
                                        <p:cTn id="104" dur="450"/>
                                        <p:tgtEl>
                                          <p:spTgt spid="43"/>
                                        </p:tgtEl>
                                      </p:cBhvr>
                                    </p:animEffect>
                                  </p:childTnLst>
                                </p:cTn>
                              </p:par>
                              <p:par>
                                <p:cTn id="105" presetID="10" presetClass="entr" presetSubtype="0" fill="hold" grpId="0" nodeType="withEffect">
                                  <p:stCondLst>
                                    <p:cond delay="600"/>
                                  </p:stCondLst>
                                  <p:childTnLst>
                                    <p:set>
                                      <p:cBhvr>
                                        <p:cTn id="106" dur="1" fill="hold">
                                          <p:stCondLst>
                                            <p:cond delay="0"/>
                                          </p:stCondLst>
                                        </p:cTn>
                                        <p:tgtEl>
                                          <p:spTgt spid="44"/>
                                        </p:tgtEl>
                                        <p:attrNameLst>
                                          <p:attrName>style.visibility</p:attrName>
                                        </p:attrNameLst>
                                      </p:cBhvr>
                                      <p:to>
                                        <p:strVal val="visible"/>
                                      </p:to>
                                    </p:set>
                                    <p:animEffect transition="in" filter="fade">
                                      <p:cBhvr>
                                        <p:cTn id="107" dur="450"/>
                                        <p:tgtEl>
                                          <p:spTgt spid="44"/>
                                        </p:tgtEl>
                                      </p:cBhvr>
                                    </p:animEffect>
                                  </p:childTnLst>
                                </p:cTn>
                              </p:par>
                            </p:childTnLst>
                          </p:cTn>
                        </p:par>
                      </p:childTnLst>
                    </p:cTn>
                  </p:par>
                  <p:par>
                    <p:cTn id="134" fill="hold">
                      <p:stCondLst>
                        <p:cond delay="indefinite"/>
                      </p:stCondLst>
                      <p:childTnLst>
                        <p:par>
                          <p:cTn id="135" fill="hold">
                            <p:stCondLst>
                              <p:cond delay="0"/>
                            </p:stCondLst>
                            <p:childTnLst>
                              <p:par>
                                <p:cTn id="110" presetID="10" presetClass="entr" presetSubtype="0" fill="hold" grpId="0" nodeType="clickEffect">
                                  <p:stCondLst>
                                    <p:cond delay="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450"/>
                                        <p:tgtEl>
                                          <p:spTgt spid="45"/>
                                        </p:tgtEl>
                                      </p:cBhvr>
                                    </p:animEffect>
                                  </p:childTnLst>
                                </p:cTn>
                              </p:par>
                              <p:par>
                                <p:cTn id="113" presetID="10" presetClass="entr" presetSubtype="0" fill="hold" grpId="0" nodeType="withEffect">
                                  <p:stCondLst>
                                    <p:cond delay="12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450"/>
                                        <p:tgtEl>
                                          <p:spTgt spid="46"/>
                                        </p:tgtEl>
                                      </p:cBhvr>
                                    </p:animEffect>
                                  </p:childTnLst>
                                </p:cTn>
                              </p:par>
                              <p:par>
                                <p:cTn id="116" presetID="10" presetClass="entr" presetSubtype="0" fill="hold" grpId="0" nodeType="withEffect">
                                  <p:stCondLst>
                                    <p:cond delay="24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450"/>
                                        <p:tgtEl>
                                          <p:spTgt spid="47"/>
                                        </p:tgtEl>
                                      </p:cBhvr>
                                    </p:animEffect>
                                  </p:childTnLst>
                                </p:cTn>
                              </p:par>
                              <p:par>
                                <p:cTn id="119" presetID="10" presetClass="entr" presetSubtype="0" fill="hold" grpId="0" nodeType="withEffect">
                                  <p:stCondLst>
                                    <p:cond delay="36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450"/>
                                        <p:tgtEl>
                                          <p:spTgt spid="48"/>
                                        </p:tgtEl>
                                      </p:cBhvr>
                                    </p:animEffect>
                                  </p:childTnLst>
                                </p:cTn>
                              </p:par>
                              <p:par>
                                <p:cTn id="122" presetID="10" presetClass="entr" presetSubtype="0" fill="hold" grpId="0" nodeType="withEffect">
                                  <p:stCondLst>
                                    <p:cond delay="48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450"/>
                                        <p:tgtEl>
                                          <p:spTgt spid="49"/>
                                        </p:tgtEl>
                                      </p:cBhvr>
                                    </p:animEffect>
                                  </p:childTnLst>
                                </p:cTn>
                              </p:par>
                              <p:par>
                                <p:cTn id="125" presetID="10" presetClass="entr" presetSubtype="0" fill="hold" grpId="0" nodeType="withEffect">
                                  <p:stCondLst>
                                    <p:cond delay="60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450"/>
                                        <p:tgtEl>
                                          <p:spTgt spid="50"/>
                                        </p:tgtEl>
                                      </p:cBhvr>
                                    </p:animEffect>
                                  </p:childTnLst>
                                </p:cTn>
                              </p:par>
                              <p:par>
                                <p:cTn id="128" presetID="10" presetClass="entr" presetSubtype="0" fill="hold" grpId="0" nodeType="withEffect">
                                  <p:stCondLst>
                                    <p:cond delay="72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450"/>
                                        <p:tgtEl>
                                          <p:spTgt spid="51"/>
                                        </p:tgtEl>
                                      </p:cBhvr>
                                    </p:animEffect>
                                  </p:childTnLst>
                                </p:cTn>
                              </p:par>
                              <p:par>
                                <p:cTn id="131" presetID="10" presetClass="entr" presetSubtype="0" fill="hold" grpId="0" nodeType="withEffect">
                                  <p:stCondLst>
                                    <p:cond delay="840"/>
                                  </p:stCondLst>
                                  <p:childTnLst>
                                    <p:set>
                                      <p:cBhvr>
                                        <p:cTn id="132" dur="1" fill="hold">
                                          <p:stCondLst>
                                            <p:cond delay="0"/>
                                          </p:stCondLst>
                                        </p:cTn>
                                        <p:tgtEl>
                                          <p:spTgt spid="52"/>
                                        </p:tgtEl>
                                        <p:attrNameLst>
                                          <p:attrName>style.visibility</p:attrName>
                                        </p:attrNameLst>
                                      </p:cBhvr>
                                      <p:to>
                                        <p:strVal val="visible"/>
                                      </p:to>
                                    </p:set>
                                    <p:animEffect transition="in" filter="fade">
                                      <p:cBhvr>
                                        <p:cTn id="133" dur="45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II.  ACCÈS, PÉRIMÈTRE ET HABILITATIONS</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Freeform 4"/>
          <p:cNvSpPr/>
          <p:nvPr/>
        </p:nvSpPr>
        <p:spPr>
          <a:xfrm>
            <a:off x="398824" y="740634"/>
            <a:ext cx="226479" cy="237803"/>
          </a:xfrm>
          <a:custGeom>
            <a:avLst/>
            <a:gdLst/>
            <a:ahLst/>
            <a:cxnLst/>
            <a:rect l="l" t="t" r="r" b="b"/>
            <a:pathLst>
              <a:path w="226479" h="237803">
                <a:moveTo>
                  <a:pt x="113240" y="0"/>
                </a:moveTo>
                <a:lnTo>
                  <a:pt x="226479" y="45296"/>
                </a:lnTo>
                <a:lnTo>
                  <a:pt x="215155" y="135887"/>
                </a:lnTo>
                <a:lnTo>
                  <a:pt x="113240" y="237803"/>
                </a:lnTo>
                <a:lnTo>
                  <a:pt x="11324" y="135887"/>
                </a:lnTo>
                <a:lnTo>
                  <a:pt x="0" y="45296"/>
                </a:lnTo>
                <a:close/>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461106" y="808578"/>
            <a:ext cx="107577" cy="79267"/>
          </a:xfrm>
          <a:custGeom>
            <a:avLst/>
            <a:gdLst/>
            <a:ahLst/>
            <a:cxnLst/>
            <a:rect l="l" t="t" r="r" b="b"/>
            <a:pathLst>
              <a:path w="107577" h="79267">
                <a:moveTo>
                  <a:pt x="0" y="39634"/>
                </a:moveTo>
                <a:lnTo>
                  <a:pt x="33972" y="79267"/>
                </a:lnTo>
                <a:lnTo>
                  <a:pt x="107577"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QUI VOIT QUOI : LE PÉRIMÈTRE EFFECTIF</a:t>
            </a:r>
          </a:p>
        </p:txBody>
      </p:sp>
      <p:sp>
        <p:nvSpPr>
          <p:cNvPr id="8" name="Rectangle 7"/>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1" name="TextBox 10"/>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07 / 20</a:t>
            </a:r>
          </a:p>
        </p:txBody>
      </p:sp>
      <p:sp>
        <p:nvSpPr>
          <p:cNvPr id="12" name="Rectangle 11"/>
          <p:cNvSpPr/>
          <p:nvPr/>
        </p:nvSpPr>
        <p:spPr>
          <a:xfrm>
            <a:off x="365760" y="1188720"/>
            <a:ext cx="2148840" cy="34747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75488" y="1188720"/>
            <a:ext cx="1929384" cy="347472"/>
          </a:xfrm>
          <a:prstGeom prst="rect">
            <a:avLst/>
          </a:prstGeom>
          <a:noFill/>
        </p:spPr>
        <p:txBody>
          <a:bodyPr wrap="square" lIns="0" rIns="0" tIns="0" bIns="0" anchor="ctr">
            <a:spAutoFit/>
          </a:bodyPr>
          <a:lstStyle/>
          <a:p>
            <a:pPr algn="l"/>
            <a:r>
              <a:rPr sz="950" b="1" i="0" spc="40">
                <a:solidFill>
                  <a:srgbClr val="FFFFFF"/>
                </a:solidFill>
                <a:latin typeface="Calibri"/>
                <a:ea typeface="Calibri"/>
                <a:cs typeface="Calibri"/>
              </a:rPr>
              <a:t>PROFIL</a:t>
            </a:r>
          </a:p>
        </p:txBody>
      </p:sp>
      <p:sp>
        <p:nvSpPr>
          <p:cNvPr id="14" name="Rectangle 13"/>
          <p:cNvSpPr/>
          <p:nvPr/>
        </p:nvSpPr>
        <p:spPr>
          <a:xfrm>
            <a:off x="2514600" y="1188720"/>
            <a:ext cx="2606040" cy="34747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24328" y="1188720"/>
            <a:ext cx="2386584" cy="347472"/>
          </a:xfrm>
          <a:prstGeom prst="rect">
            <a:avLst/>
          </a:prstGeom>
          <a:noFill/>
        </p:spPr>
        <p:txBody>
          <a:bodyPr wrap="square" lIns="0" rIns="0" tIns="0" bIns="0" anchor="ctr">
            <a:spAutoFit/>
          </a:bodyPr>
          <a:lstStyle/>
          <a:p>
            <a:pPr algn="l"/>
            <a:r>
              <a:rPr sz="950" b="1" i="0" spc="40">
                <a:solidFill>
                  <a:srgbClr val="FFFFFF"/>
                </a:solidFill>
                <a:latin typeface="Calibri"/>
                <a:ea typeface="Calibri"/>
                <a:cs typeface="Calibri"/>
              </a:rPr>
              <a:t>PÉRIMÈTRE VISIBLE</a:t>
            </a:r>
          </a:p>
        </p:txBody>
      </p:sp>
      <p:sp>
        <p:nvSpPr>
          <p:cNvPr id="16" name="Rectangle 15"/>
          <p:cNvSpPr/>
          <p:nvPr/>
        </p:nvSpPr>
        <p:spPr>
          <a:xfrm>
            <a:off x="5120640" y="1188720"/>
            <a:ext cx="3657600" cy="34747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230368" y="1188720"/>
            <a:ext cx="3438144" cy="347472"/>
          </a:xfrm>
          <a:prstGeom prst="rect">
            <a:avLst/>
          </a:prstGeom>
          <a:noFill/>
        </p:spPr>
        <p:txBody>
          <a:bodyPr wrap="square" lIns="0" rIns="0" tIns="0" bIns="0" anchor="ctr">
            <a:spAutoFit/>
          </a:bodyPr>
          <a:lstStyle/>
          <a:p>
            <a:pPr algn="l"/>
            <a:r>
              <a:rPr sz="950" b="1" i="0" spc="40">
                <a:solidFill>
                  <a:srgbClr val="FFFFFF"/>
                </a:solidFill>
                <a:latin typeface="Calibri"/>
                <a:ea typeface="Calibri"/>
                <a:cs typeface="Calibri"/>
              </a:rPr>
              <a:t>ACTIONS PRINCIPALES</a:t>
            </a:r>
          </a:p>
        </p:txBody>
      </p:sp>
      <p:sp>
        <p:nvSpPr>
          <p:cNvPr id="18" name="Rectangle 17"/>
          <p:cNvSpPr/>
          <p:nvPr/>
        </p:nvSpPr>
        <p:spPr>
          <a:xfrm>
            <a:off x="365760" y="1536192"/>
            <a:ext cx="2148840" cy="658368"/>
          </a:xfrm>
          <a:prstGeom prst="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2" y="1536192"/>
            <a:ext cx="1581912" cy="658368"/>
          </a:xfrm>
          <a:prstGeom prst="rect">
            <a:avLst/>
          </a:prstGeom>
          <a:noFill/>
        </p:spPr>
        <p:txBody>
          <a:bodyPr wrap="square" lIns="0" rIns="0" tIns="0" bIns="0" anchor="ctr">
            <a:spAutoFit/>
          </a:bodyPr>
          <a:lstStyle/>
          <a:p>
            <a:pPr algn="l">
              <a:lnSpc>
                <a:spcPct val="100000"/>
              </a:lnSpc>
            </a:pPr>
            <a:r>
              <a:rPr sz="950" b="1" i="0">
                <a:solidFill>
                  <a:srgbClr val="1B2A4A"/>
                </a:solidFill>
                <a:latin typeface="Calibri"/>
                <a:ea typeface="Calibri"/>
                <a:cs typeface="Calibri"/>
              </a:rPr>
              <a:t>Conformité Groupe / Zone</a:t>
            </a:r>
          </a:p>
        </p:txBody>
      </p:sp>
      <p:sp>
        <p:nvSpPr>
          <p:cNvPr id="20" name="Rectangle 19"/>
          <p:cNvSpPr/>
          <p:nvPr/>
        </p:nvSpPr>
        <p:spPr>
          <a:xfrm>
            <a:off x="2514600" y="1536192"/>
            <a:ext cx="2606040" cy="658368"/>
          </a:xfrm>
          <a:prstGeom prst="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642616" y="1536192"/>
            <a:ext cx="2350008" cy="658368"/>
          </a:xfrm>
          <a:prstGeom prst="rect">
            <a:avLst/>
          </a:prstGeom>
          <a:noFill/>
        </p:spPr>
        <p:txBody>
          <a:bodyPr wrap="square" lIns="0" rIns="0" tIns="0" bIns="0" anchor="ctr">
            <a:spAutoFit/>
          </a:bodyPr>
          <a:lstStyle/>
          <a:p>
            <a:pPr algn="l">
              <a:lnSpc>
                <a:spcPct val="100000"/>
              </a:lnSpc>
            </a:pPr>
            <a:r>
              <a:rPr sz="950" b="0" i="0">
                <a:solidFill>
                  <a:srgbClr val="333333"/>
                </a:solidFill>
                <a:latin typeface="Calibri"/>
                <a:ea typeface="Calibri"/>
                <a:cs typeface="Calibri"/>
              </a:rPr>
              <a:t>Toutes les filiales du Groupe</a:t>
            </a:r>
          </a:p>
        </p:txBody>
      </p:sp>
      <p:sp>
        <p:nvSpPr>
          <p:cNvPr id="22" name="Rectangle 21"/>
          <p:cNvSpPr/>
          <p:nvPr/>
        </p:nvSpPr>
        <p:spPr>
          <a:xfrm>
            <a:off x="5120640" y="1536192"/>
            <a:ext cx="3657600" cy="658368"/>
          </a:xfrm>
          <a:prstGeom prst="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48655" y="1536192"/>
            <a:ext cx="3401568" cy="658368"/>
          </a:xfrm>
          <a:prstGeom prst="rect">
            <a:avLst/>
          </a:prstGeom>
          <a:noFill/>
        </p:spPr>
        <p:txBody>
          <a:bodyPr wrap="square" lIns="0" rIns="0" tIns="0" bIns="0" anchor="ctr">
            <a:spAutoFit/>
          </a:bodyPr>
          <a:lstStyle/>
          <a:p>
            <a:pPr algn="l">
              <a:lnSpc>
                <a:spcPct val="100000"/>
              </a:lnSpc>
            </a:pPr>
            <a:r>
              <a:rPr sz="950" b="0" i="0">
                <a:solidFill>
                  <a:srgbClr val="333333"/>
                </a:solidFill>
                <a:latin typeface="Calibri"/>
                <a:ea typeface="Calibri"/>
                <a:cs typeface="Calibri"/>
              </a:rPr>
              <a:t>Comparer les filiales, paramétrer les règles et les modules</a:t>
            </a:r>
          </a:p>
        </p:txBody>
      </p:sp>
      <p:sp>
        <p:nvSpPr>
          <p:cNvPr id="24" name="Freeform 23"/>
          <p:cNvSpPr/>
          <p:nvPr/>
        </p:nvSpPr>
        <p:spPr>
          <a:xfrm>
            <a:off x="492781" y="1767235"/>
            <a:ext cx="221445" cy="62910"/>
          </a:xfrm>
          <a:custGeom>
            <a:avLst/>
            <a:gdLst/>
            <a:ahLst/>
            <a:cxnLst/>
            <a:rect l="l" t="t" r="r" b="b"/>
            <a:pathLst>
              <a:path w="221445" h="62910">
                <a:moveTo>
                  <a:pt x="0" y="62910"/>
                </a:moveTo>
                <a:lnTo>
                  <a:pt x="110722" y="0"/>
                </a:lnTo>
                <a:lnTo>
                  <a:pt x="221445" y="62910"/>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502846" y="1847760"/>
            <a:ext cx="201315" cy="0"/>
          </a:xfrm>
          <a:custGeom>
            <a:avLst/>
            <a:gdLst/>
            <a:ahLst/>
            <a:cxnLst/>
            <a:rect l="l" t="t" r="r" b="b"/>
            <a:pathLst>
              <a:path w="201315" h="0">
                <a:moveTo>
                  <a:pt x="0" y="0"/>
                </a:moveTo>
                <a:lnTo>
                  <a:pt x="201315" y="0"/>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538076" y="1860343"/>
            <a:ext cx="0" cy="80525"/>
          </a:xfrm>
          <a:custGeom>
            <a:avLst/>
            <a:gdLst/>
            <a:ahLst/>
            <a:cxnLst/>
            <a:rect l="l" t="t" r="r" b="b"/>
            <a:pathLst>
              <a:path w="0" h="80525">
                <a:moveTo>
                  <a:pt x="0" y="0"/>
                </a:moveTo>
                <a:lnTo>
                  <a:pt x="0" y="80525"/>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603503" y="1860343"/>
            <a:ext cx="0" cy="80525"/>
          </a:xfrm>
          <a:custGeom>
            <a:avLst/>
            <a:gdLst/>
            <a:ahLst/>
            <a:cxnLst/>
            <a:rect l="l" t="t" r="r" b="b"/>
            <a:pathLst>
              <a:path w="0" h="80525">
                <a:moveTo>
                  <a:pt x="0" y="0"/>
                </a:moveTo>
                <a:lnTo>
                  <a:pt x="0" y="80525"/>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Freeform 27"/>
          <p:cNvSpPr/>
          <p:nvPr/>
        </p:nvSpPr>
        <p:spPr>
          <a:xfrm>
            <a:off x="668931" y="1860343"/>
            <a:ext cx="0" cy="80525"/>
          </a:xfrm>
          <a:custGeom>
            <a:avLst/>
            <a:gdLst/>
            <a:ahLst/>
            <a:cxnLst/>
            <a:rect l="l" t="t" r="r" b="b"/>
            <a:pathLst>
              <a:path w="0" h="80525">
                <a:moveTo>
                  <a:pt x="0" y="0"/>
                </a:moveTo>
                <a:lnTo>
                  <a:pt x="0" y="80525"/>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Freeform 28"/>
          <p:cNvSpPr/>
          <p:nvPr/>
        </p:nvSpPr>
        <p:spPr>
          <a:xfrm>
            <a:off x="492781" y="1966033"/>
            <a:ext cx="221445" cy="0"/>
          </a:xfrm>
          <a:custGeom>
            <a:avLst/>
            <a:gdLst/>
            <a:ahLst/>
            <a:cxnLst/>
            <a:rect l="l" t="t" r="r" b="b"/>
            <a:pathLst>
              <a:path w="221445" h="0">
                <a:moveTo>
                  <a:pt x="0" y="0"/>
                </a:moveTo>
                <a:lnTo>
                  <a:pt x="221445" y="0"/>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2194560"/>
            <a:ext cx="2148840" cy="658368"/>
          </a:xfrm>
          <a:prstGeom prst="rect">
            <a:avLst/>
          </a:prstGeom>
          <a:solidFill>
            <a:srgbClr val="F0F7F4"/>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04672" y="2194560"/>
            <a:ext cx="1581912" cy="658368"/>
          </a:xfrm>
          <a:prstGeom prst="rect">
            <a:avLst/>
          </a:prstGeom>
          <a:noFill/>
        </p:spPr>
        <p:txBody>
          <a:bodyPr wrap="square" lIns="0" rIns="0" tIns="0" bIns="0" anchor="ctr">
            <a:spAutoFit/>
          </a:bodyPr>
          <a:lstStyle/>
          <a:p>
            <a:pPr algn="l">
              <a:lnSpc>
                <a:spcPct val="100000"/>
              </a:lnSpc>
            </a:pPr>
            <a:r>
              <a:rPr sz="950" b="1" i="0">
                <a:solidFill>
                  <a:srgbClr val="1B2A4A"/>
                </a:solidFill>
                <a:latin typeface="Calibri"/>
                <a:ea typeface="Calibri"/>
                <a:cs typeface="Calibri"/>
              </a:rPr>
              <a:t>Correspondant KYC filiale RDC</a:t>
            </a:r>
          </a:p>
        </p:txBody>
      </p:sp>
      <p:sp>
        <p:nvSpPr>
          <p:cNvPr id="32" name="Rectangle 31"/>
          <p:cNvSpPr/>
          <p:nvPr/>
        </p:nvSpPr>
        <p:spPr>
          <a:xfrm>
            <a:off x="2514600" y="2194560"/>
            <a:ext cx="2606040" cy="658368"/>
          </a:xfrm>
          <a:prstGeom prst="rect">
            <a:avLst/>
          </a:prstGeom>
          <a:solidFill>
            <a:srgbClr val="F0F7F4"/>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42616" y="2194560"/>
            <a:ext cx="2350008" cy="658368"/>
          </a:xfrm>
          <a:prstGeom prst="rect">
            <a:avLst/>
          </a:prstGeom>
          <a:noFill/>
        </p:spPr>
        <p:txBody>
          <a:bodyPr wrap="square" lIns="0" rIns="0" tIns="0" bIns="0" anchor="ctr">
            <a:spAutoFit/>
          </a:bodyPr>
          <a:lstStyle/>
          <a:p>
            <a:pPr algn="l">
              <a:lnSpc>
                <a:spcPct val="100000"/>
              </a:lnSpc>
            </a:pPr>
            <a:r>
              <a:rPr sz="950" b="0" i="0">
                <a:solidFill>
                  <a:srgbClr val="333333"/>
                </a:solidFill>
                <a:latin typeface="Calibri"/>
                <a:ea typeface="Calibri"/>
                <a:cs typeface="Calibri"/>
              </a:rPr>
              <a:t>L'ensemble de la filiale RDC</a:t>
            </a:r>
          </a:p>
        </p:txBody>
      </p:sp>
      <p:sp>
        <p:nvSpPr>
          <p:cNvPr id="34" name="Rectangle 33"/>
          <p:cNvSpPr/>
          <p:nvPr/>
        </p:nvSpPr>
        <p:spPr>
          <a:xfrm>
            <a:off x="5120640" y="2194560"/>
            <a:ext cx="3657600" cy="658368"/>
          </a:xfrm>
          <a:prstGeom prst="rect">
            <a:avLst/>
          </a:prstGeom>
          <a:solidFill>
            <a:srgbClr val="F0F7F4"/>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248655" y="2194560"/>
            <a:ext cx="3401568" cy="658368"/>
          </a:xfrm>
          <a:prstGeom prst="rect">
            <a:avLst/>
          </a:prstGeom>
          <a:noFill/>
        </p:spPr>
        <p:txBody>
          <a:bodyPr wrap="square" lIns="0" rIns="0" tIns="0" bIns="0" anchor="ctr">
            <a:spAutoFit/>
          </a:bodyPr>
          <a:lstStyle/>
          <a:p>
            <a:pPr algn="l">
              <a:lnSpc>
                <a:spcPct val="100000"/>
              </a:lnSpc>
            </a:pPr>
            <a:r>
              <a:rPr sz="950" b="0" i="0">
                <a:solidFill>
                  <a:srgbClr val="333333"/>
                </a:solidFill>
                <a:latin typeface="Calibri"/>
                <a:ea typeface="Calibri"/>
                <a:cs typeface="Calibri"/>
              </a:rPr>
              <a:t>Piloter les agences, animer les campagnes, charger les lots de documents</a:t>
            </a:r>
          </a:p>
        </p:txBody>
      </p:sp>
      <p:sp>
        <p:nvSpPr>
          <p:cNvPr id="36" name="Rectangle 35"/>
          <p:cNvSpPr/>
          <p:nvPr/>
        </p:nvSpPr>
        <p:spPr>
          <a:xfrm>
            <a:off x="528011" y="2428119"/>
            <a:ext cx="150985" cy="196281"/>
          </a:xfrm>
          <a:prstGeom prst="rect">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5691" y="2458316"/>
            <a:ext cx="32713" cy="30197"/>
          </a:xfrm>
          <a:prstGeom prst="rect">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8602" y="2458316"/>
            <a:ext cx="32713" cy="30197"/>
          </a:xfrm>
          <a:prstGeom prst="rect">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691" y="2511161"/>
            <a:ext cx="32713" cy="30197"/>
          </a:xfrm>
          <a:prstGeom prst="rect">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602" y="2511161"/>
            <a:ext cx="32713" cy="30197"/>
          </a:xfrm>
          <a:prstGeom prst="rect">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3372" y="2569039"/>
            <a:ext cx="40262" cy="55361"/>
          </a:xfrm>
          <a:prstGeom prst="rect">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5760" y="2852928"/>
            <a:ext cx="2148840" cy="658368"/>
          </a:xfrm>
          <a:prstGeom prst="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04672" y="2852928"/>
            <a:ext cx="1581912" cy="658368"/>
          </a:xfrm>
          <a:prstGeom prst="rect">
            <a:avLst/>
          </a:prstGeom>
          <a:noFill/>
        </p:spPr>
        <p:txBody>
          <a:bodyPr wrap="square" lIns="0" rIns="0" tIns="0" bIns="0" anchor="ctr">
            <a:spAutoFit/>
          </a:bodyPr>
          <a:lstStyle/>
          <a:p>
            <a:pPr algn="l">
              <a:lnSpc>
                <a:spcPct val="100000"/>
              </a:lnSpc>
            </a:pPr>
            <a:r>
              <a:rPr sz="950" b="1" i="0">
                <a:solidFill>
                  <a:srgbClr val="1B2A4A"/>
                </a:solidFill>
                <a:latin typeface="Calibri"/>
                <a:ea typeface="Calibri"/>
                <a:cs typeface="Calibri"/>
              </a:rPr>
              <a:t>Directeur d'agence</a:t>
            </a:r>
          </a:p>
        </p:txBody>
      </p:sp>
      <p:sp>
        <p:nvSpPr>
          <p:cNvPr id="44" name="Rectangle 43"/>
          <p:cNvSpPr/>
          <p:nvPr/>
        </p:nvSpPr>
        <p:spPr>
          <a:xfrm>
            <a:off x="2514600" y="2852928"/>
            <a:ext cx="2606040" cy="658368"/>
          </a:xfrm>
          <a:prstGeom prst="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2642616" y="2852928"/>
            <a:ext cx="2350008" cy="658368"/>
          </a:xfrm>
          <a:prstGeom prst="rect">
            <a:avLst/>
          </a:prstGeom>
          <a:noFill/>
        </p:spPr>
        <p:txBody>
          <a:bodyPr wrap="square" lIns="0" rIns="0" tIns="0" bIns="0" anchor="ctr">
            <a:spAutoFit/>
          </a:bodyPr>
          <a:lstStyle/>
          <a:p>
            <a:pPr algn="l">
              <a:lnSpc>
                <a:spcPct val="100000"/>
              </a:lnSpc>
            </a:pPr>
            <a:r>
              <a:rPr sz="950" b="0" i="0">
                <a:solidFill>
                  <a:srgbClr val="333333"/>
                </a:solidFill>
                <a:latin typeface="Calibri"/>
                <a:ea typeface="Calibri"/>
                <a:cs typeface="Calibri"/>
              </a:rPr>
              <a:t>Son agence et ses chargés</a:t>
            </a:r>
          </a:p>
        </p:txBody>
      </p:sp>
      <p:sp>
        <p:nvSpPr>
          <p:cNvPr id="46" name="Rectangle 45"/>
          <p:cNvSpPr/>
          <p:nvPr/>
        </p:nvSpPr>
        <p:spPr>
          <a:xfrm>
            <a:off x="5120640" y="2852928"/>
            <a:ext cx="3657600" cy="658368"/>
          </a:xfrm>
          <a:prstGeom prst="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248655" y="2852928"/>
            <a:ext cx="3401568" cy="658368"/>
          </a:xfrm>
          <a:prstGeom prst="rect">
            <a:avLst/>
          </a:prstGeom>
          <a:noFill/>
        </p:spPr>
        <p:txBody>
          <a:bodyPr wrap="square" lIns="0" rIns="0" tIns="0" bIns="0" anchor="ctr">
            <a:spAutoFit/>
          </a:bodyPr>
          <a:lstStyle/>
          <a:p>
            <a:pPr algn="l">
              <a:lnSpc>
                <a:spcPct val="100000"/>
              </a:lnSpc>
            </a:pPr>
            <a:r>
              <a:rPr sz="950" b="0" i="0">
                <a:solidFill>
                  <a:srgbClr val="333333"/>
                </a:solidFill>
                <a:latin typeface="Calibri"/>
                <a:ea typeface="Calibri"/>
                <a:cs typeface="Calibri"/>
              </a:rPr>
              <a:t>Suivre ses chargés, répartir les dossiers à corriger, contrôler l'avancement</a:t>
            </a:r>
          </a:p>
        </p:txBody>
      </p:sp>
      <p:sp>
        <p:nvSpPr>
          <p:cNvPr id="48" name="Freeform 47"/>
          <p:cNvSpPr/>
          <p:nvPr/>
        </p:nvSpPr>
        <p:spPr>
          <a:xfrm>
            <a:off x="492781" y="3089004"/>
            <a:ext cx="221445" cy="52845"/>
          </a:xfrm>
          <a:custGeom>
            <a:avLst/>
            <a:gdLst/>
            <a:ahLst/>
            <a:cxnLst/>
            <a:rect l="l" t="t" r="r" b="b"/>
            <a:pathLst>
              <a:path w="221445" h="52845">
                <a:moveTo>
                  <a:pt x="0" y="52845"/>
                </a:moveTo>
                <a:lnTo>
                  <a:pt x="35230" y="0"/>
                </a:lnTo>
                <a:lnTo>
                  <a:pt x="186215" y="0"/>
                </a:lnTo>
                <a:lnTo>
                  <a:pt x="221445" y="52845"/>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7879" y="3141849"/>
            <a:ext cx="191248" cy="140920"/>
          </a:xfrm>
          <a:prstGeom prst="rect">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38076" y="3177079"/>
            <a:ext cx="50328" cy="45295"/>
          </a:xfrm>
          <a:prstGeom prst="rect">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602" y="3182112"/>
            <a:ext cx="50328" cy="100657"/>
          </a:xfrm>
          <a:prstGeom prst="rect">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65760" y="3511296"/>
            <a:ext cx="2148840" cy="658368"/>
          </a:xfrm>
          <a:prstGeom prst="rect">
            <a:avLst/>
          </a:prstGeom>
          <a:solidFill>
            <a:srgbClr val="F0F7F4"/>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04672" y="3511296"/>
            <a:ext cx="1581912" cy="658368"/>
          </a:xfrm>
          <a:prstGeom prst="rect">
            <a:avLst/>
          </a:prstGeom>
          <a:noFill/>
        </p:spPr>
        <p:txBody>
          <a:bodyPr wrap="square" lIns="0" rIns="0" tIns="0" bIns="0" anchor="ctr">
            <a:spAutoFit/>
          </a:bodyPr>
          <a:lstStyle/>
          <a:p>
            <a:pPr algn="l">
              <a:lnSpc>
                <a:spcPct val="100000"/>
              </a:lnSpc>
            </a:pPr>
            <a:r>
              <a:rPr sz="950" b="1" i="0">
                <a:solidFill>
                  <a:srgbClr val="1B2A4A"/>
                </a:solidFill>
                <a:latin typeface="Calibri"/>
                <a:ea typeface="Calibri"/>
                <a:cs typeface="Calibri"/>
              </a:rPr>
              <a:t>Chargé de clientèle</a:t>
            </a:r>
          </a:p>
        </p:txBody>
      </p:sp>
      <p:sp>
        <p:nvSpPr>
          <p:cNvPr id="54" name="Rectangle 53"/>
          <p:cNvSpPr/>
          <p:nvPr/>
        </p:nvSpPr>
        <p:spPr>
          <a:xfrm>
            <a:off x="2514600" y="3511296"/>
            <a:ext cx="2606040" cy="658368"/>
          </a:xfrm>
          <a:prstGeom prst="rect">
            <a:avLst/>
          </a:prstGeom>
          <a:solidFill>
            <a:srgbClr val="F0F7F4"/>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2642616" y="3511296"/>
            <a:ext cx="2350008" cy="658368"/>
          </a:xfrm>
          <a:prstGeom prst="rect">
            <a:avLst/>
          </a:prstGeom>
          <a:noFill/>
        </p:spPr>
        <p:txBody>
          <a:bodyPr wrap="square" lIns="0" rIns="0" tIns="0" bIns="0" anchor="ctr">
            <a:spAutoFit/>
          </a:bodyPr>
          <a:lstStyle/>
          <a:p>
            <a:pPr algn="l">
              <a:lnSpc>
                <a:spcPct val="100000"/>
              </a:lnSpc>
            </a:pPr>
            <a:r>
              <a:rPr sz="950" b="0" i="0">
                <a:solidFill>
                  <a:srgbClr val="333333"/>
                </a:solidFill>
                <a:latin typeface="Calibri"/>
                <a:ea typeface="Calibri"/>
                <a:cs typeface="Calibri"/>
              </a:rPr>
              <a:t>Son portefeuille (code exploitant)</a:t>
            </a:r>
          </a:p>
        </p:txBody>
      </p:sp>
      <p:sp>
        <p:nvSpPr>
          <p:cNvPr id="56" name="Rectangle 55"/>
          <p:cNvSpPr/>
          <p:nvPr/>
        </p:nvSpPr>
        <p:spPr>
          <a:xfrm>
            <a:off x="5120640" y="3511296"/>
            <a:ext cx="3657600" cy="658368"/>
          </a:xfrm>
          <a:prstGeom prst="rect">
            <a:avLst/>
          </a:prstGeom>
          <a:solidFill>
            <a:srgbClr val="F0F7F4"/>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5248655" y="3511296"/>
            <a:ext cx="3401568" cy="658368"/>
          </a:xfrm>
          <a:prstGeom prst="rect">
            <a:avLst/>
          </a:prstGeom>
          <a:noFill/>
        </p:spPr>
        <p:txBody>
          <a:bodyPr wrap="square" lIns="0" rIns="0" tIns="0" bIns="0" anchor="ctr">
            <a:spAutoFit/>
          </a:bodyPr>
          <a:lstStyle/>
          <a:p>
            <a:pPr algn="l">
              <a:lnSpc>
                <a:spcPct val="100000"/>
              </a:lnSpc>
            </a:pPr>
            <a:r>
              <a:rPr sz="950" b="0" i="0">
                <a:solidFill>
                  <a:srgbClr val="333333"/>
                </a:solidFill>
                <a:latin typeface="Calibri"/>
                <a:ea typeface="Calibri"/>
                <a:cs typeface="Calibri"/>
              </a:rPr>
              <a:t>Corriger ses dossiers, déposer les pièces, suivre son taux</a:t>
            </a:r>
          </a:p>
        </p:txBody>
      </p:sp>
      <p:sp>
        <p:nvSpPr>
          <p:cNvPr id="58" name="Oval 57"/>
          <p:cNvSpPr/>
          <p:nvPr/>
        </p:nvSpPr>
        <p:spPr>
          <a:xfrm>
            <a:off x="563241" y="3744855"/>
            <a:ext cx="80525" cy="80525"/>
          </a:xfrm>
          <a:prstGeom prst="ellipse">
            <a:avLst/>
          </a:pr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Freeform 58"/>
          <p:cNvSpPr/>
          <p:nvPr/>
        </p:nvSpPr>
        <p:spPr>
          <a:xfrm>
            <a:off x="512912" y="3850545"/>
            <a:ext cx="181183" cy="90592"/>
          </a:xfrm>
          <a:custGeom>
            <a:avLst/>
            <a:gdLst/>
            <a:ahLst/>
            <a:cxnLst/>
            <a:rect l="l" t="t" r="r" b="b"/>
            <a:pathLst>
              <a:path w="181183" h="90592">
                <a:moveTo>
                  <a:pt x="0" y="90592"/>
                </a:moveTo>
                <a:lnTo>
                  <a:pt x="15099" y="30197"/>
                </a:lnTo>
                <a:lnTo>
                  <a:pt x="90591" y="0"/>
                </a:lnTo>
                <a:lnTo>
                  <a:pt x="166084" y="30197"/>
                </a:lnTo>
                <a:lnTo>
                  <a:pt x="181183" y="90592"/>
                </a:lnTo>
              </a:path>
            </a:pathLst>
          </a:custGeom>
          <a:noFill/>
          <a:ln w="19572"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365760" y="4279392"/>
            <a:ext cx="8412480" cy="457200"/>
          </a:xfrm>
          <a:prstGeom prst="roundRect">
            <a:avLst>
              <a:gd name="adj" fmla="val 6000"/>
            </a:avLst>
          </a:prstGeom>
          <a:solidFill>
            <a:srgbClr val="F0F7F4"/>
          </a:solidFill>
          <a:ln w="12700">
            <a:solidFill>
              <a:srgbClr val="C8E6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548640" y="4279392"/>
            <a:ext cx="8046720" cy="457200"/>
          </a:xfrm>
          <a:prstGeom prst="rect">
            <a:avLst/>
          </a:prstGeom>
          <a:noFill/>
        </p:spPr>
        <p:txBody>
          <a:bodyPr wrap="square" lIns="0" rIns="0" tIns="0" bIns="0" anchor="ctr">
            <a:spAutoFit/>
          </a:bodyPr>
          <a:lstStyle/>
          <a:p>
            <a:pPr algn="l">
              <a:lnSpc>
                <a:spcPct val="100000"/>
              </a:lnSpc>
            </a:pPr>
            <a:r>
              <a:rPr sz="950" b="1" i="0">
                <a:solidFill>
                  <a:srgbClr val="009A56"/>
                </a:solidFill>
                <a:latin typeface="Calibri"/>
                <a:ea typeface="Calibri"/>
                <a:cs typeface="Calibri"/>
              </a:rPr>
              <a:t>Deux réglages complètent ce périmètre : </a:t>
            </a:r>
            <a:r>
              <a:rPr sz="950" b="0" i="0">
                <a:solidFill>
                  <a:srgbClr val="333333"/>
                </a:solidFill>
                <a:latin typeface="Calibri"/>
                <a:ea typeface="Calibri"/>
                <a:cs typeface="Calibri"/>
              </a:rPr>
              <a:t>les entrées de menu visibles dépendent de votre organe de rattachement, et les champs KYC suivis sont activés filiale par filiale.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2"/>
                                        </p:tgtEl>
                                        <p:attrNameLst>
                                          <p:attrName>style.visibility</p:attrName>
                                        </p:attrNameLst>
                                      </p:cBhvr>
                                      <p:to>
                                        <p:strVal val="visible"/>
                                      </p:to>
                                    </p:set>
                                    <p:animEffect transition="in" filter="fade">
                                      <p:cBhvr>
                                        <p:cTn id="5" dur="450"/>
                                        <p:tgtEl>
                                          <p:spTgt spid="12"/>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3"/>
                                        </p:tgtEl>
                                        <p:attrNameLst>
                                          <p:attrName>style.visibility</p:attrName>
                                        </p:attrNameLst>
                                      </p:cBhvr>
                                      <p:to>
                                        <p:strVal val="visible"/>
                                      </p:to>
                                    </p:set>
                                    <p:animEffect transition="in" filter="fade">
                                      <p:cBhvr>
                                        <p:cTn id="8" dur="450"/>
                                        <p:tgtEl>
                                          <p:spTgt spid="13"/>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50"/>
                                        <p:tgtEl>
                                          <p:spTgt spid="14"/>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450"/>
                                        <p:tgtEl>
                                          <p:spTgt spid="15"/>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450"/>
                                        <p:tgtEl>
                                          <p:spTgt spid="16"/>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450"/>
                                        <p:tgtEl>
                                          <p:spTgt spid="17"/>
                                        </p:tgtEl>
                                      </p:cBhvr>
                                    </p:animEffect>
                                  </p:childTnLst>
                                </p:cTn>
                              </p:par>
                            </p:childTnLst>
                          </p:cTn>
                        </p:par>
                      </p:childTnLst>
                    </p:cTn>
                  </p:par>
                  <p:par>
                    <p:cTn id="59" fill="hold">
                      <p:stCondLst>
                        <p:cond delay="indefinite"/>
                      </p:stCondLst>
                      <p:childTnLst>
                        <p:par>
                          <p:cTn id="60"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50"/>
                                        <p:tgtEl>
                                          <p:spTgt spid="18"/>
                                        </p:tgtEl>
                                      </p:cBhvr>
                                    </p:animEffect>
                                  </p:childTnLst>
                                </p:cTn>
                              </p:par>
                              <p:par>
                                <p:cTn id="26" presetID="10" presetClass="entr" presetSubtype="0" fill="hold" grpId="0" nodeType="withEffect">
                                  <p:stCondLst>
                                    <p:cond delay="12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50"/>
                                        <p:tgtEl>
                                          <p:spTgt spid="19"/>
                                        </p:tgtEl>
                                      </p:cBhvr>
                                    </p:animEffect>
                                  </p:childTnLst>
                                </p:cTn>
                              </p:par>
                              <p:par>
                                <p:cTn id="29" presetID="10" presetClass="entr" presetSubtype="0" fill="hold" grpId="0" nodeType="withEffect">
                                  <p:stCondLst>
                                    <p:cond delay="24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50"/>
                                        <p:tgtEl>
                                          <p:spTgt spid="20"/>
                                        </p:tgtEl>
                                      </p:cBhvr>
                                    </p:animEffect>
                                  </p:childTnLst>
                                </p:cTn>
                              </p:par>
                              <p:par>
                                <p:cTn id="32" presetID="10" presetClass="entr" presetSubtype="0" fill="hold" grpId="0" nodeType="withEffect">
                                  <p:stCondLst>
                                    <p:cond delay="36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50"/>
                                        <p:tgtEl>
                                          <p:spTgt spid="21"/>
                                        </p:tgtEl>
                                      </p:cBhvr>
                                    </p:animEffect>
                                  </p:childTnLst>
                                </p:cTn>
                              </p:par>
                              <p:par>
                                <p:cTn id="35" presetID="10" presetClass="entr" presetSubtype="0" fill="hold" grpId="0" nodeType="withEffect">
                                  <p:stCondLst>
                                    <p:cond delay="48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50"/>
                                        <p:tgtEl>
                                          <p:spTgt spid="22"/>
                                        </p:tgtEl>
                                      </p:cBhvr>
                                    </p:animEffect>
                                  </p:childTnLst>
                                </p:cTn>
                              </p:par>
                              <p:par>
                                <p:cTn id="38" presetID="10" presetClass="entr" presetSubtype="0" fill="hold" grpId="0" nodeType="withEffect">
                                  <p:stCondLst>
                                    <p:cond delay="60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50"/>
                                        <p:tgtEl>
                                          <p:spTgt spid="23"/>
                                        </p:tgtEl>
                                      </p:cBhvr>
                                    </p:animEffect>
                                  </p:childTnLst>
                                </p:cTn>
                              </p:par>
                              <p:par>
                                <p:cTn id="41" presetID="10" presetClass="entr" presetSubtype="0" fill="hold" grpId="0" nodeType="withEffect">
                                  <p:stCondLst>
                                    <p:cond delay="72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50"/>
                                        <p:tgtEl>
                                          <p:spTgt spid="24"/>
                                        </p:tgtEl>
                                      </p:cBhvr>
                                    </p:animEffect>
                                  </p:childTnLst>
                                </p:cTn>
                              </p:par>
                              <p:par>
                                <p:cTn id="44" presetID="10" presetClass="entr" presetSubtype="0" fill="hold" grpId="0" nodeType="withEffect">
                                  <p:stCondLst>
                                    <p:cond delay="84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50"/>
                                        <p:tgtEl>
                                          <p:spTgt spid="25"/>
                                        </p:tgtEl>
                                      </p:cBhvr>
                                    </p:animEffect>
                                  </p:childTnLst>
                                </p:cTn>
                              </p:par>
                              <p:par>
                                <p:cTn id="47" presetID="10" presetClass="entr" presetSubtype="0" fill="hold" grpId="0" nodeType="withEffect">
                                  <p:stCondLst>
                                    <p:cond delay="96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50"/>
                                        <p:tgtEl>
                                          <p:spTgt spid="26"/>
                                        </p:tgtEl>
                                      </p:cBhvr>
                                    </p:animEffect>
                                  </p:childTnLst>
                                </p:cTn>
                              </p:par>
                              <p:par>
                                <p:cTn id="50" presetID="10" presetClass="entr" presetSubtype="0" fill="hold" grpId="0" nodeType="withEffect">
                                  <p:stCondLst>
                                    <p:cond delay="108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50"/>
                                        <p:tgtEl>
                                          <p:spTgt spid="27"/>
                                        </p:tgtEl>
                                      </p:cBhvr>
                                    </p:animEffect>
                                  </p:childTnLst>
                                </p:cTn>
                              </p:par>
                              <p:par>
                                <p:cTn id="53" presetID="10" presetClass="entr" presetSubtype="0" fill="hold" grpId="0" nodeType="withEffect">
                                  <p:stCondLst>
                                    <p:cond delay="120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50"/>
                                        <p:tgtEl>
                                          <p:spTgt spid="28"/>
                                        </p:tgtEl>
                                      </p:cBhvr>
                                    </p:animEffect>
                                  </p:childTnLst>
                                </p:cTn>
                              </p:par>
                              <p:par>
                                <p:cTn id="56" presetID="10" presetClass="entr" presetSubtype="0" fill="hold" grpId="0" nodeType="withEffect">
                                  <p:stCondLst>
                                    <p:cond delay="132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50"/>
                                        <p:tgtEl>
                                          <p:spTgt spid="29"/>
                                        </p:tgtEl>
                                      </p:cBhvr>
                                    </p:animEffect>
                                  </p:childTnLst>
                                </p:cTn>
                              </p:par>
                            </p:childTnLst>
                          </p:cTn>
                        </p:par>
                      </p:childTnLst>
                    </p:cTn>
                  </p:par>
                  <p:par>
                    <p:cTn id="97" fill="hold">
                      <p:stCondLst>
                        <p:cond delay="indefinite"/>
                      </p:stCondLst>
                      <p:childTnLst>
                        <p:par>
                          <p:cTn id="98"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450"/>
                                        <p:tgtEl>
                                          <p:spTgt spid="30"/>
                                        </p:tgtEl>
                                      </p:cBhvr>
                                    </p:animEffect>
                                  </p:childTnLst>
                                </p:cTn>
                              </p:par>
                              <p:par>
                                <p:cTn id="64" presetID="10" presetClass="entr" presetSubtype="0" fill="hold" grpId="0" nodeType="withEffect">
                                  <p:stCondLst>
                                    <p:cond delay="120"/>
                                  </p:stCondLst>
                                  <p:childTnLst>
                                    <p:set>
                                      <p:cBhvr>
                                        <p:cTn id="65" dur="1" fill="hold">
                                          <p:stCondLst>
                                            <p:cond delay="0"/>
                                          </p:stCondLst>
                                        </p:cTn>
                                        <p:tgtEl>
                                          <p:spTgt spid="31"/>
                                        </p:tgtEl>
                                        <p:attrNameLst>
                                          <p:attrName>style.visibility</p:attrName>
                                        </p:attrNameLst>
                                      </p:cBhvr>
                                      <p:to>
                                        <p:strVal val="visible"/>
                                      </p:to>
                                    </p:set>
                                    <p:animEffect transition="in" filter="fade">
                                      <p:cBhvr>
                                        <p:cTn id="66" dur="450"/>
                                        <p:tgtEl>
                                          <p:spTgt spid="31"/>
                                        </p:tgtEl>
                                      </p:cBhvr>
                                    </p:animEffect>
                                  </p:childTnLst>
                                </p:cTn>
                              </p:par>
                              <p:par>
                                <p:cTn id="67" presetID="10" presetClass="entr" presetSubtype="0" fill="hold" grpId="0" nodeType="withEffect">
                                  <p:stCondLst>
                                    <p:cond delay="24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450"/>
                                        <p:tgtEl>
                                          <p:spTgt spid="32"/>
                                        </p:tgtEl>
                                      </p:cBhvr>
                                    </p:animEffect>
                                  </p:childTnLst>
                                </p:cTn>
                              </p:par>
                              <p:par>
                                <p:cTn id="70" presetID="10" presetClass="entr" presetSubtype="0" fill="hold" grpId="0" nodeType="withEffect">
                                  <p:stCondLst>
                                    <p:cond delay="360"/>
                                  </p:stCondLst>
                                  <p:childTnLst>
                                    <p:set>
                                      <p:cBhvr>
                                        <p:cTn id="71" dur="1" fill="hold">
                                          <p:stCondLst>
                                            <p:cond delay="0"/>
                                          </p:stCondLst>
                                        </p:cTn>
                                        <p:tgtEl>
                                          <p:spTgt spid="33"/>
                                        </p:tgtEl>
                                        <p:attrNameLst>
                                          <p:attrName>style.visibility</p:attrName>
                                        </p:attrNameLst>
                                      </p:cBhvr>
                                      <p:to>
                                        <p:strVal val="visible"/>
                                      </p:to>
                                    </p:set>
                                    <p:animEffect transition="in" filter="fade">
                                      <p:cBhvr>
                                        <p:cTn id="72" dur="450"/>
                                        <p:tgtEl>
                                          <p:spTgt spid="33"/>
                                        </p:tgtEl>
                                      </p:cBhvr>
                                    </p:animEffect>
                                  </p:childTnLst>
                                </p:cTn>
                              </p:par>
                              <p:par>
                                <p:cTn id="73" presetID="10" presetClass="entr" presetSubtype="0" fill="hold" grpId="0" nodeType="withEffect">
                                  <p:stCondLst>
                                    <p:cond delay="48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450"/>
                                        <p:tgtEl>
                                          <p:spTgt spid="34"/>
                                        </p:tgtEl>
                                      </p:cBhvr>
                                    </p:animEffect>
                                  </p:childTnLst>
                                </p:cTn>
                              </p:par>
                              <p:par>
                                <p:cTn id="76" presetID="10" presetClass="entr" presetSubtype="0" fill="hold" grpId="0" nodeType="withEffect">
                                  <p:stCondLst>
                                    <p:cond delay="60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450"/>
                                        <p:tgtEl>
                                          <p:spTgt spid="35"/>
                                        </p:tgtEl>
                                      </p:cBhvr>
                                    </p:animEffect>
                                  </p:childTnLst>
                                </p:cTn>
                              </p:par>
                              <p:par>
                                <p:cTn id="79" presetID="10" presetClass="entr" presetSubtype="0" fill="hold" grpId="0" nodeType="withEffect">
                                  <p:stCondLst>
                                    <p:cond delay="72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450"/>
                                        <p:tgtEl>
                                          <p:spTgt spid="36"/>
                                        </p:tgtEl>
                                      </p:cBhvr>
                                    </p:animEffect>
                                  </p:childTnLst>
                                </p:cTn>
                              </p:par>
                              <p:par>
                                <p:cTn id="82" presetID="10" presetClass="entr" presetSubtype="0" fill="hold" grpId="0" nodeType="withEffect">
                                  <p:stCondLst>
                                    <p:cond delay="840"/>
                                  </p:stCondLst>
                                  <p:childTnLst>
                                    <p:set>
                                      <p:cBhvr>
                                        <p:cTn id="83" dur="1" fill="hold">
                                          <p:stCondLst>
                                            <p:cond delay="0"/>
                                          </p:stCondLst>
                                        </p:cTn>
                                        <p:tgtEl>
                                          <p:spTgt spid="37"/>
                                        </p:tgtEl>
                                        <p:attrNameLst>
                                          <p:attrName>style.visibility</p:attrName>
                                        </p:attrNameLst>
                                      </p:cBhvr>
                                      <p:to>
                                        <p:strVal val="visible"/>
                                      </p:to>
                                    </p:set>
                                    <p:animEffect transition="in" filter="fade">
                                      <p:cBhvr>
                                        <p:cTn id="84" dur="450"/>
                                        <p:tgtEl>
                                          <p:spTgt spid="37"/>
                                        </p:tgtEl>
                                      </p:cBhvr>
                                    </p:animEffect>
                                  </p:childTnLst>
                                </p:cTn>
                              </p:par>
                              <p:par>
                                <p:cTn id="85" presetID="10" presetClass="entr" presetSubtype="0" fill="hold" grpId="0" nodeType="withEffect">
                                  <p:stCondLst>
                                    <p:cond delay="96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450"/>
                                        <p:tgtEl>
                                          <p:spTgt spid="38"/>
                                        </p:tgtEl>
                                      </p:cBhvr>
                                    </p:animEffect>
                                  </p:childTnLst>
                                </p:cTn>
                              </p:par>
                              <p:par>
                                <p:cTn id="88" presetID="10" presetClass="entr" presetSubtype="0" fill="hold" grpId="0" nodeType="withEffect">
                                  <p:stCondLst>
                                    <p:cond delay="108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450"/>
                                        <p:tgtEl>
                                          <p:spTgt spid="39"/>
                                        </p:tgtEl>
                                      </p:cBhvr>
                                    </p:animEffect>
                                  </p:childTnLst>
                                </p:cTn>
                              </p:par>
                              <p:par>
                                <p:cTn id="91" presetID="10" presetClass="entr" presetSubtype="0" fill="hold" grpId="0" nodeType="withEffect">
                                  <p:stCondLst>
                                    <p:cond delay="1200"/>
                                  </p:stCondLst>
                                  <p:childTnLst>
                                    <p:set>
                                      <p:cBhvr>
                                        <p:cTn id="92" dur="1" fill="hold">
                                          <p:stCondLst>
                                            <p:cond delay="0"/>
                                          </p:stCondLst>
                                        </p:cTn>
                                        <p:tgtEl>
                                          <p:spTgt spid="40"/>
                                        </p:tgtEl>
                                        <p:attrNameLst>
                                          <p:attrName>style.visibility</p:attrName>
                                        </p:attrNameLst>
                                      </p:cBhvr>
                                      <p:to>
                                        <p:strVal val="visible"/>
                                      </p:to>
                                    </p:set>
                                    <p:animEffect transition="in" filter="fade">
                                      <p:cBhvr>
                                        <p:cTn id="93" dur="450"/>
                                        <p:tgtEl>
                                          <p:spTgt spid="40"/>
                                        </p:tgtEl>
                                      </p:cBhvr>
                                    </p:animEffect>
                                  </p:childTnLst>
                                </p:cTn>
                              </p:par>
                              <p:par>
                                <p:cTn id="94" presetID="10" presetClass="entr" presetSubtype="0" fill="hold" grpId="0" nodeType="withEffect">
                                  <p:stCondLst>
                                    <p:cond delay="1320"/>
                                  </p:stCondLst>
                                  <p:childTnLst>
                                    <p:set>
                                      <p:cBhvr>
                                        <p:cTn id="95" dur="1" fill="hold">
                                          <p:stCondLst>
                                            <p:cond delay="0"/>
                                          </p:stCondLst>
                                        </p:cTn>
                                        <p:tgtEl>
                                          <p:spTgt spid="41"/>
                                        </p:tgtEl>
                                        <p:attrNameLst>
                                          <p:attrName>style.visibility</p:attrName>
                                        </p:attrNameLst>
                                      </p:cBhvr>
                                      <p:to>
                                        <p:strVal val="visible"/>
                                      </p:to>
                                    </p:set>
                                    <p:animEffect transition="in" filter="fade">
                                      <p:cBhvr>
                                        <p:cTn id="96" dur="450"/>
                                        <p:tgtEl>
                                          <p:spTgt spid="41"/>
                                        </p:tgtEl>
                                      </p:cBhvr>
                                    </p:animEffect>
                                  </p:childTnLst>
                                </p:cTn>
                              </p:par>
                            </p:childTnLst>
                          </p:cTn>
                        </p:par>
                      </p:childTnLst>
                    </p:cTn>
                  </p:par>
                  <p:par>
                    <p:cTn id="129" fill="hold">
                      <p:stCondLst>
                        <p:cond delay="indefinite"/>
                      </p:stCondLst>
                      <p:childTnLst>
                        <p:par>
                          <p:cTn id="130" fill="hold">
                            <p:stCondLst>
                              <p:cond delay="0"/>
                            </p:stCondLst>
                            <p:childTnLst>
                              <p:par>
                                <p:cTn id="99" presetID="10" presetClass="entr" presetSubtype="0" fill="hold" grpId="0" nodeType="click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fade">
                                      <p:cBhvr>
                                        <p:cTn id="101" dur="450"/>
                                        <p:tgtEl>
                                          <p:spTgt spid="42"/>
                                        </p:tgtEl>
                                      </p:cBhvr>
                                    </p:animEffect>
                                  </p:childTnLst>
                                </p:cTn>
                              </p:par>
                              <p:par>
                                <p:cTn id="102" presetID="10" presetClass="entr" presetSubtype="0" fill="hold" grpId="0" nodeType="withEffect">
                                  <p:stCondLst>
                                    <p:cond delay="120"/>
                                  </p:stCondLst>
                                  <p:childTnLst>
                                    <p:set>
                                      <p:cBhvr>
                                        <p:cTn id="103" dur="1" fill="hold">
                                          <p:stCondLst>
                                            <p:cond delay="0"/>
                                          </p:stCondLst>
                                        </p:cTn>
                                        <p:tgtEl>
                                          <p:spTgt spid="43"/>
                                        </p:tgtEl>
                                        <p:attrNameLst>
                                          <p:attrName>style.visibility</p:attrName>
                                        </p:attrNameLst>
                                      </p:cBhvr>
                                      <p:to>
                                        <p:strVal val="visible"/>
                                      </p:to>
                                    </p:set>
                                    <p:animEffect transition="in" filter="fade">
                                      <p:cBhvr>
                                        <p:cTn id="104" dur="450"/>
                                        <p:tgtEl>
                                          <p:spTgt spid="43"/>
                                        </p:tgtEl>
                                      </p:cBhvr>
                                    </p:animEffect>
                                  </p:childTnLst>
                                </p:cTn>
                              </p:par>
                              <p:par>
                                <p:cTn id="105" presetID="10" presetClass="entr" presetSubtype="0" fill="hold" grpId="0" nodeType="withEffect">
                                  <p:stCondLst>
                                    <p:cond delay="240"/>
                                  </p:stCondLst>
                                  <p:childTnLst>
                                    <p:set>
                                      <p:cBhvr>
                                        <p:cTn id="106" dur="1" fill="hold">
                                          <p:stCondLst>
                                            <p:cond delay="0"/>
                                          </p:stCondLst>
                                        </p:cTn>
                                        <p:tgtEl>
                                          <p:spTgt spid="44"/>
                                        </p:tgtEl>
                                        <p:attrNameLst>
                                          <p:attrName>style.visibility</p:attrName>
                                        </p:attrNameLst>
                                      </p:cBhvr>
                                      <p:to>
                                        <p:strVal val="visible"/>
                                      </p:to>
                                    </p:set>
                                    <p:animEffect transition="in" filter="fade">
                                      <p:cBhvr>
                                        <p:cTn id="107" dur="450"/>
                                        <p:tgtEl>
                                          <p:spTgt spid="44"/>
                                        </p:tgtEl>
                                      </p:cBhvr>
                                    </p:animEffect>
                                  </p:childTnLst>
                                </p:cTn>
                              </p:par>
                              <p:par>
                                <p:cTn id="108" presetID="10" presetClass="entr" presetSubtype="0" fill="hold" grpId="0" nodeType="withEffect">
                                  <p:stCondLst>
                                    <p:cond delay="360"/>
                                  </p:stCondLst>
                                  <p:childTnLst>
                                    <p:set>
                                      <p:cBhvr>
                                        <p:cTn id="109" dur="1" fill="hold">
                                          <p:stCondLst>
                                            <p:cond delay="0"/>
                                          </p:stCondLst>
                                        </p:cTn>
                                        <p:tgtEl>
                                          <p:spTgt spid="45"/>
                                        </p:tgtEl>
                                        <p:attrNameLst>
                                          <p:attrName>style.visibility</p:attrName>
                                        </p:attrNameLst>
                                      </p:cBhvr>
                                      <p:to>
                                        <p:strVal val="visible"/>
                                      </p:to>
                                    </p:set>
                                    <p:animEffect transition="in" filter="fade">
                                      <p:cBhvr>
                                        <p:cTn id="110" dur="450"/>
                                        <p:tgtEl>
                                          <p:spTgt spid="45"/>
                                        </p:tgtEl>
                                      </p:cBhvr>
                                    </p:animEffect>
                                  </p:childTnLst>
                                </p:cTn>
                              </p:par>
                              <p:par>
                                <p:cTn id="111" presetID="10" presetClass="entr" presetSubtype="0" fill="hold" grpId="0" nodeType="withEffect">
                                  <p:stCondLst>
                                    <p:cond delay="480"/>
                                  </p:stCondLst>
                                  <p:childTnLst>
                                    <p:set>
                                      <p:cBhvr>
                                        <p:cTn id="112" dur="1" fill="hold">
                                          <p:stCondLst>
                                            <p:cond delay="0"/>
                                          </p:stCondLst>
                                        </p:cTn>
                                        <p:tgtEl>
                                          <p:spTgt spid="46"/>
                                        </p:tgtEl>
                                        <p:attrNameLst>
                                          <p:attrName>style.visibility</p:attrName>
                                        </p:attrNameLst>
                                      </p:cBhvr>
                                      <p:to>
                                        <p:strVal val="visible"/>
                                      </p:to>
                                    </p:set>
                                    <p:animEffect transition="in" filter="fade">
                                      <p:cBhvr>
                                        <p:cTn id="113" dur="450"/>
                                        <p:tgtEl>
                                          <p:spTgt spid="46"/>
                                        </p:tgtEl>
                                      </p:cBhvr>
                                    </p:animEffect>
                                  </p:childTnLst>
                                </p:cTn>
                              </p:par>
                              <p:par>
                                <p:cTn id="114" presetID="10" presetClass="entr" presetSubtype="0" fill="hold" grpId="0" nodeType="withEffect">
                                  <p:stCondLst>
                                    <p:cond delay="600"/>
                                  </p:stCondLst>
                                  <p:childTnLst>
                                    <p:set>
                                      <p:cBhvr>
                                        <p:cTn id="115" dur="1" fill="hold">
                                          <p:stCondLst>
                                            <p:cond delay="0"/>
                                          </p:stCondLst>
                                        </p:cTn>
                                        <p:tgtEl>
                                          <p:spTgt spid="47"/>
                                        </p:tgtEl>
                                        <p:attrNameLst>
                                          <p:attrName>style.visibility</p:attrName>
                                        </p:attrNameLst>
                                      </p:cBhvr>
                                      <p:to>
                                        <p:strVal val="visible"/>
                                      </p:to>
                                    </p:set>
                                    <p:animEffect transition="in" filter="fade">
                                      <p:cBhvr>
                                        <p:cTn id="116" dur="450"/>
                                        <p:tgtEl>
                                          <p:spTgt spid="47"/>
                                        </p:tgtEl>
                                      </p:cBhvr>
                                    </p:animEffect>
                                  </p:childTnLst>
                                </p:cTn>
                              </p:par>
                              <p:par>
                                <p:cTn id="117" presetID="10" presetClass="entr" presetSubtype="0" fill="hold" grpId="0" nodeType="withEffect">
                                  <p:stCondLst>
                                    <p:cond delay="720"/>
                                  </p:stCondLst>
                                  <p:childTnLst>
                                    <p:set>
                                      <p:cBhvr>
                                        <p:cTn id="118" dur="1" fill="hold">
                                          <p:stCondLst>
                                            <p:cond delay="0"/>
                                          </p:stCondLst>
                                        </p:cTn>
                                        <p:tgtEl>
                                          <p:spTgt spid="48"/>
                                        </p:tgtEl>
                                        <p:attrNameLst>
                                          <p:attrName>style.visibility</p:attrName>
                                        </p:attrNameLst>
                                      </p:cBhvr>
                                      <p:to>
                                        <p:strVal val="visible"/>
                                      </p:to>
                                    </p:set>
                                    <p:animEffect transition="in" filter="fade">
                                      <p:cBhvr>
                                        <p:cTn id="119" dur="450"/>
                                        <p:tgtEl>
                                          <p:spTgt spid="48"/>
                                        </p:tgtEl>
                                      </p:cBhvr>
                                    </p:animEffect>
                                  </p:childTnLst>
                                </p:cTn>
                              </p:par>
                              <p:par>
                                <p:cTn id="120" presetID="10" presetClass="entr" presetSubtype="0" fill="hold" grpId="0" nodeType="withEffect">
                                  <p:stCondLst>
                                    <p:cond delay="840"/>
                                  </p:stCondLst>
                                  <p:childTnLst>
                                    <p:set>
                                      <p:cBhvr>
                                        <p:cTn id="121" dur="1" fill="hold">
                                          <p:stCondLst>
                                            <p:cond delay="0"/>
                                          </p:stCondLst>
                                        </p:cTn>
                                        <p:tgtEl>
                                          <p:spTgt spid="49"/>
                                        </p:tgtEl>
                                        <p:attrNameLst>
                                          <p:attrName>style.visibility</p:attrName>
                                        </p:attrNameLst>
                                      </p:cBhvr>
                                      <p:to>
                                        <p:strVal val="visible"/>
                                      </p:to>
                                    </p:set>
                                    <p:animEffect transition="in" filter="fade">
                                      <p:cBhvr>
                                        <p:cTn id="122" dur="450"/>
                                        <p:tgtEl>
                                          <p:spTgt spid="49"/>
                                        </p:tgtEl>
                                      </p:cBhvr>
                                    </p:animEffect>
                                  </p:childTnLst>
                                </p:cTn>
                              </p:par>
                              <p:par>
                                <p:cTn id="123" presetID="10" presetClass="entr" presetSubtype="0" fill="hold" grpId="0" nodeType="withEffect">
                                  <p:stCondLst>
                                    <p:cond delay="960"/>
                                  </p:stCondLst>
                                  <p:childTnLst>
                                    <p:set>
                                      <p:cBhvr>
                                        <p:cTn id="124" dur="1" fill="hold">
                                          <p:stCondLst>
                                            <p:cond delay="0"/>
                                          </p:stCondLst>
                                        </p:cTn>
                                        <p:tgtEl>
                                          <p:spTgt spid="50"/>
                                        </p:tgtEl>
                                        <p:attrNameLst>
                                          <p:attrName>style.visibility</p:attrName>
                                        </p:attrNameLst>
                                      </p:cBhvr>
                                      <p:to>
                                        <p:strVal val="visible"/>
                                      </p:to>
                                    </p:set>
                                    <p:animEffect transition="in" filter="fade">
                                      <p:cBhvr>
                                        <p:cTn id="125" dur="450"/>
                                        <p:tgtEl>
                                          <p:spTgt spid="50"/>
                                        </p:tgtEl>
                                      </p:cBhvr>
                                    </p:animEffect>
                                  </p:childTnLst>
                                </p:cTn>
                              </p:par>
                              <p:par>
                                <p:cTn id="126" presetID="10" presetClass="entr" presetSubtype="0" fill="hold" grpId="0" nodeType="withEffect">
                                  <p:stCondLst>
                                    <p:cond delay="1080"/>
                                  </p:stCondLst>
                                  <p:childTnLst>
                                    <p:set>
                                      <p:cBhvr>
                                        <p:cTn id="127" dur="1" fill="hold">
                                          <p:stCondLst>
                                            <p:cond delay="0"/>
                                          </p:stCondLst>
                                        </p:cTn>
                                        <p:tgtEl>
                                          <p:spTgt spid="51"/>
                                        </p:tgtEl>
                                        <p:attrNameLst>
                                          <p:attrName>style.visibility</p:attrName>
                                        </p:attrNameLst>
                                      </p:cBhvr>
                                      <p:to>
                                        <p:strVal val="visible"/>
                                      </p:to>
                                    </p:set>
                                    <p:animEffect transition="in" filter="fade">
                                      <p:cBhvr>
                                        <p:cTn id="128" dur="450"/>
                                        <p:tgtEl>
                                          <p:spTgt spid="51"/>
                                        </p:tgtEl>
                                      </p:cBhvr>
                                    </p:animEffect>
                                  </p:childTnLst>
                                </p:cTn>
                              </p:par>
                            </p:childTnLst>
                          </p:cTn>
                        </p:par>
                      </p:childTnLst>
                    </p:cTn>
                  </p:par>
                  <p:par>
                    <p:cTn id="155" fill="hold">
                      <p:stCondLst>
                        <p:cond delay="indefinite"/>
                      </p:stCondLst>
                      <p:childTnLst>
                        <p:par>
                          <p:cTn id="156" fill="hold">
                            <p:stCondLst>
                              <p:cond delay="0"/>
                            </p:stCondLst>
                            <p:childTnLst>
                              <p:par>
                                <p:cTn id="131" presetID="10" presetClass="entr" presetSubtype="0" fill="hold" grpId="0" nodeType="clickEffect">
                                  <p:stCondLst>
                                    <p:cond delay="0"/>
                                  </p:stCondLst>
                                  <p:childTnLst>
                                    <p:set>
                                      <p:cBhvr>
                                        <p:cTn id="132" dur="1" fill="hold">
                                          <p:stCondLst>
                                            <p:cond delay="0"/>
                                          </p:stCondLst>
                                        </p:cTn>
                                        <p:tgtEl>
                                          <p:spTgt spid="52"/>
                                        </p:tgtEl>
                                        <p:attrNameLst>
                                          <p:attrName>style.visibility</p:attrName>
                                        </p:attrNameLst>
                                      </p:cBhvr>
                                      <p:to>
                                        <p:strVal val="visible"/>
                                      </p:to>
                                    </p:set>
                                    <p:animEffect transition="in" filter="fade">
                                      <p:cBhvr>
                                        <p:cTn id="133" dur="450"/>
                                        <p:tgtEl>
                                          <p:spTgt spid="52"/>
                                        </p:tgtEl>
                                      </p:cBhvr>
                                    </p:animEffect>
                                  </p:childTnLst>
                                </p:cTn>
                              </p:par>
                              <p:par>
                                <p:cTn id="134" presetID="10" presetClass="entr" presetSubtype="0" fill="hold" grpId="0" nodeType="withEffect">
                                  <p:stCondLst>
                                    <p:cond delay="120"/>
                                  </p:stCondLst>
                                  <p:childTnLst>
                                    <p:set>
                                      <p:cBhvr>
                                        <p:cTn id="135" dur="1" fill="hold">
                                          <p:stCondLst>
                                            <p:cond delay="0"/>
                                          </p:stCondLst>
                                        </p:cTn>
                                        <p:tgtEl>
                                          <p:spTgt spid="53"/>
                                        </p:tgtEl>
                                        <p:attrNameLst>
                                          <p:attrName>style.visibility</p:attrName>
                                        </p:attrNameLst>
                                      </p:cBhvr>
                                      <p:to>
                                        <p:strVal val="visible"/>
                                      </p:to>
                                    </p:set>
                                    <p:animEffect transition="in" filter="fade">
                                      <p:cBhvr>
                                        <p:cTn id="136" dur="450"/>
                                        <p:tgtEl>
                                          <p:spTgt spid="53"/>
                                        </p:tgtEl>
                                      </p:cBhvr>
                                    </p:animEffect>
                                  </p:childTnLst>
                                </p:cTn>
                              </p:par>
                              <p:par>
                                <p:cTn id="137" presetID="10" presetClass="entr" presetSubtype="0" fill="hold" grpId="0" nodeType="withEffect">
                                  <p:stCondLst>
                                    <p:cond delay="240"/>
                                  </p:stCondLst>
                                  <p:childTnLst>
                                    <p:set>
                                      <p:cBhvr>
                                        <p:cTn id="138" dur="1" fill="hold">
                                          <p:stCondLst>
                                            <p:cond delay="0"/>
                                          </p:stCondLst>
                                        </p:cTn>
                                        <p:tgtEl>
                                          <p:spTgt spid="54"/>
                                        </p:tgtEl>
                                        <p:attrNameLst>
                                          <p:attrName>style.visibility</p:attrName>
                                        </p:attrNameLst>
                                      </p:cBhvr>
                                      <p:to>
                                        <p:strVal val="visible"/>
                                      </p:to>
                                    </p:set>
                                    <p:animEffect transition="in" filter="fade">
                                      <p:cBhvr>
                                        <p:cTn id="139" dur="450"/>
                                        <p:tgtEl>
                                          <p:spTgt spid="54"/>
                                        </p:tgtEl>
                                      </p:cBhvr>
                                    </p:animEffect>
                                  </p:childTnLst>
                                </p:cTn>
                              </p:par>
                              <p:par>
                                <p:cTn id="140" presetID="10" presetClass="entr" presetSubtype="0" fill="hold" grpId="0" nodeType="withEffect">
                                  <p:stCondLst>
                                    <p:cond delay="360"/>
                                  </p:stCondLst>
                                  <p:childTnLst>
                                    <p:set>
                                      <p:cBhvr>
                                        <p:cTn id="141" dur="1" fill="hold">
                                          <p:stCondLst>
                                            <p:cond delay="0"/>
                                          </p:stCondLst>
                                        </p:cTn>
                                        <p:tgtEl>
                                          <p:spTgt spid="55"/>
                                        </p:tgtEl>
                                        <p:attrNameLst>
                                          <p:attrName>style.visibility</p:attrName>
                                        </p:attrNameLst>
                                      </p:cBhvr>
                                      <p:to>
                                        <p:strVal val="visible"/>
                                      </p:to>
                                    </p:set>
                                    <p:animEffect transition="in" filter="fade">
                                      <p:cBhvr>
                                        <p:cTn id="142" dur="450"/>
                                        <p:tgtEl>
                                          <p:spTgt spid="55"/>
                                        </p:tgtEl>
                                      </p:cBhvr>
                                    </p:animEffect>
                                  </p:childTnLst>
                                </p:cTn>
                              </p:par>
                              <p:par>
                                <p:cTn id="143" presetID="10" presetClass="entr" presetSubtype="0" fill="hold" grpId="0" nodeType="withEffect">
                                  <p:stCondLst>
                                    <p:cond delay="480"/>
                                  </p:stCondLst>
                                  <p:childTnLst>
                                    <p:set>
                                      <p:cBhvr>
                                        <p:cTn id="144" dur="1" fill="hold">
                                          <p:stCondLst>
                                            <p:cond delay="0"/>
                                          </p:stCondLst>
                                        </p:cTn>
                                        <p:tgtEl>
                                          <p:spTgt spid="56"/>
                                        </p:tgtEl>
                                        <p:attrNameLst>
                                          <p:attrName>style.visibility</p:attrName>
                                        </p:attrNameLst>
                                      </p:cBhvr>
                                      <p:to>
                                        <p:strVal val="visible"/>
                                      </p:to>
                                    </p:set>
                                    <p:animEffect transition="in" filter="fade">
                                      <p:cBhvr>
                                        <p:cTn id="145" dur="450"/>
                                        <p:tgtEl>
                                          <p:spTgt spid="56"/>
                                        </p:tgtEl>
                                      </p:cBhvr>
                                    </p:animEffect>
                                  </p:childTnLst>
                                </p:cTn>
                              </p:par>
                              <p:par>
                                <p:cTn id="146" presetID="10" presetClass="entr" presetSubtype="0" fill="hold" grpId="0" nodeType="withEffect">
                                  <p:stCondLst>
                                    <p:cond delay="600"/>
                                  </p:stCondLst>
                                  <p:childTnLst>
                                    <p:set>
                                      <p:cBhvr>
                                        <p:cTn id="147" dur="1" fill="hold">
                                          <p:stCondLst>
                                            <p:cond delay="0"/>
                                          </p:stCondLst>
                                        </p:cTn>
                                        <p:tgtEl>
                                          <p:spTgt spid="57"/>
                                        </p:tgtEl>
                                        <p:attrNameLst>
                                          <p:attrName>style.visibility</p:attrName>
                                        </p:attrNameLst>
                                      </p:cBhvr>
                                      <p:to>
                                        <p:strVal val="visible"/>
                                      </p:to>
                                    </p:set>
                                    <p:animEffect transition="in" filter="fade">
                                      <p:cBhvr>
                                        <p:cTn id="148" dur="450"/>
                                        <p:tgtEl>
                                          <p:spTgt spid="57"/>
                                        </p:tgtEl>
                                      </p:cBhvr>
                                    </p:animEffect>
                                  </p:childTnLst>
                                </p:cTn>
                              </p:par>
                              <p:par>
                                <p:cTn id="149" presetID="10" presetClass="entr" presetSubtype="0" fill="hold" grpId="0" nodeType="withEffect">
                                  <p:stCondLst>
                                    <p:cond delay="720"/>
                                  </p:stCondLst>
                                  <p:childTnLst>
                                    <p:set>
                                      <p:cBhvr>
                                        <p:cTn id="150" dur="1" fill="hold">
                                          <p:stCondLst>
                                            <p:cond delay="0"/>
                                          </p:stCondLst>
                                        </p:cTn>
                                        <p:tgtEl>
                                          <p:spTgt spid="58"/>
                                        </p:tgtEl>
                                        <p:attrNameLst>
                                          <p:attrName>style.visibility</p:attrName>
                                        </p:attrNameLst>
                                      </p:cBhvr>
                                      <p:to>
                                        <p:strVal val="visible"/>
                                      </p:to>
                                    </p:set>
                                    <p:animEffect transition="in" filter="fade">
                                      <p:cBhvr>
                                        <p:cTn id="151" dur="450"/>
                                        <p:tgtEl>
                                          <p:spTgt spid="58"/>
                                        </p:tgtEl>
                                      </p:cBhvr>
                                    </p:animEffect>
                                  </p:childTnLst>
                                </p:cTn>
                              </p:par>
                              <p:par>
                                <p:cTn id="152" presetID="10" presetClass="entr" presetSubtype="0" fill="hold" grpId="0" nodeType="withEffect">
                                  <p:stCondLst>
                                    <p:cond delay="840"/>
                                  </p:stCondLst>
                                  <p:childTnLst>
                                    <p:set>
                                      <p:cBhvr>
                                        <p:cTn id="153" dur="1" fill="hold">
                                          <p:stCondLst>
                                            <p:cond delay="0"/>
                                          </p:stCondLst>
                                        </p:cTn>
                                        <p:tgtEl>
                                          <p:spTgt spid="59"/>
                                        </p:tgtEl>
                                        <p:attrNameLst>
                                          <p:attrName>style.visibility</p:attrName>
                                        </p:attrNameLst>
                                      </p:cBhvr>
                                      <p:to>
                                        <p:strVal val="visible"/>
                                      </p:to>
                                    </p:set>
                                    <p:animEffect transition="in" filter="fade">
                                      <p:cBhvr>
                                        <p:cTn id="154" dur="450"/>
                                        <p:tgtEl>
                                          <p:spTgt spid="59"/>
                                        </p:tgtEl>
                                      </p:cBhvr>
                                    </p:animEffect>
                                  </p:childTnLst>
                                </p:cTn>
                              </p:par>
                            </p:childTnLst>
                          </p:cTn>
                        </p:par>
                      </p:childTnLst>
                    </p:cTn>
                  </p:par>
                  <p:par>
                    <p:cTn id="163" fill="hold">
                      <p:stCondLst>
                        <p:cond delay="indefinite"/>
                      </p:stCondLst>
                      <p:childTnLst>
                        <p:par>
                          <p:cTn id="164" fill="hold">
                            <p:stCondLst>
                              <p:cond delay="0"/>
                            </p:stCondLst>
                            <p:childTnLst>
                              <p:par>
                                <p:cTn id="157" presetID="10" presetClass="entr" presetSubtype="0" fill="hold" grpId="0" nodeType="clickEffect">
                                  <p:stCondLst>
                                    <p:cond delay="0"/>
                                  </p:stCondLst>
                                  <p:childTnLst>
                                    <p:set>
                                      <p:cBhvr>
                                        <p:cTn id="158" dur="1" fill="hold">
                                          <p:stCondLst>
                                            <p:cond delay="0"/>
                                          </p:stCondLst>
                                        </p:cTn>
                                        <p:tgtEl>
                                          <p:spTgt spid="60"/>
                                        </p:tgtEl>
                                        <p:attrNameLst>
                                          <p:attrName>style.visibility</p:attrName>
                                        </p:attrNameLst>
                                      </p:cBhvr>
                                      <p:to>
                                        <p:strVal val="visible"/>
                                      </p:to>
                                    </p:set>
                                    <p:animEffect transition="in" filter="fade">
                                      <p:cBhvr>
                                        <p:cTn id="159" dur="450"/>
                                        <p:tgtEl>
                                          <p:spTgt spid="60"/>
                                        </p:tgtEl>
                                      </p:cBhvr>
                                    </p:animEffect>
                                  </p:childTnLst>
                                </p:cTn>
                              </p:par>
                              <p:par>
                                <p:cTn id="160" presetID="10" presetClass="entr" presetSubtype="0" fill="hold" grpId="0" nodeType="withEffect">
                                  <p:stCondLst>
                                    <p:cond delay="120"/>
                                  </p:stCondLst>
                                  <p:childTnLst>
                                    <p:set>
                                      <p:cBhvr>
                                        <p:cTn id="161" dur="1" fill="hold">
                                          <p:stCondLst>
                                            <p:cond delay="0"/>
                                          </p:stCondLst>
                                        </p:cTn>
                                        <p:tgtEl>
                                          <p:spTgt spid="61"/>
                                        </p:tgtEl>
                                        <p:attrNameLst>
                                          <p:attrName>style.visibility</p:attrName>
                                        </p:attrNameLst>
                                      </p:cBhvr>
                                      <p:to>
                                        <p:strVal val="visible"/>
                                      </p:to>
                                    </p:set>
                                    <p:animEffect transition="in" filter="fade">
                                      <p:cBhvr>
                                        <p:cTn id="162" dur="45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III.  LIRE LES INDICATEURS KYC</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Rectangle 4"/>
          <p:cNvSpPr/>
          <p:nvPr/>
        </p:nvSpPr>
        <p:spPr>
          <a:xfrm>
            <a:off x="393162" y="757620"/>
            <a:ext cx="237802" cy="158535"/>
          </a:xfrm>
          <a:prstGeom prst="rect">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512064" y="916155"/>
            <a:ext cx="0" cy="45296"/>
          </a:xfrm>
          <a:custGeom>
            <a:avLst/>
            <a:gdLst/>
            <a:ahLst/>
            <a:cxnLst/>
            <a:rect l="l" t="t" r="r" b="b"/>
            <a:pathLst>
              <a:path w="0" h="45296">
                <a:moveTo>
                  <a:pt x="0" y="0"/>
                </a:moveTo>
                <a:lnTo>
                  <a:pt x="0" y="45296"/>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455444" y="967113"/>
            <a:ext cx="113239" cy="0"/>
          </a:xfrm>
          <a:custGeom>
            <a:avLst/>
            <a:gdLst/>
            <a:ahLst/>
            <a:cxnLst/>
            <a:rect l="l" t="t" r="r" b="b"/>
            <a:pathLst>
              <a:path w="113239" h="0">
                <a:moveTo>
                  <a:pt x="0" y="0"/>
                </a:moveTo>
                <a:lnTo>
                  <a:pt x="113239"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427134" y="808578"/>
            <a:ext cx="84930" cy="0"/>
          </a:xfrm>
          <a:custGeom>
            <a:avLst/>
            <a:gdLst/>
            <a:ahLst/>
            <a:cxnLst/>
            <a:rect l="l" t="t" r="r" b="b"/>
            <a:pathLst>
              <a:path w="84930" h="0">
                <a:moveTo>
                  <a:pt x="0" y="0"/>
                </a:moveTo>
                <a:lnTo>
                  <a:pt x="84930"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427134" y="853874"/>
            <a:ext cx="118901" cy="0"/>
          </a:xfrm>
          <a:custGeom>
            <a:avLst/>
            <a:gdLst/>
            <a:ahLst/>
            <a:cxnLst/>
            <a:rect l="l" t="t" r="r" b="b"/>
            <a:pathLst>
              <a:path w="118901" h="0">
                <a:moveTo>
                  <a:pt x="0" y="0"/>
                </a:moveTo>
                <a:lnTo>
                  <a:pt x="118901"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ANATOMIE D'UN TABLEAU DE BORD</a:t>
            </a:r>
          </a:p>
        </p:txBody>
      </p:sp>
      <p:sp>
        <p:nvSpPr>
          <p:cNvPr id="11" name="Rectangle 10"/>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4" name="TextBox 13"/>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08 / 20</a:t>
            </a:r>
          </a:p>
        </p:txBody>
      </p:sp>
      <p:sp>
        <p:nvSpPr>
          <p:cNvPr id="15" name="Rounded Rectangle 14"/>
          <p:cNvSpPr/>
          <p:nvPr/>
        </p:nvSpPr>
        <p:spPr>
          <a:xfrm>
            <a:off x="365760" y="1170432"/>
            <a:ext cx="4754880" cy="3383280"/>
          </a:xfrm>
          <a:prstGeom prst="roundRect">
            <a:avLst>
              <a:gd name="adj" fmla="val 6000"/>
            </a:avLst>
          </a:prstGeom>
          <a:solidFill>
            <a:srgbClr val="F5F5F5"/>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02920" y="1307592"/>
            <a:ext cx="914400" cy="31089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1536192" y="1307592"/>
            <a:ext cx="3447288" cy="384048"/>
          </a:xfrm>
          <a:prstGeom prst="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1536192" y="1810512"/>
            <a:ext cx="1088136" cy="777240"/>
          </a:xfrm>
          <a:prstGeom prst="rect">
            <a:avLst/>
          </a:prstGeom>
          <a:solidFill>
            <a:srgbClr val="009A56"/>
          </a:solidFill>
          <a:ln w="12700">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2715768" y="1810512"/>
            <a:ext cx="1088136" cy="777240"/>
          </a:xfrm>
          <a:prstGeom prst="rect">
            <a:avLst/>
          </a:prstGeom>
          <a:solidFill>
            <a:srgbClr val="009A56"/>
          </a:solidFill>
          <a:ln w="12700">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895344" y="1810512"/>
            <a:ext cx="1088136" cy="777240"/>
          </a:xfrm>
          <a:prstGeom prst="rect">
            <a:avLst/>
          </a:prstGeom>
          <a:solidFill>
            <a:srgbClr val="009A56"/>
          </a:solidFill>
          <a:ln w="12700">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1536192" y="2706624"/>
            <a:ext cx="3447288" cy="1371600"/>
          </a:xfrm>
          <a:prstGeom prst="rect">
            <a:avLst/>
          </a:prstGeom>
          <a:solidFill>
            <a:srgbClr val="FFFFFF"/>
          </a:solidFill>
          <a:ln w="9525">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1645920" y="2834640"/>
            <a:ext cx="3227832"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1645920" y="3154680"/>
            <a:ext cx="3227832"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1645920" y="3474720"/>
            <a:ext cx="3227832"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1645920" y="3794760"/>
            <a:ext cx="3227832"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069080" y="4178808"/>
            <a:ext cx="914400" cy="237744"/>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66928" y="1371600"/>
            <a:ext cx="256032" cy="256032"/>
          </a:xfrm>
          <a:prstGeom prst="ellipse">
            <a:avLst/>
          </a:prstGeom>
          <a:solidFill>
            <a:srgbClr val="FFFFFF"/>
          </a:solidFill>
          <a:ln w="15875">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66928" y="1371600"/>
            <a:ext cx="256032" cy="256032"/>
          </a:xfrm>
          <a:prstGeom prst="rect">
            <a:avLst/>
          </a:prstGeom>
          <a:noFill/>
        </p:spPr>
        <p:txBody>
          <a:bodyPr wrap="square" lIns="0" rIns="0" tIns="0" bIns="0" anchor="ctr">
            <a:spAutoFit/>
          </a:bodyPr>
          <a:lstStyle/>
          <a:p>
            <a:pPr algn="ctr"/>
            <a:r>
              <a:rPr sz="900" b="1" i="0">
                <a:solidFill>
                  <a:srgbClr val="009A56"/>
                </a:solidFill>
                <a:latin typeface="Calibri"/>
                <a:ea typeface="Calibri"/>
                <a:cs typeface="Calibri"/>
              </a:rPr>
              <a:t>1</a:t>
            </a:r>
          </a:p>
        </p:txBody>
      </p:sp>
      <p:sp>
        <p:nvSpPr>
          <p:cNvPr id="29" name="Oval 28"/>
          <p:cNvSpPr/>
          <p:nvPr/>
        </p:nvSpPr>
        <p:spPr>
          <a:xfrm>
            <a:off x="1600200" y="1371600"/>
            <a:ext cx="256032" cy="256032"/>
          </a:xfrm>
          <a:prstGeom prst="ellipse">
            <a:avLst/>
          </a:prstGeom>
          <a:solidFill>
            <a:srgbClr val="FFFFFF"/>
          </a:solidFill>
          <a:ln w="15875">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600200" y="1371600"/>
            <a:ext cx="256032" cy="256032"/>
          </a:xfrm>
          <a:prstGeom prst="rect">
            <a:avLst/>
          </a:prstGeom>
          <a:noFill/>
        </p:spPr>
        <p:txBody>
          <a:bodyPr wrap="square" lIns="0" rIns="0" tIns="0" bIns="0" anchor="ctr">
            <a:spAutoFit/>
          </a:bodyPr>
          <a:lstStyle/>
          <a:p>
            <a:pPr algn="ctr"/>
            <a:r>
              <a:rPr sz="900" b="1" i="0">
                <a:solidFill>
                  <a:srgbClr val="009A56"/>
                </a:solidFill>
                <a:latin typeface="Calibri"/>
                <a:ea typeface="Calibri"/>
                <a:cs typeface="Calibri"/>
              </a:rPr>
              <a:t>2</a:t>
            </a:r>
          </a:p>
        </p:txBody>
      </p:sp>
      <p:sp>
        <p:nvSpPr>
          <p:cNvPr id="31" name="Oval 30"/>
          <p:cNvSpPr/>
          <p:nvPr/>
        </p:nvSpPr>
        <p:spPr>
          <a:xfrm>
            <a:off x="1600200" y="1874519"/>
            <a:ext cx="256032" cy="256032"/>
          </a:xfrm>
          <a:prstGeom prst="ellipse">
            <a:avLst/>
          </a:prstGeom>
          <a:solidFill>
            <a:srgbClr val="FFFFFF"/>
          </a:solidFill>
          <a:ln w="15875">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600200" y="1874519"/>
            <a:ext cx="256032" cy="256032"/>
          </a:xfrm>
          <a:prstGeom prst="rect">
            <a:avLst/>
          </a:prstGeom>
          <a:noFill/>
        </p:spPr>
        <p:txBody>
          <a:bodyPr wrap="square" lIns="0" rIns="0" tIns="0" bIns="0" anchor="ctr">
            <a:spAutoFit/>
          </a:bodyPr>
          <a:lstStyle/>
          <a:p>
            <a:pPr algn="ctr"/>
            <a:r>
              <a:rPr sz="900" b="1" i="0">
                <a:solidFill>
                  <a:srgbClr val="009A56"/>
                </a:solidFill>
                <a:latin typeface="Calibri"/>
                <a:ea typeface="Calibri"/>
                <a:cs typeface="Calibri"/>
              </a:rPr>
              <a:t>3</a:t>
            </a:r>
          </a:p>
        </p:txBody>
      </p:sp>
      <p:sp>
        <p:nvSpPr>
          <p:cNvPr id="33" name="Oval 32"/>
          <p:cNvSpPr/>
          <p:nvPr/>
        </p:nvSpPr>
        <p:spPr>
          <a:xfrm>
            <a:off x="1600200" y="2770632"/>
            <a:ext cx="256032" cy="256032"/>
          </a:xfrm>
          <a:prstGeom prst="ellipse">
            <a:avLst/>
          </a:prstGeom>
          <a:solidFill>
            <a:srgbClr val="FFFFFF"/>
          </a:solidFill>
          <a:ln w="15875">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600200" y="2770632"/>
            <a:ext cx="256032" cy="256032"/>
          </a:xfrm>
          <a:prstGeom prst="rect">
            <a:avLst/>
          </a:prstGeom>
          <a:noFill/>
        </p:spPr>
        <p:txBody>
          <a:bodyPr wrap="square" lIns="0" rIns="0" tIns="0" bIns="0" anchor="ctr">
            <a:spAutoFit/>
          </a:bodyPr>
          <a:lstStyle/>
          <a:p>
            <a:pPr algn="ctr"/>
            <a:r>
              <a:rPr sz="900" b="1" i="0">
                <a:solidFill>
                  <a:srgbClr val="009A56"/>
                </a:solidFill>
                <a:latin typeface="Calibri"/>
                <a:ea typeface="Calibri"/>
                <a:cs typeface="Calibri"/>
              </a:rPr>
              <a:t>4</a:t>
            </a:r>
          </a:p>
        </p:txBody>
      </p:sp>
      <p:sp>
        <p:nvSpPr>
          <p:cNvPr id="35" name="Oval 34"/>
          <p:cNvSpPr/>
          <p:nvPr/>
        </p:nvSpPr>
        <p:spPr>
          <a:xfrm>
            <a:off x="4133087" y="4242816"/>
            <a:ext cx="256032" cy="256032"/>
          </a:xfrm>
          <a:prstGeom prst="ellipse">
            <a:avLst/>
          </a:prstGeom>
          <a:solidFill>
            <a:srgbClr val="FFFFFF"/>
          </a:solidFill>
          <a:ln w="15875">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133087" y="4242816"/>
            <a:ext cx="256032" cy="256032"/>
          </a:xfrm>
          <a:prstGeom prst="rect">
            <a:avLst/>
          </a:prstGeom>
          <a:noFill/>
        </p:spPr>
        <p:txBody>
          <a:bodyPr wrap="square" lIns="0" rIns="0" tIns="0" bIns="0" anchor="ctr">
            <a:spAutoFit/>
          </a:bodyPr>
          <a:lstStyle/>
          <a:p>
            <a:pPr algn="ctr"/>
            <a:r>
              <a:rPr sz="900" b="1" i="0">
                <a:solidFill>
                  <a:srgbClr val="009A56"/>
                </a:solidFill>
                <a:latin typeface="Calibri"/>
                <a:ea typeface="Calibri"/>
                <a:cs typeface="Calibri"/>
              </a:rPr>
              <a:t>5</a:t>
            </a:r>
          </a:p>
        </p:txBody>
      </p:sp>
      <p:sp>
        <p:nvSpPr>
          <p:cNvPr id="37" name="Oval 36"/>
          <p:cNvSpPr/>
          <p:nvPr/>
        </p:nvSpPr>
        <p:spPr>
          <a:xfrm>
            <a:off x="5349240" y="1252728"/>
            <a:ext cx="274320" cy="274320"/>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49240" y="1252728"/>
            <a:ext cx="274320" cy="274320"/>
          </a:xfrm>
          <a:prstGeom prst="rect">
            <a:avLst/>
          </a:prstGeom>
          <a:noFill/>
        </p:spPr>
        <p:txBody>
          <a:bodyPr wrap="square" lIns="0" rIns="0" tIns="0" bIns="0" anchor="ctr">
            <a:spAutoFit/>
          </a:bodyPr>
          <a:lstStyle/>
          <a:p>
            <a:pPr algn="ctr"/>
            <a:r>
              <a:rPr sz="1000" b="1" i="0">
                <a:solidFill>
                  <a:srgbClr val="FFFFFF"/>
                </a:solidFill>
                <a:latin typeface="Calibri"/>
                <a:ea typeface="Calibri"/>
                <a:cs typeface="Calibri"/>
              </a:rPr>
              <a:t>1</a:t>
            </a:r>
          </a:p>
        </p:txBody>
      </p:sp>
      <p:sp>
        <p:nvSpPr>
          <p:cNvPr id="39" name="TextBox 38"/>
          <p:cNvSpPr txBox="1"/>
          <p:nvPr/>
        </p:nvSpPr>
        <p:spPr>
          <a:xfrm>
            <a:off x="5742432" y="1207008"/>
            <a:ext cx="3035808" cy="256032"/>
          </a:xfrm>
          <a:prstGeom prst="rect">
            <a:avLst/>
          </a:prstGeom>
          <a:noFill/>
        </p:spPr>
        <p:txBody>
          <a:bodyPr wrap="square" lIns="0" rIns="0" tIns="0" bIns="0" anchor="ctr">
            <a:spAutoFit/>
          </a:bodyPr>
          <a:lstStyle/>
          <a:p>
            <a:pPr algn="l"/>
            <a:r>
              <a:rPr sz="1050" b="1" i="0">
                <a:solidFill>
                  <a:srgbClr val="1B2A4A"/>
                </a:solidFill>
                <a:latin typeface="Calibri"/>
                <a:ea typeface="Calibri"/>
                <a:cs typeface="Calibri"/>
              </a:rPr>
              <a:t>Menu latéral</a:t>
            </a:r>
          </a:p>
        </p:txBody>
      </p:sp>
      <p:sp>
        <p:nvSpPr>
          <p:cNvPr id="40" name="TextBox 39"/>
          <p:cNvSpPr txBox="1"/>
          <p:nvPr/>
        </p:nvSpPr>
        <p:spPr>
          <a:xfrm>
            <a:off x="5742432" y="1463040"/>
            <a:ext cx="3035808" cy="411480"/>
          </a:xfrm>
          <a:prstGeom prst="rect">
            <a:avLst/>
          </a:prstGeom>
          <a:noFill/>
        </p:spPr>
        <p:txBody>
          <a:bodyPr wrap="square" lIns="0" rIns="0" tIns="0" bIns="0" anchor="t">
            <a:spAutoFit/>
          </a:bodyPr>
          <a:lstStyle/>
          <a:p>
            <a:pPr algn="l">
              <a:lnSpc>
                <a:spcPct val="100000"/>
              </a:lnSpc>
            </a:pPr>
            <a:r>
              <a:rPr sz="900" b="0" i="0">
                <a:solidFill>
                  <a:srgbClr val="666666"/>
                </a:solidFill>
                <a:latin typeface="Calibri"/>
                <a:ea typeface="Calibri"/>
                <a:cs typeface="Calibri"/>
              </a:rPr>
              <a:t>Les entrées affichées dépendent de votre organe de rattachement.</a:t>
            </a:r>
          </a:p>
        </p:txBody>
      </p:sp>
      <p:sp>
        <p:nvSpPr>
          <p:cNvPr id="41" name="Oval 40"/>
          <p:cNvSpPr/>
          <p:nvPr/>
        </p:nvSpPr>
        <p:spPr>
          <a:xfrm>
            <a:off x="5349240" y="1938528"/>
            <a:ext cx="274320" cy="274320"/>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349240" y="1938528"/>
            <a:ext cx="274320" cy="274320"/>
          </a:xfrm>
          <a:prstGeom prst="rect">
            <a:avLst/>
          </a:prstGeom>
          <a:noFill/>
        </p:spPr>
        <p:txBody>
          <a:bodyPr wrap="square" lIns="0" rIns="0" tIns="0" bIns="0" anchor="ctr">
            <a:spAutoFit/>
          </a:bodyPr>
          <a:lstStyle/>
          <a:p>
            <a:pPr algn="ctr"/>
            <a:r>
              <a:rPr sz="1000" b="1" i="0">
                <a:solidFill>
                  <a:srgbClr val="FFFFFF"/>
                </a:solidFill>
                <a:latin typeface="Calibri"/>
                <a:ea typeface="Calibri"/>
                <a:cs typeface="Calibri"/>
              </a:rPr>
              <a:t>2</a:t>
            </a:r>
          </a:p>
        </p:txBody>
      </p:sp>
      <p:sp>
        <p:nvSpPr>
          <p:cNvPr id="43" name="TextBox 42"/>
          <p:cNvSpPr txBox="1"/>
          <p:nvPr/>
        </p:nvSpPr>
        <p:spPr>
          <a:xfrm>
            <a:off x="5742432" y="1892808"/>
            <a:ext cx="3035808" cy="256032"/>
          </a:xfrm>
          <a:prstGeom prst="rect">
            <a:avLst/>
          </a:prstGeom>
          <a:noFill/>
        </p:spPr>
        <p:txBody>
          <a:bodyPr wrap="square" lIns="0" rIns="0" tIns="0" bIns="0" anchor="ctr">
            <a:spAutoFit/>
          </a:bodyPr>
          <a:lstStyle/>
          <a:p>
            <a:pPr algn="l"/>
            <a:r>
              <a:rPr sz="1050" b="1" i="0">
                <a:solidFill>
                  <a:srgbClr val="1B2A4A"/>
                </a:solidFill>
                <a:latin typeface="Calibri"/>
                <a:ea typeface="Calibri"/>
                <a:cs typeface="Calibri"/>
              </a:rPr>
              <a:t>Barre de filtres</a:t>
            </a:r>
          </a:p>
        </p:txBody>
      </p:sp>
      <p:sp>
        <p:nvSpPr>
          <p:cNvPr id="44" name="TextBox 43"/>
          <p:cNvSpPr txBox="1"/>
          <p:nvPr/>
        </p:nvSpPr>
        <p:spPr>
          <a:xfrm>
            <a:off x="5742432" y="2148840"/>
            <a:ext cx="3035808" cy="411480"/>
          </a:xfrm>
          <a:prstGeom prst="rect">
            <a:avLst/>
          </a:prstGeom>
          <a:noFill/>
        </p:spPr>
        <p:txBody>
          <a:bodyPr wrap="square" lIns="0" rIns="0" tIns="0" bIns="0" anchor="t">
            <a:spAutoFit/>
          </a:bodyPr>
          <a:lstStyle/>
          <a:p>
            <a:pPr algn="l">
              <a:lnSpc>
                <a:spcPct val="100000"/>
              </a:lnSpc>
            </a:pPr>
            <a:r>
              <a:rPr sz="900" b="0" i="0">
                <a:solidFill>
                  <a:srgbClr val="666666"/>
                </a:solidFill>
                <a:latin typeface="Calibri"/>
                <a:ea typeface="Calibri"/>
                <a:cs typeface="Calibri"/>
              </a:rPr>
              <a:t>Période, filiale, agence, chargé : le filtre conditionne tout l'écran.</a:t>
            </a:r>
          </a:p>
        </p:txBody>
      </p:sp>
      <p:sp>
        <p:nvSpPr>
          <p:cNvPr id="45" name="Oval 44"/>
          <p:cNvSpPr/>
          <p:nvPr/>
        </p:nvSpPr>
        <p:spPr>
          <a:xfrm>
            <a:off x="5349240" y="2624328"/>
            <a:ext cx="274320" cy="274320"/>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49240" y="2624328"/>
            <a:ext cx="274320" cy="274320"/>
          </a:xfrm>
          <a:prstGeom prst="rect">
            <a:avLst/>
          </a:prstGeom>
          <a:noFill/>
        </p:spPr>
        <p:txBody>
          <a:bodyPr wrap="square" lIns="0" rIns="0" tIns="0" bIns="0" anchor="ctr">
            <a:spAutoFit/>
          </a:bodyPr>
          <a:lstStyle/>
          <a:p>
            <a:pPr algn="ctr"/>
            <a:r>
              <a:rPr sz="1000" b="1" i="0">
                <a:solidFill>
                  <a:srgbClr val="FFFFFF"/>
                </a:solidFill>
                <a:latin typeface="Calibri"/>
                <a:ea typeface="Calibri"/>
                <a:cs typeface="Calibri"/>
              </a:rPr>
              <a:t>3</a:t>
            </a:r>
          </a:p>
        </p:txBody>
      </p:sp>
      <p:sp>
        <p:nvSpPr>
          <p:cNvPr id="47" name="TextBox 46"/>
          <p:cNvSpPr txBox="1"/>
          <p:nvPr/>
        </p:nvSpPr>
        <p:spPr>
          <a:xfrm>
            <a:off x="5742432" y="2578608"/>
            <a:ext cx="3035808" cy="256032"/>
          </a:xfrm>
          <a:prstGeom prst="rect">
            <a:avLst/>
          </a:prstGeom>
          <a:noFill/>
        </p:spPr>
        <p:txBody>
          <a:bodyPr wrap="square" lIns="0" rIns="0" tIns="0" bIns="0" anchor="ctr">
            <a:spAutoFit/>
          </a:bodyPr>
          <a:lstStyle/>
          <a:p>
            <a:pPr algn="l"/>
            <a:r>
              <a:rPr sz="1050" b="1" i="0">
                <a:solidFill>
                  <a:srgbClr val="1B2A4A"/>
                </a:solidFill>
                <a:latin typeface="Calibri"/>
                <a:ea typeface="Calibri"/>
                <a:cs typeface="Calibri"/>
              </a:rPr>
              <a:t>Cartouches d'indicateurs</a:t>
            </a:r>
          </a:p>
        </p:txBody>
      </p:sp>
      <p:sp>
        <p:nvSpPr>
          <p:cNvPr id="48" name="TextBox 47"/>
          <p:cNvSpPr txBox="1"/>
          <p:nvPr/>
        </p:nvSpPr>
        <p:spPr>
          <a:xfrm>
            <a:off x="5742432" y="2834640"/>
            <a:ext cx="3035808" cy="411480"/>
          </a:xfrm>
          <a:prstGeom prst="rect">
            <a:avLst/>
          </a:prstGeom>
          <a:noFill/>
        </p:spPr>
        <p:txBody>
          <a:bodyPr wrap="square" lIns="0" rIns="0" tIns="0" bIns="0" anchor="t">
            <a:spAutoFit/>
          </a:bodyPr>
          <a:lstStyle/>
          <a:p>
            <a:pPr algn="l">
              <a:lnSpc>
                <a:spcPct val="100000"/>
              </a:lnSpc>
            </a:pPr>
            <a:r>
              <a:rPr sz="900" b="0" i="0">
                <a:solidFill>
                  <a:srgbClr val="666666"/>
                </a:solidFill>
                <a:latin typeface="Calibri"/>
                <a:ea typeface="Calibri"/>
                <a:cs typeface="Calibri"/>
              </a:rPr>
              <a:t>Taux de complétude et de qualité, en stock et en flux.</a:t>
            </a:r>
          </a:p>
        </p:txBody>
      </p:sp>
      <p:sp>
        <p:nvSpPr>
          <p:cNvPr id="49" name="Oval 48"/>
          <p:cNvSpPr/>
          <p:nvPr/>
        </p:nvSpPr>
        <p:spPr>
          <a:xfrm>
            <a:off x="5349240" y="3310128"/>
            <a:ext cx="274320" cy="274320"/>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349240" y="3310128"/>
            <a:ext cx="274320" cy="274320"/>
          </a:xfrm>
          <a:prstGeom prst="rect">
            <a:avLst/>
          </a:prstGeom>
          <a:noFill/>
        </p:spPr>
        <p:txBody>
          <a:bodyPr wrap="square" lIns="0" rIns="0" tIns="0" bIns="0" anchor="ctr">
            <a:spAutoFit/>
          </a:bodyPr>
          <a:lstStyle/>
          <a:p>
            <a:pPr algn="ctr"/>
            <a:r>
              <a:rPr sz="1000" b="1" i="0">
                <a:solidFill>
                  <a:srgbClr val="FFFFFF"/>
                </a:solidFill>
                <a:latin typeface="Calibri"/>
                <a:ea typeface="Calibri"/>
                <a:cs typeface="Calibri"/>
              </a:rPr>
              <a:t>4</a:t>
            </a:r>
          </a:p>
        </p:txBody>
      </p:sp>
      <p:sp>
        <p:nvSpPr>
          <p:cNvPr id="51" name="TextBox 50"/>
          <p:cNvSpPr txBox="1"/>
          <p:nvPr/>
        </p:nvSpPr>
        <p:spPr>
          <a:xfrm>
            <a:off x="5742432" y="3264408"/>
            <a:ext cx="3035808" cy="256032"/>
          </a:xfrm>
          <a:prstGeom prst="rect">
            <a:avLst/>
          </a:prstGeom>
          <a:noFill/>
        </p:spPr>
        <p:txBody>
          <a:bodyPr wrap="square" lIns="0" rIns="0" tIns="0" bIns="0" anchor="ctr">
            <a:spAutoFit/>
          </a:bodyPr>
          <a:lstStyle/>
          <a:p>
            <a:pPr algn="l"/>
            <a:r>
              <a:rPr sz="1050" b="1" i="0">
                <a:solidFill>
                  <a:srgbClr val="1B2A4A"/>
                </a:solidFill>
                <a:latin typeface="Calibri"/>
                <a:ea typeface="Calibri"/>
                <a:cs typeface="Calibri"/>
              </a:rPr>
              <a:t>Tableau détaillé</a:t>
            </a:r>
          </a:p>
        </p:txBody>
      </p:sp>
      <p:sp>
        <p:nvSpPr>
          <p:cNvPr id="52" name="TextBox 51"/>
          <p:cNvSpPr txBox="1"/>
          <p:nvPr/>
        </p:nvSpPr>
        <p:spPr>
          <a:xfrm>
            <a:off x="5742432" y="3520440"/>
            <a:ext cx="3035808" cy="411480"/>
          </a:xfrm>
          <a:prstGeom prst="rect">
            <a:avLst/>
          </a:prstGeom>
          <a:noFill/>
        </p:spPr>
        <p:txBody>
          <a:bodyPr wrap="square" lIns="0" rIns="0" tIns="0" bIns="0" anchor="t">
            <a:spAutoFit/>
          </a:bodyPr>
          <a:lstStyle/>
          <a:p>
            <a:pPr algn="l">
              <a:lnSpc>
                <a:spcPct val="100000"/>
              </a:lnSpc>
            </a:pPr>
            <a:r>
              <a:rPr sz="900" b="0" i="0">
                <a:solidFill>
                  <a:srgbClr val="666666"/>
                </a:solidFill>
                <a:latin typeface="Calibri"/>
                <a:ea typeface="Calibri"/>
                <a:cs typeface="Calibri"/>
              </a:rPr>
              <a:t>Le classement par agence ou par chargé, avec l'écart au mois précédent.</a:t>
            </a:r>
          </a:p>
        </p:txBody>
      </p:sp>
      <p:sp>
        <p:nvSpPr>
          <p:cNvPr id="53" name="Oval 52"/>
          <p:cNvSpPr/>
          <p:nvPr/>
        </p:nvSpPr>
        <p:spPr>
          <a:xfrm>
            <a:off x="5349240" y="3995928"/>
            <a:ext cx="274320" cy="274320"/>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5349240" y="3995928"/>
            <a:ext cx="274320" cy="274320"/>
          </a:xfrm>
          <a:prstGeom prst="rect">
            <a:avLst/>
          </a:prstGeom>
          <a:noFill/>
        </p:spPr>
        <p:txBody>
          <a:bodyPr wrap="square" lIns="0" rIns="0" tIns="0" bIns="0" anchor="ctr">
            <a:spAutoFit/>
          </a:bodyPr>
          <a:lstStyle/>
          <a:p>
            <a:pPr algn="ctr"/>
            <a:r>
              <a:rPr sz="1000" b="1" i="0">
                <a:solidFill>
                  <a:srgbClr val="FFFFFF"/>
                </a:solidFill>
                <a:latin typeface="Calibri"/>
                <a:ea typeface="Calibri"/>
                <a:cs typeface="Calibri"/>
              </a:rPr>
              <a:t>5</a:t>
            </a:r>
          </a:p>
        </p:txBody>
      </p:sp>
      <p:sp>
        <p:nvSpPr>
          <p:cNvPr id="55" name="TextBox 54"/>
          <p:cNvSpPr txBox="1"/>
          <p:nvPr/>
        </p:nvSpPr>
        <p:spPr>
          <a:xfrm>
            <a:off x="5742432" y="3950208"/>
            <a:ext cx="3035808" cy="256032"/>
          </a:xfrm>
          <a:prstGeom prst="rect">
            <a:avLst/>
          </a:prstGeom>
          <a:noFill/>
        </p:spPr>
        <p:txBody>
          <a:bodyPr wrap="square" lIns="0" rIns="0" tIns="0" bIns="0" anchor="ctr">
            <a:spAutoFit/>
          </a:bodyPr>
          <a:lstStyle/>
          <a:p>
            <a:pPr algn="l"/>
            <a:r>
              <a:rPr sz="1050" b="1" i="0">
                <a:solidFill>
                  <a:srgbClr val="1B2A4A"/>
                </a:solidFill>
                <a:latin typeface="Calibri"/>
                <a:ea typeface="Calibri"/>
                <a:cs typeface="Calibri"/>
              </a:rPr>
              <a:t>Exports</a:t>
            </a:r>
          </a:p>
        </p:txBody>
      </p:sp>
      <p:sp>
        <p:nvSpPr>
          <p:cNvPr id="56" name="TextBox 55"/>
          <p:cNvSpPr txBox="1"/>
          <p:nvPr/>
        </p:nvSpPr>
        <p:spPr>
          <a:xfrm>
            <a:off x="5742432" y="4206240"/>
            <a:ext cx="3035808" cy="411480"/>
          </a:xfrm>
          <a:prstGeom prst="rect">
            <a:avLst/>
          </a:prstGeom>
          <a:noFill/>
        </p:spPr>
        <p:txBody>
          <a:bodyPr wrap="square" lIns="0" rIns="0" tIns="0" bIns="0" anchor="t">
            <a:spAutoFit/>
          </a:bodyPr>
          <a:lstStyle/>
          <a:p>
            <a:pPr algn="l">
              <a:lnSpc>
                <a:spcPct val="100000"/>
              </a:lnSpc>
            </a:pPr>
            <a:r>
              <a:rPr sz="900" b="0" i="0">
                <a:solidFill>
                  <a:srgbClr val="666666"/>
                </a:solidFill>
                <a:latin typeface="Calibri"/>
                <a:ea typeface="Calibri"/>
                <a:cs typeface="Calibri"/>
              </a:rPr>
              <a:t>La liste nominative des dossiers concernés, au format tableur.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stCondLst>
                      <p:childTnLst>
                        <p:par>
                          <p:cTn id="7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5"/>
                                        </p:tgtEl>
                                        <p:attrNameLst>
                                          <p:attrName>style.visibility</p:attrName>
                                        </p:attrNameLst>
                                      </p:cBhvr>
                                      <p:to>
                                        <p:strVal val="visible"/>
                                      </p:to>
                                    </p:set>
                                    <p:animEffect transition="in" filter="fade">
                                      <p:cBhvr>
                                        <p:cTn id="5" dur="450"/>
                                        <p:tgtEl>
                                          <p:spTgt spid="15"/>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6"/>
                                        </p:tgtEl>
                                        <p:attrNameLst>
                                          <p:attrName>style.visibility</p:attrName>
                                        </p:attrNameLst>
                                      </p:cBhvr>
                                      <p:to>
                                        <p:strVal val="visible"/>
                                      </p:to>
                                    </p:set>
                                    <p:animEffect transition="in" filter="fade">
                                      <p:cBhvr>
                                        <p:cTn id="8" dur="450"/>
                                        <p:tgtEl>
                                          <p:spTgt spid="16"/>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450"/>
                                        <p:tgtEl>
                                          <p:spTgt spid="17"/>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450"/>
                                        <p:tgtEl>
                                          <p:spTgt spid="18"/>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50"/>
                                        <p:tgtEl>
                                          <p:spTgt spid="19"/>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450"/>
                                        <p:tgtEl>
                                          <p:spTgt spid="20"/>
                                        </p:tgtEl>
                                      </p:cBhvr>
                                    </p:animEffect>
                                  </p:childTnLst>
                                </p:cTn>
                              </p:par>
                              <p:par>
                                <p:cTn id="21" presetID="10" presetClass="entr" presetSubtype="0" fill="hold" grpId="0" nodeType="withEffect">
                                  <p:stCondLst>
                                    <p:cond delay="72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450"/>
                                        <p:tgtEl>
                                          <p:spTgt spid="21"/>
                                        </p:tgtEl>
                                      </p:cBhvr>
                                    </p:animEffect>
                                  </p:childTnLst>
                                </p:cTn>
                              </p:par>
                              <p:par>
                                <p:cTn id="24" presetID="10" presetClass="entr" presetSubtype="0" fill="hold" grpId="0" nodeType="withEffect">
                                  <p:stCondLst>
                                    <p:cond delay="84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450"/>
                                        <p:tgtEl>
                                          <p:spTgt spid="22"/>
                                        </p:tgtEl>
                                      </p:cBhvr>
                                    </p:animEffect>
                                  </p:childTnLst>
                                </p:cTn>
                              </p:par>
                              <p:par>
                                <p:cTn id="27" presetID="10" presetClass="entr" presetSubtype="0" fill="hold" grpId="0" nodeType="withEffect">
                                  <p:stCondLst>
                                    <p:cond delay="960"/>
                                  </p:stCondLst>
                                  <p:childTnLst>
                                    <p:set>
                                      <p:cBhvr>
                                        <p:cTn id="28" dur="1" fill="hold">
                                          <p:stCondLst>
                                            <p:cond delay="0"/>
                                          </p:stCondLst>
                                        </p:cTn>
                                        <p:tgtEl>
                                          <p:spTgt spid="23"/>
                                        </p:tgtEl>
                                        <p:attrNameLst>
                                          <p:attrName>style.visibility</p:attrName>
                                        </p:attrNameLst>
                                      </p:cBhvr>
                                      <p:to>
                                        <p:strVal val="visible"/>
                                      </p:to>
                                    </p:set>
                                    <p:animEffect transition="in" filter="fade">
                                      <p:cBhvr>
                                        <p:cTn id="29" dur="450"/>
                                        <p:tgtEl>
                                          <p:spTgt spid="23"/>
                                        </p:tgtEl>
                                      </p:cBhvr>
                                    </p:animEffect>
                                  </p:childTnLst>
                                </p:cTn>
                              </p:par>
                              <p:par>
                                <p:cTn id="30" presetID="10" presetClass="entr" presetSubtype="0" fill="hold" grpId="0" nodeType="withEffect">
                                  <p:stCondLst>
                                    <p:cond delay="108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450"/>
                                        <p:tgtEl>
                                          <p:spTgt spid="24"/>
                                        </p:tgtEl>
                                      </p:cBhvr>
                                    </p:animEffect>
                                  </p:childTnLst>
                                </p:cTn>
                              </p:par>
                              <p:par>
                                <p:cTn id="33" presetID="10" presetClass="entr" presetSubtype="0" fill="hold" grpId="0" nodeType="withEffect">
                                  <p:stCondLst>
                                    <p:cond delay="120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450"/>
                                        <p:tgtEl>
                                          <p:spTgt spid="25"/>
                                        </p:tgtEl>
                                      </p:cBhvr>
                                    </p:animEffect>
                                  </p:childTnLst>
                                </p:cTn>
                              </p:par>
                              <p:par>
                                <p:cTn id="36" presetID="10" presetClass="entr" presetSubtype="0" fill="hold" grpId="0" nodeType="withEffect">
                                  <p:stCondLst>
                                    <p:cond delay="1320"/>
                                  </p:stCondLst>
                                  <p:childTnLst>
                                    <p:set>
                                      <p:cBhvr>
                                        <p:cTn id="37" dur="1" fill="hold">
                                          <p:stCondLst>
                                            <p:cond delay="0"/>
                                          </p:stCondLst>
                                        </p:cTn>
                                        <p:tgtEl>
                                          <p:spTgt spid="26"/>
                                        </p:tgtEl>
                                        <p:attrNameLst>
                                          <p:attrName>style.visibility</p:attrName>
                                        </p:attrNameLst>
                                      </p:cBhvr>
                                      <p:to>
                                        <p:strVal val="visible"/>
                                      </p:to>
                                    </p:set>
                                    <p:animEffect transition="in" filter="fade">
                                      <p:cBhvr>
                                        <p:cTn id="38" dur="450"/>
                                        <p:tgtEl>
                                          <p:spTgt spid="26"/>
                                        </p:tgtEl>
                                      </p:cBhvr>
                                    </p:animEffect>
                                  </p:childTnLst>
                                </p:cTn>
                              </p:par>
                              <p:par>
                                <p:cTn id="39" presetID="10" presetClass="entr" presetSubtype="0" fill="hold" grpId="0" nodeType="withEffect">
                                  <p:stCondLst>
                                    <p:cond delay="144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450"/>
                                        <p:tgtEl>
                                          <p:spTgt spid="27"/>
                                        </p:tgtEl>
                                      </p:cBhvr>
                                    </p:animEffect>
                                  </p:childTnLst>
                                </p:cTn>
                              </p:par>
                              <p:par>
                                <p:cTn id="42" presetID="10" presetClass="entr" presetSubtype="0" fill="hold" grpId="0" nodeType="withEffect">
                                  <p:stCondLst>
                                    <p:cond delay="1560"/>
                                  </p:stCondLst>
                                  <p:childTnLst>
                                    <p:set>
                                      <p:cBhvr>
                                        <p:cTn id="43" dur="1" fill="hold">
                                          <p:stCondLst>
                                            <p:cond delay="0"/>
                                          </p:stCondLst>
                                        </p:cTn>
                                        <p:tgtEl>
                                          <p:spTgt spid="28"/>
                                        </p:tgtEl>
                                        <p:attrNameLst>
                                          <p:attrName>style.visibility</p:attrName>
                                        </p:attrNameLst>
                                      </p:cBhvr>
                                      <p:to>
                                        <p:strVal val="visible"/>
                                      </p:to>
                                    </p:set>
                                    <p:animEffect transition="in" filter="fade">
                                      <p:cBhvr>
                                        <p:cTn id="44" dur="450"/>
                                        <p:tgtEl>
                                          <p:spTgt spid="28"/>
                                        </p:tgtEl>
                                      </p:cBhvr>
                                    </p:animEffect>
                                  </p:childTnLst>
                                </p:cTn>
                              </p:par>
                              <p:par>
                                <p:cTn id="45" presetID="10" presetClass="entr" presetSubtype="0" fill="hold" grpId="0" nodeType="withEffect">
                                  <p:stCondLst>
                                    <p:cond delay="168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50"/>
                                        <p:tgtEl>
                                          <p:spTgt spid="29"/>
                                        </p:tgtEl>
                                      </p:cBhvr>
                                    </p:animEffect>
                                  </p:childTnLst>
                                </p:cTn>
                              </p:par>
                              <p:par>
                                <p:cTn id="48" presetID="10" presetClass="entr" presetSubtype="0" fill="hold" grpId="0" nodeType="withEffect">
                                  <p:stCondLst>
                                    <p:cond delay="180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50"/>
                                        <p:tgtEl>
                                          <p:spTgt spid="30"/>
                                        </p:tgtEl>
                                      </p:cBhvr>
                                    </p:animEffect>
                                  </p:childTnLst>
                                </p:cTn>
                              </p:par>
                              <p:par>
                                <p:cTn id="51" presetID="10" presetClass="entr" presetSubtype="0" fill="hold" grpId="0" nodeType="withEffect">
                                  <p:stCondLst>
                                    <p:cond delay="192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450"/>
                                        <p:tgtEl>
                                          <p:spTgt spid="31"/>
                                        </p:tgtEl>
                                      </p:cBhvr>
                                    </p:animEffect>
                                  </p:childTnLst>
                                </p:cTn>
                              </p:par>
                              <p:par>
                                <p:cTn id="54" presetID="10" presetClass="entr" presetSubtype="0" fill="hold" grpId="0" nodeType="withEffect">
                                  <p:stCondLst>
                                    <p:cond delay="2040"/>
                                  </p:stCondLst>
                                  <p:childTnLst>
                                    <p:set>
                                      <p:cBhvr>
                                        <p:cTn id="55" dur="1" fill="hold">
                                          <p:stCondLst>
                                            <p:cond delay="0"/>
                                          </p:stCondLst>
                                        </p:cTn>
                                        <p:tgtEl>
                                          <p:spTgt spid="32"/>
                                        </p:tgtEl>
                                        <p:attrNameLst>
                                          <p:attrName>style.visibility</p:attrName>
                                        </p:attrNameLst>
                                      </p:cBhvr>
                                      <p:to>
                                        <p:strVal val="visible"/>
                                      </p:to>
                                    </p:set>
                                    <p:animEffect transition="in" filter="fade">
                                      <p:cBhvr>
                                        <p:cTn id="56" dur="450"/>
                                        <p:tgtEl>
                                          <p:spTgt spid="32"/>
                                        </p:tgtEl>
                                      </p:cBhvr>
                                    </p:animEffect>
                                  </p:childTnLst>
                                </p:cTn>
                              </p:par>
                              <p:par>
                                <p:cTn id="57" presetID="10" presetClass="entr" presetSubtype="0" fill="hold" grpId="0" nodeType="withEffect">
                                  <p:stCondLst>
                                    <p:cond delay="216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450"/>
                                        <p:tgtEl>
                                          <p:spTgt spid="33"/>
                                        </p:tgtEl>
                                      </p:cBhvr>
                                    </p:animEffect>
                                  </p:childTnLst>
                                </p:cTn>
                              </p:par>
                              <p:par>
                                <p:cTn id="60" presetID="10" presetClass="entr" presetSubtype="0" fill="hold" grpId="0" nodeType="withEffect">
                                  <p:stCondLst>
                                    <p:cond delay="2280"/>
                                  </p:stCondLst>
                                  <p:childTnLst>
                                    <p:set>
                                      <p:cBhvr>
                                        <p:cTn id="61" dur="1" fill="hold">
                                          <p:stCondLst>
                                            <p:cond delay="0"/>
                                          </p:stCondLst>
                                        </p:cTn>
                                        <p:tgtEl>
                                          <p:spTgt spid="34"/>
                                        </p:tgtEl>
                                        <p:attrNameLst>
                                          <p:attrName>style.visibility</p:attrName>
                                        </p:attrNameLst>
                                      </p:cBhvr>
                                      <p:to>
                                        <p:strVal val="visible"/>
                                      </p:to>
                                    </p:set>
                                    <p:animEffect transition="in" filter="fade">
                                      <p:cBhvr>
                                        <p:cTn id="62" dur="450"/>
                                        <p:tgtEl>
                                          <p:spTgt spid="34"/>
                                        </p:tgtEl>
                                      </p:cBhvr>
                                    </p:animEffect>
                                  </p:childTnLst>
                                </p:cTn>
                              </p:par>
                              <p:par>
                                <p:cTn id="63" presetID="10" presetClass="entr" presetSubtype="0" fill="hold" grpId="0" nodeType="withEffect">
                                  <p:stCondLst>
                                    <p:cond delay="240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450"/>
                                        <p:tgtEl>
                                          <p:spTgt spid="35"/>
                                        </p:tgtEl>
                                      </p:cBhvr>
                                    </p:animEffect>
                                  </p:childTnLst>
                                </p:cTn>
                              </p:par>
                              <p:par>
                                <p:cTn id="66" presetID="10" presetClass="entr" presetSubtype="0" fill="hold" grpId="0" nodeType="withEffect">
                                  <p:stCondLst>
                                    <p:cond delay="2520"/>
                                  </p:stCondLst>
                                  <p:childTnLst>
                                    <p:set>
                                      <p:cBhvr>
                                        <p:cTn id="67" dur="1" fill="hold">
                                          <p:stCondLst>
                                            <p:cond delay="0"/>
                                          </p:stCondLst>
                                        </p:cTn>
                                        <p:tgtEl>
                                          <p:spTgt spid="36"/>
                                        </p:tgtEl>
                                        <p:attrNameLst>
                                          <p:attrName>style.visibility</p:attrName>
                                        </p:attrNameLst>
                                      </p:cBhvr>
                                      <p:to>
                                        <p:strVal val="visible"/>
                                      </p:to>
                                    </p:set>
                                    <p:animEffect transition="in" filter="fade">
                                      <p:cBhvr>
                                        <p:cTn id="68" dur="450"/>
                                        <p:tgtEl>
                                          <p:spTgt spid="36"/>
                                        </p:tgtEl>
                                      </p:cBhvr>
                                    </p:animEffect>
                                  </p:childTnLst>
                                </p:cTn>
                              </p:par>
                            </p:childTnLst>
                          </p:cTn>
                        </p:par>
                      </p:childTnLst>
                    </p:cTn>
                  </p:par>
                  <p:par>
                    <p:cTn id="83" fill="hold">
                      <p:stCondLst>
                        <p:cond delay="indefinite"/>
                      </p:stCondLst>
                      <p:childTnLst>
                        <p:par>
                          <p:cTn id="84"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fade">
                                      <p:cBhvr>
                                        <p:cTn id="73" dur="450"/>
                                        <p:tgtEl>
                                          <p:spTgt spid="37"/>
                                        </p:tgtEl>
                                      </p:cBhvr>
                                    </p:animEffect>
                                  </p:childTnLst>
                                </p:cTn>
                              </p:par>
                              <p:par>
                                <p:cTn id="74" presetID="10" presetClass="entr" presetSubtype="0" fill="hold" grpId="0" nodeType="withEffect">
                                  <p:stCondLst>
                                    <p:cond delay="120"/>
                                  </p:stCondLst>
                                  <p:childTnLst>
                                    <p:set>
                                      <p:cBhvr>
                                        <p:cTn id="75" dur="1" fill="hold">
                                          <p:stCondLst>
                                            <p:cond delay="0"/>
                                          </p:stCondLst>
                                        </p:cTn>
                                        <p:tgtEl>
                                          <p:spTgt spid="38"/>
                                        </p:tgtEl>
                                        <p:attrNameLst>
                                          <p:attrName>style.visibility</p:attrName>
                                        </p:attrNameLst>
                                      </p:cBhvr>
                                      <p:to>
                                        <p:strVal val="visible"/>
                                      </p:to>
                                    </p:set>
                                    <p:animEffect transition="in" filter="fade">
                                      <p:cBhvr>
                                        <p:cTn id="76" dur="450"/>
                                        <p:tgtEl>
                                          <p:spTgt spid="38"/>
                                        </p:tgtEl>
                                      </p:cBhvr>
                                    </p:animEffect>
                                  </p:childTnLst>
                                </p:cTn>
                              </p:par>
                              <p:par>
                                <p:cTn id="77" presetID="10" presetClass="entr" presetSubtype="0" fill="hold" grpId="0" nodeType="withEffect">
                                  <p:stCondLst>
                                    <p:cond delay="240"/>
                                  </p:stCondLst>
                                  <p:childTnLst>
                                    <p:set>
                                      <p:cBhvr>
                                        <p:cTn id="78" dur="1" fill="hold">
                                          <p:stCondLst>
                                            <p:cond delay="0"/>
                                          </p:stCondLst>
                                        </p:cTn>
                                        <p:tgtEl>
                                          <p:spTgt spid="39"/>
                                        </p:tgtEl>
                                        <p:attrNameLst>
                                          <p:attrName>style.visibility</p:attrName>
                                        </p:attrNameLst>
                                      </p:cBhvr>
                                      <p:to>
                                        <p:strVal val="visible"/>
                                      </p:to>
                                    </p:set>
                                    <p:animEffect transition="in" filter="fade">
                                      <p:cBhvr>
                                        <p:cTn id="79" dur="450"/>
                                        <p:tgtEl>
                                          <p:spTgt spid="39"/>
                                        </p:tgtEl>
                                      </p:cBhvr>
                                    </p:animEffect>
                                  </p:childTnLst>
                                </p:cTn>
                              </p:par>
                              <p:par>
                                <p:cTn id="80" presetID="10" presetClass="entr" presetSubtype="0" fill="hold" grpId="0" nodeType="withEffect">
                                  <p:stCondLst>
                                    <p:cond delay="360"/>
                                  </p:stCondLst>
                                  <p:childTnLst>
                                    <p:set>
                                      <p:cBhvr>
                                        <p:cTn id="81" dur="1" fill="hold">
                                          <p:stCondLst>
                                            <p:cond delay="0"/>
                                          </p:stCondLst>
                                        </p:cTn>
                                        <p:tgtEl>
                                          <p:spTgt spid="40"/>
                                        </p:tgtEl>
                                        <p:attrNameLst>
                                          <p:attrName>style.visibility</p:attrName>
                                        </p:attrNameLst>
                                      </p:cBhvr>
                                      <p:to>
                                        <p:strVal val="visible"/>
                                      </p:to>
                                    </p:set>
                                    <p:animEffect transition="in" filter="fade">
                                      <p:cBhvr>
                                        <p:cTn id="82" dur="450"/>
                                        <p:tgtEl>
                                          <p:spTgt spid="40"/>
                                        </p:tgtEl>
                                      </p:cBhvr>
                                    </p:animEffect>
                                  </p:childTnLst>
                                </p:cTn>
                              </p:par>
                            </p:childTnLst>
                          </p:cTn>
                        </p:par>
                      </p:childTnLst>
                    </p:cTn>
                  </p:par>
                  <p:par>
                    <p:cTn id="97" fill="hold">
                      <p:stCondLst>
                        <p:cond delay="indefinite"/>
                      </p:stCondLst>
                      <p:childTnLst>
                        <p:par>
                          <p:cTn id="98"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41"/>
                                        </p:tgtEl>
                                        <p:attrNameLst>
                                          <p:attrName>style.visibility</p:attrName>
                                        </p:attrNameLst>
                                      </p:cBhvr>
                                      <p:to>
                                        <p:strVal val="visible"/>
                                      </p:to>
                                    </p:set>
                                    <p:animEffect transition="in" filter="fade">
                                      <p:cBhvr>
                                        <p:cTn id="87" dur="450"/>
                                        <p:tgtEl>
                                          <p:spTgt spid="41"/>
                                        </p:tgtEl>
                                      </p:cBhvr>
                                    </p:animEffect>
                                  </p:childTnLst>
                                </p:cTn>
                              </p:par>
                              <p:par>
                                <p:cTn id="88" presetID="10" presetClass="entr" presetSubtype="0" fill="hold" grpId="0" nodeType="withEffect">
                                  <p:stCondLst>
                                    <p:cond delay="120"/>
                                  </p:stCondLst>
                                  <p:childTnLst>
                                    <p:set>
                                      <p:cBhvr>
                                        <p:cTn id="89" dur="1" fill="hold">
                                          <p:stCondLst>
                                            <p:cond delay="0"/>
                                          </p:stCondLst>
                                        </p:cTn>
                                        <p:tgtEl>
                                          <p:spTgt spid="42"/>
                                        </p:tgtEl>
                                        <p:attrNameLst>
                                          <p:attrName>style.visibility</p:attrName>
                                        </p:attrNameLst>
                                      </p:cBhvr>
                                      <p:to>
                                        <p:strVal val="visible"/>
                                      </p:to>
                                    </p:set>
                                    <p:animEffect transition="in" filter="fade">
                                      <p:cBhvr>
                                        <p:cTn id="90" dur="450"/>
                                        <p:tgtEl>
                                          <p:spTgt spid="42"/>
                                        </p:tgtEl>
                                      </p:cBhvr>
                                    </p:animEffect>
                                  </p:childTnLst>
                                </p:cTn>
                              </p:par>
                              <p:par>
                                <p:cTn id="91" presetID="10" presetClass="entr" presetSubtype="0" fill="hold" grpId="0" nodeType="withEffect">
                                  <p:stCondLst>
                                    <p:cond delay="240"/>
                                  </p:stCondLst>
                                  <p:childTnLst>
                                    <p:set>
                                      <p:cBhvr>
                                        <p:cTn id="92" dur="1" fill="hold">
                                          <p:stCondLst>
                                            <p:cond delay="0"/>
                                          </p:stCondLst>
                                        </p:cTn>
                                        <p:tgtEl>
                                          <p:spTgt spid="43"/>
                                        </p:tgtEl>
                                        <p:attrNameLst>
                                          <p:attrName>style.visibility</p:attrName>
                                        </p:attrNameLst>
                                      </p:cBhvr>
                                      <p:to>
                                        <p:strVal val="visible"/>
                                      </p:to>
                                    </p:set>
                                    <p:animEffect transition="in" filter="fade">
                                      <p:cBhvr>
                                        <p:cTn id="93" dur="450"/>
                                        <p:tgtEl>
                                          <p:spTgt spid="43"/>
                                        </p:tgtEl>
                                      </p:cBhvr>
                                    </p:animEffect>
                                  </p:childTnLst>
                                </p:cTn>
                              </p:par>
                              <p:par>
                                <p:cTn id="94" presetID="10" presetClass="entr" presetSubtype="0" fill="hold" grpId="0" nodeType="withEffect">
                                  <p:stCondLst>
                                    <p:cond delay="360"/>
                                  </p:stCondLst>
                                  <p:childTnLst>
                                    <p:set>
                                      <p:cBhvr>
                                        <p:cTn id="95" dur="1" fill="hold">
                                          <p:stCondLst>
                                            <p:cond delay="0"/>
                                          </p:stCondLst>
                                        </p:cTn>
                                        <p:tgtEl>
                                          <p:spTgt spid="44"/>
                                        </p:tgtEl>
                                        <p:attrNameLst>
                                          <p:attrName>style.visibility</p:attrName>
                                        </p:attrNameLst>
                                      </p:cBhvr>
                                      <p:to>
                                        <p:strVal val="visible"/>
                                      </p:to>
                                    </p:set>
                                    <p:animEffect transition="in" filter="fade">
                                      <p:cBhvr>
                                        <p:cTn id="96" dur="450"/>
                                        <p:tgtEl>
                                          <p:spTgt spid="44"/>
                                        </p:tgtEl>
                                      </p:cBhvr>
                                    </p:animEffect>
                                  </p:childTnLst>
                                </p:cTn>
                              </p:par>
                            </p:childTnLst>
                          </p:cTn>
                        </p:par>
                      </p:childTnLst>
                    </p:cTn>
                  </p:par>
                  <p:par>
                    <p:cTn id="111" fill="hold">
                      <p:stCondLst>
                        <p:cond delay="indefinite"/>
                      </p:stCondLst>
                      <p:childTnLst>
                        <p:par>
                          <p:cTn id="112" fill="hold">
                            <p:stCondLst>
                              <p:cond delay="0"/>
                            </p:stCondLst>
                            <p:childTnLst>
                              <p:par>
                                <p:cTn id="99" presetID="10" presetClass="entr" presetSubtype="0"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fade">
                                      <p:cBhvr>
                                        <p:cTn id="101" dur="450"/>
                                        <p:tgtEl>
                                          <p:spTgt spid="45"/>
                                        </p:tgtEl>
                                      </p:cBhvr>
                                    </p:animEffect>
                                  </p:childTnLst>
                                </p:cTn>
                              </p:par>
                              <p:par>
                                <p:cTn id="102" presetID="10" presetClass="entr" presetSubtype="0" fill="hold" grpId="0" nodeType="withEffect">
                                  <p:stCondLst>
                                    <p:cond delay="120"/>
                                  </p:stCondLst>
                                  <p:childTnLst>
                                    <p:set>
                                      <p:cBhvr>
                                        <p:cTn id="103" dur="1" fill="hold">
                                          <p:stCondLst>
                                            <p:cond delay="0"/>
                                          </p:stCondLst>
                                        </p:cTn>
                                        <p:tgtEl>
                                          <p:spTgt spid="46"/>
                                        </p:tgtEl>
                                        <p:attrNameLst>
                                          <p:attrName>style.visibility</p:attrName>
                                        </p:attrNameLst>
                                      </p:cBhvr>
                                      <p:to>
                                        <p:strVal val="visible"/>
                                      </p:to>
                                    </p:set>
                                    <p:animEffect transition="in" filter="fade">
                                      <p:cBhvr>
                                        <p:cTn id="104" dur="450"/>
                                        <p:tgtEl>
                                          <p:spTgt spid="46"/>
                                        </p:tgtEl>
                                      </p:cBhvr>
                                    </p:animEffect>
                                  </p:childTnLst>
                                </p:cTn>
                              </p:par>
                              <p:par>
                                <p:cTn id="105" presetID="10" presetClass="entr" presetSubtype="0" fill="hold" grpId="0" nodeType="withEffect">
                                  <p:stCondLst>
                                    <p:cond delay="240"/>
                                  </p:stCondLst>
                                  <p:childTnLst>
                                    <p:set>
                                      <p:cBhvr>
                                        <p:cTn id="106" dur="1" fill="hold">
                                          <p:stCondLst>
                                            <p:cond delay="0"/>
                                          </p:stCondLst>
                                        </p:cTn>
                                        <p:tgtEl>
                                          <p:spTgt spid="47"/>
                                        </p:tgtEl>
                                        <p:attrNameLst>
                                          <p:attrName>style.visibility</p:attrName>
                                        </p:attrNameLst>
                                      </p:cBhvr>
                                      <p:to>
                                        <p:strVal val="visible"/>
                                      </p:to>
                                    </p:set>
                                    <p:animEffect transition="in" filter="fade">
                                      <p:cBhvr>
                                        <p:cTn id="107" dur="450"/>
                                        <p:tgtEl>
                                          <p:spTgt spid="47"/>
                                        </p:tgtEl>
                                      </p:cBhvr>
                                    </p:animEffect>
                                  </p:childTnLst>
                                </p:cTn>
                              </p:par>
                              <p:par>
                                <p:cTn id="108" presetID="10" presetClass="entr" presetSubtype="0" fill="hold" grpId="0" nodeType="withEffect">
                                  <p:stCondLst>
                                    <p:cond delay="360"/>
                                  </p:stCondLst>
                                  <p:childTnLst>
                                    <p:set>
                                      <p:cBhvr>
                                        <p:cTn id="109" dur="1" fill="hold">
                                          <p:stCondLst>
                                            <p:cond delay="0"/>
                                          </p:stCondLst>
                                        </p:cTn>
                                        <p:tgtEl>
                                          <p:spTgt spid="48"/>
                                        </p:tgtEl>
                                        <p:attrNameLst>
                                          <p:attrName>style.visibility</p:attrName>
                                        </p:attrNameLst>
                                      </p:cBhvr>
                                      <p:to>
                                        <p:strVal val="visible"/>
                                      </p:to>
                                    </p:set>
                                    <p:animEffect transition="in" filter="fade">
                                      <p:cBhvr>
                                        <p:cTn id="110" dur="450"/>
                                        <p:tgtEl>
                                          <p:spTgt spid="48"/>
                                        </p:tgtEl>
                                      </p:cBhvr>
                                    </p:animEffect>
                                  </p:childTnLst>
                                </p:cTn>
                              </p:par>
                            </p:childTnLst>
                          </p:cTn>
                        </p:par>
                      </p:childTnLst>
                    </p:cTn>
                  </p:par>
                  <p:par>
                    <p:cTn id="125" fill="hold">
                      <p:stCondLst>
                        <p:cond delay="indefinite"/>
                      </p:stCondLst>
                      <p:childTnLst>
                        <p:par>
                          <p:cTn id="126" fill="hold">
                            <p:stCondLst>
                              <p:cond delay="0"/>
                            </p:stCondLst>
                            <p:childTnLst>
                              <p:par>
                                <p:cTn id="113" presetID="10" presetClass="entr" presetSubtype="0" fill="hold" grpId="0" nodeType="clickEffect">
                                  <p:stCondLst>
                                    <p:cond delay="0"/>
                                  </p:stCondLst>
                                  <p:childTnLst>
                                    <p:set>
                                      <p:cBhvr>
                                        <p:cTn id="114" dur="1" fill="hold">
                                          <p:stCondLst>
                                            <p:cond delay="0"/>
                                          </p:stCondLst>
                                        </p:cTn>
                                        <p:tgtEl>
                                          <p:spTgt spid="49"/>
                                        </p:tgtEl>
                                        <p:attrNameLst>
                                          <p:attrName>style.visibility</p:attrName>
                                        </p:attrNameLst>
                                      </p:cBhvr>
                                      <p:to>
                                        <p:strVal val="visible"/>
                                      </p:to>
                                    </p:set>
                                    <p:animEffect transition="in" filter="fade">
                                      <p:cBhvr>
                                        <p:cTn id="115" dur="450"/>
                                        <p:tgtEl>
                                          <p:spTgt spid="49"/>
                                        </p:tgtEl>
                                      </p:cBhvr>
                                    </p:animEffect>
                                  </p:childTnLst>
                                </p:cTn>
                              </p:par>
                              <p:par>
                                <p:cTn id="116" presetID="10" presetClass="entr" presetSubtype="0" fill="hold" grpId="0" nodeType="withEffect">
                                  <p:stCondLst>
                                    <p:cond delay="120"/>
                                  </p:stCondLst>
                                  <p:childTnLst>
                                    <p:set>
                                      <p:cBhvr>
                                        <p:cTn id="117" dur="1" fill="hold">
                                          <p:stCondLst>
                                            <p:cond delay="0"/>
                                          </p:stCondLst>
                                        </p:cTn>
                                        <p:tgtEl>
                                          <p:spTgt spid="50"/>
                                        </p:tgtEl>
                                        <p:attrNameLst>
                                          <p:attrName>style.visibility</p:attrName>
                                        </p:attrNameLst>
                                      </p:cBhvr>
                                      <p:to>
                                        <p:strVal val="visible"/>
                                      </p:to>
                                    </p:set>
                                    <p:animEffect transition="in" filter="fade">
                                      <p:cBhvr>
                                        <p:cTn id="118" dur="450"/>
                                        <p:tgtEl>
                                          <p:spTgt spid="50"/>
                                        </p:tgtEl>
                                      </p:cBhvr>
                                    </p:animEffect>
                                  </p:childTnLst>
                                </p:cTn>
                              </p:par>
                              <p:par>
                                <p:cTn id="119" presetID="10" presetClass="entr" presetSubtype="0" fill="hold" grpId="0" nodeType="withEffect">
                                  <p:stCondLst>
                                    <p:cond delay="240"/>
                                  </p:stCondLst>
                                  <p:childTnLst>
                                    <p:set>
                                      <p:cBhvr>
                                        <p:cTn id="120" dur="1" fill="hold">
                                          <p:stCondLst>
                                            <p:cond delay="0"/>
                                          </p:stCondLst>
                                        </p:cTn>
                                        <p:tgtEl>
                                          <p:spTgt spid="51"/>
                                        </p:tgtEl>
                                        <p:attrNameLst>
                                          <p:attrName>style.visibility</p:attrName>
                                        </p:attrNameLst>
                                      </p:cBhvr>
                                      <p:to>
                                        <p:strVal val="visible"/>
                                      </p:to>
                                    </p:set>
                                    <p:animEffect transition="in" filter="fade">
                                      <p:cBhvr>
                                        <p:cTn id="121" dur="450"/>
                                        <p:tgtEl>
                                          <p:spTgt spid="51"/>
                                        </p:tgtEl>
                                      </p:cBhvr>
                                    </p:animEffect>
                                  </p:childTnLst>
                                </p:cTn>
                              </p:par>
                              <p:par>
                                <p:cTn id="122" presetID="10" presetClass="entr" presetSubtype="0" fill="hold" grpId="0" nodeType="withEffect">
                                  <p:stCondLst>
                                    <p:cond delay="360"/>
                                  </p:stCondLst>
                                  <p:childTnLst>
                                    <p:set>
                                      <p:cBhvr>
                                        <p:cTn id="123" dur="1" fill="hold">
                                          <p:stCondLst>
                                            <p:cond delay="0"/>
                                          </p:stCondLst>
                                        </p:cTn>
                                        <p:tgtEl>
                                          <p:spTgt spid="52"/>
                                        </p:tgtEl>
                                        <p:attrNameLst>
                                          <p:attrName>style.visibility</p:attrName>
                                        </p:attrNameLst>
                                      </p:cBhvr>
                                      <p:to>
                                        <p:strVal val="visible"/>
                                      </p:to>
                                    </p:set>
                                    <p:animEffect transition="in" filter="fade">
                                      <p:cBhvr>
                                        <p:cTn id="124" dur="450"/>
                                        <p:tgtEl>
                                          <p:spTgt spid="52"/>
                                        </p:tgtEl>
                                      </p:cBhvr>
                                    </p:animEffect>
                                  </p:childTnLst>
                                </p:cTn>
                              </p:par>
                            </p:childTnLst>
                          </p:cTn>
                        </p:par>
                      </p:childTnLst>
                    </p:cTn>
                  </p:par>
                  <p:par>
                    <p:cTn id="139" fill="hold">
                      <p:stCondLst>
                        <p:cond delay="indefinite"/>
                      </p:stCondLst>
                      <p:childTnLst>
                        <p:par>
                          <p:cTn id="140"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53"/>
                                        </p:tgtEl>
                                        <p:attrNameLst>
                                          <p:attrName>style.visibility</p:attrName>
                                        </p:attrNameLst>
                                      </p:cBhvr>
                                      <p:to>
                                        <p:strVal val="visible"/>
                                      </p:to>
                                    </p:set>
                                    <p:animEffect transition="in" filter="fade">
                                      <p:cBhvr>
                                        <p:cTn id="129" dur="450"/>
                                        <p:tgtEl>
                                          <p:spTgt spid="53"/>
                                        </p:tgtEl>
                                      </p:cBhvr>
                                    </p:animEffect>
                                  </p:childTnLst>
                                </p:cTn>
                              </p:par>
                              <p:par>
                                <p:cTn id="130" presetID="10" presetClass="entr" presetSubtype="0" fill="hold" grpId="0" nodeType="withEffect">
                                  <p:stCondLst>
                                    <p:cond delay="120"/>
                                  </p:stCondLst>
                                  <p:childTnLst>
                                    <p:set>
                                      <p:cBhvr>
                                        <p:cTn id="131" dur="1" fill="hold">
                                          <p:stCondLst>
                                            <p:cond delay="0"/>
                                          </p:stCondLst>
                                        </p:cTn>
                                        <p:tgtEl>
                                          <p:spTgt spid="54"/>
                                        </p:tgtEl>
                                        <p:attrNameLst>
                                          <p:attrName>style.visibility</p:attrName>
                                        </p:attrNameLst>
                                      </p:cBhvr>
                                      <p:to>
                                        <p:strVal val="visible"/>
                                      </p:to>
                                    </p:set>
                                    <p:animEffect transition="in" filter="fade">
                                      <p:cBhvr>
                                        <p:cTn id="132" dur="450"/>
                                        <p:tgtEl>
                                          <p:spTgt spid="54"/>
                                        </p:tgtEl>
                                      </p:cBhvr>
                                    </p:animEffect>
                                  </p:childTnLst>
                                </p:cTn>
                              </p:par>
                              <p:par>
                                <p:cTn id="133" presetID="10" presetClass="entr" presetSubtype="0" fill="hold" grpId="0" nodeType="withEffect">
                                  <p:stCondLst>
                                    <p:cond delay="240"/>
                                  </p:stCondLst>
                                  <p:childTnLst>
                                    <p:set>
                                      <p:cBhvr>
                                        <p:cTn id="134" dur="1" fill="hold">
                                          <p:stCondLst>
                                            <p:cond delay="0"/>
                                          </p:stCondLst>
                                        </p:cTn>
                                        <p:tgtEl>
                                          <p:spTgt spid="55"/>
                                        </p:tgtEl>
                                        <p:attrNameLst>
                                          <p:attrName>style.visibility</p:attrName>
                                        </p:attrNameLst>
                                      </p:cBhvr>
                                      <p:to>
                                        <p:strVal val="visible"/>
                                      </p:to>
                                    </p:set>
                                    <p:animEffect transition="in" filter="fade">
                                      <p:cBhvr>
                                        <p:cTn id="135" dur="450"/>
                                        <p:tgtEl>
                                          <p:spTgt spid="55"/>
                                        </p:tgtEl>
                                      </p:cBhvr>
                                    </p:animEffect>
                                  </p:childTnLst>
                                </p:cTn>
                              </p:par>
                              <p:par>
                                <p:cTn id="136" presetID="10" presetClass="entr" presetSubtype="0" fill="hold" grpId="0" nodeType="withEffect">
                                  <p:stCondLst>
                                    <p:cond delay="360"/>
                                  </p:stCondLst>
                                  <p:childTnLst>
                                    <p:set>
                                      <p:cBhvr>
                                        <p:cTn id="137" dur="1" fill="hold">
                                          <p:stCondLst>
                                            <p:cond delay="0"/>
                                          </p:stCondLst>
                                        </p:cTn>
                                        <p:tgtEl>
                                          <p:spTgt spid="56"/>
                                        </p:tgtEl>
                                        <p:attrNameLst>
                                          <p:attrName>style.visibility</p:attrName>
                                        </p:attrNameLst>
                                      </p:cBhvr>
                                      <p:to>
                                        <p:strVal val="visible"/>
                                      </p:to>
                                    </p:set>
                                    <p:animEffect transition="in" filter="fade">
                                      <p:cBhvr>
                                        <p:cTn id="138" dur="45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III.  LIRE LES INDICATEURS KYC</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Freeform 4"/>
          <p:cNvSpPr/>
          <p:nvPr/>
        </p:nvSpPr>
        <p:spPr>
          <a:xfrm>
            <a:off x="398824" y="967113"/>
            <a:ext cx="232141" cy="0"/>
          </a:xfrm>
          <a:custGeom>
            <a:avLst/>
            <a:gdLst/>
            <a:ahLst/>
            <a:cxnLst/>
            <a:rect l="l" t="t" r="r" b="b"/>
            <a:pathLst>
              <a:path w="232141" h="0">
                <a:moveTo>
                  <a:pt x="0" y="0"/>
                </a:moveTo>
                <a:lnTo>
                  <a:pt x="232141"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18641" y="865197"/>
            <a:ext cx="45295" cy="101915"/>
          </a:xfrm>
          <a:prstGeom prst="rect">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9416" y="814240"/>
            <a:ext cx="45295" cy="152873"/>
          </a:xfrm>
          <a:prstGeom prst="rect">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0190" y="763282"/>
            <a:ext cx="45295" cy="203830"/>
          </a:xfrm>
          <a:prstGeom prst="rect">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COMPLÉTUDE ET QUALITÉ : DEUX QUESTIONS DIFFÉRENTES</a:t>
            </a:r>
          </a:p>
        </p:txBody>
      </p:sp>
      <p:sp>
        <p:nvSpPr>
          <p:cNvPr id="10" name="Rectangle 9"/>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3" name="TextBox 12"/>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09 / 20</a:t>
            </a:r>
          </a:p>
        </p:txBody>
      </p:sp>
      <p:sp>
        <p:nvSpPr>
          <p:cNvPr id="14" name="Rounded Rectangle 13"/>
          <p:cNvSpPr/>
          <p:nvPr/>
        </p:nvSpPr>
        <p:spPr>
          <a:xfrm>
            <a:off x="365760" y="1143000"/>
            <a:ext cx="4023360" cy="265176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365760" y="1143000"/>
            <a:ext cx="4023360" cy="2743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Freeform 15"/>
          <p:cNvSpPr/>
          <p:nvPr/>
        </p:nvSpPr>
        <p:spPr>
          <a:xfrm>
            <a:off x="496153" y="1181075"/>
            <a:ext cx="146267" cy="198169"/>
          </a:xfrm>
          <a:custGeom>
            <a:avLst/>
            <a:gdLst/>
            <a:ahLst/>
            <a:cxnLst/>
            <a:rect l="l" t="t" r="r" b="b"/>
            <a:pathLst>
              <a:path w="146267" h="198169">
                <a:moveTo>
                  <a:pt x="0" y="0"/>
                </a:moveTo>
                <a:lnTo>
                  <a:pt x="99084" y="0"/>
                </a:lnTo>
                <a:lnTo>
                  <a:pt x="146267" y="47183"/>
                </a:lnTo>
                <a:lnTo>
                  <a:pt x="146267" y="198169"/>
                </a:lnTo>
                <a:lnTo>
                  <a:pt x="0" y="198169"/>
                </a:lnTo>
                <a:close/>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595237" y="1181075"/>
            <a:ext cx="47183" cy="47183"/>
          </a:xfrm>
          <a:custGeom>
            <a:avLst/>
            <a:gdLst/>
            <a:ahLst/>
            <a:cxnLst/>
            <a:rect l="l" t="t" r="r" b="b"/>
            <a:pathLst>
              <a:path w="47183" h="47183">
                <a:moveTo>
                  <a:pt x="0" y="0"/>
                </a:moveTo>
                <a:lnTo>
                  <a:pt x="0" y="47183"/>
                </a:lnTo>
                <a:lnTo>
                  <a:pt x="47183" y="47183"/>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524463" y="1280160"/>
            <a:ext cx="89648" cy="0"/>
          </a:xfrm>
          <a:custGeom>
            <a:avLst/>
            <a:gdLst/>
            <a:ahLst/>
            <a:cxnLst/>
            <a:rect l="l" t="t" r="r" b="b"/>
            <a:pathLst>
              <a:path w="89648" h="0">
                <a:moveTo>
                  <a:pt x="0" y="0"/>
                </a:moveTo>
                <a:lnTo>
                  <a:pt x="89648"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524463" y="1313188"/>
            <a:ext cx="89648" cy="0"/>
          </a:xfrm>
          <a:custGeom>
            <a:avLst/>
            <a:gdLst/>
            <a:ahLst/>
            <a:cxnLst/>
            <a:rect l="l" t="t" r="r" b="b"/>
            <a:pathLst>
              <a:path w="89648" h="0">
                <a:moveTo>
                  <a:pt x="0" y="0"/>
                </a:moveTo>
                <a:lnTo>
                  <a:pt x="89648"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524463" y="1346216"/>
            <a:ext cx="56619" cy="0"/>
          </a:xfrm>
          <a:custGeom>
            <a:avLst/>
            <a:gdLst/>
            <a:ahLst/>
            <a:cxnLst/>
            <a:rect l="l" t="t" r="r" b="b"/>
            <a:pathLst>
              <a:path w="56619" h="0">
                <a:moveTo>
                  <a:pt x="0" y="0"/>
                </a:moveTo>
                <a:lnTo>
                  <a:pt x="56619"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1143000"/>
            <a:ext cx="3529584"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COMPLÉTUDE  —  « EST-CE RENSEIGNÉ ? »</a:t>
            </a:r>
          </a:p>
        </p:txBody>
      </p:sp>
      <p:sp>
        <p:nvSpPr>
          <p:cNvPr id="22" name="TextBox 21"/>
          <p:cNvSpPr txBox="1"/>
          <p:nvPr/>
        </p:nvSpPr>
        <p:spPr>
          <a:xfrm>
            <a:off x="530352" y="1572768"/>
            <a:ext cx="3703320" cy="411480"/>
          </a:xfrm>
          <a:prstGeom prst="rect">
            <a:avLst/>
          </a:prstGeom>
          <a:noFill/>
        </p:spPr>
        <p:txBody>
          <a:bodyPr wrap="square" lIns="0" rIns="0" tIns="0" bIns="0" anchor="t">
            <a:spAutoFit/>
          </a:bodyPr>
          <a:lstStyle/>
          <a:p>
            <a:pPr algn="l">
              <a:lnSpc>
                <a:spcPct val="105000"/>
              </a:lnSpc>
            </a:pPr>
            <a:r>
              <a:rPr sz="1000" b="0" i="0">
                <a:solidFill>
                  <a:srgbClr val="333333"/>
                </a:solidFill>
                <a:latin typeface="Calibri"/>
                <a:ea typeface="Calibri"/>
                <a:cs typeface="Calibri"/>
              </a:rPr>
              <a:t>Part des champs KYC obligatoires effectivement remplis dans le dossier, rapportée au nombre de champs attendus.</a:t>
            </a:r>
          </a:p>
        </p:txBody>
      </p:sp>
      <p:sp>
        <p:nvSpPr>
          <p:cNvPr id="23" name="TextBox 22"/>
          <p:cNvSpPr txBox="1"/>
          <p:nvPr/>
        </p:nvSpPr>
        <p:spPr>
          <a:xfrm>
            <a:off x="530352" y="2103120"/>
            <a:ext cx="3703320" cy="1554480"/>
          </a:xfrm>
          <a:prstGeom prst="rect">
            <a:avLst/>
          </a:prstGeom>
          <a:noFill/>
        </p:spPr>
        <p:txBody>
          <a:bodyPr wrap="square" lIns="0" rIns="0" tIns="0" bIns="0" anchor="t">
            <a:spAutoFit/>
          </a:bodyPr>
          <a:lstStyle/>
          <a:p>
            <a:pPr algn="l" marL="152400" indent="-152400">
              <a:lnSpc>
                <a:spcPct val="105000"/>
              </a:lnSpc>
              <a:spcAft>
                <a:spcPts val="1200"/>
              </a:spcAft>
              <a:buClr>
                <a:srgbClr val="009A56"/>
              </a:buClr>
              <a:buFont typeface="Arial" pitchFamily="34" charset="0"/>
              <a:buChar char="▪"/>
            </a:pPr>
            <a:r>
              <a:rPr sz="1000" b="0" i="0">
                <a:solidFill>
                  <a:srgbClr val="333333"/>
                </a:solidFill>
                <a:latin typeface="Calibri"/>
                <a:ea typeface="Calibri"/>
                <a:cs typeface="Calibri"/>
              </a:rPr>
              <a:t>Se calcule dossier par dossier, puis s'agrège par chargé et par agence</a:t>
            </a:r>
          </a:p>
          <a:p>
            <a:pPr algn="l" marL="152400" indent="-152400">
              <a:lnSpc>
                <a:spcPct val="105000"/>
              </a:lnSpc>
              <a:spcAft>
                <a:spcPts val="1200"/>
              </a:spcAft>
              <a:buClr>
                <a:srgbClr val="009A56"/>
              </a:buClr>
              <a:buFont typeface="Arial" pitchFamily="34" charset="0"/>
              <a:buChar char="▪"/>
            </a:pPr>
            <a:r>
              <a:rPr sz="1000" b="0" i="0">
                <a:solidFill>
                  <a:srgbClr val="333333"/>
                </a:solidFill>
                <a:latin typeface="Calibri"/>
                <a:ea typeface="Calibri"/>
                <a:cs typeface="Calibri"/>
              </a:rPr>
              <a:t>Un champ vide, un tiret ou une valeur par défaut comptent comme absents</a:t>
            </a:r>
          </a:p>
          <a:p>
            <a:pPr algn="l" marL="152400" indent="-152400">
              <a:lnSpc>
                <a:spcPct val="105000"/>
              </a:lnSpc>
              <a:spcAft>
                <a:spcPts val="1200"/>
              </a:spcAft>
              <a:buClr>
                <a:srgbClr val="009A56"/>
              </a:buClr>
              <a:buFont typeface="Arial" pitchFamily="34" charset="0"/>
              <a:buChar char="▪"/>
            </a:pPr>
            <a:r>
              <a:rPr sz="1000" b="0" i="0">
                <a:solidFill>
                  <a:srgbClr val="333333"/>
                </a:solidFill>
                <a:latin typeface="Calibri"/>
                <a:ea typeface="Calibri"/>
                <a:cs typeface="Calibri"/>
              </a:rPr>
              <a:t>Les champs suivis sont ceux activés pour la filiale RDC</a:t>
            </a:r>
          </a:p>
          <a:p>
            <a:pPr algn="l" marL="152400" indent="-152400">
              <a:lnSpc>
                <a:spcPct val="105000"/>
              </a:lnSpc>
              <a:spcAft>
                <a:spcPts val="1200"/>
              </a:spcAft>
              <a:buClr>
                <a:srgbClr val="009A56"/>
              </a:buClr>
              <a:buFont typeface="Arial" pitchFamily="34" charset="0"/>
              <a:buChar char="▪"/>
            </a:pPr>
            <a:r>
              <a:rPr sz="1000" b="0" i="0">
                <a:solidFill>
                  <a:srgbClr val="333333"/>
                </a:solidFill>
                <a:latin typeface="Calibri"/>
                <a:ea typeface="Calibri"/>
                <a:cs typeface="Calibri"/>
              </a:rPr>
              <a:t>Le taux affiché est celui du périmètre sélectionné, jamais une moyenne du réseau</a:t>
            </a:r>
          </a:p>
        </p:txBody>
      </p:sp>
      <p:sp>
        <p:nvSpPr>
          <p:cNvPr id="24" name="Rounded Rectangle 23"/>
          <p:cNvSpPr/>
          <p:nvPr/>
        </p:nvSpPr>
        <p:spPr>
          <a:xfrm>
            <a:off x="4754880" y="1143000"/>
            <a:ext cx="4023360" cy="265176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754880" y="1143000"/>
            <a:ext cx="4023360"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4871118" y="1195230"/>
            <a:ext cx="132112" cy="132112"/>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4986716" y="1310828"/>
            <a:ext cx="63698" cy="63698"/>
          </a:xfrm>
          <a:custGeom>
            <a:avLst/>
            <a:gdLst/>
            <a:ahLst/>
            <a:cxnLst/>
            <a:rect l="l" t="t" r="r" b="b"/>
            <a:pathLst>
              <a:path w="63698" h="63698">
                <a:moveTo>
                  <a:pt x="0" y="0"/>
                </a:moveTo>
                <a:lnTo>
                  <a:pt x="63698" y="63698"/>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8928" y="1143000"/>
            <a:ext cx="3529584"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QUALITÉ  —  « EST-CE EXPLOITABLE ? »</a:t>
            </a:r>
          </a:p>
        </p:txBody>
      </p:sp>
      <p:sp>
        <p:nvSpPr>
          <p:cNvPr id="29" name="TextBox 28"/>
          <p:cNvSpPr txBox="1"/>
          <p:nvPr/>
        </p:nvSpPr>
        <p:spPr>
          <a:xfrm>
            <a:off x="4919472" y="1572768"/>
            <a:ext cx="3703320" cy="411480"/>
          </a:xfrm>
          <a:prstGeom prst="rect">
            <a:avLst/>
          </a:prstGeom>
          <a:noFill/>
        </p:spPr>
        <p:txBody>
          <a:bodyPr wrap="square" lIns="0" rIns="0" tIns="0" bIns="0" anchor="t">
            <a:spAutoFit/>
          </a:bodyPr>
          <a:lstStyle/>
          <a:p>
            <a:pPr algn="l">
              <a:lnSpc>
                <a:spcPct val="105000"/>
              </a:lnSpc>
            </a:pPr>
            <a:r>
              <a:rPr sz="1000" b="0" i="0">
                <a:solidFill>
                  <a:srgbClr val="333333"/>
                </a:solidFill>
                <a:latin typeface="Calibri"/>
                <a:ea typeface="Calibri"/>
                <a:cs typeface="Calibri"/>
              </a:rPr>
              <a:t>Part des dossiers conformes aux règles de contrôle : format, cohérence, validité dans le temps.</a:t>
            </a:r>
          </a:p>
        </p:txBody>
      </p:sp>
      <p:sp>
        <p:nvSpPr>
          <p:cNvPr id="30" name="TextBox 29"/>
          <p:cNvSpPr txBox="1"/>
          <p:nvPr/>
        </p:nvSpPr>
        <p:spPr>
          <a:xfrm>
            <a:off x="4919472" y="2103120"/>
            <a:ext cx="3703320" cy="1554480"/>
          </a:xfrm>
          <a:prstGeom prst="rect">
            <a:avLst/>
          </a:prstGeom>
          <a:noFill/>
        </p:spPr>
        <p:txBody>
          <a:bodyPr wrap="square" lIns="0" rIns="0" tIns="0" bIns="0" anchor="t">
            <a:spAutoFit/>
          </a:bodyPr>
          <a:lstStyle/>
          <a:p>
            <a:pPr algn="l" marL="152400" indent="-152400">
              <a:lnSpc>
                <a:spcPct val="105000"/>
              </a:lnSpc>
              <a:spcAft>
                <a:spcPts val="1200"/>
              </a:spcAft>
              <a:buClr>
                <a:srgbClr val="009A56"/>
              </a:buClr>
              <a:buFont typeface="Arial" pitchFamily="34" charset="0"/>
              <a:buChar char="▪"/>
            </a:pPr>
            <a:r>
              <a:rPr sz="1000" b="0" i="0">
                <a:solidFill>
                  <a:srgbClr val="333333"/>
                </a:solidFill>
                <a:latin typeface="Calibri"/>
                <a:ea typeface="Calibri"/>
                <a:cs typeface="Calibri"/>
              </a:rPr>
              <a:t>S'appuie sur les règles paramétrées et versionnées dans la plateforme</a:t>
            </a:r>
          </a:p>
          <a:p>
            <a:pPr algn="l" marL="152400" indent="-152400">
              <a:lnSpc>
                <a:spcPct val="105000"/>
              </a:lnSpc>
              <a:spcAft>
                <a:spcPts val="1200"/>
              </a:spcAft>
              <a:buClr>
                <a:srgbClr val="009A56"/>
              </a:buClr>
              <a:buFont typeface="Arial" pitchFamily="34" charset="0"/>
              <a:buChar char="▪"/>
            </a:pPr>
            <a:r>
              <a:rPr sz="1000" b="0" i="0">
                <a:solidFill>
                  <a:srgbClr val="333333"/>
                </a:solidFill>
                <a:latin typeface="Calibri"/>
                <a:ea typeface="Calibri"/>
                <a:cs typeface="Calibri"/>
              </a:rPr>
              <a:t>Une pièce d'identité expirée fait chuter la qualité, pas la complétude</a:t>
            </a:r>
          </a:p>
          <a:p>
            <a:pPr algn="l" marL="152400" indent="-152400">
              <a:lnSpc>
                <a:spcPct val="105000"/>
              </a:lnSpc>
              <a:spcAft>
                <a:spcPts val="1200"/>
              </a:spcAft>
              <a:buClr>
                <a:srgbClr val="009A56"/>
              </a:buClr>
              <a:buFont typeface="Arial" pitchFamily="34" charset="0"/>
              <a:buChar char="▪"/>
            </a:pPr>
            <a:r>
              <a:rPr sz="1000" b="0" i="0">
                <a:solidFill>
                  <a:srgbClr val="333333"/>
                </a:solidFill>
                <a:latin typeface="Calibri"/>
                <a:ea typeface="Calibri"/>
                <a:cs typeface="Calibri"/>
              </a:rPr>
              <a:t>Chaque évaluation est tracée et peut être rejouée lors d'un contrôle</a:t>
            </a:r>
          </a:p>
          <a:p>
            <a:pPr algn="l" marL="152400" indent="-152400">
              <a:lnSpc>
                <a:spcPct val="105000"/>
              </a:lnSpc>
              <a:spcAft>
                <a:spcPts val="1200"/>
              </a:spcAft>
              <a:buClr>
                <a:srgbClr val="009A56"/>
              </a:buClr>
              <a:buFont typeface="Arial" pitchFamily="34" charset="0"/>
              <a:buChar char="▪"/>
            </a:pPr>
            <a:r>
              <a:rPr sz="1000" b="0" i="0">
                <a:solidFill>
                  <a:srgbClr val="333333"/>
                </a:solidFill>
                <a:latin typeface="Calibri"/>
                <a:ea typeface="Calibri"/>
                <a:cs typeface="Calibri"/>
              </a:rPr>
              <a:t>Une règle peut évoluer : sa version est conservée pour expliquer un écart</a:t>
            </a:r>
          </a:p>
        </p:txBody>
      </p:sp>
      <p:sp>
        <p:nvSpPr>
          <p:cNvPr id="31" name="Rounded Rectangle 30"/>
          <p:cNvSpPr/>
          <p:nvPr/>
        </p:nvSpPr>
        <p:spPr>
          <a:xfrm>
            <a:off x="365760" y="3950208"/>
            <a:ext cx="8412480" cy="658368"/>
          </a:xfrm>
          <a:prstGeom prst="roundRect">
            <a:avLst>
              <a:gd name="adj" fmla="val 6000"/>
            </a:avLst>
          </a:prstGeom>
          <a:solidFill>
            <a:srgbClr val="FDF6E7"/>
          </a:solidFill>
          <a:ln w="12700">
            <a:solidFill>
              <a:srgbClr val="F3D9A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66928" y="3950208"/>
            <a:ext cx="8046720" cy="658368"/>
          </a:xfrm>
          <a:prstGeom prst="rect">
            <a:avLst/>
          </a:prstGeom>
          <a:noFill/>
        </p:spPr>
        <p:txBody>
          <a:bodyPr wrap="square" lIns="0" rIns="0" tIns="0" bIns="0" anchor="ctr">
            <a:spAutoFit/>
          </a:bodyPr>
          <a:lstStyle/>
          <a:p>
            <a:pPr algn="l">
              <a:lnSpc>
                <a:spcPct val="105000"/>
              </a:lnSpc>
            </a:pPr>
            <a:r>
              <a:rPr sz="1000" b="1" i="0">
                <a:solidFill>
                  <a:srgbClr val="F59E0B"/>
                </a:solidFill>
                <a:latin typeface="Calibri"/>
                <a:ea typeface="Calibri"/>
                <a:cs typeface="Calibri"/>
              </a:rPr>
              <a:t>Le piège classique : </a:t>
            </a:r>
            <a:r>
              <a:rPr sz="1000" b="0" i="0">
                <a:solidFill>
                  <a:srgbClr val="333333"/>
                </a:solidFill>
                <a:latin typeface="Calibri"/>
                <a:ea typeface="Calibri"/>
                <a:cs typeface="Calibri"/>
              </a:rPr>
              <a:t>un dossier peut être complet à 100 % et non conforme. Une adresse saisie « RAS », une date de revue dépassée ou une pièce périmée remplissent la case sans rien fiabiliser.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3" fill="hold">
                      <p:stCondLst>
                        <p:cond delay="indefinite"/>
                      </p:stCondLst>
                      <p:childTnLst>
                        <p:par>
                          <p:cTn id="3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50"/>
                                        <p:tgtEl>
                                          <p:spTgt spid="14"/>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50"/>
                                        <p:tgtEl>
                                          <p:spTgt spid="15"/>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50"/>
                                        <p:tgtEl>
                                          <p:spTgt spid="16"/>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50"/>
                                        <p:tgtEl>
                                          <p:spTgt spid="17"/>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50"/>
                                        <p:tgtEl>
                                          <p:spTgt spid="18"/>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50"/>
                                        <p:tgtEl>
                                          <p:spTgt spid="19"/>
                                        </p:tgtEl>
                                      </p:cBhvr>
                                    </p:animEffect>
                                  </p:childTnLst>
                                </p:cTn>
                              </p:par>
                              <p:par>
                                <p:cTn id="21" presetID="10" presetClass="entr" presetSubtype="0" fill="hold" grpId="0" nodeType="withEffect">
                                  <p:stCondLst>
                                    <p:cond delay="72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50"/>
                                        <p:tgtEl>
                                          <p:spTgt spid="20"/>
                                        </p:tgtEl>
                                      </p:cBhvr>
                                    </p:animEffect>
                                  </p:childTnLst>
                                </p:cTn>
                              </p:par>
                              <p:par>
                                <p:cTn id="24" presetID="10" presetClass="entr" presetSubtype="0" fill="hold" grpId="0" nodeType="withEffect">
                                  <p:stCondLst>
                                    <p:cond delay="84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50"/>
                                        <p:tgtEl>
                                          <p:spTgt spid="21"/>
                                        </p:tgtEl>
                                      </p:cBhvr>
                                    </p:animEffect>
                                  </p:childTnLst>
                                </p:cTn>
                              </p:par>
                              <p:par>
                                <p:cTn id="27" presetID="10" presetClass="entr" presetSubtype="0" fill="hold" grpId="0" nodeType="withEffect">
                                  <p:stCondLst>
                                    <p:cond delay="96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50"/>
                                        <p:tgtEl>
                                          <p:spTgt spid="22"/>
                                        </p:tgtEl>
                                      </p:cBhvr>
                                    </p:animEffect>
                                  </p:childTnLst>
                                </p:cTn>
                              </p:par>
                              <p:par>
                                <p:cTn id="30" presetID="10" presetClass="entr" presetSubtype="0" fill="hold" grpId="0" nodeType="withEffect">
                                  <p:stCondLst>
                                    <p:cond delay="108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450"/>
                                        <p:tgtEl>
                                          <p:spTgt spid="23"/>
                                        </p:tgtEl>
                                      </p:cBhvr>
                                    </p:animEffect>
                                  </p:childTnLst>
                                </p:cTn>
                              </p:par>
                            </p:childTnLst>
                          </p:cTn>
                        </p:par>
                      </p:childTnLst>
                    </p:cTn>
                  </p:par>
                  <p:par>
                    <p:cTn id="56" fill="hold">
                      <p:stCondLst>
                        <p:cond delay="indefinite"/>
                      </p:stCondLst>
                      <p:childTnLst>
                        <p:par>
                          <p:cTn id="57"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50"/>
                                        <p:tgtEl>
                                          <p:spTgt spid="24"/>
                                        </p:tgtEl>
                                      </p:cBhvr>
                                    </p:animEffect>
                                  </p:childTnLst>
                                </p:cTn>
                              </p:par>
                              <p:par>
                                <p:cTn id="38" presetID="10" presetClass="entr" presetSubtype="0" fill="hold" grpId="0" nodeType="withEffect">
                                  <p:stCondLst>
                                    <p:cond delay="12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50"/>
                                        <p:tgtEl>
                                          <p:spTgt spid="25"/>
                                        </p:tgtEl>
                                      </p:cBhvr>
                                    </p:animEffect>
                                  </p:childTnLst>
                                </p:cTn>
                              </p:par>
                              <p:par>
                                <p:cTn id="41" presetID="10" presetClass="entr" presetSubtype="0" fill="hold" grpId="0" nodeType="withEffect">
                                  <p:stCondLst>
                                    <p:cond delay="24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50"/>
                                        <p:tgtEl>
                                          <p:spTgt spid="26"/>
                                        </p:tgtEl>
                                      </p:cBhvr>
                                    </p:animEffect>
                                  </p:childTnLst>
                                </p:cTn>
                              </p:par>
                              <p:par>
                                <p:cTn id="44" presetID="10" presetClass="entr" presetSubtype="0" fill="hold" grpId="0" nodeType="withEffect">
                                  <p:stCondLst>
                                    <p:cond delay="36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450"/>
                                        <p:tgtEl>
                                          <p:spTgt spid="27"/>
                                        </p:tgtEl>
                                      </p:cBhvr>
                                    </p:animEffect>
                                  </p:childTnLst>
                                </p:cTn>
                              </p:par>
                              <p:par>
                                <p:cTn id="47" presetID="10" presetClass="entr" presetSubtype="0" fill="hold" grpId="0" nodeType="withEffect">
                                  <p:stCondLst>
                                    <p:cond delay="48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50"/>
                                        <p:tgtEl>
                                          <p:spTgt spid="28"/>
                                        </p:tgtEl>
                                      </p:cBhvr>
                                    </p:animEffect>
                                  </p:childTnLst>
                                </p:cTn>
                              </p:par>
                              <p:par>
                                <p:cTn id="50" presetID="10" presetClass="entr" presetSubtype="0" fill="hold" grpId="0" nodeType="withEffect">
                                  <p:stCondLst>
                                    <p:cond delay="60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50"/>
                                        <p:tgtEl>
                                          <p:spTgt spid="29"/>
                                        </p:tgtEl>
                                      </p:cBhvr>
                                    </p:animEffect>
                                  </p:childTnLst>
                                </p:cTn>
                              </p:par>
                              <p:par>
                                <p:cTn id="53" presetID="10" presetClass="entr" presetSubtype="0" fill="hold" grpId="0" nodeType="withEffect">
                                  <p:stCondLst>
                                    <p:cond delay="72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50"/>
                                        <p:tgtEl>
                                          <p:spTgt spid="30"/>
                                        </p:tgtEl>
                                      </p:cBhvr>
                                    </p:animEffect>
                                  </p:childTnLst>
                                </p:cTn>
                              </p:par>
                            </p:childTnLst>
                          </p:cTn>
                        </p:par>
                      </p:childTnLst>
                    </p:cTn>
                  </p:par>
                  <p:par>
                    <p:cTn id="64" fill="hold">
                      <p:stCondLst>
                        <p:cond delay="indefinite"/>
                      </p:stCondLst>
                      <p:childTnLst>
                        <p:par>
                          <p:cTn id="65"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450"/>
                                        <p:tgtEl>
                                          <p:spTgt spid="31"/>
                                        </p:tgtEl>
                                      </p:cBhvr>
                                    </p:animEffect>
                                  </p:childTnLst>
                                </p:cTn>
                              </p:par>
                              <p:par>
                                <p:cTn id="61" presetID="10" presetClass="entr" presetSubtype="0" fill="hold" grpId="0" nodeType="withEffect">
                                  <p:stCondLst>
                                    <p:cond delay="12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5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III.  LIRE LES INDICATEURS KYC</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Oval 4"/>
          <p:cNvSpPr/>
          <p:nvPr/>
        </p:nvSpPr>
        <p:spPr>
          <a:xfrm>
            <a:off x="398824" y="746296"/>
            <a:ext cx="226478" cy="226478"/>
          </a:xfrm>
          <a:prstGeom prst="ellipse">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512064" y="791592"/>
            <a:ext cx="0" cy="67944"/>
          </a:xfrm>
          <a:custGeom>
            <a:avLst/>
            <a:gdLst/>
            <a:ahLst/>
            <a:cxnLst/>
            <a:rect l="l" t="t" r="r" b="b"/>
            <a:pathLst>
              <a:path w="0" h="67944">
                <a:moveTo>
                  <a:pt x="0" y="67944"/>
                </a:moveTo>
                <a:lnTo>
                  <a:pt x="0"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512064" y="859536"/>
            <a:ext cx="53788" cy="28309"/>
          </a:xfrm>
          <a:custGeom>
            <a:avLst/>
            <a:gdLst/>
            <a:ahLst/>
            <a:cxnLst/>
            <a:rect l="l" t="t" r="r" b="b"/>
            <a:pathLst>
              <a:path w="53788" h="28309">
                <a:moveTo>
                  <a:pt x="0" y="0"/>
                </a:moveTo>
                <a:lnTo>
                  <a:pt x="53788" y="28309"/>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STOCK ET FLUX : DEUX LECTURES COMPLÉMENTAIRES</a:t>
            </a:r>
          </a:p>
        </p:txBody>
      </p:sp>
      <p:sp>
        <p:nvSpPr>
          <p:cNvPr id="9" name="Rectangle 8"/>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2" name="TextBox 11"/>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10 / 20</a:t>
            </a:r>
          </a:p>
        </p:txBody>
      </p:sp>
      <p:sp>
        <p:nvSpPr>
          <p:cNvPr id="13" name="Rounded Rectangle 12"/>
          <p:cNvSpPr/>
          <p:nvPr/>
        </p:nvSpPr>
        <p:spPr>
          <a:xfrm>
            <a:off x="365760" y="1143000"/>
            <a:ext cx="4023360" cy="1097280"/>
          </a:xfrm>
          <a:prstGeom prst="roundRect">
            <a:avLst>
              <a:gd name="adj" fmla="val 6000"/>
            </a:avLst>
          </a:prstGeom>
          <a:solidFill>
            <a:srgbClr val="F0F7F4"/>
          </a:solidFill>
          <a:ln w="12700">
            <a:solidFill>
              <a:srgbClr val="C8E6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87366" y="1287972"/>
            <a:ext cx="215154" cy="62281"/>
          </a:xfrm>
          <a:prstGeom prst="rect">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87366" y="1358747"/>
            <a:ext cx="215154" cy="62281"/>
          </a:xfrm>
          <a:prstGeom prst="rect">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87366" y="1429521"/>
            <a:ext cx="215154" cy="62281"/>
          </a:xfrm>
          <a:prstGeom prst="rect">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1261872"/>
            <a:ext cx="3383280" cy="274320"/>
          </a:xfrm>
          <a:prstGeom prst="rect">
            <a:avLst/>
          </a:prstGeom>
          <a:noFill/>
        </p:spPr>
        <p:txBody>
          <a:bodyPr wrap="square" lIns="0" rIns="0" tIns="0" bIns="0" anchor="t">
            <a:spAutoFit/>
          </a:bodyPr>
          <a:lstStyle/>
          <a:p>
            <a:pPr algn="l"/>
            <a:r>
              <a:rPr sz="1300" b="1" i="0" spc="100">
                <a:solidFill>
                  <a:srgbClr val="009A56"/>
                </a:solidFill>
                <a:latin typeface="Calibri"/>
                <a:ea typeface="Calibri"/>
                <a:cs typeface="Calibri"/>
              </a:rPr>
              <a:t>STOCK</a:t>
            </a:r>
          </a:p>
        </p:txBody>
      </p:sp>
      <p:sp>
        <p:nvSpPr>
          <p:cNvPr id="18" name="TextBox 17"/>
          <p:cNvSpPr txBox="1"/>
          <p:nvPr/>
        </p:nvSpPr>
        <p:spPr>
          <a:xfrm>
            <a:off x="548640" y="1572768"/>
            <a:ext cx="3703320" cy="566928"/>
          </a:xfrm>
          <a:prstGeom prst="rect">
            <a:avLst/>
          </a:prstGeom>
          <a:noFill/>
        </p:spPr>
        <p:txBody>
          <a:bodyPr wrap="square" lIns="0" rIns="0" tIns="0" bIns="0" anchor="t">
            <a:spAutoFit/>
          </a:bodyPr>
          <a:lstStyle/>
          <a:p>
            <a:pPr algn="l">
              <a:lnSpc>
                <a:spcPct val="105000"/>
              </a:lnSpc>
            </a:pPr>
            <a:r>
              <a:rPr sz="1000" b="0" i="0">
                <a:solidFill>
                  <a:srgbClr val="333333"/>
                </a:solidFill>
                <a:latin typeface="Calibri"/>
                <a:ea typeface="Calibri"/>
                <a:cs typeface="Calibri"/>
              </a:rPr>
              <a:t>L'ensemble du portefeuille détenu à la date d'observation. C'est la photographie de fond, celle qui se redresse lentement.</a:t>
            </a:r>
          </a:p>
        </p:txBody>
      </p:sp>
      <p:sp>
        <p:nvSpPr>
          <p:cNvPr id="19" name="Rounded Rectangle 18"/>
          <p:cNvSpPr/>
          <p:nvPr/>
        </p:nvSpPr>
        <p:spPr>
          <a:xfrm>
            <a:off x="4754880" y="1143000"/>
            <a:ext cx="4023360" cy="1097280"/>
          </a:xfrm>
          <a:prstGeom prst="roundRect">
            <a:avLst>
              <a:gd name="adj" fmla="val 6000"/>
            </a:avLst>
          </a:prstGeom>
          <a:solidFill>
            <a:srgbClr val="F0F7F4"/>
          </a:solidFill>
          <a:ln w="12700">
            <a:solidFill>
              <a:srgbClr val="C8E6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reeform 19"/>
          <p:cNvSpPr/>
          <p:nvPr/>
        </p:nvSpPr>
        <p:spPr>
          <a:xfrm>
            <a:off x="4970824" y="1282310"/>
            <a:ext cx="232141" cy="215155"/>
          </a:xfrm>
          <a:custGeom>
            <a:avLst/>
            <a:gdLst/>
            <a:ahLst/>
            <a:cxnLst/>
            <a:rect l="l" t="t" r="r" b="b"/>
            <a:pathLst>
              <a:path w="232141" h="215155">
                <a:moveTo>
                  <a:pt x="0" y="0"/>
                </a:moveTo>
                <a:lnTo>
                  <a:pt x="0" y="215155"/>
                </a:lnTo>
                <a:lnTo>
                  <a:pt x="232141" y="215155"/>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4999134" y="1316282"/>
            <a:ext cx="186845" cy="130225"/>
          </a:xfrm>
          <a:custGeom>
            <a:avLst/>
            <a:gdLst/>
            <a:ahLst/>
            <a:cxnLst/>
            <a:rect l="l" t="t" r="r" b="b"/>
            <a:pathLst>
              <a:path w="186845" h="130225">
                <a:moveTo>
                  <a:pt x="0" y="130225"/>
                </a:moveTo>
                <a:lnTo>
                  <a:pt x="56620" y="62282"/>
                </a:lnTo>
                <a:lnTo>
                  <a:pt x="101915" y="96253"/>
                </a:lnTo>
                <a:lnTo>
                  <a:pt x="186845"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5146345" y="1316282"/>
            <a:ext cx="39634" cy="39634"/>
          </a:xfrm>
          <a:custGeom>
            <a:avLst/>
            <a:gdLst/>
            <a:ahLst/>
            <a:cxnLst/>
            <a:rect l="l" t="t" r="r" b="b"/>
            <a:pathLst>
              <a:path w="39634" h="39634">
                <a:moveTo>
                  <a:pt x="0" y="0"/>
                </a:moveTo>
                <a:lnTo>
                  <a:pt x="39634" y="0"/>
                </a:lnTo>
                <a:lnTo>
                  <a:pt x="39634" y="39634"/>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85232" y="1261872"/>
            <a:ext cx="3383280" cy="274320"/>
          </a:xfrm>
          <a:prstGeom prst="rect">
            <a:avLst/>
          </a:prstGeom>
          <a:noFill/>
        </p:spPr>
        <p:txBody>
          <a:bodyPr wrap="square" lIns="0" rIns="0" tIns="0" bIns="0" anchor="t">
            <a:spAutoFit/>
          </a:bodyPr>
          <a:lstStyle/>
          <a:p>
            <a:pPr algn="l"/>
            <a:r>
              <a:rPr sz="1300" b="1" i="0" spc="100">
                <a:solidFill>
                  <a:srgbClr val="009A56"/>
                </a:solidFill>
                <a:latin typeface="Calibri"/>
                <a:ea typeface="Calibri"/>
                <a:cs typeface="Calibri"/>
              </a:rPr>
              <a:t>FLUX</a:t>
            </a:r>
          </a:p>
        </p:txBody>
      </p:sp>
      <p:sp>
        <p:nvSpPr>
          <p:cNvPr id="24" name="TextBox 23"/>
          <p:cNvSpPr txBox="1"/>
          <p:nvPr/>
        </p:nvSpPr>
        <p:spPr>
          <a:xfrm>
            <a:off x="4937760" y="1572768"/>
            <a:ext cx="3703320" cy="566928"/>
          </a:xfrm>
          <a:prstGeom prst="rect">
            <a:avLst/>
          </a:prstGeom>
          <a:noFill/>
        </p:spPr>
        <p:txBody>
          <a:bodyPr wrap="square" lIns="0" rIns="0" tIns="0" bIns="0" anchor="t">
            <a:spAutoFit/>
          </a:bodyPr>
          <a:lstStyle/>
          <a:p>
            <a:pPr algn="l">
              <a:lnSpc>
                <a:spcPct val="105000"/>
              </a:lnSpc>
            </a:pPr>
            <a:r>
              <a:rPr sz="1000" b="0" i="0">
                <a:solidFill>
                  <a:srgbClr val="333333"/>
                </a:solidFill>
                <a:latin typeface="Calibri"/>
                <a:ea typeface="Calibri"/>
                <a:cs typeface="Calibri"/>
              </a:rPr>
              <a:t>Les clients ouverts lors de la dernière journée d'ouverture enregistrée. C'est le contrôle immédiat de la saisie à l'entrée.</a:t>
            </a:r>
          </a:p>
        </p:txBody>
      </p:sp>
      <p:sp>
        <p:nvSpPr>
          <p:cNvPr id="25" name="TextBox 24"/>
          <p:cNvSpPr txBox="1"/>
          <p:nvPr/>
        </p:nvSpPr>
        <p:spPr>
          <a:xfrm>
            <a:off x="365760" y="2395728"/>
            <a:ext cx="8412480" cy="274320"/>
          </a:xfrm>
          <a:prstGeom prst="rect">
            <a:avLst/>
          </a:prstGeom>
          <a:noFill/>
        </p:spPr>
        <p:txBody>
          <a:bodyPr wrap="square" lIns="0" rIns="0" tIns="0" bIns="0" anchor="ctr">
            <a:spAutoFit/>
          </a:bodyPr>
          <a:lstStyle/>
          <a:p>
            <a:pPr algn="l"/>
            <a:r>
              <a:rPr sz="1050" b="1" i="0" spc="50">
                <a:solidFill>
                  <a:srgbClr val="1B2A4A"/>
                </a:solidFill>
                <a:latin typeface="Calibri"/>
                <a:ea typeface="Calibri"/>
                <a:cs typeface="Calibri"/>
              </a:rPr>
              <a:t>CHAQUE NIVEAU PREND SA PROPRE DERNIÈRE JOURNÉE D'OUVERTURE</a:t>
            </a:r>
          </a:p>
        </p:txBody>
      </p:sp>
      <p:sp>
        <p:nvSpPr>
          <p:cNvPr id="26" name="Rounded Rectangle 25"/>
          <p:cNvSpPr/>
          <p:nvPr/>
        </p:nvSpPr>
        <p:spPr>
          <a:xfrm>
            <a:off x="365760" y="2743200"/>
            <a:ext cx="2679192" cy="9144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65760" y="2743200"/>
            <a:ext cx="2679192"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96153" y="2790712"/>
            <a:ext cx="141549" cy="184013"/>
          </a:xfrm>
          <a:prstGeom prst="rect">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2104" y="2819022"/>
            <a:ext cx="30668" cy="28309"/>
          </a:xfrm>
          <a:prstGeom prst="rect">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81082" y="2819022"/>
            <a:ext cx="30668" cy="28309"/>
          </a:xfrm>
          <a:prstGeom prst="rect">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22104" y="2868564"/>
            <a:ext cx="30668" cy="28309"/>
          </a:xfrm>
          <a:prstGeom prst="rect">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81082" y="2868564"/>
            <a:ext cx="30668" cy="28309"/>
          </a:xfrm>
          <a:prstGeom prst="rect">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054" y="2922824"/>
            <a:ext cx="37746" cy="51901"/>
          </a:xfrm>
          <a:prstGeom prst="rect">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2743200"/>
            <a:ext cx="2185416" cy="274320"/>
          </a:xfrm>
          <a:prstGeom prst="rect">
            <a:avLst/>
          </a:prstGeom>
          <a:noFill/>
        </p:spPr>
        <p:txBody>
          <a:bodyPr wrap="square" lIns="0" rIns="0" tIns="0" bIns="0" anchor="ctr">
            <a:spAutoFit/>
          </a:bodyPr>
          <a:lstStyle/>
          <a:p>
            <a:pPr algn="l"/>
            <a:r>
              <a:rPr sz="950" b="1" i="0" spc="40">
                <a:solidFill>
                  <a:srgbClr val="FFFFFF"/>
                </a:solidFill>
                <a:latin typeface="Calibri"/>
                <a:ea typeface="Calibri"/>
                <a:cs typeface="Calibri"/>
              </a:rPr>
              <a:t>FILIALE RDC</a:t>
            </a:r>
          </a:p>
        </p:txBody>
      </p:sp>
      <p:sp>
        <p:nvSpPr>
          <p:cNvPr id="35" name="TextBox 34"/>
          <p:cNvSpPr txBox="1"/>
          <p:nvPr/>
        </p:nvSpPr>
        <p:spPr>
          <a:xfrm>
            <a:off x="502920" y="3090672"/>
            <a:ext cx="2404872" cy="502920"/>
          </a:xfrm>
          <a:prstGeom prst="rect">
            <a:avLst/>
          </a:prstGeom>
          <a:noFill/>
        </p:spPr>
        <p:txBody>
          <a:bodyPr wrap="square" lIns="0" rIns="0" tIns="0" bIns="0" anchor="t">
            <a:spAutoFit/>
          </a:bodyPr>
          <a:lstStyle/>
          <a:p>
            <a:pPr algn="l">
              <a:lnSpc>
                <a:spcPct val="105000"/>
              </a:lnSpc>
            </a:pPr>
            <a:r>
              <a:rPr sz="900" b="0" i="0">
                <a:solidFill>
                  <a:srgbClr val="333333"/>
                </a:solidFill>
                <a:latin typeface="Calibri"/>
                <a:ea typeface="Calibri"/>
                <a:cs typeface="Calibri"/>
              </a:rPr>
              <a:t>Dernier jour où la filiale a ouvert au moins un compte</a:t>
            </a:r>
          </a:p>
        </p:txBody>
      </p:sp>
      <p:sp>
        <p:nvSpPr>
          <p:cNvPr id="36" name="Rounded Rectangle 35"/>
          <p:cNvSpPr/>
          <p:nvPr/>
        </p:nvSpPr>
        <p:spPr>
          <a:xfrm>
            <a:off x="3227832" y="2743200"/>
            <a:ext cx="2679192" cy="9144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3227832" y="2743200"/>
            <a:ext cx="2679192"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Freeform 37"/>
          <p:cNvSpPr/>
          <p:nvPr/>
        </p:nvSpPr>
        <p:spPr>
          <a:xfrm>
            <a:off x="3325197" y="2793071"/>
            <a:ext cx="207605" cy="49542"/>
          </a:xfrm>
          <a:custGeom>
            <a:avLst/>
            <a:gdLst/>
            <a:ahLst/>
            <a:cxnLst/>
            <a:rect l="l" t="t" r="r" b="b"/>
            <a:pathLst>
              <a:path w="207605" h="49542">
                <a:moveTo>
                  <a:pt x="0" y="49542"/>
                </a:moveTo>
                <a:lnTo>
                  <a:pt x="33028" y="0"/>
                </a:lnTo>
                <a:lnTo>
                  <a:pt x="174577" y="0"/>
                </a:lnTo>
                <a:lnTo>
                  <a:pt x="207605" y="49542"/>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339352" y="2842613"/>
            <a:ext cx="179295" cy="132112"/>
          </a:xfrm>
          <a:prstGeom prst="rect">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367662" y="2875641"/>
            <a:ext cx="47183" cy="42464"/>
          </a:xfrm>
          <a:prstGeom prst="rect">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443154" y="2880360"/>
            <a:ext cx="47183" cy="94366"/>
          </a:xfrm>
          <a:prstGeom prst="rect">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11879" y="2743200"/>
            <a:ext cx="2185416" cy="274320"/>
          </a:xfrm>
          <a:prstGeom prst="rect">
            <a:avLst/>
          </a:prstGeom>
          <a:noFill/>
        </p:spPr>
        <p:txBody>
          <a:bodyPr wrap="square" lIns="0" rIns="0" tIns="0" bIns="0" anchor="ctr">
            <a:spAutoFit/>
          </a:bodyPr>
          <a:lstStyle/>
          <a:p>
            <a:pPr algn="l"/>
            <a:r>
              <a:rPr sz="950" b="1" i="0" spc="40">
                <a:solidFill>
                  <a:srgbClr val="FFFFFF"/>
                </a:solidFill>
                <a:latin typeface="Calibri"/>
                <a:ea typeface="Calibri"/>
                <a:cs typeface="Calibri"/>
              </a:rPr>
              <a:t>AGENCE</a:t>
            </a:r>
          </a:p>
        </p:txBody>
      </p:sp>
      <p:sp>
        <p:nvSpPr>
          <p:cNvPr id="43" name="TextBox 42"/>
          <p:cNvSpPr txBox="1"/>
          <p:nvPr/>
        </p:nvSpPr>
        <p:spPr>
          <a:xfrm>
            <a:off x="3364991" y="3090672"/>
            <a:ext cx="2404872" cy="502920"/>
          </a:xfrm>
          <a:prstGeom prst="rect">
            <a:avLst/>
          </a:prstGeom>
          <a:noFill/>
        </p:spPr>
        <p:txBody>
          <a:bodyPr wrap="square" lIns="0" rIns="0" tIns="0" bIns="0" anchor="t">
            <a:spAutoFit/>
          </a:bodyPr>
          <a:lstStyle/>
          <a:p>
            <a:pPr algn="l">
              <a:lnSpc>
                <a:spcPct val="105000"/>
              </a:lnSpc>
            </a:pPr>
            <a:r>
              <a:rPr sz="900" b="0" i="0">
                <a:solidFill>
                  <a:srgbClr val="333333"/>
                </a:solidFill>
                <a:latin typeface="Calibri"/>
                <a:ea typeface="Calibri"/>
                <a:cs typeface="Calibri"/>
              </a:rPr>
              <a:t>Dernier jour d'ouverture propre à l'agence observée</a:t>
            </a:r>
          </a:p>
        </p:txBody>
      </p:sp>
      <p:sp>
        <p:nvSpPr>
          <p:cNvPr id="44" name="Rounded Rectangle 43"/>
          <p:cNvSpPr/>
          <p:nvPr/>
        </p:nvSpPr>
        <p:spPr>
          <a:xfrm>
            <a:off x="6089904" y="2743200"/>
            <a:ext cx="2679192" cy="9144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6089904" y="2743200"/>
            <a:ext cx="2679192"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6253325" y="2790712"/>
            <a:ext cx="75492" cy="75492"/>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Freeform 46"/>
          <p:cNvSpPr/>
          <p:nvPr/>
        </p:nvSpPr>
        <p:spPr>
          <a:xfrm>
            <a:off x="6206142" y="2889796"/>
            <a:ext cx="169859" cy="84930"/>
          </a:xfrm>
          <a:custGeom>
            <a:avLst/>
            <a:gdLst/>
            <a:ahLst/>
            <a:cxnLst/>
            <a:rect l="l" t="t" r="r" b="b"/>
            <a:pathLst>
              <a:path w="169859" h="84930">
                <a:moveTo>
                  <a:pt x="0" y="84930"/>
                </a:moveTo>
                <a:lnTo>
                  <a:pt x="14155" y="28310"/>
                </a:lnTo>
                <a:lnTo>
                  <a:pt x="84930" y="0"/>
                </a:lnTo>
                <a:lnTo>
                  <a:pt x="155704" y="28310"/>
                </a:lnTo>
                <a:lnTo>
                  <a:pt x="169859" y="8493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73952" y="2743200"/>
            <a:ext cx="2185416" cy="274320"/>
          </a:xfrm>
          <a:prstGeom prst="rect">
            <a:avLst/>
          </a:prstGeom>
          <a:noFill/>
        </p:spPr>
        <p:txBody>
          <a:bodyPr wrap="square" lIns="0" rIns="0" tIns="0" bIns="0" anchor="ctr">
            <a:spAutoFit/>
          </a:bodyPr>
          <a:lstStyle/>
          <a:p>
            <a:pPr algn="l"/>
            <a:r>
              <a:rPr sz="950" b="1" i="0" spc="40">
                <a:solidFill>
                  <a:srgbClr val="FFFFFF"/>
                </a:solidFill>
                <a:latin typeface="Calibri"/>
                <a:ea typeface="Calibri"/>
                <a:cs typeface="Calibri"/>
              </a:rPr>
              <a:t>CHARGÉ DE CLIENTÈLE</a:t>
            </a:r>
          </a:p>
        </p:txBody>
      </p:sp>
      <p:sp>
        <p:nvSpPr>
          <p:cNvPr id="49" name="TextBox 48"/>
          <p:cNvSpPr txBox="1"/>
          <p:nvPr/>
        </p:nvSpPr>
        <p:spPr>
          <a:xfrm>
            <a:off x="6227064" y="3090672"/>
            <a:ext cx="2404872" cy="502920"/>
          </a:xfrm>
          <a:prstGeom prst="rect">
            <a:avLst/>
          </a:prstGeom>
          <a:noFill/>
        </p:spPr>
        <p:txBody>
          <a:bodyPr wrap="square" lIns="0" rIns="0" tIns="0" bIns="0" anchor="t">
            <a:spAutoFit/>
          </a:bodyPr>
          <a:lstStyle/>
          <a:p>
            <a:pPr algn="l">
              <a:lnSpc>
                <a:spcPct val="105000"/>
              </a:lnSpc>
            </a:pPr>
            <a:r>
              <a:rPr sz="900" b="0" i="0">
                <a:solidFill>
                  <a:srgbClr val="333333"/>
                </a:solidFill>
                <a:latin typeface="Calibri"/>
                <a:ea typeface="Calibri"/>
                <a:cs typeface="Calibri"/>
              </a:rPr>
              <a:t>Dernier jour d'ouverture propre à ce chargé</a:t>
            </a:r>
          </a:p>
        </p:txBody>
      </p:sp>
      <p:sp>
        <p:nvSpPr>
          <p:cNvPr id="50" name="TextBox 49"/>
          <p:cNvSpPr txBox="1"/>
          <p:nvPr/>
        </p:nvSpPr>
        <p:spPr>
          <a:xfrm>
            <a:off x="3044952" y="3063240"/>
            <a:ext cx="182880" cy="274320"/>
          </a:xfrm>
          <a:prstGeom prst="rect">
            <a:avLst/>
          </a:prstGeom>
          <a:noFill/>
        </p:spPr>
        <p:txBody>
          <a:bodyPr wrap="square" lIns="0" rIns="0" tIns="0" bIns="0" anchor="ctr">
            <a:spAutoFit/>
          </a:bodyPr>
          <a:lstStyle/>
          <a:p>
            <a:pPr algn="ctr"/>
            <a:r>
              <a:rPr sz="1600" b="1" i="0">
                <a:solidFill>
                  <a:srgbClr val="009A56"/>
                </a:solidFill>
                <a:latin typeface="Calibri"/>
                <a:ea typeface="Calibri"/>
                <a:cs typeface="Calibri"/>
              </a:rPr>
              <a:t>›</a:t>
            </a:r>
          </a:p>
        </p:txBody>
      </p:sp>
      <p:sp>
        <p:nvSpPr>
          <p:cNvPr id="51" name="TextBox 50"/>
          <p:cNvSpPr txBox="1"/>
          <p:nvPr/>
        </p:nvSpPr>
        <p:spPr>
          <a:xfrm>
            <a:off x="5907024" y="3063240"/>
            <a:ext cx="182880" cy="274320"/>
          </a:xfrm>
          <a:prstGeom prst="rect">
            <a:avLst/>
          </a:prstGeom>
          <a:noFill/>
        </p:spPr>
        <p:txBody>
          <a:bodyPr wrap="square" lIns="0" rIns="0" tIns="0" bIns="0" anchor="ctr">
            <a:spAutoFit/>
          </a:bodyPr>
          <a:lstStyle/>
          <a:p>
            <a:pPr algn="ctr"/>
            <a:r>
              <a:rPr sz="1600" b="1" i="0">
                <a:solidFill>
                  <a:srgbClr val="009A56"/>
                </a:solidFill>
                <a:latin typeface="Calibri"/>
                <a:ea typeface="Calibri"/>
                <a:cs typeface="Calibri"/>
              </a:rPr>
              <a:t>›</a:t>
            </a:r>
          </a:p>
        </p:txBody>
      </p:sp>
      <p:sp>
        <p:nvSpPr>
          <p:cNvPr id="52" name="Rounded Rectangle 51"/>
          <p:cNvSpPr/>
          <p:nvPr/>
        </p:nvSpPr>
        <p:spPr>
          <a:xfrm>
            <a:off x="365760" y="3840480"/>
            <a:ext cx="8412480" cy="749808"/>
          </a:xfrm>
          <a:prstGeom prst="roundRect">
            <a:avLst>
              <a:gd name="adj" fmla="val 6000"/>
            </a:avLst>
          </a:prstGeom>
          <a:solidFill>
            <a:srgbClr val="FDF6E7"/>
          </a:solidFill>
          <a:ln w="12700">
            <a:solidFill>
              <a:srgbClr val="F3D9A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566928" y="3840480"/>
            <a:ext cx="8046720" cy="749808"/>
          </a:xfrm>
          <a:prstGeom prst="rect">
            <a:avLst/>
          </a:prstGeom>
          <a:noFill/>
        </p:spPr>
        <p:txBody>
          <a:bodyPr wrap="square" lIns="0" rIns="0" tIns="0" bIns="0" anchor="ctr">
            <a:spAutoFit/>
          </a:bodyPr>
          <a:lstStyle/>
          <a:p>
            <a:pPr algn="l">
              <a:lnSpc>
                <a:spcPct val="105000"/>
              </a:lnSpc>
            </a:pPr>
            <a:r>
              <a:rPr sz="1000" b="1" i="0">
                <a:solidFill>
                  <a:srgbClr val="F59E0B"/>
                </a:solidFill>
                <a:latin typeface="Calibri"/>
                <a:ea typeface="Calibri"/>
                <a:cs typeface="Calibri"/>
              </a:rPr>
              <a:t>Conséquence pratique : </a:t>
            </a:r>
            <a:r>
              <a:rPr sz="1000" b="0" i="0">
                <a:solidFill>
                  <a:srgbClr val="333333"/>
                </a:solidFill>
                <a:latin typeface="Calibri"/>
                <a:ea typeface="Calibri"/>
                <a:cs typeface="Calibri"/>
              </a:rPr>
              <a:t>un chargé qui n'a rien ouvert le dernier jour de sa filiale garde tout de même un flux, celui de sa propre dernière journée. Et si aucune date d'ouverture n'est exploitable, le flux reste vide : il ne bascule jamais silencieusement sur le stock.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3"/>
                                        </p:tgtEl>
                                        <p:attrNameLst>
                                          <p:attrName>style.visibility</p:attrName>
                                        </p:attrNameLst>
                                      </p:cBhvr>
                                      <p:to>
                                        <p:strVal val="visible"/>
                                      </p:to>
                                    </p:set>
                                    <p:animEffect transition="in" filter="fade">
                                      <p:cBhvr>
                                        <p:cTn id="5" dur="450"/>
                                        <p:tgtEl>
                                          <p:spTgt spid="13"/>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4"/>
                                        </p:tgtEl>
                                        <p:attrNameLst>
                                          <p:attrName>style.visibility</p:attrName>
                                        </p:attrNameLst>
                                      </p:cBhvr>
                                      <p:to>
                                        <p:strVal val="visible"/>
                                      </p:to>
                                    </p:set>
                                    <p:animEffect transition="in" filter="fade">
                                      <p:cBhvr>
                                        <p:cTn id="8" dur="450"/>
                                        <p:tgtEl>
                                          <p:spTgt spid="14"/>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450"/>
                                        <p:tgtEl>
                                          <p:spTgt spid="15"/>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450"/>
                                        <p:tgtEl>
                                          <p:spTgt spid="16"/>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50"/>
                                        <p:tgtEl>
                                          <p:spTgt spid="17"/>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450"/>
                                        <p:tgtEl>
                                          <p:spTgt spid="18"/>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50"/>
                                        <p:tgtEl>
                                          <p:spTgt spid="19"/>
                                        </p:tgtEl>
                                      </p:cBhvr>
                                    </p:animEffect>
                                  </p:childTnLst>
                                </p:cTn>
                              </p:par>
                              <p:par>
                                <p:cTn id="26" presetID="10" presetClass="entr" presetSubtype="0" fill="hold" grpId="0" nodeType="withEffect">
                                  <p:stCondLst>
                                    <p:cond delay="12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50"/>
                                        <p:tgtEl>
                                          <p:spTgt spid="20"/>
                                        </p:tgtEl>
                                      </p:cBhvr>
                                    </p:animEffect>
                                  </p:childTnLst>
                                </p:cTn>
                              </p:par>
                              <p:par>
                                <p:cTn id="29" presetID="10" presetClass="entr" presetSubtype="0" fill="hold" grpId="0" nodeType="withEffect">
                                  <p:stCondLst>
                                    <p:cond delay="24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50"/>
                                        <p:tgtEl>
                                          <p:spTgt spid="21"/>
                                        </p:tgtEl>
                                      </p:cBhvr>
                                    </p:animEffect>
                                  </p:childTnLst>
                                </p:cTn>
                              </p:par>
                              <p:par>
                                <p:cTn id="32" presetID="10" presetClass="entr" presetSubtype="0" fill="hold" grpId="0" nodeType="withEffect">
                                  <p:stCondLst>
                                    <p:cond delay="36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50"/>
                                        <p:tgtEl>
                                          <p:spTgt spid="22"/>
                                        </p:tgtEl>
                                      </p:cBhvr>
                                    </p:animEffect>
                                  </p:childTnLst>
                                </p:cTn>
                              </p:par>
                              <p:par>
                                <p:cTn id="35" presetID="10" presetClass="entr" presetSubtype="0" fill="hold" grpId="0" nodeType="withEffect">
                                  <p:stCondLst>
                                    <p:cond delay="48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450"/>
                                        <p:tgtEl>
                                          <p:spTgt spid="23"/>
                                        </p:tgtEl>
                                      </p:cBhvr>
                                    </p:animEffect>
                                  </p:childTnLst>
                                </p:cTn>
                              </p:par>
                              <p:par>
                                <p:cTn id="38" presetID="10" presetClass="entr" presetSubtype="0" fill="hold" grpId="0" nodeType="withEffect">
                                  <p:stCondLst>
                                    <p:cond delay="60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450"/>
                                        <p:tgtEl>
                                          <p:spTgt spid="24"/>
                                        </p:tgtEl>
                                      </p:cBhvr>
                                    </p:animEffect>
                                  </p:childTnLst>
                                </p:cTn>
                              </p:par>
                            </p:childTnLst>
                          </p:cTn>
                        </p:par>
                      </p:childTnLst>
                    </p:cTn>
                  </p:par>
                  <p:par>
                    <p:cTn id="73" fill="hold">
                      <p:stCondLst>
                        <p:cond delay="indefinite"/>
                      </p:stCondLst>
                      <p:childTnLst>
                        <p:par>
                          <p:cTn id="74"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450"/>
                                        <p:tgtEl>
                                          <p:spTgt spid="26"/>
                                        </p:tgtEl>
                                      </p:cBhvr>
                                    </p:animEffect>
                                  </p:childTnLst>
                                </p:cTn>
                              </p:par>
                              <p:par>
                                <p:cTn id="46" presetID="10" presetClass="entr" presetSubtype="0" fill="hold" grpId="0" nodeType="withEffect">
                                  <p:stCondLst>
                                    <p:cond delay="120"/>
                                  </p:stCondLst>
                                  <p:childTnLst>
                                    <p:set>
                                      <p:cBhvr>
                                        <p:cTn id="47" dur="1" fill="hold">
                                          <p:stCondLst>
                                            <p:cond delay="0"/>
                                          </p:stCondLst>
                                        </p:cTn>
                                        <p:tgtEl>
                                          <p:spTgt spid="27"/>
                                        </p:tgtEl>
                                        <p:attrNameLst>
                                          <p:attrName>style.visibility</p:attrName>
                                        </p:attrNameLst>
                                      </p:cBhvr>
                                      <p:to>
                                        <p:strVal val="visible"/>
                                      </p:to>
                                    </p:set>
                                    <p:animEffect transition="in" filter="fade">
                                      <p:cBhvr>
                                        <p:cTn id="48" dur="450"/>
                                        <p:tgtEl>
                                          <p:spTgt spid="27"/>
                                        </p:tgtEl>
                                      </p:cBhvr>
                                    </p:animEffect>
                                  </p:childTnLst>
                                </p:cTn>
                              </p:par>
                              <p:par>
                                <p:cTn id="49" presetID="10" presetClass="entr" presetSubtype="0" fill="hold" grpId="0" nodeType="withEffect">
                                  <p:stCondLst>
                                    <p:cond delay="24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450"/>
                                        <p:tgtEl>
                                          <p:spTgt spid="28"/>
                                        </p:tgtEl>
                                      </p:cBhvr>
                                    </p:animEffect>
                                  </p:childTnLst>
                                </p:cTn>
                              </p:par>
                              <p:par>
                                <p:cTn id="52" presetID="10" presetClass="entr" presetSubtype="0" fill="hold" grpId="0" nodeType="withEffect">
                                  <p:stCondLst>
                                    <p:cond delay="360"/>
                                  </p:stCondLst>
                                  <p:childTnLst>
                                    <p:set>
                                      <p:cBhvr>
                                        <p:cTn id="53" dur="1" fill="hold">
                                          <p:stCondLst>
                                            <p:cond delay="0"/>
                                          </p:stCondLst>
                                        </p:cTn>
                                        <p:tgtEl>
                                          <p:spTgt spid="29"/>
                                        </p:tgtEl>
                                        <p:attrNameLst>
                                          <p:attrName>style.visibility</p:attrName>
                                        </p:attrNameLst>
                                      </p:cBhvr>
                                      <p:to>
                                        <p:strVal val="visible"/>
                                      </p:to>
                                    </p:set>
                                    <p:animEffect transition="in" filter="fade">
                                      <p:cBhvr>
                                        <p:cTn id="54" dur="450"/>
                                        <p:tgtEl>
                                          <p:spTgt spid="29"/>
                                        </p:tgtEl>
                                      </p:cBhvr>
                                    </p:animEffect>
                                  </p:childTnLst>
                                </p:cTn>
                              </p:par>
                              <p:par>
                                <p:cTn id="55" presetID="10" presetClass="entr" presetSubtype="0" fill="hold" grpId="0" nodeType="withEffect">
                                  <p:stCondLst>
                                    <p:cond delay="48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450"/>
                                        <p:tgtEl>
                                          <p:spTgt spid="30"/>
                                        </p:tgtEl>
                                      </p:cBhvr>
                                    </p:animEffect>
                                  </p:childTnLst>
                                </p:cTn>
                              </p:par>
                              <p:par>
                                <p:cTn id="58" presetID="10" presetClass="entr" presetSubtype="0" fill="hold" grpId="0" nodeType="withEffect">
                                  <p:stCondLst>
                                    <p:cond delay="60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450"/>
                                        <p:tgtEl>
                                          <p:spTgt spid="31"/>
                                        </p:tgtEl>
                                      </p:cBhvr>
                                    </p:animEffect>
                                  </p:childTnLst>
                                </p:cTn>
                              </p:par>
                              <p:par>
                                <p:cTn id="61" presetID="10" presetClass="entr" presetSubtype="0" fill="hold" grpId="0" nodeType="withEffect">
                                  <p:stCondLst>
                                    <p:cond delay="72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50"/>
                                        <p:tgtEl>
                                          <p:spTgt spid="32"/>
                                        </p:tgtEl>
                                      </p:cBhvr>
                                    </p:animEffect>
                                  </p:childTnLst>
                                </p:cTn>
                              </p:par>
                              <p:par>
                                <p:cTn id="64" presetID="10" presetClass="entr" presetSubtype="0" fill="hold" grpId="0" nodeType="withEffect">
                                  <p:stCondLst>
                                    <p:cond delay="84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50"/>
                                        <p:tgtEl>
                                          <p:spTgt spid="33"/>
                                        </p:tgtEl>
                                      </p:cBhvr>
                                    </p:animEffect>
                                  </p:childTnLst>
                                </p:cTn>
                              </p:par>
                              <p:par>
                                <p:cTn id="67" presetID="10" presetClass="entr" presetSubtype="0" fill="hold" grpId="0" nodeType="withEffect">
                                  <p:stCondLst>
                                    <p:cond delay="96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50"/>
                                        <p:tgtEl>
                                          <p:spTgt spid="34"/>
                                        </p:tgtEl>
                                      </p:cBhvr>
                                    </p:animEffect>
                                  </p:childTnLst>
                                </p:cTn>
                              </p:par>
                              <p:par>
                                <p:cTn id="70" presetID="10" presetClass="entr" presetSubtype="0" fill="hold" grpId="0" nodeType="withEffect">
                                  <p:stCondLst>
                                    <p:cond delay="108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50"/>
                                        <p:tgtEl>
                                          <p:spTgt spid="35"/>
                                        </p:tgtEl>
                                      </p:cBhvr>
                                    </p:animEffect>
                                  </p:childTnLst>
                                </p:cTn>
                              </p:par>
                            </p:childTnLst>
                          </p:cTn>
                        </p:par>
                      </p:childTnLst>
                    </p:cTn>
                  </p:par>
                  <p:par>
                    <p:cTn id="99" fill="hold">
                      <p:stCondLst>
                        <p:cond delay="indefinite"/>
                      </p:stCondLst>
                      <p:childTnLst>
                        <p:par>
                          <p:cTn id="100"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450"/>
                                        <p:tgtEl>
                                          <p:spTgt spid="36"/>
                                        </p:tgtEl>
                                      </p:cBhvr>
                                    </p:animEffect>
                                  </p:childTnLst>
                                </p:cTn>
                              </p:par>
                              <p:par>
                                <p:cTn id="78" presetID="10" presetClass="entr" presetSubtype="0" fill="hold" grpId="0" nodeType="withEffect">
                                  <p:stCondLst>
                                    <p:cond delay="120"/>
                                  </p:stCondLst>
                                  <p:childTnLst>
                                    <p:set>
                                      <p:cBhvr>
                                        <p:cTn id="79" dur="1" fill="hold">
                                          <p:stCondLst>
                                            <p:cond delay="0"/>
                                          </p:stCondLst>
                                        </p:cTn>
                                        <p:tgtEl>
                                          <p:spTgt spid="37"/>
                                        </p:tgtEl>
                                        <p:attrNameLst>
                                          <p:attrName>style.visibility</p:attrName>
                                        </p:attrNameLst>
                                      </p:cBhvr>
                                      <p:to>
                                        <p:strVal val="visible"/>
                                      </p:to>
                                    </p:set>
                                    <p:animEffect transition="in" filter="fade">
                                      <p:cBhvr>
                                        <p:cTn id="80" dur="450"/>
                                        <p:tgtEl>
                                          <p:spTgt spid="37"/>
                                        </p:tgtEl>
                                      </p:cBhvr>
                                    </p:animEffect>
                                  </p:childTnLst>
                                </p:cTn>
                              </p:par>
                              <p:par>
                                <p:cTn id="81" presetID="10" presetClass="entr" presetSubtype="0" fill="hold" grpId="0" nodeType="withEffect">
                                  <p:stCondLst>
                                    <p:cond delay="240"/>
                                  </p:stCondLst>
                                  <p:childTnLst>
                                    <p:set>
                                      <p:cBhvr>
                                        <p:cTn id="82" dur="1" fill="hold">
                                          <p:stCondLst>
                                            <p:cond delay="0"/>
                                          </p:stCondLst>
                                        </p:cTn>
                                        <p:tgtEl>
                                          <p:spTgt spid="38"/>
                                        </p:tgtEl>
                                        <p:attrNameLst>
                                          <p:attrName>style.visibility</p:attrName>
                                        </p:attrNameLst>
                                      </p:cBhvr>
                                      <p:to>
                                        <p:strVal val="visible"/>
                                      </p:to>
                                    </p:set>
                                    <p:animEffect transition="in" filter="fade">
                                      <p:cBhvr>
                                        <p:cTn id="83" dur="450"/>
                                        <p:tgtEl>
                                          <p:spTgt spid="38"/>
                                        </p:tgtEl>
                                      </p:cBhvr>
                                    </p:animEffect>
                                  </p:childTnLst>
                                </p:cTn>
                              </p:par>
                              <p:par>
                                <p:cTn id="84" presetID="10" presetClass="entr" presetSubtype="0" fill="hold" grpId="0" nodeType="withEffect">
                                  <p:stCondLst>
                                    <p:cond delay="360"/>
                                  </p:stCondLst>
                                  <p:childTnLst>
                                    <p:set>
                                      <p:cBhvr>
                                        <p:cTn id="85" dur="1" fill="hold">
                                          <p:stCondLst>
                                            <p:cond delay="0"/>
                                          </p:stCondLst>
                                        </p:cTn>
                                        <p:tgtEl>
                                          <p:spTgt spid="39"/>
                                        </p:tgtEl>
                                        <p:attrNameLst>
                                          <p:attrName>style.visibility</p:attrName>
                                        </p:attrNameLst>
                                      </p:cBhvr>
                                      <p:to>
                                        <p:strVal val="visible"/>
                                      </p:to>
                                    </p:set>
                                    <p:animEffect transition="in" filter="fade">
                                      <p:cBhvr>
                                        <p:cTn id="86" dur="450"/>
                                        <p:tgtEl>
                                          <p:spTgt spid="39"/>
                                        </p:tgtEl>
                                      </p:cBhvr>
                                    </p:animEffect>
                                  </p:childTnLst>
                                </p:cTn>
                              </p:par>
                              <p:par>
                                <p:cTn id="87" presetID="10" presetClass="entr" presetSubtype="0" fill="hold" grpId="0" nodeType="withEffect">
                                  <p:stCondLst>
                                    <p:cond delay="480"/>
                                  </p:stCondLst>
                                  <p:childTnLst>
                                    <p:set>
                                      <p:cBhvr>
                                        <p:cTn id="88" dur="1" fill="hold">
                                          <p:stCondLst>
                                            <p:cond delay="0"/>
                                          </p:stCondLst>
                                        </p:cTn>
                                        <p:tgtEl>
                                          <p:spTgt spid="40"/>
                                        </p:tgtEl>
                                        <p:attrNameLst>
                                          <p:attrName>style.visibility</p:attrName>
                                        </p:attrNameLst>
                                      </p:cBhvr>
                                      <p:to>
                                        <p:strVal val="visible"/>
                                      </p:to>
                                    </p:set>
                                    <p:animEffect transition="in" filter="fade">
                                      <p:cBhvr>
                                        <p:cTn id="89" dur="450"/>
                                        <p:tgtEl>
                                          <p:spTgt spid="40"/>
                                        </p:tgtEl>
                                      </p:cBhvr>
                                    </p:animEffect>
                                  </p:childTnLst>
                                </p:cTn>
                              </p:par>
                              <p:par>
                                <p:cTn id="90" presetID="10" presetClass="entr" presetSubtype="0" fill="hold" grpId="0" nodeType="withEffect">
                                  <p:stCondLst>
                                    <p:cond delay="600"/>
                                  </p:stCondLst>
                                  <p:childTnLst>
                                    <p:set>
                                      <p:cBhvr>
                                        <p:cTn id="91" dur="1" fill="hold">
                                          <p:stCondLst>
                                            <p:cond delay="0"/>
                                          </p:stCondLst>
                                        </p:cTn>
                                        <p:tgtEl>
                                          <p:spTgt spid="41"/>
                                        </p:tgtEl>
                                        <p:attrNameLst>
                                          <p:attrName>style.visibility</p:attrName>
                                        </p:attrNameLst>
                                      </p:cBhvr>
                                      <p:to>
                                        <p:strVal val="visible"/>
                                      </p:to>
                                    </p:set>
                                    <p:animEffect transition="in" filter="fade">
                                      <p:cBhvr>
                                        <p:cTn id="92" dur="450"/>
                                        <p:tgtEl>
                                          <p:spTgt spid="41"/>
                                        </p:tgtEl>
                                      </p:cBhvr>
                                    </p:animEffect>
                                  </p:childTnLst>
                                </p:cTn>
                              </p:par>
                              <p:par>
                                <p:cTn id="93" presetID="10" presetClass="entr" presetSubtype="0" fill="hold" grpId="0" nodeType="withEffect">
                                  <p:stCondLst>
                                    <p:cond delay="720"/>
                                  </p:stCondLst>
                                  <p:childTnLst>
                                    <p:set>
                                      <p:cBhvr>
                                        <p:cTn id="94" dur="1" fill="hold">
                                          <p:stCondLst>
                                            <p:cond delay="0"/>
                                          </p:stCondLst>
                                        </p:cTn>
                                        <p:tgtEl>
                                          <p:spTgt spid="42"/>
                                        </p:tgtEl>
                                        <p:attrNameLst>
                                          <p:attrName>style.visibility</p:attrName>
                                        </p:attrNameLst>
                                      </p:cBhvr>
                                      <p:to>
                                        <p:strVal val="visible"/>
                                      </p:to>
                                    </p:set>
                                    <p:animEffect transition="in" filter="fade">
                                      <p:cBhvr>
                                        <p:cTn id="95" dur="450"/>
                                        <p:tgtEl>
                                          <p:spTgt spid="42"/>
                                        </p:tgtEl>
                                      </p:cBhvr>
                                    </p:animEffect>
                                  </p:childTnLst>
                                </p:cTn>
                              </p:par>
                              <p:par>
                                <p:cTn id="96" presetID="10" presetClass="entr" presetSubtype="0" fill="hold" grpId="0" nodeType="withEffect">
                                  <p:stCondLst>
                                    <p:cond delay="840"/>
                                  </p:stCondLst>
                                  <p:childTnLst>
                                    <p:set>
                                      <p:cBhvr>
                                        <p:cTn id="97" dur="1" fill="hold">
                                          <p:stCondLst>
                                            <p:cond delay="0"/>
                                          </p:stCondLst>
                                        </p:cTn>
                                        <p:tgtEl>
                                          <p:spTgt spid="43"/>
                                        </p:tgtEl>
                                        <p:attrNameLst>
                                          <p:attrName>style.visibility</p:attrName>
                                        </p:attrNameLst>
                                      </p:cBhvr>
                                      <p:to>
                                        <p:strVal val="visible"/>
                                      </p:to>
                                    </p:set>
                                    <p:animEffect transition="in" filter="fade">
                                      <p:cBhvr>
                                        <p:cTn id="98" dur="450"/>
                                        <p:tgtEl>
                                          <p:spTgt spid="43"/>
                                        </p:tgtEl>
                                      </p:cBhvr>
                                    </p:animEffect>
                                  </p:childTnLst>
                                </p:cTn>
                              </p:par>
                            </p:childTnLst>
                          </p:cTn>
                        </p:par>
                      </p:childTnLst>
                    </p:cTn>
                  </p:par>
                  <p:par>
                    <p:cTn id="119" fill="hold">
                      <p:stCondLst>
                        <p:cond delay="indefinite"/>
                      </p:stCondLst>
                      <p:childTnLst>
                        <p:par>
                          <p:cTn id="120" fill="hold">
                            <p:stCondLst>
                              <p:cond delay="0"/>
                            </p:stCondLst>
                            <p:childTnLst>
                              <p:par>
                                <p:cTn id="101" presetID="10" presetClass="entr" presetSubtype="0" fill="hold" grpId="0" nodeType="clickEffect">
                                  <p:stCondLst>
                                    <p:cond delay="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50"/>
                                        <p:tgtEl>
                                          <p:spTgt spid="44"/>
                                        </p:tgtEl>
                                      </p:cBhvr>
                                    </p:animEffect>
                                  </p:childTnLst>
                                </p:cTn>
                              </p:par>
                              <p:par>
                                <p:cTn id="104" presetID="10" presetClass="entr" presetSubtype="0" fill="hold" grpId="0" nodeType="withEffect">
                                  <p:stCondLst>
                                    <p:cond delay="12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50"/>
                                        <p:tgtEl>
                                          <p:spTgt spid="45"/>
                                        </p:tgtEl>
                                      </p:cBhvr>
                                    </p:animEffect>
                                  </p:childTnLst>
                                </p:cTn>
                              </p:par>
                              <p:par>
                                <p:cTn id="107" presetID="10" presetClass="entr" presetSubtype="0" fill="hold" grpId="0" nodeType="withEffect">
                                  <p:stCondLst>
                                    <p:cond delay="240"/>
                                  </p:stCondLst>
                                  <p:childTnLst>
                                    <p:set>
                                      <p:cBhvr>
                                        <p:cTn id="108" dur="1" fill="hold">
                                          <p:stCondLst>
                                            <p:cond delay="0"/>
                                          </p:stCondLst>
                                        </p:cTn>
                                        <p:tgtEl>
                                          <p:spTgt spid="46"/>
                                        </p:tgtEl>
                                        <p:attrNameLst>
                                          <p:attrName>style.visibility</p:attrName>
                                        </p:attrNameLst>
                                      </p:cBhvr>
                                      <p:to>
                                        <p:strVal val="visible"/>
                                      </p:to>
                                    </p:set>
                                    <p:animEffect transition="in" filter="fade">
                                      <p:cBhvr>
                                        <p:cTn id="109" dur="450"/>
                                        <p:tgtEl>
                                          <p:spTgt spid="46"/>
                                        </p:tgtEl>
                                      </p:cBhvr>
                                    </p:animEffect>
                                  </p:childTnLst>
                                </p:cTn>
                              </p:par>
                              <p:par>
                                <p:cTn id="110" presetID="10" presetClass="entr" presetSubtype="0" fill="hold" grpId="0" nodeType="withEffect">
                                  <p:stCondLst>
                                    <p:cond delay="360"/>
                                  </p:stCondLst>
                                  <p:childTnLst>
                                    <p:set>
                                      <p:cBhvr>
                                        <p:cTn id="111" dur="1" fill="hold">
                                          <p:stCondLst>
                                            <p:cond delay="0"/>
                                          </p:stCondLst>
                                        </p:cTn>
                                        <p:tgtEl>
                                          <p:spTgt spid="47"/>
                                        </p:tgtEl>
                                        <p:attrNameLst>
                                          <p:attrName>style.visibility</p:attrName>
                                        </p:attrNameLst>
                                      </p:cBhvr>
                                      <p:to>
                                        <p:strVal val="visible"/>
                                      </p:to>
                                    </p:set>
                                    <p:animEffect transition="in" filter="fade">
                                      <p:cBhvr>
                                        <p:cTn id="112" dur="450"/>
                                        <p:tgtEl>
                                          <p:spTgt spid="47"/>
                                        </p:tgtEl>
                                      </p:cBhvr>
                                    </p:animEffect>
                                  </p:childTnLst>
                                </p:cTn>
                              </p:par>
                              <p:par>
                                <p:cTn id="113" presetID="10" presetClass="entr" presetSubtype="0" fill="hold" grpId="0" nodeType="withEffect">
                                  <p:stCondLst>
                                    <p:cond delay="480"/>
                                  </p:stCondLst>
                                  <p:childTnLst>
                                    <p:set>
                                      <p:cBhvr>
                                        <p:cTn id="114" dur="1" fill="hold">
                                          <p:stCondLst>
                                            <p:cond delay="0"/>
                                          </p:stCondLst>
                                        </p:cTn>
                                        <p:tgtEl>
                                          <p:spTgt spid="48"/>
                                        </p:tgtEl>
                                        <p:attrNameLst>
                                          <p:attrName>style.visibility</p:attrName>
                                        </p:attrNameLst>
                                      </p:cBhvr>
                                      <p:to>
                                        <p:strVal val="visible"/>
                                      </p:to>
                                    </p:set>
                                    <p:animEffect transition="in" filter="fade">
                                      <p:cBhvr>
                                        <p:cTn id="115" dur="450"/>
                                        <p:tgtEl>
                                          <p:spTgt spid="48"/>
                                        </p:tgtEl>
                                      </p:cBhvr>
                                    </p:animEffect>
                                  </p:childTnLst>
                                </p:cTn>
                              </p:par>
                              <p:par>
                                <p:cTn id="116" presetID="10" presetClass="entr" presetSubtype="0" fill="hold" grpId="0" nodeType="withEffect">
                                  <p:stCondLst>
                                    <p:cond delay="600"/>
                                  </p:stCondLst>
                                  <p:childTnLst>
                                    <p:set>
                                      <p:cBhvr>
                                        <p:cTn id="117" dur="1" fill="hold">
                                          <p:stCondLst>
                                            <p:cond delay="0"/>
                                          </p:stCondLst>
                                        </p:cTn>
                                        <p:tgtEl>
                                          <p:spTgt spid="49"/>
                                        </p:tgtEl>
                                        <p:attrNameLst>
                                          <p:attrName>style.visibility</p:attrName>
                                        </p:attrNameLst>
                                      </p:cBhvr>
                                      <p:to>
                                        <p:strVal val="visible"/>
                                      </p:to>
                                    </p:set>
                                    <p:animEffect transition="in" filter="fade">
                                      <p:cBhvr>
                                        <p:cTn id="118" dur="450"/>
                                        <p:tgtEl>
                                          <p:spTgt spid="49"/>
                                        </p:tgtEl>
                                      </p:cBhvr>
                                    </p:animEffect>
                                  </p:childTnLst>
                                </p:cTn>
                              </p:par>
                            </p:childTnLst>
                          </p:cTn>
                        </p:par>
                      </p:childTnLst>
                    </p:cTn>
                  </p:par>
                  <p:par>
                    <p:cTn id="127" fill="hold">
                      <p:stCondLst>
                        <p:cond delay="indefinite"/>
                      </p:stCondLst>
                      <p:childTnLst>
                        <p:par>
                          <p:cTn id="128" fill="hold">
                            <p:stCondLst>
                              <p:cond delay="0"/>
                            </p:stCondLst>
                            <p:childTnLst>
                              <p:par>
                                <p:cTn id="121" presetID="10" presetClass="entr" presetSubtype="0" fill="hold" grpId="0" nodeType="clickEffect">
                                  <p:stCondLst>
                                    <p:cond delay="0"/>
                                  </p:stCondLst>
                                  <p:childTnLst>
                                    <p:set>
                                      <p:cBhvr>
                                        <p:cTn id="122" dur="1" fill="hold">
                                          <p:stCondLst>
                                            <p:cond delay="0"/>
                                          </p:stCondLst>
                                        </p:cTn>
                                        <p:tgtEl>
                                          <p:spTgt spid="52"/>
                                        </p:tgtEl>
                                        <p:attrNameLst>
                                          <p:attrName>style.visibility</p:attrName>
                                        </p:attrNameLst>
                                      </p:cBhvr>
                                      <p:to>
                                        <p:strVal val="visible"/>
                                      </p:to>
                                    </p:set>
                                    <p:animEffect transition="in" filter="fade">
                                      <p:cBhvr>
                                        <p:cTn id="123" dur="450"/>
                                        <p:tgtEl>
                                          <p:spTgt spid="52"/>
                                        </p:tgtEl>
                                      </p:cBhvr>
                                    </p:animEffect>
                                  </p:childTnLst>
                                </p:cTn>
                              </p:par>
                              <p:par>
                                <p:cTn id="124" presetID="10" presetClass="entr" presetSubtype="0" fill="hold" grpId="0" nodeType="withEffect">
                                  <p:stCondLst>
                                    <p:cond delay="120"/>
                                  </p:stCondLst>
                                  <p:childTnLst>
                                    <p:set>
                                      <p:cBhvr>
                                        <p:cTn id="125" dur="1" fill="hold">
                                          <p:stCondLst>
                                            <p:cond delay="0"/>
                                          </p:stCondLst>
                                        </p:cTn>
                                        <p:tgtEl>
                                          <p:spTgt spid="53"/>
                                        </p:tgtEl>
                                        <p:attrNameLst>
                                          <p:attrName>style.visibility</p:attrName>
                                        </p:attrNameLst>
                                      </p:cBhvr>
                                      <p:to>
                                        <p:strVal val="visible"/>
                                      </p:to>
                                    </p:set>
                                    <p:animEffect transition="in" filter="fade">
                                      <p:cBhvr>
                                        <p:cTn id="126" dur="45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IV.  RÈGLES QUALITÉ ET PLANS DE CORRECTION</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Freeform 4"/>
          <p:cNvSpPr/>
          <p:nvPr/>
        </p:nvSpPr>
        <p:spPr>
          <a:xfrm>
            <a:off x="512064" y="774606"/>
            <a:ext cx="0" cy="175521"/>
          </a:xfrm>
          <a:custGeom>
            <a:avLst/>
            <a:gdLst/>
            <a:ahLst/>
            <a:cxnLst/>
            <a:rect l="l" t="t" r="r" b="b"/>
            <a:pathLst>
              <a:path w="0" h="175521">
                <a:moveTo>
                  <a:pt x="0" y="0"/>
                </a:moveTo>
                <a:lnTo>
                  <a:pt x="0" y="175521"/>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449782" y="961451"/>
            <a:ext cx="124563" cy="0"/>
          </a:xfrm>
          <a:custGeom>
            <a:avLst/>
            <a:gdLst/>
            <a:ahLst/>
            <a:cxnLst/>
            <a:rect l="l" t="t" r="r" b="b"/>
            <a:pathLst>
              <a:path w="124563" h="0">
                <a:moveTo>
                  <a:pt x="0" y="0"/>
                </a:moveTo>
                <a:lnTo>
                  <a:pt x="124563"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415810" y="802916"/>
            <a:ext cx="192507" cy="0"/>
          </a:xfrm>
          <a:custGeom>
            <a:avLst/>
            <a:gdLst/>
            <a:ahLst/>
            <a:cxnLst/>
            <a:rect l="l" t="t" r="r" b="b"/>
            <a:pathLst>
              <a:path w="192507" h="0">
                <a:moveTo>
                  <a:pt x="0" y="0"/>
                </a:moveTo>
                <a:lnTo>
                  <a:pt x="192507"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415810" y="802916"/>
            <a:ext cx="0" cy="22648"/>
          </a:xfrm>
          <a:custGeom>
            <a:avLst/>
            <a:gdLst/>
            <a:ahLst/>
            <a:cxnLst/>
            <a:rect l="l" t="t" r="r" b="b"/>
            <a:pathLst>
              <a:path w="0" h="22648">
                <a:moveTo>
                  <a:pt x="0" y="0"/>
                </a:moveTo>
                <a:lnTo>
                  <a:pt x="0" y="22648"/>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608317" y="802916"/>
            <a:ext cx="0" cy="22648"/>
          </a:xfrm>
          <a:custGeom>
            <a:avLst/>
            <a:gdLst/>
            <a:ahLst/>
            <a:cxnLst/>
            <a:rect l="l" t="t" r="r" b="b"/>
            <a:pathLst>
              <a:path w="0" h="22648">
                <a:moveTo>
                  <a:pt x="0" y="0"/>
                </a:moveTo>
                <a:lnTo>
                  <a:pt x="0" y="22648"/>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79007" y="825564"/>
            <a:ext cx="73606" cy="62281"/>
          </a:xfrm>
          <a:custGeom>
            <a:avLst/>
            <a:gdLst/>
            <a:ahLst/>
            <a:cxnLst/>
            <a:rect l="l" t="t" r="r" b="b"/>
            <a:pathLst>
              <a:path w="73606" h="62281">
                <a:moveTo>
                  <a:pt x="0" y="0"/>
                </a:moveTo>
                <a:lnTo>
                  <a:pt x="73606" y="0"/>
                </a:lnTo>
                <a:lnTo>
                  <a:pt x="36803" y="62281"/>
                </a:lnTo>
                <a:close/>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571514" y="825564"/>
            <a:ext cx="73606" cy="62281"/>
          </a:xfrm>
          <a:custGeom>
            <a:avLst/>
            <a:gdLst/>
            <a:ahLst/>
            <a:cxnLst/>
            <a:rect l="l" t="t" r="r" b="b"/>
            <a:pathLst>
              <a:path w="73606" h="62281">
                <a:moveTo>
                  <a:pt x="0" y="0"/>
                </a:moveTo>
                <a:lnTo>
                  <a:pt x="73606" y="0"/>
                </a:lnTo>
                <a:lnTo>
                  <a:pt x="36803" y="62281"/>
                </a:lnTo>
                <a:close/>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95078" y="785930"/>
            <a:ext cx="33971" cy="33971"/>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COMMENT UNE RÈGLE DE CONTRÔLE EST CONSTRUITE</a:t>
            </a:r>
          </a:p>
        </p:txBody>
      </p:sp>
      <p:sp>
        <p:nvSpPr>
          <p:cNvPr id="14" name="Rectangle 13"/>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7" name="TextBox 16"/>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11 / 20</a:t>
            </a:r>
          </a:p>
        </p:txBody>
      </p:sp>
      <p:sp>
        <p:nvSpPr>
          <p:cNvPr id="18" name="Rounded Rectangle 17"/>
          <p:cNvSpPr/>
          <p:nvPr/>
        </p:nvSpPr>
        <p:spPr>
          <a:xfrm>
            <a:off x="365760" y="1143000"/>
            <a:ext cx="4023360" cy="34290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365760" y="1143000"/>
            <a:ext cx="4023360" cy="2743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500871" y="1214103"/>
            <a:ext cx="132112" cy="132112"/>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0977" y="1254209"/>
            <a:ext cx="51901" cy="51901"/>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632315" y="1307244"/>
            <a:ext cx="30514" cy="12639"/>
          </a:xfrm>
          <a:custGeom>
            <a:avLst/>
            <a:gdLst/>
            <a:ahLst/>
            <a:cxnLst/>
            <a:rect l="l" t="t" r="r" b="b"/>
            <a:pathLst>
              <a:path w="30514" h="12639">
                <a:moveTo>
                  <a:pt x="0" y="0"/>
                </a:moveTo>
                <a:lnTo>
                  <a:pt x="30514" y="12639"/>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Freeform 22"/>
          <p:cNvSpPr/>
          <p:nvPr/>
        </p:nvSpPr>
        <p:spPr>
          <a:xfrm>
            <a:off x="594012" y="1345547"/>
            <a:ext cx="12639" cy="30514"/>
          </a:xfrm>
          <a:custGeom>
            <a:avLst/>
            <a:gdLst/>
            <a:ahLst/>
            <a:cxnLst/>
            <a:rect l="l" t="t" r="r" b="b"/>
            <a:pathLst>
              <a:path w="12639" h="30514">
                <a:moveTo>
                  <a:pt x="0" y="0"/>
                </a:moveTo>
                <a:lnTo>
                  <a:pt x="12639" y="30514"/>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527204" y="1345547"/>
            <a:ext cx="12639" cy="30514"/>
          </a:xfrm>
          <a:custGeom>
            <a:avLst/>
            <a:gdLst/>
            <a:ahLst/>
            <a:cxnLst/>
            <a:rect l="l" t="t" r="r" b="b"/>
            <a:pathLst>
              <a:path w="12639" h="30514">
                <a:moveTo>
                  <a:pt x="12639" y="0"/>
                </a:moveTo>
                <a:lnTo>
                  <a:pt x="0" y="30514"/>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471026" y="1307244"/>
            <a:ext cx="30514" cy="12639"/>
          </a:xfrm>
          <a:custGeom>
            <a:avLst/>
            <a:gdLst/>
            <a:ahLst/>
            <a:cxnLst/>
            <a:rect l="l" t="t" r="r" b="b"/>
            <a:pathLst>
              <a:path w="30514" h="12639">
                <a:moveTo>
                  <a:pt x="30514" y="0"/>
                </a:moveTo>
                <a:lnTo>
                  <a:pt x="0" y="12639"/>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471026" y="1240436"/>
            <a:ext cx="30514" cy="12639"/>
          </a:xfrm>
          <a:custGeom>
            <a:avLst/>
            <a:gdLst/>
            <a:ahLst/>
            <a:cxnLst/>
            <a:rect l="l" t="t" r="r" b="b"/>
            <a:pathLst>
              <a:path w="30514" h="12639">
                <a:moveTo>
                  <a:pt x="30514" y="12639"/>
                </a:moveTo>
                <a:lnTo>
                  <a:pt x="0"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527204" y="1184258"/>
            <a:ext cx="12639" cy="30514"/>
          </a:xfrm>
          <a:custGeom>
            <a:avLst/>
            <a:gdLst/>
            <a:ahLst/>
            <a:cxnLst/>
            <a:rect l="l" t="t" r="r" b="b"/>
            <a:pathLst>
              <a:path w="12639" h="30514">
                <a:moveTo>
                  <a:pt x="12639" y="30514"/>
                </a:moveTo>
                <a:lnTo>
                  <a:pt x="0"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Freeform 27"/>
          <p:cNvSpPr/>
          <p:nvPr/>
        </p:nvSpPr>
        <p:spPr>
          <a:xfrm>
            <a:off x="594012" y="1184258"/>
            <a:ext cx="12639" cy="30514"/>
          </a:xfrm>
          <a:custGeom>
            <a:avLst/>
            <a:gdLst/>
            <a:ahLst/>
            <a:cxnLst/>
            <a:rect l="l" t="t" r="r" b="b"/>
            <a:pathLst>
              <a:path w="12639" h="30514">
                <a:moveTo>
                  <a:pt x="0" y="30514"/>
                </a:moveTo>
                <a:lnTo>
                  <a:pt x="12639"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Freeform 28"/>
          <p:cNvSpPr/>
          <p:nvPr/>
        </p:nvSpPr>
        <p:spPr>
          <a:xfrm>
            <a:off x="632315" y="1240436"/>
            <a:ext cx="30514" cy="12639"/>
          </a:xfrm>
          <a:custGeom>
            <a:avLst/>
            <a:gdLst/>
            <a:ahLst/>
            <a:cxnLst/>
            <a:rect l="l" t="t" r="r" b="b"/>
            <a:pathLst>
              <a:path w="30514" h="12639">
                <a:moveTo>
                  <a:pt x="0" y="12639"/>
                </a:moveTo>
                <a:lnTo>
                  <a:pt x="30514"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808" y="1143000"/>
            <a:ext cx="3529584"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ANATOMIE D'UNE RÈGLE</a:t>
            </a:r>
          </a:p>
        </p:txBody>
      </p:sp>
      <p:sp>
        <p:nvSpPr>
          <p:cNvPr id="31" name="Rounded Rectangle 30"/>
          <p:cNvSpPr/>
          <p:nvPr/>
        </p:nvSpPr>
        <p:spPr>
          <a:xfrm>
            <a:off x="548640" y="1627632"/>
            <a:ext cx="3657600" cy="658368"/>
          </a:xfrm>
          <a:prstGeom prst="roundRect">
            <a:avLst>
              <a:gd name="adj" fmla="val 6000"/>
            </a:avLst>
          </a:prstGeom>
          <a:solidFill>
            <a:srgbClr val="F0F7F4"/>
          </a:solidFill>
          <a:ln w="12700">
            <a:solidFill>
              <a:srgbClr val="C8E6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5800" y="1682496"/>
            <a:ext cx="3383280" cy="237744"/>
          </a:xfrm>
          <a:prstGeom prst="rect">
            <a:avLst/>
          </a:prstGeom>
          <a:noFill/>
        </p:spPr>
        <p:txBody>
          <a:bodyPr wrap="square" lIns="0" rIns="0" tIns="0" bIns="0" anchor="ctr">
            <a:spAutoFit/>
          </a:bodyPr>
          <a:lstStyle/>
          <a:p>
            <a:pPr algn="l"/>
            <a:r>
              <a:rPr sz="950" b="1" i="0" spc="40">
                <a:solidFill>
                  <a:srgbClr val="009A56"/>
                </a:solidFill>
                <a:latin typeface="Calibri"/>
                <a:ea typeface="Calibri"/>
                <a:cs typeface="Calibri"/>
              </a:rPr>
              <a:t>CHAMP CONTRÔLÉ</a:t>
            </a:r>
          </a:p>
        </p:txBody>
      </p:sp>
      <p:sp>
        <p:nvSpPr>
          <p:cNvPr id="33" name="TextBox 32"/>
          <p:cNvSpPr txBox="1"/>
          <p:nvPr/>
        </p:nvSpPr>
        <p:spPr>
          <a:xfrm>
            <a:off x="685800" y="1938528"/>
            <a:ext cx="3383280" cy="292608"/>
          </a:xfrm>
          <a:prstGeom prst="rect">
            <a:avLst/>
          </a:prstGeom>
          <a:noFill/>
        </p:spPr>
        <p:txBody>
          <a:bodyPr wrap="square" lIns="0" rIns="0" tIns="0" bIns="0" anchor="t">
            <a:spAutoFit/>
          </a:bodyPr>
          <a:lstStyle/>
          <a:p>
            <a:pPr algn="l">
              <a:lnSpc>
                <a:spcPct val="100000"/>
              </a:lnSpc>
            </a:pPr>
            <a:r>
              <a:rPr sz="900" b="0" i="0">
                <a:solidFill>
                  <a:srgbClr val="333333"/>
                </a:solidFill>
                <a:latin typeface="Calibri"/>
                <a:ea typeface="Calibri"/>
                <a:cs typeface="Calibri"/>
              </a:rPr>
              <a:t>Le champ KYC visé, par exemple la date de revue</a:t>
            </a:r>
          </a:p>
        </p:txBody>
      </p:sp>
      <p:sp>
        <p:nvSpPr>
          <p:cNvPr id="34" name="Rounded Rectangle 33"/>
          <p:cNvSpPr/>
          <p:nvPr/>
        </p:nvSpPr>
        <p:spPr>
          <a:xfrm>
            <a:off x="548640" y="2377440"/>
            <a:ext cx="3657600" cy="658368"/>
          </a:xfrm>
          <a:prstGeom prst="roundRect">
            <a:avLst>
              <a:gd name="adj" fmla="val 6000"/>
            </a:avLst>
          </a:prstGeom>
          <a:solidFill>
            <a:srgbClr val="F0F7F4"/>
          </a:solidFill>
          <a:ln w="12700">
            <a:solidFill>
              <a:srgbClr val="C8E6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5800" y="2432304"/>
            <a:ext cx="3383280" cy="237744"/>
          </a:xfrm>
          <a:prstGeom prst="rect">
            <a:avLst/>
          </a:prstGeom>
          <a:noFill/>
        </p:spPr>
        <p:txBody>
          <a:bodyPr wrap="square" lIns="0" rIns="0" tIns="0" bIns="0" anchor="ctr">
            <a:spAutoFit/>
          </a:bodyPr>
          <a:lstStyle/>
          <a:p>
            <a:pPr algn="l"/>
            <a:r>
              <a:rPr sz="950" b="1" i="0" spc="40">
                <a:solidFill>
                  <a:srgbClr val="009A56"/>
                </a:solidFill>
                <a:latin typeface="Calibri"/>
                <a:ea typeface="Calibri"/>
                <a:cs typeface="Calibri"/>
              </a:rPr>
              <a:t>OPÉRATEUR</a:t>
            </a:r>
          </a:p>
        </p:txBody>
      </p:sp>
      <p:sp>
        <p:nvSpPr>
          <p:cNvPr id="36" name="TextBox 35"/>
          <p:cNvSpPr txBox="1"/>
          <p:nvPr/>
        </p:nvSpPr>
        <p:spPr>
          <a:xfrm>
            <a:off x="685800" y="2688336"/>
            <a:ext cx="3383280" cy="292608"/>
          </a:xfrm>
          <a:prstGeom prst="rect">
            <a:avLst/>
          </a:prstGeom>
          <a:noFill/>
        </p:spPr>
        <p:txBody>
          <a:bodyPr wrap="square" lIns="0" rIns="0" tIns="0" bIns="0" anchor="t">
            <a:spAutoFit/>
          </a:bodyPr>
          <a:lstStyle/>
          <a:p>
            <a:pPr algn="l">
              <a:lnSpc>
                <a:spcPct val="100000"/>
              </a:lnSpc>
            </a:pPr>
            <a:r>
              <a:rPr sz="900" b="0" i="0">
                <a:solidFill>
                  <a:srgbClr val="333333"/>
                </a:solidFill>
                <a:latin typeface="Calibri"/>
                <a:ea typeface="Calibri"/>
                <a:cs typeface="Calibri"/>
              </a:rPr>
              <a:t>Est vide, est antérieur à, ne respecte pas le format</a:t>
            </a:r>
          </a:p>
        </p:txBody>
      </p:sp>
      <p:sp>
        <p:nvSpPr>
          <p:cNvPr id="37" name="Rounded Rectangle 36"/>
          <p:cNvSpPr/>
          <p:nvPr/>
        </p:nvSpPr>
        <p:spPr>
          <a:xfrm>
            <a:off x="548640" y="3127248"/>
            <a:ext cx="3657600" cy="658368"/>
          </a:xfrm>
          <a:prstGeom prst="roundRect">
            <a:avLst>
              <a:gd name="adj" fmla="val 6000"/>
            </a:avLst>
          </a:prstGeom>
          <a:solidFill>
            <a:srgbClr val="F0F7F4"/>
          </a:solidFill>
          <a:ln w="12700">
            <a:solidFill>
              <a:srgbClr val="C8E6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85800" y="3182112"/>
            <a:ext cx="3383280" cy="237744"/>
          </a:xfrm>
          <a:prstGeom prst="rect">
            <a:avLst/>
          </a:prstGeom>
          <a:noFill/>
        </p:spPr>
        <p:txBody>
          <a:bodyPr wrap="square" lIns="0" rIns="0" tIns="0" bIns="0" anchor="ctr">
            <a:spAutoFit/>
          </a:bodyPr>
          <a:lstStyle/>
          <a:p>
            <a:pPr algn="l"/>
            <a:r>
              <a:rPr sz="950" b="1" i="0" spc="40">
                <a:solidFill>
                  <a:srgbClr val="009A56"/>
                </a:solidFill>
                <a:latin typeface="Calibri"/>
                <a:ea typeface="Calibri"/>
                <a:cs typeface="Calibri"/>
              </a:rPr>
              <a:t>VALEUR ATTENDUE</a:t>
            </a:r>
          </a:p>
        </p:txBody>
      </p:sp>
      <p:sp>
        <p:nvSpPr>
          <p:cNvPr id="39" name="TextBox 38"/>
          <p:cNvSpPr txBox="1"/>
          <p:nvPr/>
        </p:nvSpPr>
        <p:spPr>
          <a:xfrm>
            <a:off x="685800" y="3438144"/>
            <a:ext cx="3383280" cy="292608"/>
          </a:xfrm>
          <a:prstGeom prst="rect">
            <a:avLst/>
          </a:prstGeom>
          <a:noFill/>
        </p:spPr>
        <p:txBody>
          <a:bodyPr wrap="square" lIns="0" rIns="0" tIns="0" bIns="0" anchor="t">
            <a:spAutoFit/>
          </a:bodyPr>
          <a:lstStyle/>
          <a:p>
            <a:pPr algn="l">
              <a:lnSpc>
                <a:spcPct val="100000"/>
              </a:lnSpc>
            </a:pPr>
            <a:r>
              <a:rPr sz="900" b="0" i="0">
                <a:solidFill>
                  <a:srgbClr val="333333"/>
                </a:solidFill>
                <a:latin typeface="Calibri"/>
                <a:ea typeface="Calibri"/>
                <a:cs typeface="Calibri"/>
              </a:rPr>
              <a:t>La référence de comparaison : une date, un format, une liste</a:t>
            </a:r>
          </a:p>
        </p:txBody>
      </p:sp>
      <p:sp>
        <p:nvSpPr>
          <p:cNvPr id="40" name="TextBox 39"/>
          <p:cNvSpPr txBox="1"/>
          <p:nvPr/>
        </p:nvSpPr>
        <p:spPr>
          <a:xfrm>
            <a:off x="548640" y="3913632"/>
            <a:ext cx="3657600" cy="566928"/>
          </a:xfrm>
          <a:prstGeom prst="rect">
            <a:avLst/>
          </a:prstGeom>
          <a:noFill/>
        </p:spPr>
        <p:txBody>
          <a:bodyPr wrap="square" lIns="0" rIns="0" tIns="0" bIns="0" anchor="t">
            <a:spAutoFit/>
          </a:bodyPr>
          <a:lstStyle/>
          <a:p>
            <a:pPr algn="l">
              <a:lnSpc>
                <a:spcPct val="105000"/>
              </a:lnSpc>
            </a:pPr>
            <a:r>
              <a:rPr sz="950" b="1" i="0">
                <a:solidFill>
                  <a:srgbClr val="1B2A4A"/>
                </a:solidFill>
                <a:latin typeface="Calibri"/>
                <a:ea typeface="Calibri"/>
                <a:cs typeface="Calibri"/>
              </a:rPr>
              <a:t>Plusieurs conditions se combinent en ET / OU. </a:t>
            </a:r>
            <a:r>
              <a:rPr sz="950" b="0" i="0">
                <a:solidFill>
                  <a:srgbClr val="333333"/>
                </a:solidFill>
                <a:latin typeface="Calibri"/>
                <a:ea typeface="Calibri"/>
                <a:cs typeface="Calibri"/>
              </a:rPr>
              <a:t>Chaque évaluation est datée, tracée et rattachée à une version de la règle.</a:t>
            </a:r>
          </a:p>
        </p:txBody>
      </p:sp>
      <p:sp>
        <p:nvSpPr>
          <p:cNvPr id="41" name="Rounded Rectangle 40"/>
          <p:cNvSpPr/>
          <p:nvPr/>
        </p:nvSpPr>
        <p:spPr>
          <a:xfrm>
            <a:off x="4754880" y="1143000"/>
            <a:ext cx="4023360" cy="34290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754880" y="1143000"/>
            <a:ext cx="4023360"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4871118" y="1185793"/>
            <a:ext cx="169858" cy="188732"/>
          </a:xfrm>
          <a:prstGeom prst="rect">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4894710" y="1218822"/>
            <a:ext cx="49542" cy="33028"/>
          </a:xfrm>
          <a:custGeom>
            <a:avLst/>
            <a:gdLst/>
            <a:ahLst/>
            <a:cxnLst/>
            <a:rect l="l" t="t" r="r" b="b"/>
            <a:pathLst>
              <a:path w="49542" h="33028">
                <a:moveTo>
                  <a:pt x="0" y="14154"/>
                </a:moveTo>
                <a:lnTo>
                  <a:pt x="18873" y="33028"/>
                </a:lnTo>
                <a:lnTo>
                  <a:pt x="49542"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Freeform 44"/>
          <p:cNvSpPr/>
          <p:nvPr/>
        </p:nvSpPr>
        <p:spPr>
          <a:xfrm>
            <a:off x="4965484" y="1235336"/>
            <a:ext cx="51901" cy="0"/>
          </a:xfrm>
          <a:custGeom>
            <a:avLst/>
            <a:gdLst/>
            <a:ahLst/>
            <a:cxnLst/>
            <a:rect l="l" t="t" r="r" b="b"/>
            <a:pathLst>
              <a:path w="51901" h="0">
                <a:moveTo>
                  <a:pt x="0" y="0"/>
                </a:moveTo>
                <a:lnTo>
                  <a:pt x="5190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Freeform 45"/>
          <p:cNvSpPr/>
          <p:nvPr/>
        </p:nvSpPr>
        <p:spPr>
          <a:xfrm>
            <a:off x="4894710" y="1270723"/>
            <a:ext cx="49542" cy="33028"/>
          </a:xfrm>
          <a:custGeom>
            <a:avLst/>
            <a:gdLst/>
            <a:ahLst/>
            <a:cxnLst/>
            <a:rect l="l" t="t" r="r" b="b"/>
            <a:pathLst>
              <a:path w="49542" h="33028">
                <a:moveTo>
                  <a:pt x="0" y="14155"/>
                </a:moveTo>
                <a:lnTo>
                  <a:pt x="18873" y="33028"/>
                </a:lnTo>
                <a:lnTo>
                  <a:pt x="49542"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Freeform 46"/>
          <p:cNvSpPr/>
          <p:nvPr/>
        </p:nvSpPr>
        <p:spPr>
          <a:xfrm>
            <a:off x="4965484" y="1287237"/>
            <a:ext cx="51901" cy="0"/>
          </a:xfrm>
          <a:custGeom>
            <a:avLst/>
            <a:gdLst/>
            <a:ahLst/>
            <a:cxnLst/>
            <a:rect l="l" t="t" r="r" b="b"/>
            <a:pathLst>
              <a:path w="51901" h="0">
                <a:moveTo>
                  <a:pt x="0" y="0"/>
                </a:moveTo>
                <a:lnTo>
                  <a:pt x="5190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Freeform 47"/>
          <p:cNvSpPr/>
          <p:nvPr/>
        </p:nvSpPr>
        <p:spPr>
          <a:xfrm>
            <a:off x="4894710" y="1322624"/>
            <a:ext cx="49542" cy="33028"/>
          </a:xfrm>
          <a:custGeom>
            <a:avLst/>
            <a:gdLst/>
            <a:ahLst/>
            <a:cxnLst/>
            <a:rect l="l" t="t" r="r" b="b"/>
            <a:pathLst>
              <a:path w="49542" h="33028">
                <a:moveTo>
                  <a:pt x="0" y="14155"/>
                </a:moveTo>
                <a:lnTo>
                  <a:pt x="18873" y="33028"/>
                </a:lnTo>
                <a:lnTo>
                  <a:pt x="49542"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Freeform 48"/>
          <p:cNvSpPr/>
          <p:nvPr/>
        </p:nvSpPr>
        <p:spPr>
          <a:xfrm>
            <a:off x="4965484" y="1339138"/>
            <a:ext cx="51901" cy="0"/>
          </a:xfrm>
          <a:custGeom>
            <a:avLst/>
            <a:gdLst/>
            <a:ahLst/>
            <a:cxnLst/>
            <a:rect l="l" t="t" r="r" b="b"/>
            <a:pathLst>
              <a:path w="51901" h="0">
                <a:moveTo>
                  <a:pt x="0" y="0"/>
                </a:moveTo>
                <a:lnTo>
                  <a:pt x="5190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138928" y="1143000"/>
            <a:ext cx="3529584"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EXEMPLES APPLIQUÉS À BOA RDC</a:t>
            </a:r>
          </a:p>
        </p:txBody>
      </p:sp>
      <p:sp>
        <p:nvSpPr>
          <p:cNvPr id="51" name="TextBox 50"/>
          <p:cNvSpPr txBox="1"/>
          <p:nvPr/>
        </p:nvSpPr>
        <p:spPr>
          <a:xfrm>
            <a:off x="4919472" y="1563624"/>
            <a:ext cx="3694176" cy="2880360"/>
          </a:xfrm>
          <a:prstGeom prst="rect">
            <a:avLst/>
          </a:prstGeom>
          <a:noFill/>
        </p:spPr>
        <p:txBody>
          <a:bodyPr wrap="square" lIns="0" rIns="0" tIns="0" bIns="0" anchor="t">
            <a:spAutoFit/>
          </a:bodyPr>
          <a:lstStyle/>
          <a:p>
            <a:pPr algn="l" marL="152400" indent="-152400">
              <a:lnSpc>
                <a:spcPct val="105000"/>
              </a:lnSpc>
              <a:spcAft>
                <a:spcPts val="1400"/>
              </a:spcAft>
              <a:buClr>
                <a:srgbClr val="009A56"/>
              </a:buClr>
              <a:buFont typeface="Arial" pitchFamily="34" charset="0"/>
              <a:buChar char="▪"/>
            </a:pPr>
            <a:r>
              <a:rPr sz="1000" b="0" i="0">
                <a:solidFill>
                  <a:srgbClr val="333333"/>
                </a:solidFill>
                <a:latin typeface="Calibri"/>
                <a:ea typeface="Calibri"/>
                <a:cs typeface="Calibri"/>
              </a:rPr>
              <a:t>Date de revue dépassée : le dossier est échu et doit être revu en priorité</a:t>
            </a:r>
          </a:p>
          <a:p>
            <a:pPr algn="l" marL="152400" indent="-152400">
              <a:lnSpc>
                <a:spcPct val="105000"/>
              </a:lnSpc>
              <a:spcAft>
                <a:spcPts val="1400"/>
              </a:spcAft>
              <a:buClr>
                <a:srgbClr val="009A56"/>
              </a:buClr>
              <a:buFont typeface="Arial" pitchFamily="34" charset="0"/>
              <a:buChar char="▪"/>
            </a:pPr>
            <a:r>
              <a:rPr sz="1000" b="0" i="0">
                <a:solidFill>
                  <a:srgbClr val="333333"/>
                </a:solidFill>
                <a:latin typeface="Calibri"/>
                <a:ea typeface="Calibri"/>
                <a:cs typeface="Calibri"/>
              </a:rPr>
              <a:t>Pièce d'identité arrivant à échéance dans les trois mois : anticipation du renouvellement</a:t>
            </a:r>
          </a:p>
          <a:p>
            <a:pPr algn="l" marL="152400" indent="-152400">
              <a:lnSpc>
                <a:spcPct val="105000"/>
              </a:lnSpc>
              <a:spcAft>
                <a:spcPts val="1400"/>
              </a:spcAft>
              <a:buClr>
                <a:srgbClr val="009A56"/>
              </a:buClr>
              <a:buFont typeface="Arial" pitchFamily="34" charset="0"/>
              <a:buChar char="▪"/>
            </a:pPr>
            <a:r>
              <a:rPr sz="1000" b="0" i="0">
                <a:solidFill>
                  <a:srgbClr val="333333"/>
                </a:solidFill>
                <a:latin typeface="Calibri"/>
                <a:ea typeface="Calibri"/>
                <a:cs typeface="Calibri"/>
              </a:rPr>
              <a:t>Profession ou activité non renseignée sur un compte particulier</a:t>
            </a:r>
          </a:p>
          <a:p>
            <a:pPr algn="l" marL="152400" indent="-152400">
              <a:lnSpc>
                <a:spcPct val="105000"/>
              </a:lnSpc>
              <a:spcAft>
                <a:spcPts val="1400"/>
              </a:spcAft>
              <a:buClr>
                <a:srgbClr val="009A56"/>
              </a:buClr>
              <a:buFont typeface="Arial" pitchFamily="34" charset="0"/>
              <a:buChar char="▪"/>
            </a:pPr>
            <a:r>
              <a:rPr sz="1000" b="0" i="0">
                <a:solidFill>
                  <a:srgbClr val="333333"/>
                </a:solidFill>
                <a:latin typeface="Calibri"/>
                <a:ea typeface="Calibri"/>
                <a:cs typeface="Calibri"/>
              </a:rPr>
              <a:t>Adresse réduite à une mention générique, sans commune ni référence</a:t>
            </a:r>
          </a:p>
          <a:p>
            <a:pPr algn="l" marL="152400" indent="-152400">
              <a:lnSpc>
                <a:spcPct val="105000"/>
              </a:lnSpc>
              <a:spcAft>
                <a:spcPts val="1400"/>
              </a:spcAft>
              <a:buClr>
                <a:srgbClr val="009A56"/>
              </a:buClr>
              <a:buFont typeface="Arial" pitchFamily="34" charset="0"/>
              <a:buChar char="▪"/>
            </a:pPr>
            <a:r>
              <a:rPr sz="1000" b="0" i="0">
                <a:solidFill>
                  <a:srgbClr val="333333"/>
                </a:solidFill>
                <a:latin typeface="Calibri"/>
                <a:ea typeface="Calibri"/>
                <a:cs typeface="Calibri"/>
              </a:rPr>
              <a:t>Personne morale sans numéro d'identification fiscale renseigné</a:t>
            </a:r>
          </a:p>
          <a:p>
            <a:pPr algn="l" marL="152400" indent="-152400">
              <a:lnSpc>
                <a:spcPct val="105000"/>
              </a:lnSpc>
              <a:spcAft>
                <a:spcPts val="1400"/>
              </a:spcAft>
              <a:buClr>
                <a:srgbClr val="009A56"/>
              </a:buClr>
              <a:buFont typeface="Arial" pitchFamily="34" charset="0"/>
              <a:buChar char="▪"/>
            </a:pPr>
            <a:r>
              <a:rPr sz="1000" b="0" i="0">
                <a:solidFill>
                  <a:srgbClr val="333333"/>
                </a:solidFill>
                <a:latin typeface="Calibri"/>
                <a:ea typeface="Calibri"/>
                <a:cs typeface="Calibri"/>
              </a:rPr>
              <a:t>Coordonnées de contact absentes, rendant la relance impossible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2" fill="hold">
                      <p:stCondLst>
                        <p:cond delay="indefinite"/>
                      </p:stCondLst>
                      <p:childTnLst>
                        <p:par>
                          <p:cTn id="7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50"/>
                                        <p:tgtEl>
                                          <p:spTgt spid="18"/>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50"/>
                                        <p:tgtEl>
                                          <p:spTgt spid="19"/>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50"/>
                                        <p:tgtEl>
                                          <p:spTgt spid="20"/>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50"/>
                                        <p:tgtEl>
                                          <p:spTgt spid="21"/>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50"/>
                                        <p:tgtEl>
                                          <p:spTgt spid="22"/>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50"/>
                                        <p:tgtEl>
                                          <p:spTgt spid="23"/>
                                        </p:tgtEl>
                                      </p:cBhvr>
                                    </p:animEffect>
                                  </p:childTnLst>
                                </p:cTn>
                              </p:par>
                              <p:par>
                                <p:cTn id="21" presetID="10" presetClass="entr" presetSubtype="0" fill="hold" grpId="0" nodeType="withEffect">
                                  <p:stCondLst>
                                    <p:cond delay="72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50"/>
                                        <p:tgtEl>
                                          <p:spTgt spid="24"/>
                                        </p:tgtEl>
                                      </p:cBhvr>
                                    </p:animEffect>
                                  </p:childTnLst>
                                </p:cTn>
                              </p:par>
                              <p:par>
                                <p:cTn id="24" presetID="10" presetClass="entr" presetSubtype="0" fill="hold" grpId="0" nodeType="withEffect">
                                  <p:stCondLst>
                                    <p:cond delay="84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50"/>
                                        <p:tgtEl>
                                          <p:spTgt spid="25"/>
                                        </p:tgtEl>
                                      </p:cBhvr>
                                    </p:animEffect>
                                  </p:childTnLst>
                                </p:cTn>
                              </p:par>
                              <p:par>
                                <p:cTn id="27" presetID="10" presetClass="entr" presetSubtype="0" fill="hold" grpId="0" nodeType="withEffect">
                                  <p:stCondLst>
                                    <p:cond delay="96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50"/>
                                        <p:tgtEl>
                                          <p:spTgt spid="26"/>
                                        </p:tgtEl>
                                      </p:cBhvr>
                                    </p:animEffect>
                                  </p:childTnLst>
                                </p:cTn>
                              </p:par>
                              <p:par>
                                <p:cTn id="30" presetID="10" presetClass="entr" presetSubtype="0" fill="hold" grpId="0" nodeType="withEffect">
                                  <p:stCondLst>
                                    <p:cond delay="108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50"/>
                                        <p:tgtEl>
                                          <p:spTgt spid="27"/>
                                        </p:tgtEl>
                                      </p:cBhvr>
                                    </p:animEffect>
                                  </p:childTnLst>
                                </p:cTn>
                              </p:par>
                              <p:par>
                                <p:cTn id="33" presetID="10" presetClass="entr" presetSubtype="0" fill="hold" grpId="0" nodeType="withEffect">
                                  <p:stCondLst>
                                    <p:cond delay="120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50"/>
                                        <p:tgtEl>
                                          <p:spTgt spid="28"/>
                                        </p:tgtEl>
                                      </p:cBhvr>
                                    </p:animEffect>
                                  </p:childTnLst>
                                </p:cTn>
                              </p:par>
                              <p:par>
                                <p:cTn id="36" presetID="10" presetClass="entr" presetSubtype="0" fill="hold" grpId="0" nodeType="withEffect">
                                  <p:stCondLst>
                                    <p:cond delay="132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450"/>
                                        <p:tgtEl>
                                          <p:spTgt spid="29"/>
                                        </p:tgtEl>
                                      </p:cBhvr>
                                    </p:animEffect>
                                  </p:childTnLst>
                                </p:cTn>
                              </p:par>
                              <p:par>
                                <p:cTn id="39" presetID="10" presetClass="entr" presetSubtype="0" fill="hold" grpId="0" nodeType="withEffect">
                                  <p:stCondLst>
                                    <p:cond delay="144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450"/>
                                        <p:tgtEl>
                                          <p:spTgt spid="30"/>
                                        </p:tgtEl>
                                      </p:cBhvr>
                                    </p:animEffect>
                                  </p:childTnLst>
                                </p:cTn>
                              </p:par>
                              <p:par>
                                <p:cTn id="42" presetID="10" presetClass="entr" presetSubtype="0" fill="hold" grpId="0" nodeType="withEffect">
                                  <p:stCondLst>
                                    <p:cond delay="156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50"/>
                                        <p:tgtEl>
                                          <p:spTgt spid="31"/>
                                        </p:tgtEl>
                                      </p:cBhvr>
                                    </p:animEffect>
                                  </p:childTnLst>
                                </p:cTn>
                              </p:par>
                              <p:par>
                                <p:cTn id="45" presetID="10" presetClass="entr" presetSubtype="0" fill="hold" grpId="0" nodeType="withEffect">
                                  <p:stCondLst>
                                    <p:cond delay="168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50"/>
                                        <p:tgtEl>
                                          <p:spTgt spid="32"/>
                                        </p:tgtEl>
                                      </p:cBhvr>
                                    </p:animEffect>
                                  </p:childTnLst>
                                </p:cTn>
                              </p:par>
                              <p:par>
                                <p:cTn id="48" presetID="10" presetClass="entr" presetSubtype="0" fill="hold" grpId="0" nodeType="withEffect">
                                  <p:stCondLst>
                                    <p:cond delay="180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450"/>
                                        <p:tgtEl>
                                          <p:spTgt spid="33"/>
                                        </p:tgtEl>
                                      </p:cBhvr>
                                    </p:animEffect>
                                  </p:childTnLst>
                                </p:cTn>
                              </p:par>
                              <p:par>
                                <p:cTn id="51" presetID="10" presetClass="entr" presetSubtype="0" fill="hold" grpId="0" nodeType="withEffect">
                                  <p:stCondLst>
                                    <p:cond delay="192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450"/>
                                        <p:tgtEl>
                                          <p:spTgt spid="34"/>
                                        </p:tgtEl>
                                      </p:cBhvr>
                                    </p:animEffect>
                                  </p:childTnLst>
                                </p:cTn>
                              </p:par>
                              <p:par>
                                <p:cTn id="54" presetID="10" presetClass="entr" presetSubtype="0" fill="hold" grpId="0" nodeType="withEffect">
                                  <p:stCondLst>
                                    <p:cond delay="2040"/>
                                  </p:stCondLst>
                                  <p:childTnLst>
                                    <p:set>
                                      <p:cBhvr>
                                        <p:cTn id="55" dur="1" fill="hold">
                                          <p:stCondLst>
                                            <p:cond delay="0"/>
                                          </p:stCondLst>
                                        </p:cTn>
                                        <p:tgtEl>
                                          <p:spTgt spid="35"/>
                                        </p:tgtEl>
                                        <p:attrNameLst>
                                          <p:attrName>style.visibility</p:attrName>
                                        </p:attrNameLst>
                                      </p:cBhvr>
                                      <p:to>
                                        <p:strVal val="visible"/>
                                      </p:to>
                                    </p:set>
                                    <p:animEffect transition="in" filter="fade">
                                      <p:cBhvr>
                                        <p:cTn id="56" dur="450"/>
                                        <p:tgtEl>
                                          <p:spTgt spid="35"/>
                                        </p:tgtEl>
                                      </p:cBhvr>
                                    </p:animEffect>
                                  </p:childTnLst>
                                </p:cTn>
                              </p:par>
                              <p:par>
                                <p:cTn id="57" presetID="10" presetClass="entr" presetSubtype="0" fill="hold" grpId="0" nodeType="withEffect">
                                  <p:stCondLst>
                                    <p:cond delay="2160"/>
                                  </p:stCondLst>
                                  <p:childTnLst>
                                    <p:set>
                                      <p:cBhvr>
                                        <p:cTn id="58" dur="1" fill="hold">
                                          <p:stCondLst>
                                            <p:cond delay="0"/>
                                          </p:stCondLst>
                                        </p:cTn>
                                        <p:tgtEl>
                                          <p:spTgt spid="36"/>
                                        </p:tgtEl>
                                        <p:attrNameLst>
                                          <p:attrName>style.visibility</p:attrName>
                                        </p:attrNameLst>
                                      </p:cBhvr>
                                      <p:to>
                                        <p:strVal val="visible"/>
                                      </p:to>
                                    </p:set>
                                    <p:animEffect transition="in" filter="fade">
                                      <p:cBhvr>
                                        <p:cTn id="59" dur="450"/>
                                        <p:tgtEl>
                                          <p:spTgt spid="36"/>
                                        </p:tgtEl>
                                      </p:cBhvr>
                                    </p:animEffect>
                                  </p:childTnLst>
                                </p:cTn>
                              </p:par>
                              <p:par>
                                <p:cTn id="60" presetID="10" presetClass="entr" presetSubtype="0" fill="hold" grpId="0" nodeType="withEffect">
                                  <p:stCondLst>
                                    <p:cond delay="228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450"/>
                                        <p:tgtEl>
                                          <p:spTgt spid="37"/>
                                        </p:tgtEl>
                                      </p:cBhvr>
                                    </p:animEffect>
                                  </p:childTnLst>
                                </p:cTn>
                              </p:par>
                              <p:par>
                                <p:cTn id="63" presetID="10" presetClass="entr" presetSubtype="0" fill="hold" grpId="0" nodeType="withEffect">
                                  <p:stCondLst>
                                    <p:cond delay="240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450"/>
                                        <p:tgtEl>
                                          <p:spTgt spid="38"/>
                                        </p:tgtEl>
                                      </p:cBhvr>
                                    </p:animEffect>
                                  </p:childTnLst>
                                </p:cTn>
                              </p:par>
                              <p:par>
                                <p:cTn id="66" presetID="10" presetClass="entr" presetSubtype="0" fill="hold" grpId="0" nodeType="withEffect">
                                  <p:stCondLst>
                                    <p:cond delay="2520"/>
                                  </p:stCondLst>
                                  <p:childTnLst>
                                    <p:set>
                                      <p:cBhvr>
                                        <p:cTn id="67" dur="1" fill="hold">
                                          <p:stCondLst>
                                            <p:cond delay="0"/>
                                          </p:stCondLst>
                                        </p:cTn>
                                        <p:tgtEl>
                                          <p:spTgt spid="39"/>
                                        </p:tgtEl>
                                        <p:attrNameLst>
                                          <p:attrName>style.visibility</p:attrName>
                                        </p:attrNameLst>
                                      </p:cBhvr>
                                      <p:to>
                                        <p:strVal val="visible"/>
                                      </p:to>
                                    </p:set>
                                    <p:animEffect transition="in" filter="fade">
                                      <p:cBhvr>
                                        <p:cTn id="68" dur="450"/>
                                        <p:tgtEl>
                                          <p:spTgt spid="39"/>
                                        </p:tgtEl>
                                      </p:cBhvr>
                                    </p:animEffect>
                                  </p:childTnLst>
                                </p:cTn>
                              </p:par>
                              <p:par>
                                <p:cTn id="69" presetID="10" presetClass="entr" presetSubtype="0" fill="hold" grpId="0" nodeType="withEffect">
                                  <p:stCondLst>
                                    <p:cond delay="2640"/>
                                  </p:stCondLst>
                                  <p:childTnLst>
                                    <p:set>
                                      <p:cBhvr>
                                        <p:cTn id="70" dur="1" fill="hold">
                                          <p:stCondLst>
                                            <p:cond delay="0"/>
                                          </p:stCondLst>
                                        </p:cTn>
                                        <p:tgtEl>
                                          <p:spTgt spid="40"/>
                                        </p:tgtEl>
                                        <p:attrNameLst>
                                          <p:attrName>style.visibility</p:attrName>
                                        </p:attrNameLst>
                                      </p:cBhvr>
                                      <p:to>
                                        <p:strVal val="visible"/>
                                      </p:to>
                                    </p:set>
                                    <p:animEffect transition="in" filter="fade">
                                      <p:cBhvr>
                                        <p:cTn id="71" dur="450"/>
                                        <p:tgtEl>
                                          <p:spTgt spid="40"/>
                                        </p:tgtEl>
                                      </p:cBhvr>
                                    </p:animEffect>
                                  </p:childTnLst>
                                </p:cTn>
                              </p:par>
                            </p:childTnLst>
                          </p:cTn>
                        </p:par>
                      </p:childTnLst>
                    </p:cTn>
                  </p:par>
                  <p:par>
                    <p:cTn id="107" fill="hold">
                      <p:stCondLst>
                        <p:cond delay="indefinite"/>
                      </p:stCondLst>
                      <p:childTnLst>
                        <p:par>
                          <p:cTn id="108"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fade">
                                      <p:cBhvr>
                                        <p:cTn id="76" dur="450"/>
                                        <p:tgtEl>
                                          <p:spTgt spid="41"/>
                                        </p:tgtEl>
                                      </p:cBhvr>
                                    </p:animEffect>
                                  </p:childTnLst>
                                </p:cTn>
                              </p:par>
                              <p:par>
                                <p:cTn id="77" presetID="10" presetClass="entr" presetSubtype="0" fill="hold" grpId="0" nodeType="withEffect">
                                  <p:stCondLst>
                                    <p:cond delay="120"/>
                                  </p:stCondLst>
                                  <p:childTnLst>
                                    <p:set>
                                      <p:cBhvr>
                                        <p:cTn id="78" dur="1" fill="hold">
                                          <p:stCondLst>
                                            <p:cond delay="0"/>
                                          </p:stCondLst>
                                        </p:cTn>
                                        <p:tgtEl>
                                          <p:spTgt spid="42"/>
                                        </p:tgtEl>
                                        <p:attrNameLst>
                                          <p:attrName>style.visibility</p:attrName>
                                        </p:attrNameLst>
                                      </p:cBhvr>
                                      <p:to>
                                        <p:strVal val="visible"/>
                                      </p:to>
                                    </p:set>
                                    <p:animEffect transition="in" filter="fade">
                                      <p:cBhvr>
                                        <p:cTn id="79" dur="450"/>
                                        <p:tgtEl>
                                          <p:spTgt spid="42"/>
                                        </p:tgtEl>
                                      </p:cBhvr>
                                    </p:animEffect>
                                  </p:childTnLst>
                                </p:cTn>
                              </p:par>
                              <p:par>
                                <p:cTn id="80" presetID="10" presetClass="entr" presetSubtype="0" fill="hold" grpId="0" nodeType="withEffect">
                                  <p:stCondLst>
                                    <p:cond delay="240"/>
                                  </p:stCondLst>
                                  <p:childTnLst>
                                    <p:set>
                                      <p:cBhvr>
                                        <p:cTn id="81" dur="1" fill="hold">
                                          <p:stCondLst>
                                            <p:cond delay="0"/>
                                          </p:stCondLst>
                                        </p:cTn>
                                        <p:tgtEl>
                                          <p:spTgt spid="43"/>
                                        </p:tgtEl>
                                        <p:attrNameLst>
                                          <p:attrName>style.visibility</p:attrName>
                                        </p:attrNameLst>
                                      </p:cBhvr>
                                      <p:to>
                                        <p:strVal val="visible"/>
                                      </p:to>
                                    </p:set>
                                    <p:animEffect transition="in" filter="fade">
                                      <p:cBhvr>
                                        <p:cTn id="82" dur="450"/>
                                        <p:tgtEl>
                                          <p:spTgt spid="43"/>
                                        </p:tgtEl>
                                      </p:cBhvr>
                                    </p:animEffect>
                                  </p:childTnLst>
                                </p:cTn>
                              </p:par>
                              <p:par>
                                <p:cTn id="83" presetID="10" presetClass="entr" presetSubtype="0" fill="hold" grpId="0" nodeType="withEffect">
                                  <p:stCondLst>
                                    <p:cond delay="360"/>
                                  </p:stCondLst>
                                  <p:childTnLst>
                                    <p:set>
                                      <p:cBhvr>
                                        <p:cTn id="84" dur="1" fill="hold">
                                          <p:stCondLst>
                                            <p:cond delay="0"/>
                                          </p:stCondLst>
                                        </p:cTn>
                                        <p:tgtEl>
                                          <p:spTgt spid="44"/>
                                        </p:tgtEl>
                                        <p:attrNameLst>
                                          <p:attrName>style.visibility</p:attrName>
                                        </p:attrNameLst>
                                      </p:cBhvr>
                                      <p:to>
                                        <p:strVal val="visible"/>
                                      </p:to>
                                    </p:set>
                                    <p:animEffect transition="in" filter="fade">
                                      <p:cBhvr>
                                        <p:cTn id="85" dur="450"/>
                                        <p:tgtEl>
                                          <p:spTgt spid="44"/>
                                        </p:tgtEl>
                                      </p:cBhvr>
                                    </p:animEffect>
                                  </p:childTnLst>
                                </p:cTn>
                              </p:par>
                              <p:par>
                                <p:cTn id="86" presetID="10" presetClass="entr" presetSubtype="0" fill="hold" grpId="0" nodeType="withEffect">
                                  <p:stCondLst>
                                    <p:cond delay="480"/>
                                  </p:stCondLst>
                                  <p:childTnLst>
                                    <p:set>
                                      <p:cBhvr>
                                        <p:cTn id="87" dur="1" fill="hold">
                                          <p:stCondLst>
                                            <p:cond delay="0"/>
                                          </p:stCondLst>
                                        </p:cTn>
                                        <p:tgtEl>
                                          <p:spTgt spid="45"/>
                                        </p:tgtEl>
                                        <p:attrNameLst>
                                          <p:attrName>style.visibility</p:attrName>
                                        </p:attrNameLst>
                                      </p:cBhvr>
                                      <p:to>
                                        <p:strVal val="visible"/>
                                      </p:to>
                                    </p:set>
                                    <p:animEffect transition="in" filter="fade">
                                      <p:cBhvr>
                                        <p:cTn id="88" dur="450"/>
                                        <p:tgtEl>
                                          <p:spTgt spid="45"/>
                                        </p:tgtEl>
                                      </p:cBhvr>
                                    </p:animEffect>
                                  </p:childTnLst>
                                </p:cTn>
                              </p:par>
                              <p:par>
                                <p:cTn id="89" presetID="10" presetClass="entr" presetSubtype="0" fill="hold" grpId="0" nodeType="withEffect">
                                  <p:stCondLst>
                                    <p:cond delay="600"/>
                                  </p:stCondLst>
                                  <p:childTnLst>
                                    <p:set>
                                      <p:cBhvr>
                                        <p:cTn id="90" dur="1" fill="hold">
                                          <p:stCondLst>
                                            <p:cond delay="0"/>
                                          </p:stCondLst>
                                        </p:cTn>
                                        <p:tgtEl>
                                          <p:spTgt spid="46"/>
                                        </p:tgtEl>
                                        <p:attrNameLst>
                                          <p:attrName>style.visibility</p:attrName>
                                        </p:attrNameLst>
                                      </p:cBhvr>
                                      <p:to>
                                        <p:strVal val="visible"/>
                                      </p:to>
                                    </p:set>
                                    <p:animEffect transition="in" filter="fade">
                                      <p:cBhvr>
                                        <p:cTn id="91" dur="450"/>
                                        <p:tgtEl>
                                          <p:spTgt spid="46"/>
                                        </p:tgtEl>
                                      </p:cBhvr>
                                    </p:animEffect>
                                  </p:childTnLst>
                                </p:cTn>
                              </p:par>
                              <p:par>
                                <p:cTn id="92" presetID="10" presetClass="entr" presetSubtype="0" fill="hold" grpId="0" nodeType="withEffect">
                                  <p:stCondLst>
                                    <p:cond delay="720"/>
                                  </p:stCondLst>
                                  <p:childTnLst>
                                    <p:set>
                                      <p:cBhvr>
                                        <p:cTn id="93" dur="1" fill="hold">
                                          <p:stCondLst>
                                            <p:cond delay="0"/>
                                          </p:stCondLst>
                                        </p:cTn>
                                        <p:tgtEl>
                                          <p:spTgt spid="47"/>
                                        </p:tgtEl>
                                        <p:attrNameLst>
                                          <p:attrName>style.visibility</p:attrName>
                                        </p:attrNameLst>
                                      </p:cBhvr>
                                      <p:to>
                                        <p:strVal val="visible"/>
                                      </p:to>
                                    </p:set>
                                    <p:animEffect transition="in" filter="fade">
                                      <p:cBhvr>
                                        <p:cTn id="94" dur="450"/>
                                        <p:tgtEl>
                                          <p:spTgt spid="47"/>
                                        </p:tgtEl>
                                      </p:cBhvr>
                                    </p:animEffect>
                                  </p:childTnLst>
                                </p:cTn>
                              </p:par>
                              <p:par>
                                <p:cTn id="95" presetID="10" presetClass="entr" presetSubtype="0" fill="hold" grpId="0" nodeType="withEffect">
                                  <p:stCondLst>
                                    <p:cond delay="840"/>
                                  </p:stCondLst>
                                  <p:childTnLst>
                                    <p:set>
                                      <p:cBhvr>
                                        <p:cTn id="96" dur="1" fill="hold">
                                          <p:stCondLst>
                                            <p:cond delay="0"/>
                                          </p:stCondLst>
                                        </p:cTn>
                                        <p:tgtEl>
                                          <p:spTgt spid="48"/>
                                        </p:tgtEl>
                                        <p:attrNameLst>
                                          <p:attrName>style.visibility</p:attrName>
                                        </p:attrNameLst>
                                      </p:cBhvr>
                                      <p:to>
                                        <p:strVal val="visible"/>
                                      </p:to>
                                    </p:set>
                                    <p:animEffect transition="in" filter="fade">
                                      <p:cBhvr>
                                        <p:cTn id="97" dur="450"/>
                                        <p:tgtEl>
                                          <p:spTgt spid="48"/>
                                        </p:tgtEl>
                                      </p:cBhvr>
                                    </p:animEffect>
                                  </p:childTnLst>
                                </p:cTn>
                              </p:par>
                              <p:par>
                                <p:cTn id="98" presetID="10" presetClass="entr" presetSubtype="0" fill="hold" grpId="0" nodeType="withEffect">
                                  <p:stCondLst>
                                    <p:cond delay="96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50"/>
                                        <p:tgtEl>
                                          <p:spTgt spid="49"/>
                                        </p:tgtEl>
                                      </p:cBhvr>
                                    </p:animEffect>
                                  </p:childTnLst>
                                </p:cTn>
                              </p:par>
                              <p:par>
                                <p:cTn id="101" presetID="10" presetClass="entr" presetSubtype="0" fill="hold" grpId="0" nodeType="withEffect">
                                  <p:stCondLst>
                                    <p:cond delay="108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50"/>
                                        <p:tgtEl>
                                          <p:spTgt spid="50"/>
                                        </p:tgtEl>
                                      </p:cBhvr>
                                    </p:animEffect>
                                  </p:childTnLst>
                                </p:cTn>
                              </p:par>
                              <p:par>
                                <p:cTn id="104" presetID="10" presetClass="entr" presetSubtype="0" fill="hold" grpId="0" nodeType="withEffect">
                                  <p:stCondLst>
                                    <p:cond delay="1200"/>
                                  </p:stCondLst>
                                  <p:childTnLst>
                                    <p:set>
                                      <p:cBhvr>
                                        <p:cTn id="105" dur="1" fill="hold">
                                          <p:stCondLst>
                                            <p:cond delay="0"/>
                                          </p:stCondLst>
                                        </p:cTn>
                                        <p:tgtEl>
                                          <p:spTgt spid="51"/>
                                        </p:tgtEl>
                                        <p:attrNameLst>
                                          <p:attrName>style.visibility</p:attrName>
                                        </p:attrNameLst>
                                      </p:cBhvr>
                                      <p:to>
                                        <p:strVal val="visible"/>
                                      </p:to>
                                    </p:set>
                                    <p:animEffect transition="in" filter="fade">
                                      <p:cBhvr>
                                        <p:cTn id="106" dur="45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IV.  RÈGLES QUALITÉ ET PLANS DE CORRECTION</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Oval 4"/>
          <p:cNvSpPr/>
          <p:nvPr/>
        </p:nvSpPr>
        <p:spPr>
          <a:xfrm>
            <a:off x="432796" y="780268"/>
            <a:ext cx="158535" cy="158535"/>
          </a:xfrm>
          <a:prstGeom prst="ellipse">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80923" y="828395"/>
            <a:ext cx="62281" cy="62281"/>
          </a:xfrm>
          <a:prstGeom prst="ellipse">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590528" y="892037"/>
            <a:ext cx="36617" cy="15167"/>
          </a:xfrm>
          <a:custGeom>
            <a:avLst/>
            <a:gdLst/>
            <a:ahLst/>
            <a:cxnLst/>
            <a:rect l="l" t="t" r="r" b="b"/>
            <a:pathLst>
              <a:path w="36617" h="15167">
                <a:moveTo>
                  <a:pt x="0" y="0"/>
                </a:moveTo>
                <a:lnTo>
                  <a:pt x="36617" y="15167"/>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544565" y="938000"/>
            <a:ext cx="15167" cy="36617"/>
          </a:xfrm>
          <a:custGeom>
            <a:avLst/>
            <a:gdLst/>
            <a:ahLst/>
            <a:cxnLst/>
            <a:rect l="l" t="t" r="r" b="b"/>
            <a:pathLst>
              <a:path w="15167" h="36617">
                <a:moveTo>
                  <a:pt x="0" y="0"/>
                </a:moveTo>
                <a:lnTo>
                  <a:pt x="15167" y="36617"/>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464395" y="938000"/>
            <a:ext cx="15167" cy="36617"/>
          </a:xfrm>
          <a:custGeom>
            <a:avLst/>
            <a:gdLst/>
            <a:ahLst/>
            <a:cxnLst/>
            <a:rect l="l" t="t" r="r" b="b"/>
            <a:pathLst>
              <a:path w="15167" h="36617">
                <a:moveTo>
                  <a:pt x="15167" y="0"/>
                </a:moveTo>
                <a:lnTo>
                  <a:pt x="0" y="36617"/>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96982" y="892037"/>
            <a:ext cx="36617" cy="15167"/>
          </a:xfrm>
          <a:custGeom>
            <a:avLst/>
            <a:gdLst/>
            <a:ahLst/>
            <a:cxnLst/>
            <a:rect l="l" t="t" r="r" b="b"/>
            <a:pathLst>
              <a:path w="36617" h="15167">
                <a:moveTo>
                  <a:pt x="36617" y="0"/>
                </a:moveTo>
                <a:lnTo>
                  <a:pt x="0" y="15167"/>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396982" y="811867"/>
            <a:ext cx="36617" cy="15167"/>
          </a:xfrm>
          <a:custGeom>
            <a:avLst/>
            <a:gdLst/>
            <a:ahLst/>
            <a:cxnLst/>
            <a:rect l="l" t="t" r="r" b="b"/>
            <a:pathLst>
              <a:path w="36617" h="15167">
                <a:moveTo>
                  <a:pt x="36617" y="15167"/>
                </a:moveTo>
                <a:lnTo>
                  <a:pt x="0"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464395" y="744454"/>
            <a:ext cx="15167" cy="36617"/>
          </a:xfrm>
          <a:custGeom>
            <a:avLst/>
            <a:gdLst/>
            <a:ahLst/>
            <a:cxnLst/>
            <a:rect l="l" t="t" r="r" b="b"/>
            <a:pathLst>
              <a:path w="15167" h="36617">
                <a:moveTo>
                  <a:pt x="15167" y="36617"/>
                </a:moveTo>
                <a:lnTo>
                  <a:pt x="0"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544565" y="744454"/>
            <a:ext cx="15167" cy="36617"/>
          </a:xfrm>
          <a:custGeom>
            <a:avLst/>
            <a:gdLst/>
            <a:ahLst/>
            <a:cxnLst/>
            <a:rect l="l" t="t" r="r" b="b"/>
            <a:pathLst>
              <a:path w="15167" h="36617">
                <a:moveTo>
                  <a:pt x="0" y="36617"/>
                </a:moveTo>
                <a:lnTo>
                  <a:pt x="15167"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590528" y="811867"/>
            <a:ext cx="36617" cy="15167"/>
          </a:xfrm>
          <a:custGeom>
            <a:avLst/>
            <a:gdLst/>
            <a:ahLst/>
            <a:cxnLst/>
            <a:rect l="l" t="t" r="r" b="b"/>
            <a:pathLst>
              <a:path w="36617" h="15167">
                <a:moveTo>
                  <a:pt x="0" y="15167"/>
                </a:moveTo>
                <a:lnTo>
                  <a:pt x="36617"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DE L'INDICATEUR AU DOSSIER CORRIGÉ</a:t>
            </a:r>
          </a:p>
        </p:txBody>
      </p:sp>
      <p:sp>
        <p:nvSpPr>
          <p:cNvPr id="16" name="Rectangle 15"/>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9" name="TextBox 18"/>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12 / 20</a:t>
            </a:r>
          </a:p>
        </p:txBody>
      </p:sp>
      <p:sp>
        <p:nvSpPr>
          <p:cNvPr id="20" name="Rounded Rectangle 19"/>
          <p:cNvSpPr/>
          <p:nvPr/>
        </p:nvSpPr>
        <p:spPr>
          <a:xfrm>
            <a:off x="365760" y="1188720"/>
            <a:ext cx="8412480" cy="54864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02920" y="1289304"/>
            <a:ext cx="347472" cy="347472"/>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2920" y="1289304"/>
            <a:ext cx="347472" cy="347472"/>
          </a:xfrm>
          <a:prstGeom prst="rect">
            <a:avLst/>
          </a:prstGeom>
          <a:noFill/>
        </p:spPr>
        <p:txBody>
          <a:bodyPr wrap="square" lIns="0" rIns="0" tIns="0" bIns="0" anchor="ctr">
            <a:spAutoFit/>
          </a:bodyPr>
          <a:lstStyle/>
          <a:p>
            <a:pPr algn="ctr"/>
            <a:r>
              <a:rPr sz="1200" b="1" i="0">
                <a:solidFill>
                  <a:srgbClr val="FFFFFF"/>
                </a:solidFill>
                <a:latin typeface="Calibri"/>
                <a:ea typeface="Calibri"/>
                <a:cs typeface="Calibri"/>
              </a:rPr>
              <a:t>1</a:t>
            </a:r>
          </a:p>
        </p:txBody>
      </p:sp>
      <p:sp>
        <p:nvSpPr>
          <p:cNvPr id="23" name="TextBox 22"/>
          <p:cNvSpPr txBox="1"/>
          <p:nvPr/>
        </p:nvSpPr>
        <p:spPr>
          <a:xfrm>
            <a:off x="987552" y="1188720"/>
            <a:ext cx="1554480" cy="548640"/>
          </a:xfrm>
          <a:prstGeom prst="rect">
            <a:avLst/>
          </a:prstGeom>
          <a:noFill/>
        </p:spPr>
        <p:txBody>
          <a:bodyPr wrap="square" lIns="0" rIns="0" tIns="0" bIns="0" anchor="ctr">
            <a:spAutoFit/>
          </a:bodyPr>
          <a:lstStyle/>
          <a:p>
            <a:pPr algn="l"/>
            <a:r>
              <a:rPr sz="1100" b="1" i="0" spc="50">
                <a:solidFill>
                  <a:srgbClr val="1B2A4A"/>
                </a:solidFill>
                <a:latin typeface="Calibri"/>
                <a:ea typeface="Calibri"/>
                <a:cs typeface="Calibri"/>
              </a:rPr>
              <a:t>FILTRER</a:t>
            </a:r>
          </a:p>
        </p:txBody>
      </p:sp>
      <p:sp>
        <p:nvSpPr>
          <p:cNvPr id="24" name="TextBox 23"/>
          <p:cNvSpPr txBox="1"/>
          <p:nvPr/>
        </p:nvSpPr>
        <p:spPr>
          <a:xfrm>
            <a:off x="2542032" y="1188720"/>
            <a:ext cx="6035040" cy="548640"/>
          </a:xfrm>
          <a:prstGeom prst="rect">
            <a:avLst/>
          </a:prstGeom>
          <a:noFill/>
        </p:spPr>
        <p:txBody>
          <a:bodyPr wrap="square" lIns="0" rIns="0" tIns="0" bIns="0" anchor="ctr">
            <a:spAutoFit/>
          </a:bodyPr>
          <a:lstStyle/>
          <a:p>
            <a:pPr algn="l">
              <a:lnSpc>
                <a:spcPct val="100000"/>
              </a:lnSpc>
            </a:pPr>
            <a:r>
              <a:rPr sz="1000" b="0" i="0">
                <a:solidFill>
                  <a:srgbClr val="333333"/>
                </a:solidFill>
                <a:latin typeface="Calibri"/>
                <a:ea typeface="Calibri"/>
                <a:cs typeface="Calibri"/>
              </a:rPr>
              <a:t>Choisir la règle et le périmètre : agence, chargé, stock ou flux.</a:t>
            </a:r>
          </a:p>
        </p:txBody>
      </p:sp>
      <p:sp>
        <p:nvSpPr>
          <p:cNvPr id="25" name="Rounded Rectangle 24"/>
          <p:cNvSpPr/>
          <p:nvPr/>
        </p:nvSpPr>
        <p:spPr>
          <a:xfrm>
            <a:off x="365760" y="1828800"/>
            <a:ext cx="8412480" cy="54864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02920" y="1929384"/>
            <a:ext cx="347472" cy="347472"/>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2920" y="1929384"/>
            <a:ext cx="347472" cy="347472"/>
          </a:xfrm>
          <a:prstGeom prst="rect">
            <a:avLst/>
          </a:prstGeom>
          <a:noFill/>
        </p:spPr>
        <p:txBody>
          <a:bodyPr wrap="square" lIns="0" rIns="0" tIns="0" bIns="0" anchor="ctr">
            <a:spAutoFit/>
          </a:bodyPr>
          <a:lstStyle/>
          <a:p>
            <a:pPr algn="ctr"/>
            <a:r>
              <a:rPr sz="1200" b="1" i="0">
                <a:solidFill>
                  <a:srgbClr val="FFFFFF"/>
                </a:solidFill>
                <a:latin typeface="Calibri"/>
                <a:ea typeface="Calibri"/>
                <a:cs typeface="Calibri"/>
              </a:rPr>
              <a:t>2</a:t>
            </a:r>
          </a:p>
        </p:txBody>
      </p:sp>
      <p:sp>
        <p:nvSpPr>
          <p:cNvPr id="28" name="TextBox 27"/>
          <p:cNvSpPr txBox="1"/>
          <p:nvPr/>
        </p:nvSpPr>
        <p:spPr>
          <a:xfrm>
            <a:off x="987552" y="1828800"/>
            <a:ext cx="1554480" cy="548640"/>
          </a:xfrm>
          <a:prstGeom prst="rect">
            <a:avLst/>
          </a:prstGeom>
          <a:noFill/>
        </p:spPr>
        <p:txBody>
          <a:bodyPr wrap="square" lIns="0" rIns="0" tIns="0" bIns="0" anchor="ctr">
            <a:spAutoFit/>
          </a:bodyPr>
          <a:lstStyle/>
          <a:p>
            <a:pPr algn="l"/>
            <a:r>
              <a:rPr sz="1100" b="1" i="0" spc="50">
                <a:solidFill>
                  <a:srgbClr val="1B2A4A"/>
                </a:solidFill>
                <a:latin typeface="Calibri"/>
                <a:ea typeface="Calibri"/>
                <a:cs typeface="Calibri"/>
              </a:rPr>
              <a:t>EXTRAIRE</a:t>
            </a:r>
          </a:p>
        </p:txBody>
      </p:sp>
      <p:sp>
        <p:nvSpPr>
          <p:cNvPr id="29" name="TextBox 28"/>
          <p:cNvSpPr txBox="1"/>
          <p:nvPr/>
        </p:nvSpPr>
        <p:spPr>
          <a:xfrm>
            <a:off x="2542032" y="1828800"/>
            <a:ext cx="6035040" cy="548640"/>
          </a:xfrm>
          <a:prstGeom prst="rect">
            <a:avLst/>
          </a:prstGeom>
          <a:noFill/>
        </p:spPr>
        <p:txBody>
          <a:bodyPr wrap="square" lIns="0" rIns="0" tIns="0" bIns="0" anchor="ctr">
            <a:spAutoFit/>
          </a:bodyPr>
          <a:lstStyle/>
          <a:p>
            <a:pPr algn="l">
              <a:lnSpc>
                <a:spcPct val="100000"/>
              </a:lnSpc>
            </a:pPr>
            <a:r>
              <a:rPr sz="1000" b="0" i="0">
                <a:solidFill>
                  <a:srgbClr val="333333"/>
                </a:solidFill>
                <a:latin typeface="Calibri"/>
                <a:ea typeface="Calibri"/>
                <a:cs typeface="Calibri"/>
              </a:rPr>
              <a:t>Exporter la liste nominative des dossiers en écart, au format tableur.</a:t>
            </a:r>
          </a:p>
        </p:txBody>
      </p:sp>
      <p:sp>
        <p:nvSpPr>
          <p:cNvPr id="30" name="Rounded Rectangle 29"/>
          <p:cNvSpPr/>
          <p:nvPr/>
        </p:nvSpPr>
        <p:spPr>
          <a:xfrm>
            <a:off x="365760" y="2468880"/>
            <a:ext cx="8412480" cy="54864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502920" y="2569464"/>
            <a:ext cx="347472" cy="347472"/>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2920" y="2569464"/>
            <a:ext cx="347472" cy="347472"/>
          </a:xfrm>
          <a:prstGeom prst="rect">
            <a:avLst/>
          </a:prstGeom>
          <a:noFill/>
        </p:spPr>
        <p:txBody>
          <a:bodyPr wrap="square" lIns="0" rIns="0" tIns="0" bIns="0" anchor="ctr">
            <a:spAutoFit/>
          </a:bodyPr>
          <a:lstStyle/>
          <a:p>
            <a:pPr algn="ctr"/>
            <a:r>
              <a:rPr sz="1200" b="1" i="0">
                <a:solidFill>
                  <a:srgbClr val="FFFFFF"/>
                </a:solidFill>
                <a:latin typeface="Calibri"/>
                <a:ea typeface="Calibri"/>
                <a:cs typeface="Calibri"/>
              </a:rPr>
              <a:t>3</a:t>
            </a:r>
          </a:p>
        </p:txBody>
      </p:sp>
      <p:sp>
        <p:nvSpPr>
          <p:cNvPr id="33" name="TextBox 32"/>
          <p:cNvSpPr txBox="1"/>
          <p:nvPr/>
        </p:nvSpPr>
        <p:spPr>
          <a:xfrm>
            <a:off x="987552" y="2468880"/>
            <a:ext cx="1554480" cy="548640"/>
          </a:xfrm>
          <a:prstGeom prst="rect">
            <a:avLst/>
          </a:prstGeom>
          <a:noFill/>
        </p:spPr>
        <p:txBody>
          <a:bodyPr wrap="square" lIns="0" rIns="0" tIns="0" bIns="0" anchor="ctr">
            <a:spAutoFit/>
          </a:bodyPr>
          <a:lstStyle/>
          <a:p>
            <a:pPr algn="l"/>
            <a:r>
              <a:rPr sz="1100" b="1" i="0" spc="50">
                <a:solidFill>
                  <a:srgbClr val="1B2A4A"/>
                </a:solidFill>
                <a:latin typeface="Calibri"/>
                <a:ea typeface="Calibri"/>
                <a:cs typeface="Calibri"/>
              </a:rPr>
              <a:t>RÉPARTIR</a:t>
            </a:r>
          </a:p>
        </p:txBody>
      </p:sp>
      <p:sp>
        <p:nvSpPr>
          <p:cNvPr id="34" name="TextBox 33"/>
          <p:cNvSpPr txBox="1"/>
          <p:nvPr/>
        </p:nvSpPr>
        <p:spPr>
          <a:xfrm>
            <a:off x="2542032" y="2468880"/>
            <a:ext cx="6035040" cy="548640"/>
          </a:xfrm>
          <a:prstGeom prst="rect">
            <a:avLst/>
          </a:prstGeom>
          <a:noFill/>
        </p:spPr>
        <p:txBody>
          <a:bodyPr wrap="square" lIns="0" rIns="0" tIns="0" bIns="0" anchor="ctr">
            <a:spAutoFit/>
          </a:bodyPr>
          <a:lstStyle/>
          <a:p>
            <a:pPr algn="l">
              <a:lnSpc>
                <a:spcPct val="100000"/>
              </a:lnSpc>
            </a:pPr>
            <a:r>
              <a:rPr sz="1000" b="0" i="0">
                <a:solidFill>
                  <a:srgbClr val="333333"/>
                </a:solidFill>
                <a:latin typeface="Calibri"/>
                <a:ea typeface="Calibri"/>
                <a:cs typeface="Calibri"/>
              </a:rPr>
              <a:t>Le directeur d'agence attribue les dossiers et fixe une échéance de traitement.</a:t>
            </a:r>
          </a:p>
        </p:txBody>
      </p:sp>
      <p:sp>
        <p:nvSpPr>
          <p:cNvPr id="35" name="Rounded Rectangle 34"/>
          <p:cNvSpPr/>
          <p:nvPr/>
        </p:nvSpPr>
        <p:spPr>
          <a:xfrm>
            <a:off x="365760" y="3108960"/>
            <a:ext cx="8412480" cy="54864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502920" y="3209544"/>
            <a:ext cx="347472" cy="347472"/>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02920" y="3209544"/>
            <a:ext cx="347472" cy="347472"/>
          </a:xfrm>
          <a:prstGeom prst="rect">
            <a:avLst/>
          </a:prstGeom>
          <a:noFill/>
        </p:spPr>
        <p:txBody>
          <a:bodyPr wrap="square" lIns="0" rIns="0" tIns="0" bIns="0" anchor="ctr">
            <a:spAutoFit/>
          </a:bodyPr>
          <a:lstStyle/>
          <a:p>
            <a:pPr algn="ctr"/>
            <a:r>
              <a:rPr sz="1200" b="1" i="0">
                <a:solidFill>
                  <a:srgbClr val="FFFFFF"/>
                </a:solidFill>
                <a:latin typeface="Calibri"/>
                <a:ea typeface="Calibri"/>
                <a:cs typeface="Calibri"/>
              </a:rPr>
              <a:t>4</a:t>
            </a:r>
          </a:p>
        </p:txBody>
      </p:sp>
      <p:sp>
        <p:nvSpPr>
          <p:cNvPr id="38" name="TextBox 37"/>
          <p:cNvSpPr txBox="1"/>
          <p:nvPr/>
        </p:nvSpPr>
        <p:spPr>
          <a:xfrm>
            <a:off x="987552" y="3108960"/>
            <a:ext cx="1554480" cy="548640"/>
          </a:xfrm>
          <a:prstGeom prst="rect">
            <a:avLst/>
          </a:prstGeom>
          <a:noFill/>
        </p:spPr>
        <p:txBody>
          <a:bodyPr wrap="square" lIns="0" rIns="0" tIns="0" bIns="0" anchor="ctr">
            <a:spAutoFit/>
          </a:bodyPr>
          <a:lstStyle/>
          <a:p>
            <a:pPr algn="l"/>
            <a:r>
              <a:rPr sz="1100" b="1" i="0" spc="50">
                <a:solidFill>
                  <a:srgbClr val="1B2A4A"/>
                </a:solidFill>
                <a:latin typeface="Calibri"/>
                <a:ea typeface="Calibri"/>
                <a:cs typeface="Calibri"/>
              </a:rPr>
              <a:t>CORRIGER</a:t>
            </a:r>
          </a:p>
        </p:txBody>
      </p:sp>
      <p:sp>
        <p:nvSpPr>
          <p:cNvPr id="39" name="TextBox 38"/>
          <p:cNvSpPr txBox="1"/>
          <p:nvPr/>
        </p:nvSpPr>
        <p:spPr>
          <a:xfrm>
            <a:off x="2542032" y="3108960"/>
            <a:ext cx="6035040" cy="548640"/>
          </a:xfrm>
          <a:prstGeom prst="rect">
            <a:avLst/>
          </a:prstGeom>
          <a:noFill/>
        </p:spPr>
        <p:txBody>
          <a:bodyPr wrap="square" lIns="0" rIns="0" tIns="0" bIns="0" anchor="ctr">
            <a:spAutoFit/>
          </a:bodyPr>
          <a:lstStyle/>
          <a:p>
            <a:pPr algn="l">
              <a:lnSpc>
                <a:spcPct val="100000"/>
              </a:lnSpc>
            </a:pPr>
            <a:r>
              <a:rPr sz="1000" b="0" i="0">
                <a:solidFill>
                  <a:srgbClr val="333333"/>
                </a:solidFill>
                <a:latin typeface="Calibri"/>
                <a:ea typeface="Calibri"/>
                <a:cs typeface="Calibri"/>
              </a:rPr>
              <a:t>Le chargé met à jour le dossier dans le corebanking et dépose la pièce justificative.</a:t>
            </a:r>
          </a:p>
        </p:txBody>
      </p:sp>
      <p:sp>
        <p:nvSpPr>
          <p:cNvPr id="40" name="Rounded Rectangle 39"/>
          <p:cNvSpPr/>
          <p:nvPr/>
        </p:nvSpPr>
        <p:spPr>
          <a:xfrm>
            <a:off x="365760" y="3749040"/>
            <a:ext cx="8412480" cy="54864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502920" y="3849624"/>
            <a:ext cx="347472" cy="347472"/>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2920" y="3849624"/>
            <a:ext cx="347472" cy="347472"/>
          </a:xfrm>
          <a:prstGeom prst="rect">
            <a:avLst/>
          </a:prstGeom>
          <a:noFill/>
        </p:spPr>
        <p:txBody>
          <a:bodyPr wrap="square" lIns="0" rIns="0" tIns="0" bIns="0" anchor="ctr">
            <a:spAutoFit/>
          </a:bodyPr>
          <a:lstStyle/>
          <a:p>
            <a:pPr algn="ctr"/>
            <a:r>
              <a:rPr sz="1200" b="1" i="0">
                <a:solidFill>
                  <a:srgbClr val="FFFFFF"/>
                </a:solidFill>
                <a:latin typeface="Calibri"/>
                <a:ea typeface="Calibri"/>
                <a:cs typeface="Calibri"/>
              </a:rPr>
              <a:t>5</a:t>
            </a:r>
          </a:p>
        </p:txBody>
      </p:sp>
      <p:sp>
        <p:nvSpPr>
          <p:cNvPr id="43" name="TextBox 42"/>
          <p:cNvSpPr txBox="1"/>
          <p:nvPr/>
        </p:nvSpPr>
        <p:spPr>
          <a:xfrm>
            <a:off x="987552" y="3749040"/>
            <a:ext cx="1554480" cy="548640"/>
          </a:xfrm>
          <a:prstGeom prst="rect">
            <a:avLst/>
          </a:prstGeom>
          <a:noFill/>
        </p:spPr>
        <p:txBody>
          <a:bodyPr wrap="square" lIns="0" rIns="0" tIns="0" bIns="0" anchor="ctr">
            <a:spAutoFit/>
          </a:bodyPr>
          <a:lstStyle/>
          <a:p>
            <a:pPr algn="l"/>
            <a:r>
              <a:rPr sz="1100" b="1" i="0" spc="50">
                <a:solidFill>
                  <a:srgbClr val="1B2A4A"/>
                </a:solidFill>
                <a:latin typeface="Calibri"/>
                <a:ea typeface="Calibri"/>
                <a:cs typeface="Calibri"/>
              </a:rPr>
              <a:t>CONTRÔLER</a:t>
            </a:r>
          </a:p>
        </p:txBody>
      </p:sp>
      <p:sp>
        <p:nvSpPr>
          <p:cNvPr id="44" name="TextBox 43"/>
          <p:cNvSpPr txBox="1"/>
          <p:nvPr/>
        </p:nvSpPr>
        <p:spPr>
          <a:xfrm>
            <a:off x="2542032" y="3749040"/>
            <a:ext cx="6035040" cy="548640"/>
          </a:xfrm>
          <a:prstGeom prst="rect">
            <a:avLst/>
          </a:prstGeom>
          <a:noFill/>
        </p:spPr>
        <p:txBody>
          <a:bodyPr wrap="square" lIns="0" rIns="0" tIns="0" bIns="0" anchor="ctr">
            <a:spAutoFit/>
          </a:bodyPr>
          <a:lstStyle/>
          <a:p>
            <a:pPr algn="l">
              <a:lnSpc>
                <a:spcPct val="100000"/>
              </a:lnSpc>
            </a:pPr>
            <a:r>
              <a:rPr sz="1000" b="0" i="0">
                <a:solidFill>
                  <a:srgbClr val="333333"/>
                </a:solidFill>
                <a:latin typeface="Calibri"/>
                <a:ea typeface="Calibri"/>
                <a:cs typeface="Calibri"/>
              </a:rPr>
              <a:t>Le lendemain matin, le recalcul confirme la sortie du dossier de la liste.</a:t>
            </a:r>
          </a:p>
        </p:txBody>
      </p:sp>
      <p:sp>
        <p:nvSpPr>
          <p:cNvPr id="45" name="Rounded Rectangle 44"/>
          <p:cNvSpPr/>
          <p:nvPr/>
        </p:nvSpPr>
        <p:spPr>
          <a:xfrm>
            <a:off x="365760" y="4370832"/>
            <a:ext cx="8412480" cy="438912"/>
          </a:xfrm>
          <a:prstGeom prst="roundRect">
            <a:avLst>
              <a:gd name="adj" fmla="val 6000"/>
            </a:avLst>
          </a:prstGeom>
          <a:solidFill>
            <a:srgbClr val="F0F7F4"/>
          </a:solidFill>
          <a:ln w="12700">
            <a:solidFill>
              <a:srgbClr val="C8E6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66928" y="4370832"/>
            <a:ext cx="8046720" cy="438912"/>
          </a:xfrm>
          <a:prstGeom prst="rect">
            <a:avLst/>
          </a:prstGeom>
          <a:noFill/>
        </p:spPr>
        <p:txBody>
          <a:bodyPr wrap="square" lIns="0" rIns="0" tIns="0" bIns="0" anchor="ctr">
            <a:spAutoFit/>
          </a:bodyPr>
          <a:lstStyle/>
          <a:p>
            <a:pPr algn="l">
              <a:lnSpc>
                <a:spcPct val="100000"/>
              </a:lnSpc>
            </a:pPr>
            <a:r>
              <a:rPr sz="950" b="1" i="0">
                <a:solidFill>
                  <a:srgbClr val="009A56"/>
                </a:solidFill>
                <a:latin typeface="Calibri"/>
                <a:ea typeface="Calibri"/>
                <a:cs typeface="Calibri"/>
              </a:rPr>
              <a:t>Règle d'or : </a:t>
            </a:r>
            <a:r>
              <a:rPr sz="950" b="0" i="0">
                <a:solidFill>
                  <a:srgbClr val="333333"/>
                </a:solidFill>
                <a:latin typeface="Calibri"/>
                <a:ea typeface="Calibri"/>
                <a:cs typeface="Calibri"/>
              </a:rPr>
              <a:t>un taux ne se discute pas, il se corrige. Toute contestation d'un chiffre doit s'appuyer sur un dossier précis extrait de la liste.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50"/>
                                        <p:tgtEl>
                                          <p:spTgt spid="20"/>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50"/>
                                        <p:tgtEl>
                                          <p:spTgt spid="21"/>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50"/>
                                        <p:tgtEl>
                                          <p:spTgt spid="22"/>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50"/>
                                        <p:tgtEl>
                                          <p:spTgt spid="23"/>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50"/>
                                        <p:tgtEl>
                                          <p:spTgt spid="24"/>
                                        </p:tgtEl>
                                      </p:cBhvr>
                                    </p:animEffect>
                                  </p:childTnLst>
                                </p:cTn>
                              </p:par>
                            </p:childTnLst>
                          </p:cTn>
                        </p:par>
                      </p:childTnLst>
                    </p:cTn>
                  </p:par>
                  <p:par>
                    <p:cTn id="35" fill="hold">
                      <p:stCondLst>
                        <p:cond delay="indefinite"/>
                      </p:stCondLst>
                      <p:childTnLst>
                        <p:par>
                          <p:cTn id="36"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50"/>
                                        <p:tgtEl>
                                          <p:spTgt spid="25"/>
                                        </p:tgtEl>
                                      </p:cBhvr>
                                    </p:animEffect>
                                  </p:childTnLst>
                                </p:cTn>
                              </p:par>
                              <p:par>
                                <p:cTn id="23" presetID="10" presetClass="entr" presetSubtype="0" fill="hold" grpId="0" nodeType="withEffect">
                                  <p:stCondLst>
                                    <p:cond delay="12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50"/>
                                        <p:tgtEl>
                                          <p:spTgt spid="26"/>
                                        </p:tgtEl>
                                      </p:cBhvr>
                                    </p:animEffect>
                                  </p:childTnLst>
                                </p:cTn>
                              </p:par>
                              <p:par>
                                <p:cTn id="26" presetID="10" presetClass="entr" presetSubtype="0" fill="hold" grpId="0" nodeType="withEffect">
                                  <p:stCondLst>
                                    <p:cond delay="24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50"/>
                                        <p:tgtEl>
                                          <p:spTgt spid="27"/>
                                        </p:tgtEl>
                                      </p:cBhvr>
                                    </p:animEffect>
                                  </p:childTnLst>
                                </p:cTn>
                              </p:par>
                              <p:par>
                                <p:cTn id="29" presetID="10" presetClass="entr" presetSubtype="0" fill="hold" grpId="0" nodeType="withEffect">
                                  <p:stCondLst>
                                    <p:cond delay="36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50"/>
                                        <p:tgtEl>
                                          <p:spTgt spid="28"/>
                                        </p:tgtEl>
                                      </p:cBhvr>
                                    </p:animEffect>
                                  </p:childTnLst>
                                </p:cTn>
                              </p:par>
                              <p:par>
                                <p:cTn id="32" presetID="10" presetClass="entr" presetSubtype="0" fill="hold" grpId="0" nodeType="withEffect">
                                  <p:stCondLst>
                                    <p:cond delay="48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50"/>
                                        <p:tgtEl>
                                          <p:spTgt spid="29"/>
                                        </p:tgtEl>
                                      </p:cBhvr>
                                    </p:animEffect>
                                  </p:childTnLst>
                                </p:cTn>
                              </p:par>
                            </p:childTnLst>
                          </p:cTn>
                        </p:par>
                      </p:childTnLst>
                    </p:cTn>
                  </p:par>
                  <p:par>
                    <p:cTn id="52" fill="hold">
                      <p:stCondLst>
                        <p:cond delay="indefinite"/>
                      </p:stCondLst>
                      <p:childTnLst>
                        <p:par>
                          <p:cTn id="53"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450"/>
                                        <p:tgtEl>
                                          <p:spTgt spid="30"/>
                                        </p:tgtEl>
                                      </p:cBhvr>
                                    </p:animEffect>
                                  </p:childTnLst>
                                </p:cTn>
                              </p:par>
                              <p:par>
                                <p:cTn id="40" presetID="10" presetClass="entr" presetSubtype="0" fill="hold" grpId="0" nodeType="withEffect">
                                  <p:stCondLst>
                                    <p:cond delay="12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50"/>
                                        <p:tgtEl>
                                          <p:spTgt spid="31"/>
                                        </p:tgtEl>
                                      </p:cBhvr>
                                    </p:animEffect>
                                  </p:childTnLst>
                                </p:cTn>
                              </p:par>
                              <p:par>
                                <p:cTn id="43" presetID="10" presetClass="entr" presetSubtype="0" fill="hold" grpId="0" nodeType="withEffect">
                                  <p:stCondLst>
                                    <p:cond delay="24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450"/>
                                        <p:tgtEl>
                                          <p:spTgt spid="32"/>
                                        </p:tgtEl>
                                      </p:cBhvr>
                                    </p:animEffect>
                                  </p:childTnLst>
                                </p:cTn>
                              </p:par>
                              <p:par>
                                <p:cTn id="46" presetID="10" presetClass="entr" presetSubtype="0" fill="hold" grpId="0" nodeType="withEffect">
                                  <p:stCondLst>
                                    <p:cond delay="360"/>
                                  </p:stCondLst>
                                  <p:childTnLst>
                                    <p:set>
                                      <p:cBhvr>
                                        <p:cTn id="47" dur="1" fill="hold">
                                          <p:stCondLst>
                                            <p:cond delay="0"/>
                                          </p:stCondLst>
                                        </p:cTn>
                                        <p:tgtEl>
                                          <p:spTgt spid="33"/>
                                        </p:tgtEl>
                                        <p:attrNameLst>
                                          <p:attrName>style.visibility</p:attrName>
                                        </p:attrNameLst>
                                      </p:cBhvr>
                                      <p:to>
                                        <p:strVal val="visible"/>
                                      </p:to>
                                    </p:set>
                                    <p:animEffect transition="in" filter="fade">
                                      <p:cBhvr>
                                        <p:cTn id="48" dur="450"/>
                                        <p:tgtEl>
                                          <p:spTgt spid="33"/>
                                        </p:tgtEl>
                                      </p:cBhvr>
                                    </p:animEffect>
                                  </p:childTnLst>
                                </p:cTn>
                              </p:par>
                              <p:par>
                                <p:cTn id="49" presetID="10" presetClass="entr" presetSubtype="0" fill="hold" grpId="0" nodeType="withEffect">
                                  <p:stCondLst>
                                    <p:cond delay="48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50"/>
                                        <p:tgtEl>
                                          <p:spTgt spid="34"/>
                                        </p:tgtEl>
                                      </p:cBhvr>
                                    </p:animEffect>
                                  </p:childTnLst>
                                </p:cTn>
                              </p:par>
                            </p:childTnLst>
                          </p:cTn>
                        </p:par>
                      </p:childTnLst>
                    </p:cTn>
                  </p:par>
                  <p:par>
                    <p:cTn id="69" fill="hold">
                      <p:stCondLst>
                        <p:cond delay="indefinite"/>
                      </p:stCondLst>
                      <p:childTnLst>
                        <p:par>
                          <p:cTn id="70"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fade">
                                      <p:cBhvr>
                                        <p:cTn id="56" dur="450"/>
                                        <p:tgtEl>
                                          <p:spTgt spid="35"/>
                                        </p:tgtEl>
                                      </p:cBhvr>
                                    </p:animEffect>
                                  </p:childTnLst>
                                </p:cTn>
                              </p:par>
                              <p:par>
                                <p:cTn id="57" presetID="10" presetClass="entr" presetSubtype="0" fill="hold" grpId="0" nodeType="withEffect">
                                  <p:stCondLst>
                                    <p:cond delay="120"/>
                                  </p:stCondLst>
                                  <p:childTnLst>
                                    <p:set>
                                      <p:cBhvr>
                                        <p:cTn id="58" dur="1" fill="hold">
                                          <p:stCondLst>
                                            <p:cond delay="0"/>
                                          </p:stCondLst>
                                        </p:cTn>
                                        <p:tgtEl>
                                          <p:spTgt spid="36"/>
                                        </p:tgtEl>
                                        <p:attrNameLst>
                                          <p:attrName>style.visibility</p:attrName>
                                        </p:attrNameLst>
                                      </p:cBhvr>
                                      <p:to>
                                        <p:strVal val="visible"/>
                                      </p:to>
                                    </p:set>
                                    <p:animEffect transition="in" filter="fade">
                                      <p:cBhvr>
                                        <p:cTn id="59" dur="450"/>
                                        <p:tgtEl>
                                          <p:spTgt spid="36"/>
                                        </p:tgtEl>
                                      </p:cBhvr>
                                    </p:animEffect>
                                  </p:childTnLst>
                                </p:cTn>
                              </p:par>
                              <p:par>
                                <p:cTn id="60" presetID="10" presetClass="entr" presetSubtype="0" fill="hold" grpId="0" nodeType="withEffect">
                                  <p:stCondLst>
                                    <p:cond delay="24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450"/>
                                        <p:tgtEl>
                                          <p:spTgt spid="37"/>
                                        </p:tgtEl>
                                      </p:cBhvr>
                                    </p:animEffect>
                                  </p:childTnLst>
                                </p:cTn>
                              </p:par>
                              <p:par>
                                <p:cTn id="63" presetID="10" presetClass="entr" presetSubtype="0" fill="hold" grpId="0" nodeType="withEffect">
                                  <p:stCondLst>
                                    <p:cond delay="36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450"/>
                                        <p:tgtEl>
                                          <p:spTgt spid="38"/>
                                        </p:tgtEl>
                                      </p:cBhvr>
                                    </p:animEffect>
                                  </p:childTnLst>
                                </p:cTn>
                              </p:par>
                              <p:par>
                                <p:cTn id="66" presetID="10" presetClass="entr" presetSubtype="0" fill="hold" grpId="0" nodeType="withEffect">
                                  <p:stCondLst>
                                    <p:cond delay="480"/>
                                  </p:stCondLst>
                                  <p:childTnLst>
                                    <p:set>
                                      <p:cBhvr>
                                        <p:cTn id="67" dur="1" fill="hold">
                                          <p:stCondLst>
                                            <p:cond delay="0"/>
                                          </p:stCondLst>
                                        </p:cTn>
                                        <p:tgtEl>
                                          <p:spTgt spid="39"/>
                                        </p:tgtEl>
                                        <p:attrNameLst>
                                          <p:attrName>style.visibility</p:attrName>
                                        </p:attrNameLst>
                                      </p:cBhvr>
                                      <p:to>
                                        <p:strVal val="visible"/>
                                      </p:to>
                                    </p:set>
                                    <p:animEffect transition="in" filter="fade">
                                      <p:cBhvr>
                                        <p:cTn id="68" dur="450"/>
                                        <p:tgtEl>
                                          <p:spTgt spid="39"/>
                                        </p:tgtEl>
                                      </p:cBhvr>
                                    </p:animEffect>
                                  </p:childTnLst>
                                </p:cTn>
                              </p:par>
                            </p:childTnLst>
                          </p:cTn>
                        </p:par>
                      </p:childTnLst>
                    </p:cTn>
                  </p:par>
                  <p:par>
                    <p:cTn id="86" fill="hold">
                      <p:stCondLst>
                        <p:cond delay="indefinite"/>
                      </p:stCondLst>
                      <p:childTnLst>
                        <p:par>
                          <p:cTn id="87"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40"/>
                                        </p:tgtEl>
                                        <p:attrNameLst>
                                          <p:attrName>style.visibility</p:attrName>
                                        </p:attrNameLst>
                                      </p:cBhvr>
                                      <p:to>
                                        <p:strVal val="visible"/>
                                      </p:to>
                                    </p:set>
                                    <p:animEffect transition="in" filter="fade">
                                      <p:cBhvr>
                                        <p:cTn id="73" dur="450"/>
                                        <p:tgtEl>
                                          <p:spTgt spid="40"/>
                                        </p:tgtEl>
                                      </p:cBhvr>
                                    </p:animEffect>
                                  </p:childTnLst>
                                </p:cTn>
                              </p:par>
                              <p:par>
                                <p:cTn id="74" presetID="10" presetClass="entr" presetSubtype="0" fill="hold" grpId="0" nodeType="withEffect">
                                  <p:stCondLst>
                                    <p:cond delay="120"/>
                                  </p:stCondLst>
                                  <p:childTnLst>
                                    <p:set>
                                      <p:cBhvr>
                                        <p:cTn id="75" dur="1" fill="hold">
                                          <p:stCondLst>
                                            <p:cond delay="0"/>
                                          </p:stCondLst>
                                        </p:cTn>
                                        <p:tgtEl>
                                          <p:spTgt spid="41"/>
                                        </p:tgtEl>
                                        <p:attrNameLst>
                                          <p:attrName>style.visibility</p:attrName>
                                        </p:attrNameLst>
                                      </p:cBhvr>
                                      <p:to>
                                        <p:strVal val="visible"/>
                                      </p:to>
                                    </p:set>
                                    <p:animEffect transition="in" filter="fade">
                                      <p:cBhvr>
                                        <p:cTn id="76" dur="450"/>
                                        <p:tgtEl>
                                          <p:spTgt spid="41"/>
                                        </p:tgtEl>
                                      </p:cBhvr>
                                    </p:animEffect>
                                  </p:childTnLst>
                                </p:cTn>
                              </p:par>
                              <p:par>
                                <p:cTn id="77" presetID="10" presetClass="entr" presetSubtype="0" fill="hold" grpId="0" nodeType="withEffect">
                                  <p:stCondLst>
                                    <p:cond delay="240"/>
                                  </p:stCondLst>
                                  <p:childTnLst>
                                    <p:set>
                                      <p:cBhvr>
                                        <p:cTn id="78" dur="1" fill="hold">
                                          <p:stCondLst>
                                            <p:cond delay="0"/>
                                          </p:stCondLst>
                                        </p:cTn>
                                        <p:tgtEl>
                                          <p:spTgt spid="42"/>
                                        </p:tgtEl>
                                        <p:attrNameLst>
                                          <p:attrName>style.visibility</p:attrName>
                                        </p:attrNameLst>
                                      </p:cBhvr>
                                      <p:to>
                                        <p:strVal val="visible"/>
                                      </p:to>
                                    </p:set>
                                    <p:animEffect transition="in" filter="fade">
                                      <p:cBhvr>
                                        <p:cTn id="79" dur="450"/>
                                        <p:tgtEl>
                                          <p:spTgt spid="42"/>
                                        </p:tgtEl>
                                      </p:cBhvr>
                                    </p:animEffect>
                                  </p:childTnLst>
                                </p:cTn>
                              </p:par>
                              <p:par>
                                <p:cTn id="80" presetID="10" presetClass="entr" presetSubtype="0" fill="hold" grpId="0" nodeType="withEffect">
                                  <p:stCondLst>
                                    <p:cond delay="360"/>
                                  </p:stCondLst>
                                  <p:childTnLst>
                                    <p:set>
                                      <p:cBhvr>
                                        <p:cTn id="81" dur="1" fill="hold">
                                          <p:stCondLst>
                                            <p:cond delay="0"/>
                                          </p:stCondLst>
                                        </p:cTn>
                                        <p:tgtEl>
                                          <p:spTgt spid="43"/>
                                        </p:tgtEl>
                                        <p:attrNameLst>
                                          <p:attrName>style.visibility</p:attrName>
                                        </p:attrNameLst>
                                      </p:cBhvr>
                                      <p:to>
                                        <p:strVal val="visible"/>
                                      </p:to>
                                    </p:set>
                                    <p:animEffect transition="in" filter="fade">
                                      <p:cBhvr>
                                        <p:cTn id="82" dur="450"/>
                                        <p:tgtEl>
                                          <p:spTgt spid="43"/>
                                        </p:tgtEl>
                                      </p:cBhvr>
                                    </p:animEffect>
                                  </p:childTnLst>
                                </p:cTn>
                              </p:par>
                              <p:par>
                                <p:cTn id="83" presetID="10" presetClass="entr" presetSubtype="0" fill="hold" grpId="0" nodeType="withEffect">
                                  <p:stCondLst>
                                    <p:cond delay="480"/>
                                  </p:stCondLst>
                                  <p:childTnLst>
                                    <p:set>
                                      <p:cBhvr>
                                        <p:cTn id="84" dur="1" fill="hold">
                                          <p:stCondLst>
                                            <p:cond delay="0"/>
                                          </p:stCondLst>
                                        </p:cTn>
                                        <p:tgtEl>
                                          <p:spTgt spid="44"/>
                                        </p:tgtEl>
                                        <p:attrNameLst>
                                          <p:attrName>style.visibility</p:attrName>
                                        </p:attrNameLst>
                                      </p:cBhvr>
                                      <p:to>
                                        <p:strVal val="visible"/>
                                      </p:to>
                                    </p:set>
                                    <p:animEffect transition="in" filter="fade">
                                      <p:cBhvr>
                                        <p:cTn id="85" dur="450"/>
                                        <p:tgtEl>
                                          <p:spTgt spid="44"/>
                                        </p:tgtEl>
                                      </p:cBhvr>
                                    </p:animEffect>
                                  </p:childTnLst>
                                </p:cTn>
                              </p:par>
                            </p:childTnLst>
                          </p:cTn>
                        </p:par>
                      </p:childTnLst>
                    </p:cTn>
                  </p:par>
                  <p:par>
                    <p:cTn id="94" fill="hold">
                      <p:stCondLst>
                        <p:cond delay="indefinite"/>
                      </p:stCondLst>
                      <p:childTnLst>
                        <p:par>
                          <p:cTn id="95"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45"/>
                                        </p:tgtEl>
                                        <p:attrNameLst>
                                          <p:attrName>style.visibility</p:attrName>
                                        </p:attrNameLst>
                                      </p:cBhvr>
                                      <p:to>
                                        <p:strVal val="visible"/>
                                      </p:to>
                                    </p:set>
                                    <p:animEffect transition="in" filter="fade">
                                      <p:cBhvr>
                                        <p:cTn id="90" dur="450"/>
                                        <p:tgtEl>
                                          <p:spTgt spid="45"/>
                                        </p:tgtEl>
                                      </p:cBhvr>
                                    </p:animEffect>
                                  </p:childTnLst>
                                </p:cTn>
                              </p:par>
                              <p:par>
                                <p:cTn id="91" presetID="10" presetClass="entr" presetSubtype="0" fill="hold" grpId="0" nodeType="withEffect">
                                  <p:stCondLst>
                                    <p:cond delay="120"/>
                                  </p:stCondLst>
                                  <p:childTnLst>
                                    <p:set>
                                      <p:cBhvr>
                                        <p:cTn id="92" dur="1" fill="hold">
                                          <p:stCondLst>
                                            <p:cond delay="0"/>
                                          </p:stCondLst>
                                        </p:cTn>
                                        <p:tgtEl>
                                          <p:spTgt spid="46"/>
                                        </p:tgtEl>
                                        <p:attrNameLst>
                                          <p:attrName>style.visibility</p:attrName>
                                        </p:attrNameLst>
                                      </p:cBhvr>
                                      <p:to>
                                        <p:strVal val="visible"/>
                                      </p:to>
                                    </p:set>
                                    <p:animEffect transition="in" filter="fade">
                                      <p:cBhvr>
                                        <p:cTn id="93" dur="45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V.  SCREENING KYC ID</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Rectangle 4"/>
          <p:cNvSpPr/>
          <p:nvPr/>
        </p:nvSpPr>
        <p:spPr>
          <a:xfrm>
            <a:off x="387500" y="785930"/>
            <a:ext cx="249126" cy="147211"/>
          </a:xfrm>
          <a:prstGeom prst="rect">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21472" y="808578"/>
            <a:ext cx="56619" cy="56619"/>
          </a:xfrm>
          <a:prstGeom prst="ellipse">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421472" y="899169"/>
            <a:ext cx="56620" cy="0"/>
          </a:xfrm>
          <a:custGeom>
            <a:avLst/>
            <a:gdLst/>
            <a:ahLst/>
            <a:cxnLst/>
            <a:rect l="l" t="t" r="r" b="b"/>
            <a:pathLst>
              <a:path w="56620" h="0">
                <a:moveTo>
                  <a:pt x="0" y="0"/>
                </a:moveTo>
                <a:lnTo>
                  <a:pt x="56620"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512064" y="825564"/>
            <a:ext cx="96253" cy="0"/>
          </a:xfrm>
          <a:custGeom>
            <a:avLst/>
            <a:gdLst/>
            <a:ahLst/>
            <a:cxnLst/>
            <a:rect l="l" t="t" r="r" b="b"/>
            <a:pathLst>
              <a:path w="96253" h="0">
                <a:moveTo>
                  <a:pt x="0" y="0"/>
                </a:moveTo>
                <a:lnTo>
                  <a:pt x="96253"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512064" y="859536"/>
            <a:ext cx="96253" cy="0"/>
          </a:xfrm>
          <a:custGeom>
            <a:avLst/>
            <a:gdLst/>
            <a:ahLst/>
            <a:cxnLst/>
            <a:rect l="l" t="t" r="r" b="b"/>
            <a:pathLst>
              <a:path w="96253" h="0">
                <a:moveTo>
                  <a:pt x="0" y="0"/>
                </a:moveTo>
                <a:lnTo>
                  <a:pt x="96253"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512064" y="893507"/>
            <a:ext cx="62281" cy="0"/>
          </a:xfrm>
          <a:custGeom>
            <a:avLst/>
            <a:gdLst/>
            <a:ahLst/>
            <a:cxnLst/>
            <a:rect l="l" t="t" r="r" b="b"/>
            <a:pathLst>
              <a:path w="62281" h="0">
                <a:moveTo>
                  <a:pt x="0" y="0"/>
                </a:moveTo>
                <a:lnTo>
                  <a:pt x="62281"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DU DOCUMENT SCANNÉ AU DOSSIER MIS À JOUR</a:t>
            </a:r>
          </a:p>
        </p:txBody>
      </p:sp>
      <p:sp>
        <p:nvSpPr>
          <p:cNvPr id="12" name="Rectangle 11"/>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5" name="TextBox 14"/>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13 / 20</a:t>
            </a:r>
          </a:p>
        </p:txBody>
      </p:sp>
      <p:sp>
        <p:nvSpPr>
          <p:cNvPr id="16" name="Rounded Rectangle 15"/>
          <p:cNvSpPr/>
          <p:nvPr/>
        </p:nvSpPr>
        <p:spPr>
          <a:xfrm>
            <a:off x="320040" y="1188720"/>
            <a:ext cx="1234440" cy="1417320"/>
          </a:xfrm>
          <a:prstGeom prst="roundRect">
            <a:avLst>
              <a:gd name="adj" fmla="val 6000"/>
            </a:avLst>
          </a:prstGeom>
          <a:solidFill>
            <a:srgbClr val="009A56"/>
          </a:solidFill>
          <a:ln w="12700">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040" y="1225296"/>
            <a:ext cx="1234440" cy="384048"/>
          </a:xfrm>
          <a:prstGeom prst="rect">
            <a:avLst/>
          </a:prstGeom>
          <a:noFill/>
        </p:spPr>
        <p:txBody>
          <a:bodyPr wrap="square" lIns="0" rIns="0" tIns="0" bIns="0" anchor="ctr">
            <a:spAutoFit/>
          </a:bodyPr>
          <a:lstStyle/>
          <a:p>
            <a:pPr algn="ctr"/>
            <a:r>
              <a:rPr sz="2000" b="1" i="0">
                <a:solidFill>
                  <a:srgbClr val="FFFFFF"/>
                </a:solidFill>
                <a:latin typeface="Calibri"/>
                <a:ea typeface="Calibri"/>
                <a:cs typeface="Calibri"/>
              </a:rPr>
              <a:t>1</a:t>
            </a:r>
          </a:p>
        </p:txBody>
      </p:sp>
      <p:sp>
        <p:nvSpPr>
          <p:cNvPr id="18" name="TextBox 17"/>
          <p:cNvSpPr txBox="1"/>
          <p:nvPr/>
        </p:nvSpPr>
        <p:spPr>
          <a:xfrm>
            <a:off x="365759" y="1609344"/>
            <a:ext cx="1143000" cy="256032"/>
          </a:xfrm>
          <a:prstGeom prst="rect">
            <a:avLst/>
          </a:prstGeom>
          <a:noFill/>
        </p:spPr>
        <p:txBody>
          <a:bodyPr wrap="square" lIns="0" rIns="0" tIns="0" bIns="0" anchor="ctr">
            <a:spAutoFit/>
          </a:bodyPr>
          <a:lstStyle/>
          <a:p>
            <a:pPr algn="ctr"/>
            <a:r>
              <a:rPr sz="850" b="1" i="0">
                <a:solidFill>
                  <a:srgbClr val="FFFFFF"/>
                </a:solidFill>
                <a:latin typeface="Calibri"/>
                <a:ea typeface="Calibri"/>
                <a:cs typeface="Calibri"/>
              </a:rPr>
              <a:t>CHARGEMENT</a:t>
            </a:r>
          </a:p>
        </p:txBody>
      </p:sp>
      <p:sp>
        <p:nvSpPr>
          <p:cNvPr id="19" name="TextBox 18"/>
          <p:cNvSpPr txBox="1"/>
          <p:nvPr/>
        </p:nvSpPr>
        <p:spPr>
          <a:xfrm>
            <a:off x="393192" y="1901952"/>
            <a:ext cx="1088136" cy="640080"/>
          </a:xfrm>
          <a:prstGeom prst="rect">
            <a:avLst/>
          </a:prstGeom>
          <a:noFill/>
        </p:spPr>
        <p:txBody>
          <a:bodyPr wrap="square" lIns="0" rIns="0" tIns="0" bIns="0" anchor="t">
            <a:spAutoFit/>
          </a:bodyPr>
          <a:lstStyle/>
          <a:p>
            <a:pPr algn="ctr">
              <a:lnSpc>
                <a:spcPct val="100000"/>
              </a:lnSpc>
            </a:pPr>
            <a:r>
              <a:rPr sz="800" b="0" i="0">
                <a:solidFill>
                  <a:srgbClr val="CCFFDD"/>
                </a:solidFill>
                <a:latin typeface="Calibri"/>
                <a:ea typeface="Calibri"/>
                <a:cs typeface="Calibri"/>
              </a:rPr>
              <a:t>Dépôt des documents, images ou archives</a:t>
            </a:r>
          </a:p>
        </p:txBody>
      </p:sp>
      <p:sp>
        <p:nvSpPr>
          <p:cNvPr id="20" name="Rectangle 19"/>
          <p:cNvSpPr/>
          <p:nvPr/>
        </p:nvSpPr>
        <p:spPr>
          <a:xfrm>
            <a:off x="1600200" y="1874519"/>
            <a:ext cx="109728" cy="36576"/>
          </a:xfrm>
          <a:prstGeom prst="rect">
            <a:avLst/>
          </a:prstGeom>
          <a:solidFill>
            <a:srgbClr val="C8E6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1755648" y="1188720"/>
            <a:ext cx="1234440" cy="1417320"/>
          </a:xfrm>
          <a:prstGeom prst="roundRect">
            <a:avLst>
              <a:gd name="adj" fmla="val 6000"/>
            </a:avLst>
          </a:prstGeom>
          <a:solidFill>
            <a:srgbClr val="009A56"/>
          </a:solidFill>
          <a:ln w="12700">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755648" y="1225296"/>
            <a:ext cx="1234440" cy="384048"/>
          </a:xfrm>
          <a:prstGeom prst="rect">
            <a:avLst/>
          </a:prstGeom>
          <a:noFill/>
        </p:spPr>
        <p:txBody>
          <a:bodyPr wrap="square" lIns="0" rIns="0" tIns="0" bIns="0" anchor="ctr">
            <a:spAutoFit/>
          </a:bodyPr>
          <a:lstStyle/>
          <a:p>
            <a:pPr algn="ctr"/>
            <a:r>
              <a:rPr sz="2000" b="1" i="0">
                <a:solidFill>
                  <a:srgbClr val="FFFFFF"/>
                </a:solidFill>
                <a:latin typeface="Calibri"/>
                <a:ea typeface="Calibri"/>
                <a:cs typeface="Calibri"/>
              </a:rPr>
              <a:t>2</a:t>
            </a:r>
          </a:p>
        </p:txBody>
      </p:sp>
      <p:sp>
        <p:nvSpPr>
          <p:cNvPr id="23" name="TextBox 22"/>
          <p:cNvSpPr txBox="1"/>
          <p:nvPr/>
        </p:nvSpPr>
        <p:spPr>
          <a:xfrm>
            <a:off x="1801368" y="1609344"/>
            <a:ext cx="1143000" cy="256032"/>
          </a:xfrm>
          <a:prstGeom prst="rect">
            <a:avLst/>
          </a:prstGeom>
          <a:noFill/>
        </p:spPr>
        <p:txBody>
          <a:bodyPr wrap="square" lIns="0" rIns="0" tIns="0" bIns="0" anchor="ctr">
            <a:spAutoFit/>
          </a:bodyPr>
          <a:lstStyle/>
          <a:p>
            <a:pPr algn="ctr"/>
            <a:r>
              <a:rPr sz="850" b="1" i="0">
                <a:solidFill>
                  <a:srgbClr val="FFFFFF"/>
                </a:solidFill>
                <a:latin typeface="Calibri"/>
                <a:ea typeface="Calibri"/>
                <a:cs typeface="Calibri"/>
              </a:rPr>
              <a:t>EXTRACTION</a:t>
            </a:r>
          </a:p>
        </p:txBody>
      </p:sp>
      <p:sp>
        <p:nvSpPr>
          <p:cNvPr id="24" name="TextBox 23"/>
          <p:cNvSpPr txBox="1"/>
          <p:nvPr/>
        </p:nvSpPr>
        <p:spPr>
          <a:xfrm>
            <a:off x="1828800" y="1901952"/>
            <a:ext cx="1088136" cy="640080"/>
          </a:xfrm>
          <a:prstGeom prst="rect">
            <a:avLst/>
          </a:prstGeom>
          <a:noFill/>
        </p:spPr>
        <p:txBody>
          <a:bodyPr wrap="square" lIns="0" rIns="0" tIns="0" bIns="0" anchor="t">
            <a:spAutoFit/>
          </a:bodyPr>
          <a:lstStyle/>
          <a:p>
            <a:pPr algn="ctr">
              <a:lnSpc>
                <a:spcPct val="100000"/>
              </a:lnSpc>
            </a:pPr>
            <a:r>
              <a:rPr sz="800" b="0" i="0">
                <a:solidFill>
                  <a:srgbClr val="CCFFDD"/>
                </a:solidFill>
                <a:latin typeface="Calibri"/>
                <a:ea typeface="Calibri"/>
                <a:cs typeface="Calibri"/>
              </a:rPr>
              <a:t>Lecture automatique des champs d'identité</a:t>
            </a:r>
          </a:p>
        </p:txBody>
      </p:sp>
      <p:sp>
        <p:nvSpPr>
          <p:cNvPr id="25" name="Rectangle 24"/>
          <p:cNvSpPr/>
          <p:nvPr/>
        </p:nvSpPr>
        <p:spPr>
          <a:xfrm>
            <a:off x="3035808" y="1874519"/>
            <a:ext cx="109728" cy="36576"/>
          </a:xfrm>
          <a:prstGeom prst="rect">
            <a:avLst/>
          </a:prstGeom>
          <a:solidFill>
            <a:srgbClr val="C8E6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3191256" y="1188720"/>
            <a:ext cx="1234440" cy="1417320"/>
          </a:xfrm>
          <a:prstGeom prst="roundRect">
            <a:avLst>
              <a:gd name="adj" fmla="val 6000"/>
            </a:avLst>
          </a:prstGeom>
          <a:solidFill>
            <a:srgbClr val="009A56"/>
          </a:solidFill>
          <a:ln w="12700">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191256" y="1225296"/>
            <a:ext cx="1234440" cy="384048"/>
          </a:xfrm>
          <a:prstGeom prst="rect">
            <a:avLst/>
          </a:prstGeom>
          <a:noFill/>
        </p:spPr>
        <p:txBody>
          <a:bodyPr wrap="square" lIns="0" rIns="0" tIns="0" bIns="0" anchor="ctr">
            <a:spAutoFit/>
          </a:bodyPr>
          <a:lstStyle/>
          <a:p>
            <a:pPr algn="ctr"/>
            <a:r>
              <a:rPr sz="2000" b="1" i="0">
                <a:solidFill>
                  <a:srgbClr val="FFFFFF"/>
                </a:solidFill>
                <a:latin typeface="Calibri"/>
                <a:ea typeface="Calibri"/>
                <a:cs typeface="Calibri"/>
              </a:rPr>
              <a:t>3</a:t>
            </a:r>
          </a:p>
        </p:txBody>
      </p:sp>
      <p:sp>
        <p:nvSpPr>
          <p:cNvPr id="28" name="TextBox 27"/>
          <p:cNvSpPr txBox="1"/>
          <p:nvPr/>
        </p:nvSpPr>
        <p:spPr>
          <a:xfrm>
            <a:off x="3236976" y="1609344"/>
            <a:ext cx="1143000" cy="256032"/>
          </a:xfrm>
          <a:prstGeom prst="rect">
            <a:avLst/>
          </a:prstGeom>
          <a:noFill/>
        </p:spPr>
        <p:txBody>
          <a:bodyPr wrap="square" lIns="0" rIns="0" tIns="0" bIns="0" anchor="ctr">
            <a:spAutoFit/>
          </a:bodyPr>
          <a:lstStyle/>
          <a:p>
            <a:pPr algn="ctr"/>
            <a:r>
              <a:rPr sz="850" b="1" i="0">
                <a:solidFill>
                  <a:srgbClr val="FFFFFF"/>
                </a:solidFill>
                <a:latin typeface="Calibri"/>
                <a:ea typeface="Calibri"/>
                <a:cs typeface="Calibri"/>
              </a:rPr>
              <a:t>NORMALISATION</a:t>
            </a:r>
          </a:p>
        </p:txBody>
      </p:sp>
      <p:sp>
        <p:nvSpPr>
          <p:cNvPr id="29" name="TextBox 28"/>
          <p:cNvSpPr txBox="1"/>
          <p:nvPr/>
        </p:nvSpPr>
        <p:spPr>
          <a:xfrm>
            <a:off x="3264408" y="1901952"/>
            <a:ext cx="1088136" cy="640080"/>
          </a:xfrm>
          <a:prstGeom prst="rect">
            <a:avLst/>
          </a:prstGeom>
          <a:noFill/>
        </p:spPr>
        <p:txBody>
          <a:bodyPr wrap="square" lIns="0" rIns="0" tIns="0" bIns="0" anchor="t">
            <a:spAutoFit/>
          </a:bodyPr>
          <a:lstStyle/>
          <a:p>
            <a:pPr algn="ctr">
              <a:lnSpc>
                <a:spcPct val="100000"/>
              </a:lnSpc>
            </a:pPr>
            <a:r>
              <a:rPr sz="800" b="0" i="0">
                <a:solidFill>
                  <a:srgbClr val="CCFFDD"/>
                </a:solidFill>
                <a:latin typeface="Calibri"/>
                <a:ea typeface="Calibri"/>
                <a:cs typeface="Calibri"/>
              </a:rPr>
              <a:t>Mise au format des noms et des dates</a:t>
            </a:r>
          </a:p>
        </p:txBody>
      </p:sp>
      <p:sp>
        <p:nvSpPr>
          <p:cNvPr id="30" name="Rectangle 29"/>
          <p:cNvSpPr/>
          <p:nvPr/>
        </p:nvSpPr>
        <p:spPr>
          <a:xfrm>
            <a:off x="4471416" y="1874519"/>
            <a:ext cx="109728" cy="36576"/>
          </a:xfrm>
          <a:prstGeom prst="rect">
            <a:avLst/>
          </a:prstGeom>
          <a:solidFill>
            <a:srgbClr val="C8E6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4626864" y="1188720"/>
            <a:ext cx="1234440" cy="1417320"/>
          </a:xfrm>
          <a:prstGeom prst="roundRect">
            <a:avLst>
              <a:gd name="adj" fmla="val 6000"/>
            </a:avLst>
          </a:prstGeom>
          <a:solidFill>
            <a:srgbClr val="009A56"/>
          </a:solidFill>
          <a:ln w="12700">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26864" y="1225296"/>
            <a:ext cx="1234440" cy="384048"/>
          </a:xfrm>
          <a:prstGeom prst="rect">
            <a:avLst/>
          </a:prstGeom>
          <a:noFill/>
        </p:spPr>
        <p:txBody>
          <a:bodyPr wrap="square" lIns="0" rIns="0" tIns="0" bIns="0" anchor="ctr">
            <a:spAutoFit/>
          </a:bodyPr>
          <a:lstStyle/>
          <a:p>
            <a:pPr algn="ctr"/>
            <a:r>
              <a:rPr sz="2000" b="1" i="0">
                <a:solidFill>
                  <a:srgbClr val="FFFFFF"/>
                </a:solidFill>
                <a:latin typeface="Calibri"/>
                <a:ea typeface="Calibri"/>
                <a:cs typeface="Calibri"/>
              </a:rPr>
              <a:t>4</a:t>
            </a:r>
          </a:p>
        </p:txBody>
      </p:sp>
      <p:sp>
        <p:nvSpPr>
          <p:cNvPr id="33" name="TextBox 32"/>
          <p:cNvSpPr txBox="1"/>
          <p:nvPr/>
        </p:nvSpPr>
        <p:spPr>
          <a:xfrm>
            <a:off x="4672583" y="1609344"/>
            <a:ext cx="1143000" cy="256032"/>
          </a:xfrm>
          <a:prstGeom prst="rect">
            <a:avLst/>
          </a:prstGeom>
          <a:noFill/>
        </p:spPr>
        <p:txBody>
          <a:bodyPr wrap="square" lIns="0" rIns="0" tIns="0" bIns="0" anchor="ctr">
            <a:spAutoFit/>
          </a:bodyPr>
          <a:lstStyle/>
          <a:p>
            <a:pPr algn="ctr"/>
            <a:r>
              <a:rPr sz="850" b="1" i="0">
                <a:solidFill>
                  <a:srgbClr val="FFFFFF"/>
                </a:solidFill>
                <a:latin typeface="Calibri"/>
                <a:ea typeface="Calibri"/>
                <a:cs typeface="Calibri"/>
              </a:rPr>
              <a:t>RAPPROCHEMENT</a:t>
            </a:r>
          </a:p>
        </p:txBody>
      </p:sp>
      <p:sp>
        <p:nvSpPr>
          <p:cNvPr id="34" name="TextBox 33"/>
          <p:cNvSpPr txBox="1"/>
          <p:nvPr/>
        </p:nvSpPr>
        <p:spPr>
          <a:xfrm>
            <a:off x="4700016" y="1901952"/>
            <a:ext cx="1088136" cy="640080"/>
          </a:xfrm>
          <a:prstGeom prst="rect">
            <a:avLst/>
          </a:prstGeom>
          <a:noFill/>
        </p:spPr>
        <p:txBody>
          <a:bodyPr wrap="square" lIns="0" rIns="0" tIns="0" bIns="0" anchor="t">
            <a:spAutoFit/>
          </a:bodyPr>
          <a:lstStyle/>
          <a:p>
            <a:pPr algn="ctr">
              <a:lnSpc>
                <a:spcPct val="100000"/>
              </a:lnSpc>
            </a:pPr>
            <a:r>
              <a:rPr sz="800" b="0" i="0">
                <a:solidFill>
                  <a:srgbClr val="CCFFDD"/>
                </a:solidFill>
                <a:latin typeface="Calibri"/>
                <a:ea typeface="Calibri"/>
                <a:cs typeface="Calibri"/>
              </a:rPr>
              <a:t>Association au client du référentiel</a:t>
            </a:r>
          </a:p>
        </p:txBody>
      </p:sp>
      <p:sp>
        <p:nvSpPr>
          <p:cNvPr id="35" name="Rectangle 34"/>
          <p:cNvSpPr/>
          <p:nvPr/>
        </p:nvSpPr>
        <p:spPr>
          <a:xfrm>
            <a:off x="5907023" y="1874519"/>
            <a:ext cx="109728" cy="36576"/>
          </a:xfrm>
          <a:prstGeom prst="rect">
            <a:avLst/>
          </a:prstGeom>
          <a:solidFill>
            <a:srgbClr val="C8E6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6062472" y="1188720"/>
            <a:ext cx="1234440" cy="1417320"/>
          </a:xfrm>
          <a:prstGeom prst="roundRect">
            <a:avLst>
              <a:gd name="adj" fmla="val 6000"/>
            </a:avLst>
          </a:prstGeom>
          <a:solidFill>
            <a:srgbClr val="009A56"/>
          </a:solidFill>
          <a:ln w="12700">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062472" y="1225296"/>
            <a:ext cx="1234440" cy="384048"/>
          </a:xfrm>
          <a:prstGeom prst="rect">
            <a:avLst/>
          </a:prstGeom>
          <a:noFill/>
        </p:spPr>
        <p:txBody>
          <a:bodyPr wrap="square" lIns="0" rIns="0" tIns="0" bIns="0" anchor="ctr">
            <a:spAutoFit/>
          </a:bodyPr>
          <a:lstStyle/>
          <a:p>
            <a:pPr algn="ctr"/>
            <a:r>
              <a:rPr sz="2000" b="1" i="0">
                <a:solidFill>
                  <a:srgbClr val="FFFFFF"/>
                </a:solidFill>
                <a:latin typeface="Calibri"/>
                <a:ea typeface="Calibri"/>
                <a:cs typeface="Calibri"/>
              </a:rPr>
              <a:t>5</a:t>
            </a:r>
          </a:p>
        </p:txBody>
      </p:sp>
      <p:sp>
        <p:nvSpPr>
          <p:cNvPr id="38" name="TextBox 37"/>
          <p:cNvSpPr txBox="1"/>
          <p:nvPr/>
        </p:nvSpPr>
        <p:spPr>
          <a:xfrm>
            <a:off x="6108192" y="1609344"/>
            <a:ext cx="1143000" cy="256032"/>
          </a:xfrm>
          <a:prstGeom prst="rect">
            <a:avLst/>
          </a:prstGeom>
          <a:noFill/>
        </p:spPr>
        <p:txBody>
          <a:bodyPr wrap="square" lIns="0" rIns="0" tIns="0" bIns="0" anchor="ctr">
            <a:spAutoFit/>
          </a:bodyPr>
          <a:lstStyle/>
          <a:p>
            <a:pPr algn="ctr"/>
            <a:r>
              <a:rPr sz="850" b="1" i="0">
                <a:solidFill>
                  <a:srgbClr val="FFFFFF"/>
                </a:solidFill>
                <a:latin typeface="Calibri"/>
                <a:ea typeface="Calibri"/>
                <a:cs typeface="Calibri"/>
              </a:rPr>
              <a:t>RESTITUTION</a:t>
            </a:r>
          </a:p>
        </p:txBody>
      </p:sp>
      <p:sp>
        <p:nvSpPr>
          <p:cNvPr id="39" name="TextBox 38"/>
          <p:cNvSpPr txBox="1"/>
          <p:nvPr/>
        </p:nvSpPr>
        <p:spPr>
          <a:xfrm>
            <a:off x="6135624" y="1901952"/>
            <a:ext cx="1088136" cy="640080"/>
          </a:xfrm>
          <a:prstGeom prst="rect">
            <a:avLst/>
          </a:prstGeom>
          <a:noFill/>
        </p:spPr>
        <p:txBody>
          <a:bodyPr wrap="square" lIns="0" rIns="0" tIns="0" bIns="0" anchor="t">
            <a:spAutoFit/>
          </a:bodyPr>
          <a:lstStyle/>
          <a:p>
            <a:pPr algn="ctr">
              <a:lnSpc>
                <a:spcPct val="100000"/>
              </a:lnSpc>
            </a:pPr>
            <a:r>
              <a:rPr sz="800" b="0" i="0">
                <a:solidFill>
                  <a:srgbClr val="CCFFDD"/>
                </a:solidFill>
                <a:latin typeface="Calibri"/>
                <a:ea typeface="Calibri"/>
                <a:cs typeface="Calibri"/>
              </a:rPr>
              <a:t>Tableau des correspondances et scores</a:t>
            </a:r>
          </a:p>
        </p:txBody>
      </p:sp>
      <p:sp>
        <p:nvSpPr>
          <p:cNvPr id="40" name="Rectangle 39"/>
          <p:cNvSpPr/>
          <p:nvPr/>
        </p:nvSpPr>
        <p:spPr>
          <a:xfrm>
            <a:off x="7342631" y="1874519"/>
            <a:ext cx="109728" cy="36576"/>
          </a:xfrm>
          <a:prstGeom prst="rect">
            <a:avLst/>
          </a:prstGeom>
          <a:solidFill>
            <a:srgbClr val="C8E6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7498079" y="1188720"/>
            <a:ext cx="1234440" cy="1417320"/>
          </a:xfrm>
          <a:prstGeom prst="roundRect">
            <a:avLst>
              <a:gd name="adj" fmla="val 6000"/>
            </a:avLst>
          </a:prstGeom>
          <a:solidFill>
            <a:srgbClr val="009A56"/>
          </a:solidFill>
          <a:ln w="12700">
            <a:solidFill>
              <a:srgbClr val="009A5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498079" y="1225296"/>
            <a:ext cx="1234440" cy="384048"/>
          </a:xfrm>
          <a:prstGeom prst="rect">
            <a:avLst/>
          </a:prstGeom>
          <a:noFill/>
        </p:spPr>
        <p:txBody>
          <a:bodyPr wrap="square" lIns="0" rIns="0" tIns="0" bIns="0" anchor="ctr">
            <a:spAutoFit/>
          </a:bodyPr>
          <a:lstStyle/>
          <a:p>
            <a:pPr algn="ctr"/>
            <a:r>
              <a:rPr sz="2000" b="1" i="0">
                <a:solidFill>
                  <a:srgbClr val="FFFFFF"/>
                </a:solidFill>
                <a:latin typeface="Calibri"/>
                <a:ea typeface="Calibri"/>
                <a:cs typeface="Calibri"/>
              </a:rPr>
              <a:t>6</a:t>
            </a:r>
          </a:p>
        </p:txBody>
      </p:sp>
      <p:sp>
        <p:nvSpPr>
          <p:cNvPr id="43" name="TextBox 42"/>
          <p:cNvSpPr txBox="1"/>
          <p:nvPr/>
        </p:nvSpPr>
        <p:spPr>
          <a:xfrm>
            <a:off x="7543800" y="1609344"/>
            <a:ext cx="1143000" cy="256032"/>
          </a:xfrm>
          <a:prstGeom prst="rect">
            <a:avLst/>
          </a:prstGeom>
          <a:noFill/>
        </p:spPr>
        <p:txBody>
          <a:bodyPr wrap="square" lIns="0" rIns="0" tIns="0" bIns="0" anchor="ctr">
            <a:spAutoFit/>
          </a:bodyPr>
          <a:lstStyle/>
          <a:p>
            <a:pPr algn="ctr"/>
            <a:r>
              <a:rPr sz="850" b="1" i="0">
                <a:solidFill>
                  <a:srgbClr val="FFFFFF"/>
                </a:solidFill>
                <a:latin typeface="Calibri"/>
                <a:ea typeface="Calibri"/>
                <a:cs typeface="Calibri"/>
              </a:rPr>
              <a:t>VALIDATION</a:t>
            </a:r>
          </a:p>
        </p:txBody>
      </p:sp>
      <p:sp>
        <p:nvSpPr>
          <p:cNvPr id="44" name="TextBox 43"/>
          <p:cNvSpPr txBox="1"/>
          <p:nvPr/>
        </p:nvSpPr>
        <p:spPr>
          <a:xfrm>
            <a:off x="7571231" y="1901952"/>
            <a:ext cx="1088136" cy="640080"/>
          </a:xfrm>
          <a:prstGeom prst="rect">
            <a:avLst/>
          </a:prstGeom>
          <a:noFill/>
        </p:spPr>
        <p:txBody>
          <a:bodyPr wrap="square" lIns="0" rIns="0" tIns="0" bIns="0" anchor="t">
            <a:spAutoFit/>
          </a:bodyPr>
          <a:lstStyle/>
          <a:p>
            <a:pPr algn="ctr">
              <a:lnSpc>
                <a:spcPct val="100000"/>
              </a:lnSpc>
            </a:pPr>
            <a:r>
              <a:rPr sz="800" b="0" i="0">
                <a:solidFill>
                  <a:srgbClr val="CCFFDD"/>
                </a:solidFill>
                <a:latin typeface="Calibri"/>
                <a:ea typeface="Calibri"/>
                <a:cs typeface="Calibri"/>
              </a:rPr>
              <a:t>Décision humaine avant mise à jour</a:t>
            </a:r>
          </a:p>
        </p:txBody>
      </p:sp>
      <p:sp>
        <p:nvSpPr>
          <p:cNvPr id="45" name="Rounded Rectangle 44"/>
          <p:cNvSpPr/>
          <p:nvPr/>
        </p:nvSpPr>
        <p:spPr>
          <a:xfrm>
            <a:off x="365760" y="2834640"/>
            <a:ext cx="2679192" cy="173736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365760" y="2834640"/>
            <a:ext cx="2679192" cy="2743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Oval 46"/>
          <p:cNvSpPr/>
          <p:nvPr/>
        </p:nvSpPr>
        <p:spPr>
          <a:xfrm>
            <a:off x="500871" y="2905743"/>
            <a:ext cx="132112" cy="132112"/>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40977" y="2945849"/>
            <a:ext cx="51901" cy="51901"/>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Freeform 48"/>
          <p:cNvSpPr/>
          <p:nvPr/>
        </p:nvSpPr>
        <p:spPr>
          <a:xfrm>
            <a:off x="632315" y="2998884"/>
            <a:ext cx="30514" cy="12639"/>
          </a:xfrm>
          <a:custGeom>
            <a:avLst/>
            <a:gdLst/>
            <a:ahLst/>
            <a:cxnLst/>
            <a:rect l="l" t="t" r="r" b="b"/>
            <a:pathLst>
              <a:path w="30514" h="12639">
                <a:moveTo>
                  <a:pt x="0" y="0"/>
                </a:moveTo>
                <a:lnTo>
                  <a:pt x="30514" y="12639"/>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Freeform 49"/>
          <p:cNvSpPr/>
          <p:nvPr/>
        </p:nvSpPr>
        <p:spPr>
          <a:xfrm>
            <a:off x="594012" y="3037187"/>
            <a:ext cx="12639" cy="30514"/>
          </a:xfrm>
          <a:custGeom>
            <a:avLst/>
            <a:gdLst/>
            <a:ahLst/>
            <a:cxnLst/>
            <a:rect l="l" t="t" r="r" b="b"/>
            <a:pathLst>
              <a:path w="12639" h="30514">
                <a:moveTo>
                  <a:pt x="0" y="0"/>
                </a:moveTo>
                <a:lnTo>
                  <a:pt x="12639" y="30514"/>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Freeform 50"/>
          <p:cNvSpPr/>
          <p:nvPr/>
        </p:nvSpPr>
        <p:spPr>
          <a:xfrm>
            <a:off x="527204" y="3037187"/>
            <a:ext cx="12639" cy="30514"/>
          </a:xfrm>
          <a:custGeom>
            <a:avLst/>
            <a:gdLst/>
            <a:ahLst/>
            <a:cxnLst/>
            <a:rect l="l" t="t" r="r" b="b"/>
            <a:pathLst>
              <a:path w="12639" h="30514">
                <a:moveTo>
                  <a:pt x="12639" y="0"/>
                </a:moveTo>
                <a:lnTo>
                  <a:pt x="0" y="30514"/>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Freeform 51"/>
          <p:cNvSpPr/>
          <p:nvPr/>
        </p:nvSpPr>
        <p:spPr>
          <a:xfrm>
            <a:off x="471026" y="2998884"/>
            <a:ext cx="30514" cy="12639"/>
          </a:xfrm>
          <a:custGeom>
            <a:avLst/>
            <a:gdLst/>
            <a:ahLst/>
            <a:cxnLst/>
            <a:rect l="l" t="t" r="r" b="b"/>
            <a:pathLst>
              <a:path w="30514" h="12639">
                <a:moveTo>
                  <a:pt x="30514" y="0"/>
                </a:moveTo>
                <a:lnTo>
                  <a:pt x="0" y="12639"/>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Freeform 52"/>
          <p:cNvSpPr/>
          <p:nvPr/>
        </p:nvSpPr>
        <p:spPr>
          <a:xfrm>
            <a:off x="471026" y="2932076"/>
            <a:ext cx="30514" cy="12639"/>
          </a:xfrm>
          <a:custGeom>
            <a:avLst/>
            <a:gdLst/>
            <a:ahLst/>
            <a:cxnLst/>
            <a:rect l="l" t="t" r="r" b="b"/>
            <a:pathLst>
              <a:path w="30514" h="12639">
                <a:moveTo>
                  <a:pt x="30514" y="12639"/>
                </a:moveTo>
                <a:lnTo>
                  <a:pt x="0"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Freeform 53"/>
          <p:cNvSpPr/>
          <p:nvPr/>
        </p:nvSpPr>
        <p:spPr>
          <a:xfrm>
            <a:off x="527204" y="2875898"/>
            <a:ext cx="12639" cy="30514"/>
          </a:xfrm>
          <a:custGeom>
            <a:avLst/>
            <a:gdLst/>
            <a:ahLst/>
            <a:cxnLst/>
            <a:rect l="l" t="t" r="r" b="b"/>
            <a:pathLst>
              <a:path w="12639" h="30514">
                <a:moveTo>
                  <a:pt x="12639" y="30514"/>
                </a:moveTo>
                <a:lnTo>
                  <a:pt x="0"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Freeform 54"/>
          <p:cNvSpPr/>
          <p:nvPr/>
        </p:nvSpPr>
        <p:spPr>
          <a:xfrm>
            <a:off x="594012" y="2875898"/>
            <a:ext cx="12639" cy="30514"/>
          </a:xfrm>
          <a:custGeom>
            <a:avLst/>
            <a:gdLst/>
            <a:ahLst/>
            <a:cxnLst/>
            <a:rect l="l" t="t" r="r" b="b"/>
            <a:pathLst>
              <a:path w="12639" h="30514">
                <a:moveTo>
                  <a:pt x="0" y="30514"/>
                </a:moveTo>
                <a:lnTo>
                  <a:pt x="12639"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Freeform 55"/>
          <p:cNvSpPr/>
          <p:nvPr/>
        </p:nvSpPr>
        <p:spPr>
          <a:xfrm>
            <a:off x="632315" y="2932076"/>
            <a:ext cx="30514" cy="12639"/>
          </a:xfrm>
          <a:custGeom>
            <a:avLst/>
            <a:gdLst/>
            <a:ahLst/>
            <a:cxnLst/>
            <a:rect l="l" t="t" r="r" b="b"/>
            <a:pathLst>
              <a:path w="30514" h="12639">
                <a:moveTo>
                  <a:pt x="0" y="12639"/>
                </a:moveTo>
                <a:lnTo>
                  <a:pt x="30514"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8" y="2834640"/>
            <a:ext cx="2185416" cy="274320"/>
          </a:xfrm>
          <a:prstGeom prst="rect">
            <a:avLst/>
          </a:prstGeom>
          <a:noFill/>
        </p:spPr>
        <p:txBody>
          <a:bodyPr wrap="square" lIns="0" rIns="0" tIns="0" bIns="0" anchor="ctr">
            <a:spAutoFit/>
          </a:bodyPr>
          <a:lstStyle/>
          <a:p>
            <a:pPr algn="l"/>
            <a:r>
              <a:rPr sz="900" b="1" i="0" spc="40">
                <a:solidFill>
                  <a:srgbClr val="FFFFFF"/>
                </a:solidFill>
                <a:latin typeface="Calibri"/>
                <a:ea typeface="Calibri"/>
                <a:cs typeface="Calibri"/>
              </a:rPr>
              <a:t>CE QUE LA MACHINE FAIT</a:t>
            </a:r>
          </a:p>
        </p:txBody>
      </p:sp>
      <p:sp>
        <p:nvSpPr>
          <p:cNvPr id="58" name="TextBox 57"/>
          <p:cNvSpPr txBox="1"/>
          <p:nvPr/>
        </p:nvSpPr>
        <p:spPr>
          <a:xfrm>
            <a:off x="502920" y="3273552"/>
            <a:ext cx="2404872" cy="1234440"/>
          </a:xfrm>
          <a:prstGeom prst="rect">
            <a:avLst/>
          </a:prstGeom>
          <a:noFill/>
        </p:spPr>
        <p:txBody>
          <a:bodyPr wrap="square" lIns="0" rIns="0" tIns="0" bIns="0" anchor="t">
            <a:spAutoFit/>
          </a:bodyPr>
          <a:lstStyle/>
          <a:p>
            <a:pPr algn="l" marL="152400" indent="-152400">
              <a:lnSpc>
                <a:spcPct val="100000"/>
              </a:lnSpc>
              <a:spcAft>
                <a:spcPts val="1600"/>
              </a:spcAft>
              <a:buClr>
                <a:srgbClr val="009A56"/>
              </a:buClr>
              <a:buFont typeface="Arial" pitchFamily="34" charset="0"/>
              <a:buChar char="▪"/>
            </a:pPr>
            <a:r>
              <a:rPr sz="950" b="0" i="0">
                <a:solidFill>
                  <a:srgbClr val="333333"/>
                </a:solidFill>
                <a:latin typeface="Calibri"/>
                <a:ea typeface="Calibri"/>
                <a:cs typeface="Calibri"/>
              </a:rPr>
              <a:t>Lit les pièces scannées, même inclinées</a:t>
            </a:r>
          </a:p>
          <a:p>
            <a:pPr algn="l" marL="152400" indent="-152400">
              <a:lnSpc>
                <a:spcPct val="100000"/>
              </a:lnSpc>
              <a:spcAft>
                <a:spcPts val="1600"/>
              </a:spcAft>
              <a:buClr>
                <a:srgbClr val="009A56"/>
              </a:buClr>
              <a:buFont typeface="Arial" pitchFamily="34" charset="0"/>
              <a:buChar char="▪"/>
            </a:pPr>
            <a:r>
              <a:rPr sz="950" b="0" i="0">
                <a:solidFill>
                  <a:srgbClr val="333333"/>
                </a:solidFill>
                <a:latin typeface="Calibri"/>
                <a:ea typeface="Calibri"/>
                <a:cs typeface="Calibri"/>
              </a:rPr>
              <a:t>Propose une correspondance avec un score</a:t>
            </a:r>
          </a:p>
          <a:p>
            <a:pPr algn="l" marL="152400" indent="-152400">
              <a:lnSpc>
                <a:spcPct val="100000"/>
              </a:lnSpc>
              <a:spcAft>
                <a:spcPts val="1600"/>
              </a:spcAft>
              <a:buClr>
                <a:srgbClr val="009A56"/>
              </a:buClr>
              <a:buFont typeface="Arial" pitchFamily="34" charset="0"/>
              <a:buChar char="▪"/>
            </a:pPr>
            <a:r>
              <a:rPr sz="950" b="0" i="0">
                <a:solidFill>
                  <a:srgbClr val="333333"/>
                </a:solidFill>
                <a:latin typeface="Calibri"/>
                <a:ea typeface="Calibri"/>
                <a:cs typeface="Calibri"/>
              </a:rPr>
              <a:t>Classe les propositions par niveau de confiance</a:t>
            </a:r>
          </a:p>
        </p:txBody>
      </p:sp>
      <p:sp>
        <p:nvSpPr>
          <p:cNvPr id="59" name="Rounded Rectangle 58"/>
          <p:cNvSpPr/>
          <p:nvPr/>
        </p:nvSpPr>
        <p:spPr>
          <a:xfrm>
            <a:off x="3227832" y="2834640"/>
            <a:ext cx="2679192" cy="173736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Rectangle 59"/>
          <p:cNvSpPr/>
          <p:nvPr/>
        </p:nvSpPr>
        <p:spPr>
          <a:xfrm>
            <a:off x="3227832" y="2834640"/>
            <a:ext cx="2679192" cy="2743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Oval 60"/>
          <p:cNvSpPr/>
          <p:nvPr/>
        </p:nvSpPr>
        <p:spPr>
          <a:xfrm>
            <a:off x="3329915" y="2872715"/>
            <a:ext cx="198168" cy="198168"/>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Freeform 61"/>
          <p:cNvSpPr/>
          <p:nvPr/>
        </p:nvSpPr>
        <p:spPr>
          <a:xfrm>
            <a:off x="3360584" y="2903384"/>
            <a:ext cx="136831" cy="136831"/>
          </a:xfrm>
          <a:custGeom>
            <a:avLst/>
            <a:gdLst/>
            <a:ahLst/>
            <a:cxnLst/>
            <a:rect l="l" t="t" r="r" b="b"/>
            <a:pathLst>
              <a:path w="136831" h="136831">
                <a:moveTo>
                  <a:pt x="0" y="136831"/>
                </a:moveTo>
                <a:lnTo>
                  <a:pt x="13683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611879" y="2834640"/>
            <a:ext cx="2185416" cy="274320"/>
          </a:xfrm>
          <a:prstGeom prst="rect">
            <a:avLst/>
          </a:prstGeom>
          <a:noFill/>
        </p:spPr>
        <p:txBody>
          <a:bodyPr wrap="square" lIns="0" rIns="0" tIns="0" bIns="0" anchor="ctr">
            <a:spAutoFit/>
          </a:bodyPr>
          <a:lstStyle/>
          <a:p>
            <a:pPr algn="l"/>
            <a:r>
              <a:rPr sz="900" b="1" i="0" spc="40">
                <a:solidFill>
                  <a:srgbClr val="FFFFFF"/>
                </a:solidFill>
                <a:latin typeface="Calibri"/>
                <a:ea typeface="Calibri"/>
                <a:cs typeface="Calibri"/>
              </a:rPr>
              <a:t>CE QU'ELLE NE FAIT PAS</a:t>
            </a:r>
          </a:p>
        </p:txBody>
      </p:sp>
      <p:sp>
        <p:nvSpPr>
          <p:cNvPr id="64" name="TextBox 63"/>
          <p:cNvSpPr txBox="1"/>
          <p:nvPr/>
        </p:nvSpPr>
        <p:spPr>
          <a:xfrm>
            <a:off x="3364991" y="3273552"/>
            <a:ext cx="2404872" cy="1234440"/>
          </a:xfrm>
          <a:prstGeom prst="rect">
            <a:avLst/>
          </a:prstGeom>
          <a:noFill/>
        </p:spPr>
        <p:txBody>
          <a:bodyPr wrap="square" lIns="0" rIns="0" tIns="0" bIns="0" anchor="t">
            <a:spAutoFit/>
          </a:bodyPr>
          <a:lstStyle/>
          <a:p>
            <a:pPr algn="l" marL="152400" indent="-152400">
              <a:lnSpc>
                <a:spcPct val="100000"/>
              </a:lnSpc>
              <a:spcAft>
                <a:spcPts val="1600"/>
              </a:spcAft>
              <a:buClr>
                <a:srgbClr val="009A56"/>
              </a:buClr>
              <a:buFont typeface="Arial" pitchFamily="34" charset="0"/>
              <a:buChar char="▪"/>
            </a:pPr>
            <a:r>
              <a:rPr sz="950" b="0" i="0">
                <a:solidFill>
                  <a:srgbClr val="333333"/>
                </a:solidFill>
                <a:latin typeface="Calibri"/>
                <a:ea typeface="Calibri"/>
                <a:cs typeface="Calibri"/>
              </a:rPr>
              <a:t>Elle ne modifie jamais le corebanking</a:t>
            </a:r>
          </a:p>
          <a:p>
            <a:pPr algn="l" marL="152400" indent="-152400">
              <a:lnSpc>
                <a:spcPct val="100000"/>
              </a:lnSpc>
              <a:spcAft>
                <a:spcPts val="1600"/>
              </a:spcAft>
              <a:buClr>
                <a:srgbClr val="009A56"/>
              </a:buClr>
              <a:buFont typeface="Arial" pitchFamily="34" charset="0"/>
              <a:buChar char="▪"/>
            </a:pPr>
            <a:r>
              <a:rPr sz="950" b="0" i="0">
                <a:solidFill>
                  <a:srgbClr val="333333"/>
                </a:solidFill>
                <a:latin typeface="Calibri"/>
                <a:ea typeface="Calibri"/>
                <a:cs typeface="Calibri"/>
              </a:rPr>
              <a:t>Elle ne tranche pas les cas ambigus</a:t>
            </a:r>
          </a:p>
          <a:p>
            <a:pPr algn="l" marL="152400" indent="-152400">
              <a:lnSpc>
                <a:spcPct val="100000"/>
              </a:lnSpc>
              <a:spcAft>
                <a:spcPts val="1600"/>
              </a:spcAft>
              <a:buClr>
                <a:srgbClr val="009A56"/>
              </a:buClr>
              <a:buFont typeface="Arial" pitchFamily="34" charset="0"/>
              <a:buChar char="▪"/>
            </a:pPr>
            <a:r>
              <a:rPr sz="950" b="0" i="0">
                <a:solidFill>
                  <a:srgbClr val="333333"/>
                </a:solidFill>
                <a:latin typeface="Calibri"/>
                <a:ea typeface="Calibri"/>
                <a:cs typeface="Calibri"/>
              </a:rPr>
              <a:t>Elle ne remplace pas la pièce justificative</a:t>
            </a:r>
          </a:p>
        </p:txBody>
      </p:sp>
      <p:sp>
        <p:nvSpPr>
          <p:cNvPr id="65" name="Rounded Rectangle 64"/>
          <p:cNvSpPr/>
          <p:nvPr/>
        </p:nvSpPr>
        <p:spPr>
          <a:xfrm>
            <a:off x="6089904" y="2834640"/>
            <a:ext cx="2679192" cy="173736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Rectangle 65"/>
          <p:cNvSpPr/>
          <p:nvPr/>
        </p:nvSpPr>
        <p:spPr>
          <a:xfrm>
            <a:off x="6089904" y="2834640"/>
            <a:ext cx="2679192" cy="2743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Oval 66"/>
          <p:cNvSpPr/>
          <p:nvPr/>
        </p:nvSpPr>
        <p:spPr>
          <a:xfrm>
            <a:off x="6253325" y="2882152"/>
            <a:ext cx="75492" cy="75492"/>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Freeform 67"/>
          <p:cNvSpPr/>
          <p:nvPr/>
        </p:nvSpPr>
        <p:spPr>
          <a:xfrm>
            <a:off x="6206142" y="2981236"/>
            <a:ext cx="169859" cy="84930"/>
          </a:xfrm>
          <a:custGeom>
            <a:avLst/>
            <a:gdLst/>
            <a:ahLst/>
            <a:cxnLst/>
            <a:rect l="l" t="t" r="r" b="b"/>
            <a:pathLst>
              <a:path w="169859" h="84930">
                <a:moveTo>
                  <a:pt x="0" y="84930"/>
                </a:moveTo>
                <a:lnTo>
                  <a:pt x="14155" y="28310"/>
                </a:lnTo>
                <a:lnTo>
                  <a:pt x="84930" y="0"/>
                </a:lnTo>
                <a:lnTo>
                  <a:pt x="155704" y="28310"/>
                </a:lnTo>
                <a:lnTo>
                  <a:pt x="169859" y="8493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473952" y="2834640"/>
            <a:ext cx="2185416" cy="274320"/>
          </a:xfrm>
          <a:prstGeom prst="rect">
            <a:avLst/>
          </a:prstGeom>
          <a:noFill/>
        </p:spPr>
        <p:txBody>
          <a:bodyPr wrap="square" lIns="0" rIns="0" tIns="0" bIns="0" anchor="ctr">
            <a:spAutoFit/>
          </a:bodyPr>
          <a:lstStyle/>
          <a:p>
            <a:pPr algn="l"/>
            <a:r>
              <a:rPr sz="900" b="1" i="0" spc="40">
                <a:solidFill>
                  <a:srgbClr val="FFFFFF"/>
                </a:solidFill>
                <a:latin typeface="Calibri"/>
                <a:ea typeface="Calibri"/>
                <a:cs typeface="Calibri"/>
              </a:rPr>
              <a:t>CE QUE VOUS FAITES</a:t>
            </a:r>
          </a:p>
        </p:txBody>
      </p:sp>
      <p:sp>
        <p:nvSpPr>
          <p:cNvPr id="70" name="TextBox 69"/>
          <p:cNvSpPr txBox="1"/>
          <p:nvPr/>
        </p:nvSpPr>
        <p:spPr>
          <a:xfrm>
            <a:off x="6227064" y="3273552"/>
            <a:ext cx="2404872" cy="1234440"/>
          </a:xfrm>
          <a:prstGeom prst="rect">
            <a:avLst/>
          </a:prstGeom>
          <a:noFill/>
        </p:spPr>
        <p:txBody>
          <a:bodyPr wrap="square" lIns="0" rIns="0" tIns="0" bIns="0" anchor="t">
            <a:spAutoFit/>
          </a:bodyPr>
          <a:lstStyle/>
          <a:p>
            <a:pPr algn="l" marL="152400" indent="-152400">
              <a:lnSpc>
                <a:spcPct val="100000"/>
              </a:lnSpc>
              <a:spcAft>
                <a:spcPts val="1600"/>
              </a:spcAft>
              <a:buClr>
                <a:srgbClr val="009A56"/>
              </a:buClr>
              <a:buFont typeface="Arial" pitchFamily="34" charset="0"/>
              <a:buChar char="▪"/>
            </a:pPr>
            <a:r>
              <a:rPr sz="950" b="0" i="0">
                <a:solidFill>
                  <a:srgbClr val="333333"/>
                </a:solidFill>
                <a:latin typeface="Calibri"/>
                <a:ea typeface="Calibri"/>
                <a:cs typeface="Calibri"/>
              </a:rPr>
              <a:t>Vous contrôlez la proposition à l'écran</a:t>
            </a:r>
          </a:p>
          <a:p>
            <a:pPr algn="l" marL="152400" indent="-152400">
              <a:lnSpc>
                <a:spcPct val="100000"/>
              </a:lnSpc>
              <a:spcAft>
                <a:spcPts val="1600"/>
              </a:spcAft>
              <a:buClr>
                <a:srgbClr val="009A56"/>
              </a:buClr>
              <a:buFont typeface="Arial" pitchFamily="34" charset="0"/>
              <a:buChar char="▪"/>
            </a:pPr>
            <a:r>
              <a:rPr sz="950" b="0" i="0">
                <a:solidFill>
                  <a:srgbClr val="333333"/>
                </a:solidFill>
                <a:latin typeface="Calibri"/>
                <a:ea typeface="Calibri"/>
                <a:cs typeface="Calibri"/>
              </a:rPr>
              <a:t>Vous validez, corrigez ou rejetez</a:t>
            </a:r>
          </a:p>
          <a:p>
            <a:pPr algn="l" marL="152400" indent="-152400">
              <a:lnSpc>
                <a:spcPct val="100000"/>
              </a:lnSpc>
              <a:spcAft>
                <a:spcPts val="1600"/>
              </a:spcAft>
              <a:buClr>
                <a:srgbClr val="009A56"/>
              </a:buClr>
              <a:buFont typeface="Arial" pitchFamily="34" charset="0"/>
              <a:buChar char="▪"/>
            </a:pPr>
            <a:r>
              <a:rPr sz="950" b="0" i="0">
                <a:solidFill>
                  <a:srgbClr val="333333"/>
                </a:solidFill>
                <a:latin typeface="Calibri"/>
                <a:ea typeface="Calibri"/>
                <a:cs typeface="Calibri"/>
              </a:rPr>
              <a:t>Vous saisissez la correction au dossier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6"/>
                                        </p:tgtEl>
                                        <p:attrNameLst>
                                          <p:attrName>style.visibility</p:attrName>
                                        </p:attrNameLst>
                                      </p:cBhvr>
                                      <p:to>
                                        <p:strVal val="visible"/>
                                      </p:to>
                                    </p:set>
                                    <p:animEffect transition="in" filter="fade">
                                      <p:cBhvr>
                                        <p:cTn id="5" dur="450"/>
                                        <p:tgtEl>
                                          <p:spTgt spid="16"/>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7"/>
                                        </p:tgtEl>
                                        <p:attrNameLst>
                                          <p:attrName>style.visibility</p:attrName>
                                        </p:attrNameLst>
                                      </p:cBhvr>
                                      <p:to>
                                        <p:strVal val="visible"/>
                                      </p:to>
                                    </p:set>
                                    <p:animEffect transition="in" filter="fade">
                                      <p:cBhvr>
                                        <p:cTn id="8" dur="450"/>
                                        <p:tgtEl>
                                          <p:spTgt spid="17"/>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450"/>
                                        <p:tgtEl>
                                          <p:spTgt spid="18"/>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450"/>
                                        <p:tgtEl>
                                          <p:spTgt spid="19"/>
                                        </p:tgtEl>
                                      </p:cBhvr>
                                    </p:animEffect>
                                  </p:childTnLst>
                                </p:cTn>
                              </p:par>
                            </p:childTnLst>
                          </p:cTn>
                        </p:par>
                      </p:childTnLst>
                    </p:cTn>
                  </p:par>
                  <p:par>
                    <p:cTn id="29" fill="hold">
                      <p:stCondLst>
                        <p:cond delay="indefinite"/>
                      </p:stCondLst>
                      <p:childTnLst>
                        <p:par>
                          <p:cTn id="30"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50"/>
                                        <p:tgtEl>
                                          <p:spTgt spid="21"/>
                                        </p:tgtEl>
                                      </p:cBhvr>
                                    </p:animEffect>
                                  </p:childTnLst>
                                </p:cTn>
                              </p:par>
                              <p:par>
                                <p:cTn id="20" presetID="10" presetClass="entr" presetSubtype="0" fill="hold" grpId="0" nodeType="withEffect">
                                  <p:stCondLst>
                                    <p:cond delay="12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50"/>
                                        <p:tgtEl>
                                          <p:spTgt spid="22"/>
                                        </p:tgtEl>
                                      </p:cBhvr>
                                    </p:animEffect>
                                  </p:childTnLst>
                                </p:cTn>
                              </p:par>
                              <p:par>
                                <p:cTn id="23" presetID="10" presetClass="entr" presetSubtype="0" fill="hold" grpId="0" nodeType="withEffect">
                                  <p:stCondLst>
                                    <p:cond delay="24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450"/>
                                        <p:tgtEl>
                                          <p:spTgt spid="23"/>
                                        </p:tgtEl>
                                      </p:cBhvr>
                                    </p:animEffect>
                                  </p:childTnLst>
                                </p:cTn>
                              </p:par>
                              <p:par>
                                <p:cTn id="26" presetID="10" presetClass="entr" presetSubtype="0" fill="hold" grpId="0" nodeType="withEffect">
                                  <p:stCondLst>
                                    <p:cond delay="36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450"/>
                                        <p:tgtEl>
                                          <p:spTgt spid="24"/>
                                        </p:tgtEl>
                                      </p:cBhvr>
                                    </p:animEffect>
                                  </p:childTnLst>
                                </p:cTn>
                              </p:par>
                            </p:childTnLst>
                          </p:cTn>
                        </p:par>
                      </p:childTnLst>
                    </p:cTn>
                  </p:par>
                  <p:par>
                    <p:cTn id="43" fill="hold">
                      <p:stCondLst>
                        <p:cond delay="indefinite"/>
                      </p:stCondLst>
                      <p:childTnLst>
                        <p:par>
                          <p:cTn id="44"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450"/>
                                        <p:tgtEl>
                                          <p:spTgt spid="26"/>
                                        </p:tgtEl>
                                      </p:cBhvr>
                                    </p:animEffect>
                                  </p:childTnLst>
                                </p:cTn>
                              </p:par>
                              <p:par>
                                <p:cTn id="34" presetID="10" presetClass="entr" presetSubtype="0" fill="hold" grpId="0" nodeType="withEffect">
                                  <p:stCondLst>
                                    <p:cond delay="120"/>
                                  </p:stCondLst>
                                  <p:childTnLst>
                                    <p:set>
                                      <p:cBhvr>
                                        <p:cTn id="35" dur="1" fill="hold">
                                          <p:stCondLst>
                                            <p:cond delay="0"/>
                                          </p:stCondLst>
                                        </p:cTn>
                                        <p:tgtEl>
                                          <p:spTgt spid="27"/>
                                        </p:tgtEl>
                                        <p:attrNameLst>
                                          <p:attrName>style.visibility</p:attrName>
                                        </p:attrNameLst>
                                      </p:cBhvr>
                                      <p:to>
                                        <p:strVal val="visible"/>
                                      </p:to>
                                    </p:set>
                                    <p:animEffect transition="in" filter="fade">
                                      <p:cBhvr>
                                        <p:cTn id="36" dur="450"/>
                                        <p:tgtEl>
                                          <p:spTgt spid="27"/>
                                        </p:tgtEl>
                                      </p:cBhvr>
                                    </p:animEffect>
                                  </p:childTnLst>
                                </p:cTn>
                              </p:par>
                              <p:par>
                                <p:cTn id="37" presetID="10" presetClass="entr" presetSubtype="0" fill="hold" grpId="0" nodeType="withEffect">
                                  <p:stCondLst>
                                    <p:cond delay="24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50"/>
                                        <p:tgtEl>
                                          <p:spTgt spid="28"/>
                                        </p:tgtEl>
                                      </p:cBhvr>
                                    </p:animEffect>
                                  </p:childTnLst>
                                </p:cTn>
                              </p:par>
                              <p:par>
                                <p:cTn id="40" presetID="10" presetClass="entr" presetSubtype="0" fill="hold" grpId="0" nodeType="withEffect">
                                  <p:stCondLst>
                                    <p:cond delay="36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50"/>
                                        <p:tgtEl>
                                          <p:spTgt spid="29"/>
                                        </p:tgtEl>
                                      </p:cBhvr>
                                    </p:animEffect>
                                  </p:childTnLst>
                                </p:cTn>
                              </p:par>
                            </p:childTnLst>
                          </p:cTn>
                        </p:par>
                      </p:childTnLst>
                    </p:cTn>
                  </p:par>
                  <p:par>
                    <p:cTn id="57" fill="hold">
                      <p:stCondLst>
                        <p:cond delay="indefinite"/>
                      </p:stCondLst>
                      <p:childTnLst>
                        <p:par>
                          <p:cTn id="58"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50"/>
                                        <p:tgtEl>
                                          <p:spTgt spid="31"/>
                                        </p:tgtEl>
                                      </p:cBhvr>
                                    </p:animEffect>
                                  </p:childTnLst>
                                </p:cTn>
                              </p:par>
                              <p:par>
                                <p:cTn id="48" presetID="10" presetClass="entr" presetSubtype="0" fill="hold" grpId="0" nodeType="withEffect">
                                  <p:stCondLst>
                                    <p:cond delay="12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50"/>
                                        <p:tgtEl>
                                          <p:spTgt spid="32"/>
                                        </p:tgtEl>
                                      </p:cBhvr>
                                    </p:animEffect>
                                  </p:childTnLst>
                                </p:cTn>
                              </p:par>
                              <p:par>
                                <p:cTn id="51" presetID="10" presetClass="entr" presetSubtype="0" fill="hold" grpId="0" nodeType="withEffect">
                                  <p:stCondLst>
                                    <p:cond delay="24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450"/>
                                        <p:tgtEl>
                                          <p:spTgt spid="33"/>
                                        </p:tgtEl>
                                      </p:cBhvr>
                                    </p:animEffect>
                                  </p:childTnLst>
                                </p:cTn>
                              </p:par>
                              <p:par>
                                <p:cTn id="54" presetID="10" presetClass="entr" presetSubtype="0" fill="hold" grpId="0" nodeType="withEffect">
                                  <p:stCondLst>
                                    <p:cond delay="360"/>
                                  </p:stCondLst>
                                  <p:childTnLst>
                                    <p:set>
                                      <p:cBhvr>
                                        <p:cTn id="55" dur="1" fill="hold">
                                          <p:stCondLst>
                                            <p:cond delay="0"/>
                                          </p:stCondLst>
                                        </p:cTn>
                                        <p:tgtEl>
                                          <p:spTgt spid="34"/>
                                        </p:tgtEl>
                                        <p:attrNameLst>
                                          <p:attrName>style.visibility</p:attrName>
                                        </p:attrNameLst>
                                      </p:cBhvr>
                                      <p:to>
                                        <p:strVal val="visible"/>
                                      </p:to>
                                    </p:set>
                                    <p:animEffect transition="in" filter="fade">
                                      <p:cBhvr>
                                        <p:cTn id="56" dur="450"/>
                                        <p:tgtEl>
                                          <p:spTgt spid="34"/>
                                        </p:tgtEl>
                                      </p:cBhvr>
                                    </p:animEffect>
                                  </p:childTnLst>
                                </p:cTn>
                              </p:par>
                            </p:childTnLst>
                          </p:cTn>
                        </p:par>
                      </p:childTnLst>
                    </p:cTn>
                  </p:par>
                  <p:par>
                    <p:cTn id="71" fill="hold">
                      <p:stCondLst>
                        <p:cond delay="indefinite"/>
                      </p:stCondLst>
                      <p:childTnLst>
                        <p:par>
                          <p:cTn id="72"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6"/>
                                        </p:tgtEl>
                                        <p:attrNameLst>
                                          <p:attrName>style.visibility</p:attrName>
                                        </p:attrNameLst>
                                      </p:cBhvr>
                                      <p:to>
                                        <p:strVal val="visible"/>
                                      </p:to>
                                    </p:set>
                                    <p:animEffect transition="in" filter="fade">
                                      <p:cBhvr>
                                        <p:cTn id="61" dur="450"/>
                                        <p:tgtEl>
                                          <p:spTgt spid="36"/>
                                        </p:tgtEl>
                                      </p:cBhvr>
                                    </p:animEffect>
                                  </p:childTnLst>
                                </p:cTn>
                              </p:par>
                              <p:par>
                                <p:cTn id="62" presetID="10" presetClass="entr" presetSubtype="0" fill="hold" grpId="0" nodeType="withEffect">
                                  <p:stCondLst>
                                    <p:cond delay="120"/>
                                  </p:stCondLst>
                                  <p:childTnLst>
                                    <p:set>
                                      <p:cBhvr>
                                        <p:cTn id="63" dur="1" fill="hold">
                                          <p:stCondLst>
                                            <p:cond delay="0"/>
                                          </p:stCondLst>
                                        </p:cTn>
                                        <p:tgtEl>
                                          <p:spTgt spid="37"/>
                                        </p:tgtEl>
                                        <p:attrNameLst>
                                          <p:attrName>style.visibility</p:attrName>
                                        </p:attrNameLst>
                                      </p:cBhvr>
                                      <p:to>
                                        <p:strVal val="visible"/>
                                      </p:to>
                                    </p:set>
                                    <p:animEffect transition="in" filter="fade">
                                      <p:cBhvr>
                                        <p:cTn id="64" dur="450"/>
                                        <p:tgtEl>
                                          <p:spTgt spid="37"/>
                                        </p:tgtEl>
                                      </p:cBhvr>
                                    </p:animEffect>
                                  </p:childTnLst>
                                </p:cTn>
                              </p:par>
                              <p:par>
                                <p:cTn id="65" presetID="10" presetClass="entr" presetSubtype="0" fill="hold" grpId="0" nodeType="withEffect">
                                  <p:stCondLst>
                                    <p:cond delay="24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450"/>
                                        <p:tgtEl>
                                          <p:spTgt spid="38"/>
                                        </p:tgtEl>
                                      </p:cBhvr>
                                    </p:animEffect>
                                  </p:childTnLst>
                                </p:cTn>
                              </p:par>
                              <p:par>
                                <p:cTn id="68" presetID="10" presetClass="entr" presetSubtype="0" fill="hold" grpId="0" nodeType="withEffect">
                                  <p:stCondLst>
                                    <p:cond delay="36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450"/>
                                        <p:tgtEl>
                                          <p:spTgt spid="39"/>
                                        </p:tgtEl>
                                      </p:cBhvr>
                                    </p:animEffect>
                                  </p:childTnLst>
                                </p:cTn>
                              </p:par>
                            </p:childTnLst>
                          </p:cTn>
                        </p:par>
                      </p:childTnLst>
                    </p:cTn>
                  </p:par>
                  <p:par>
                    <p:cTn id="85" fill="hold">
                      <p:stCondLst>
                        <p:cond delay="indefinite"/>
                      </p:stCondLst>
                      <p:childTnLst>
                        <p:par>
                          <p:cTn id="86"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50"/>
                                        <p:tgtEl>
                                          <p:spTgt spid="41"/>
                                        </p:tgtEl>
                                      </p:cBhvr>
                                    </p:animEffect>
                                  </p:childTnLst>
                                </p:cTn>
                              </p:par>
                              <p:par>
                                <p:cTn id="76" presetID="10" presetClass="entr" presetSubtype="0" fill="hold" grpId="0" nodeType="withEffect">
                                  <p:stCondLst>
                                    <p:cond delay="12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50"/>
                                        <p:tgtEl>
                                          <p:spTgt spid="42"/>
                                        </p:tgtEl>
                                      </p:cBhvr>
                                    </p:animEffect>
                                  </p:childTnLst>
                                </p:cTn>
                              </p:par>
                              <p:par>
                                <p:cTn id="79" presetID="10" presetClass="entr" presetSubtype="0" fill="hold" grpId="0" nodeType="withEffect">
                                  <p:stCondLst>
                                    <p:cond delay="24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50"/>
                                        <p:tgtEl>
                                          <p:spTgt spid="43"/>
                                        </p:tgtEl>
                                      </p:cBhvr>
                                    </p:animEffect>
                                  </p:childTnLst>
                                </p:cTn>
                              </p:par>
                              <p:par>
                                <p:cTn id="82" presetID="10" presetClass="entr" presetSubtype="0" fill="hold" grpId="0" nodeType="withEffect">
                                  <p:stCondLst>
                                    <p:cond delay="36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50"/>
                                        <p:tgtEl>
                                          <p:spTgt spid="44"/>
                                        </p:tgtEl>
                                      </p:cBhvr>
                                    </p:animEffect>
                                  </p:childTnLst>
                                </p:cTn>
                              </p:par>
                            </p:childTnLst>
                          </p:cTn>
                        </p:par>
                      </p:childTnLst>
                    </p:cTn>
                  </p:par>
                  <p:par>
                    <p:cTn id="129" fill="hold">
                      <p:stCondLst>
                        <p:cond delay="indefinite"/>
                      </p:stCondLst>
                      <p:childTnLst>
                        <p:par>
                          <p:cTn id="130"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50"/>
                                        <p:tgtEl>
                                          <p:spTgt spid="45"/>
                                        </p:tgtEl>
                                      </p:cBhvr>
                                    </p:animEffect>
                                  </p:childTnLst>
                                </p:cTn>
                              </p:par>
                              <p:par>
                                <p:cTn id="90" presetID="10" presetClass="entr" presetSubtype="0" fill="hold" grpId="0" nodeType="withEffect">
                                  <p:stCondLst>
                                    <p:cond delay="12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50"/>
                                        <p:tgtEl>
                                          <p:spTgt spid="46"/>
                                        </p:tgtEl>
                                      </p:cBhvr>
                                    </p:animEffect>
                                  </p:childTnLst>
                                </p:cTn>
                              </p:par>
                              <p:par>
                                <p:cTn id="93" presetID="10" presetClass="entr" presetSubtype="0" fill="hold" grpId="0" nodeType="withEffect">
                                  <p:stCondLst>
                                    <p:cond delay="24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50"/>
                                        <p:tgtEl>
                                          <p:spTgt spid="47"/>
                                        </p:tgtEl>
                                      </p:cBhvr>
                                    </p:animEffect>
                                  </p:childTnLst>
                                </p:cTn>
                              </p:par>
                              <p:par>
                                <p:cTn id="96" presetID="10" presetClass="entr" presetSubtype="0" fill="hold" grpId="0" nodeType="withEffect">
                                  <p:stCondLst>
                                    <p:cond delay="36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50"/>
                                        <p:tgtEl>
                                          <p:spTgt spid="48"/>
                                        </p:tgtEl>
                                      </p:cBhvr>
                                    </p:animEffect>
                                  </p:childTnLst>
                                </p:cTn>
                              </p:par>
                              <p:par>
                                <p:cTn id="99" presetID="10" presetClass="entr" presetSubtype="0" fill="hold" grpId="0" nodeType="withEffect">
                                  <p:stCondLst>
                                    <p:cond delay="48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50"/>
                                        <p:tgtEl>
                                          <p:spTgt spid="49"/>
                                        </p:tgtEl>
                                      </p:cBhvr>
                                    </p:animEffect>
                                  </p:childTnLst>
                                </p:cTn>
                              </p:par>
                              <p:par>
                                <p:cTn id="102" presetID="10" presetClass="entr" presetSubtype="0" fill="hold" grpId="0" nodeType="withEffect">
                                  <p:stCondLst>
                                    <p:cond delay="60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50"/>
                                        <p:tgtEl>
                                          <p:spTgt spid="50"/>
                                        </p:tgtEl>
                                      </p:cBhvr>
                                    </p:animEffect>
                                  </p:childTnLst>
                                </p:cTn>
                              </p:par>
                              <p:par>
                                <p:cTn id="105" presetID="10" presetClass="entr" presetSubtype="0" fill="hold" grpId="0" nodeType="withEffect">
                                  <p:stCondLst>
                                    <p:cond delay="72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50"/>
                                        <p:tgtEl>
                                          <p:spTgt spid="51"/>
                                        </p:tgtEl>
                                      </p:cBhvr>
                                    </p:animEffect>
                                  </p:childTnLst>
                                </p:cTn>
                              </p:par>
                              <p:par>
                                <p:cTn id="108" presetID="10" presetClass="entr" presetSubtype="0" fill="hold" grpId="0" nodeType="withEffect">
                                  <p:stCondLst>
                                    <p:cond delay="84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50"/>
                                        <p:tgtEl>
                                          <p:spTgt spid="52"/>
                                        </p:tgtEl>
                                      </p:cBhvr>
                                    </p:animEffect>
                                  </p:childTnLst>
                                </p:cTn>
                              </p:par>
                              <p:par>
                                <p:cTn id="111" presetID="10" presetClass="entr" presetSubtype="0" fill="hold" grpId="0" nodeType="withEffect">
                                  <p:stCondLst>
                                    <p:cond delay="96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50"/>
                                        <p:tgtEl>
                                          <p:spTgt spid="53"/>
                                        </p:tgtEl>
                                      </p:cBhvr>
                                    </p:animEffect>
                                  </p:childTnLst>
                                </p:cTn>
                              </p:par>
                              <p:par>
                                <p:cTn id="114" presetID="10" presetClass="entr" presetSubtype="0" fill="hold" grpId="0" nodeType="withEffect">
                                  <p:stCondLst>
                                    <p:cond delay="108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50"/>
                                        <p:tgtEl>
                                          <p:spTgt spid="54"/>
                                        </p:tgtEl>
                                      </p:cBhvr>
                                    </p:animEffect>
                                  </p:childTnLst>
                                </p:cTn>
                              </p:par>
                              <p:par>
                                <p:cTn id="117" presetID="10" presetClass="entr" presetSubtype="0" fill="hold" grpId="0" nodeType="withEffect">
                                  <p:stCondLst>
                                    <p:cond delay="1200"/>
                                  </p:stCondLst>
                                  <p:childTnLst>
                                    <p:set>
                                      <p:cBhvr>
                                        <p:cTn id="118" dur="1" fill="hold">
                                          <p:stCondLst>
                                            <p:cond delay="0"/>
                                          </p:stCondLst>
                                        </p:cTn>
                                        <p:tgtEl>
                                          <p:spTgt spid="55"/>
                                        </p:tgtEl>
                                        <p:attrNameLst>
                                          <p:attrName>style.visibility</p:attrName>
                                        </p:attrNameLst>
                                      </p:cBhvr>
                                      <p:to>
                                        <p:strVal val="visible"/>
                                      </p:to>
                                    </p:set>
                                    <p:animEffect transition="in" filter="fade">
                                      <p:cBhvr>
                                        <p:cTn id="119" dur="450"/>
                                        <p:tgtEl>
                                          <p:spTgt spid="55"/>
                                        </p:tgtEl>
                                      </p:cBhvr>
                                    </p:animEffect>
                                  </p:childTnLst>
                                </p:cTn>
                              </p:par>
                              <p:par>
                                <p:cTn id="120" presetID="10" presetClass="entr" presetSubtype="0" fill="hold" grpId="0" nodeType="withEffect">
                                  <p:stCondLst>
                                    <p:cond delay="1320"/>
                                  </p:stCondLst>
                                  <p:childTnLst>
                                    <p:set>
                                      <p:cBhvr>
                                        <p:cTn id="121" dur="1" fill="hold">
                                          <p:stCondLst>
                                            <p:cond delay="0"/>
                                          </p:stCondLst>
                                        </p:cTn>
                                        <p:tgtEl>
                                          <p:spTgt spid="56"/>
                                        </p:tgtEl>
                                        <p:attrNameLst>
                                          <p:attrName>style.visibility</p:attrName>
                                        </p:attrNameLst>
                                      </p:cBhvr>
                                      <p:to>
                                        <p:strVal val="visible"/>
                                      </p:to>
                                    </p:set>
                                    <p:animEffect transition="in" filter="fade">
                                      <p:cBhvr>
                                        <p:cTn id="122" dur="450"/>
                                        <p:tgtEl>
                                          <p:spTgt spid="56"/>
                                        </p:tgtEl>
                                      </p:cBhvr>
                                    </p:animEffect>
                                  </p:childTnLst>
                                </p:cTn>
                              </p:par>
                              <p:par>
                                <p:cTn id="123" presetID="10" presetClass="entr" presetSubtype="0" fill="hold" grpId="0" nodeType="withEffect">
                                  <p:stCondLst>
                                    <p:cond delay="1440"/>
                                  </p:stCondLst>
                                  <p:childTnLst>
                                    <p:set>
                                      <p:cBhvr>
                                        <p:cTn id="124" dur="1" fill="hold">
                                          <p:stCondLst>
                                            <p:cond delay="0"/>
                                          </p:stCondLst>
                                        </p:cTn>
                                        <p:tgtEl>
                                          <p:spTgt spid="57"/>
                                        </p:tgtEl>
                                        <p:attrNameLst>
                                          <p:attrName>style.visibility</p:attrName>
                                        </p:attrNameLst>
                                      </p:cBhvr>
                                      <p:to>
                                        <p:strVal val="visible"/>
                                      </p:to>
                                    </p:set>
                                    <p:animEffect transition="in" filter="fade">
                                      <p:cBhvr>
                                        <p:cTn id="125" dur="450"/>
                                        <p:tgtEl>
                                          <p:spTgt spid="57"/>
                                        </p:tgtEl>
                                      </p:cBhvr>
                                    </p:animEffect>
                                  </p:childTnLst>
                                </p:cTn>
                              </p:par>
                              <p:par>
                                <p:cTn id="126" presetID="10" presetClass="entr" presetSubtype="0" fill="hold" grpId="0" nodeType="withEffect">
                                  <p:stCondLst>
                                    <p:cond delay="1560"/>
                                  </p:stCondLst>
                                  <p:childTnLst>
                                    <p:set>
                                      <p:cBhvr>
                                        <p:cTn id="127" dur="1" fill="hold">
                                          <p:stCondLst>
                                            <p:cond delay="0"/>
                                          </p:stCondLst>
                                        </p:cTn>
                                        <p:tgtEl>
                                          <p:spTgt spid="58"/>
                                        </p:tgtEl>
                                        <p:attrNameLst>
                                          <p:attrName>style.visibility</p:attrName>
                                        </p:attrNameLst>
                                      </p:cBhvr>
                                      <p:to>
                                        <p:strVal val="visible"/>
                                      </p:to>
                                    </p:set>
                                    <p:animEffect transition="in" filter="fade">
                                      <p:cBhvr>
                                        <p:cTn id="128" dur="450"/>
                                        <p:tgtEl>
                                          <p:spTgt spid="58"/>
                                        </p:tgtEl>
                                      </p:cBhvr>
                                    </p:animEffect>
                                  </p:childTnLst>
                                </p:cTn>
                              </p:par>
                            </p:childTnLst>
                          </p:cTn>
                        </p:par>
                      </p:childTnLst>
                    </p:cTn>
                  </p:par>
                  <p:par>
                    <p:cTn id="149" fill="hold">
                      <p:stCondLst>
                        <p:cond delay="indefinite"/>
                      </p:stCondLst>
                      <p:childTnLst>
                        <p:par>
                          <p:cTn id="150" fill="hold">
                            <p:stCondLst>
                              <p:cond delay="0"/>
                            </p:stCondLst>
                            <p:childTnLst>
                              <p:par>
                                <p:cTn id="131" presetID="10" presetClass="entr" presetSubtype="0" fill="hold" grpId="0" nodeType="clickEffect">
                                  <p:stCondLst>
                                    <p:cond delay="0"/>
                                  </p:stCondLst>
                                  <p:childTnLst>
                                    <p:set>
                                      <p:cBhvr>
                                        <p:cTn id="132" dur="1" fill="hold">
                                          <p:stCondLst>
                                            <p:cond delay="0"/>
                                          </p:stCondLst>
                                        </p:cTn>
                                        <p:tgtEl>
                                          <p:spTgt spid="59"/>
                                        </p:tgtEl>
                                        <p:attrNameLst>
                                          <p:attrName>style.visibility</p:attrName>
                                        </p:attrNameLst>
                                      </p:cBhvr>
                                      <p:to>
                                        <p:strVal val="visible"/>
                                      </p:to>
                                    </p:set>
                                    <p:animEffect transition="in" filter="fade">
                                      <p:cBhvr>
                                        <p:cTn id="133" dur="450"/>
                                        <p:tgtEl>
                                          <p:spTgt spid="59"/>
                                        </p:tgtEl>
                                      </p:cBhvr>
                                    </p:animEffect>
                                  </p:childTnLst>
                                </p:cTn>
                              </p:par>
                              <p:par>
                                <p:cTn id="134" presetID="10" presetClass="entr" presetSubtype="0" fill="hold" grpId="0" nodeType="withEffect">
                                  <p:stCondLst>
                                    <p:cond delay="120"/>
                                  </p:stCondLst>
                                  <p:childTnLst>
                                    <p:set>
                                      <p:cBhvr>
                                        <p:cTn id="135" dur="1" fill="hold">
                                          <p:stCondLst>
                                            <p:cond delay="0"/>
                                          </p:stCondLst>
                                        </p:cTn>
                                        <p:tgtEl>
                                          <p:spTgt spid="60"/>
                                        </p:tgtEl>
                                        <p:attrNameLst>
                                          <p:attrName>style.visibility</p:attrName>
                                        </p:attrNameLst>
                                      </p:cBhvr>
                                      <p:to>
                                        <p:strVal val="visible"/>
                                      </p:to>
                                    </p:set>
                                    <p:animEffect transition="in" filter="fade">
                                      <p:cBhvr>
                                        <p:cTn id="136" dur="450"/>
                                        <p:tgtEl>
                                          <p:spTgt spid="60"/>
                                        </p:tgtEl>
                                      </p:cBhvr>
                                    </p:animEffect>
                                  </p:childTnLst>
                                </p:cTn>
                              </p:par>
                              <p:par>
                                <p:cTn id="137" presetID="10" presetClass="entr" presetSubtype="0" fill="hold" grpId="0" nodeType="withEffect">
                                  <p:stCondLst>
                                    <p:cond delay="240"/>
                                  </p:stCondLst>
                                  <p:childTnLst>
                                    <p:set>
                                      <p:cBhvr>
                                        <p:cTn id="138" dur="1" fill="hold">
                                          <p:stCondLst>
                                            <p:cond delay="0"/>
                                          </p:stCondLst>
                                        </p:cTn>
                                        <p:tgtEl>
                                          <p:spTgt spid="61"/>
                                        </p:tgtEl>
                                        <p:attrNameLst>
                                          <p:attrName>style.visibility</p:attrName>
                                        </p:attrNameLst>
                                      </p:cBhvr>
                                      <p:to>
                                        <p:strVal val="visible"/>
                                      </p:to>
                                    </p:set>
                                    <p:animEffect transition="in" filter="fade">
                                      <p:cBhvr>
                                        <p:cTn id="139" dur="450"/>
                                        <p:tgtEl>
                                          <p:spTgt spid="61"/>
                                        </p:tgtEl>
                                      </p:cBhvr>
                                    </p:animEffect>
                                  </p:childTnLst>
                                </p:cTn>
                              </p:par>
                              <p:par>
                                <p:cTn id="140" presetID="10" presetClass="entr" presetSubtype="0" fill="hold" grpId="0" nodeType="withEffect">
                                  <p:stCondLst>
                                    <p:cond delay="360"/>
                                  </p:stCondLst>
                                  <p:childTnLst>
                                    <p:set>
                                      <p:cBhvr>
                                        <p:cTn id="141" dur="1" fill="hold">
                                          <p:stCondLst>
                                            <p:cond delay="0"/>
                                          </p:stCondLst>
                                        </p:cTn>
                                        <p:tgtEl>
                                          <p:spTgt spid="62"/>
                                        </p:tgtEl>
                                        <p:attrNameLst>
                                          <p:attrName>style.visibility</p:attrName>
                                        </p:attrNameLst>
                                      </p:cBhvr>
                                      <p:to>
                                        <p:strVal val="visible"/>
                                      </p:to>
                                    </p:set>
                                    <p:animEffect transition="in" filter="fade">
                                      <p:cBhvr>
                                        <p:cTn id="142" dur="450"/>
                                        <p:tgtEl>
                                          <p:spTgt spid="62"/>
                                        </p:tgtEl>
                                      </p:cBhvr>
                                    </p:animEffect>
                                  </p:childTnLst>
                                </p:cTn>
                              </p:par>
                              <p:par>
                                <p:cTn id="143" presetID="10" presetClass="entr" presetSubtype="0" fill="hold" grpId="0" nodeType="withEffect">
                                  <p:stCondLst>
                                    <p:cond delay="480"/>
                                  </p:stCondLst>
                                  <p:childTnLst>
                                    <p:set>
                                      <p:cBhvr>
                                        <p:cTn id="144" dur="1" fill="hold">
                                          <p:stCondLst>
                                            <p:cond delay="0"/>
                                          </p:stCondLst>
                                        </p:cTn>
                                        <p:tgtEl>
                                          <p:spTgt spid="63"/>
                                        </p:tgtEl>
                                        <p:attrNameLst>
                                          <p:attrName>style.visibility</p:attrName>
                                        </p:attrNameLst>
                                      </p:cBhvr>
                                      <p:to>
                                        <p:strVal val="visible"/>
                                      </p:to>
                                    </p:set>
                                    <p:animEffect transition="in" filter="fade">
                                      <p:cBhvr>
                                        <p:cTn id="145" dur="450"/>
                                        <p:tgtEl>
                                          <p:spTgt spid="63"/>
                                        </p:tgtEl>
                                      </p:cBhvr>
                                    </p:animEffect>
                                  </p:childTnLst>
                                </p:cTn>
                              </p:par>
                              <p:par>
                                <p:cTn id="146" presetID="10" presetClass="entr" presetSubtype="0" fill="hold" grpId="0" nodeType="withEffect">
                                  <p:stCondLst>
                                    <p:cond delay="600"/>
                                  </p:stCondLst>
                                  <p:childTnLst>
                                    <p:set>
                                      <p:cBhvr>
                                        <p:cTn id="147" dur="1" fill="hold">
                                          <p:stCondLst>
                                            <p:cond delay="0"/>
                                          </p:stCondLst>
                                        </p:cTn>
                                        <p:tgtEl>
                                          <p:spTgt spid="64"/>
                                        </p:tgtEl>
                                        <p:attrNameLst>
                                          <p:attrName>style.visibility</p:attrName>
                                        </p:attrNameLst>
                                      </p:cBhvr>
                                      <p:to>
                                        <p:strVal val="visible"/>
                                      </p:to>
                                    </p:set>
                                    <p:animEffect transition="in" filter="fade">
                                      <p:cBhvr>
                                        <p:cTn id="148" dur="450"/>
                                        <p:tgtEl>
                                          <p:spTgt spid="64"/>
                                        </p:tgtEl>
                                      </p:cBhvr>
                                    </p:animEffect>
                                  </p:childTnLst>
                                </p:cTn>
                              </p:par>
                            </p:childTnLst>
                          </p:cTn>
                        </p:par>
                      </p:childTnLst>
                    </p:cTn>
                  </p:par>
                  <p:par>
                    <p:cTn id="169" fill="hold">
                      <p:stCondLst>
                        <p:cond delay="indefinite"/>
                      </p:stCondLst>
                      <p:childTnLst>
                        <p:par>
                          <p:cTn id="170" fill="hold">
                            <p:stCondLst>
                              <p:cond delay="0"/>
                            </p:stCondLst>
                            <p:childTnLst>
                              <p:par>
                                <p:cTn id="151" presetID="10" presetClass="entr" presetSubtype="0" fill="hold" grpId="0" nodeType="clickEffect">
                                  <p:stCondLst>
                                    <p:cond delay="0"/>
                                  </p:stCondLst>
                                  <p:childTnLst>
                                    <p:set>
                                      <p:cBhvr>
                                        <p:cTn id="152" dur="1" fill="hold">
                                          <p:stCondLst>
                                            <p:cond delay="0"/>
                                          </p:stCondLst>
                                        </p:cTn>
                                        <p:tgtEl>
                                          <p:spTgt spid="65"/>
                                        </p:tgtEl>
                                        <p:attrNameLst>
                                          <p:attrName>style.visibility</p:attrName>
                                        </p:attrNameLst>
                                      </p:cBhvr>
                                      <p:to>
                                        <p:strVal val="visible"/>
                                      </p:to>
                                    </p:set>
                                    <p:animEffect transition="in" filter="fade">
                                      <p:cBhvr>
                                        <p:cTn id="153" dur="450"/>
                                        <p:tgtEl>
                                          <p:spTgt spid="65"/>
                                        </p:tgtEl>
                                      </p:cBhvr>
                                    </p:animEffect>
                                  </p:childTnLst>
                                </p:cTn>
                              </p:par>
                              <p:par>
                                <p:cTn id="154" presetID="10" presetClass="entr" presetSubtype="0" fill="hold" grpId="0" nodeType="withEffect">
                                  <p:stCondLst>
                                    <p:cond delay="120"/>
                                  </p:stCondLst>
                                  <p:childTnLst>
                                    <p:set>
                                      <p:cBhvr>
                                        <p:cTn id="155" dur="1" fill="hold">
                                          <p:stCondLst>
                                            <p:cond delay="0"/>
                                          </p:stCondLst>
                                        </p:cTn>
                                        <p:tgtEl>
                                          <p:spTgt spid="66"/>
                                        </p:tgtEl>
                                        <p:attrNameLst>
                                          <p:attrName>style.visibility</p:attrName>
                                        </p:attrNameLst>
                                      </p:cBhvr>
                                      <p:to>
                                        <p:strVal val="visible"/>
                                      </p:to>
                                    </p:set>
                                    <p:animEffect transition="in" filter="fade">
                                      <p:cBhvr>
                                        <p:cTn id="156" dur="450"/>
                                        <p:tgtEl>
                                          <p:spTgt spid="66"/>
                                        </p:tgtEl>
                                      </p:cBhvr>
                                    </p:animEffect>
                                  </p:childTnLst>
                                </p:cTn>
                              </p:par>
                              <p:par>
                                <p:cTn id="157" presetID="10" presetClass="entr" presetSubtype="0" fill="hold" grpId="0" nodeType="withEffect">
                                  <p:stCondLst>
                                    <p:cond delay="240"/>
                                  </p:stCondLst>
                                  <p:childTnLst>
                                    <p:set>
                                      <p:cBhvr>
                                        <p:cTn id="158" dur="1" fill="hold">
                                          <p:stCondLst>
                                            <p:cond delay="0"/>
                                          </p:stCondLst>
                                        </p:cTn>
                                        <p:tgtEl>
                                          <p:spTgt spid="67"/>
                                        </p:tgtEl>
                                        <p:attrNameLst>
                                          <p:attrName>style.visibility</p:attrName>
                                        </p:attrNameLst>
                                      </p:cBhvr>
                                      <p:to>
                                        <p:strVal val="visible"/>
                                      </p:to>
                                    </p:set>
                                    <p:animEffect transition="in" filter="fade">
                                      <p:cBhvr>
                                        <p:cTn id="159" dur="450"/>
                                        <p:tgtEl>
                                          <p:spTgt spid="67"/>
                                        </p:tgtEl>
                                      </p:cBhvr>
                                    </p:animEffect>
                                  </p:childTnLst>
                                </p:cTn>
                              </p:par>
                              <p:par>
                                <p:cTn id="160" presetID="10" presetClass="entr" presetSubtype="0" fill="hold" grpId="0" nodeType="withEffect">
                                  <p:stCondLst>
                                    <p:cond delay="360"/>
                                  </p:stCondLst>
                                  <p:childTnLst>
                                    <p:set>
                                      <p:cBhvr>
                                        <p:cTn id="161" dur="1" fill="hold">
                                          <p:stCondLst>
                                            <p:cond delay="0"/>
                                          </p:stCondLst>
                                        </p:cTn>
                                        <p:tgtEl>
                                          <p:spTgt spid="68"/>
                                        </p:tgtEl>
                                        <p:attrNameLst>
                                          <p:attrName>style.visibility</p:attrName>
                                        </p:attrNameLst>
                                      </p:cBhvr>
                                      <p:to>
                                        <p:strVal val="visible"/>
                                      </p:to>
                                    </p:set>
                                    <p:animEffect transition="in" filter="fade">
                                      <p:cBhvr>
                                        <p:cTn id="162" dur="450"/>
                                        <p:tgtEl>
                                          <p:spTgt spid="68"/>
                                        </p:tgtEl>
                                      </p:cBhvr>
                                    </p:animEffect>
                                  </p:childTnLst>
                                </p:cTn>
                              </p:par>
                              <p:par>
                                <p:cTn id="163" presetID="10" presetClass="entr" presetSubtype="0" fill="hold" grpId="0" nodeType="withEffect">
                                  <p:stCondLst>
                                    <p:cond delay="480"/>
                                  </p:stCondLst>
                                  <p:childTnLst>
                                    <p:set>
                                      <p:cBhvr>
                                        <p:cTn id="164" dur="1" fill="hold">
                                          <p:stCondLst>
                                            <p:cond delay="0"/>
                                          </p:stCondLst>
                                        </p:cTn>
                                        <p:tgtEl>
                                          <p:spTgt spid="69"/>
                                        </p:tgtEl>
                                        <p:attrNameLst>
                                          <p:attrName>style.visibility</p:attrName>
                                        </p:attrNameLst>
                                      </p:cBhvr>
                                      <p:to>
                                        <p:strVal val="visible"/>
                                      </p:to>
                                    </p:set>
                                    <p:animEffect transition="in" filter="fade">
                                      <p:cBhvr>
                                        <p:cTn id="165" dur="450"/>
                                        <p:tgtEl>
                                          <p:spTgt spid="69"/>
                                        </p:tgtEl>
                                      </p:cBhvr>
                                    </p:animEffect>
                                  </p:childTnLst>
                                </p:cTn>
                              </p:par>
                              <p:par>
                                <p:cTn id="166" presetID="10" presetClass="entr" presetSubtype="0" fill="hold" grpId="0" nodeType="withEffect">
                                  <p:stCondLst>
                                    <p:cond delay="600"/>
                                  </p:stCondLst>
                                  <p:childTnLst>
                                    <p:set>
                                      <p:cBhvr>
                                        <p:cTn id="167" dur="1" fill="hold">
                                          <p:stCondLst>
                                            <p:cond delay="0"/>
                                          </p:stCondLst>
                                        </p:cTn>
                                        <p:tgtEl>
                                          <p:spTgt spid="70"/>
                                        </p:tgtEl>
                                        <p:attrNameLst>
                                          <p:attrName>style.visibility</p:attrName>
                                        </p:attrNameLst>
                                      </p:cBhvr>
                                      <p:to>
                                        <p:strVal val="visible"/>
                                      </p:to>
                                    </p:set>
                                    <p:animEffect transition="in" filter="fade">
                                      <p:cBhvr>
                                        <p:cTn id="168" dur="45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V.  SCREENING KYC ID</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Freeform 4"/>
          <p:cNvSpPr/>
          <p:nvPr/>
        </p:nvSpPr>
        <p:spPr>
          <a:xfrm>
            <a:off x="404486" y="887845"/>
            <a:ext cx="215155" cy="84930"/>
          </a:xfrm>
          <a:custGeom>
            <a:avLst/>
            <a:gdLst/>
            <a:ahLst/>
            <a:cxnLst/>
            <a:rect l="l" t="t" r="r" b="b"/>
            <a:pathLst>
              <a:path w="215155" h="84930">
                <a:moveTo>
                  <a:pt x="0" y="0"/>
                </a:moveTo>
                <a:lnTo>
                  <a:pt x="0" y="84930"/>
                </a:lnTo>
                <a:lnTo>
                  <a:pt x="215155" y="84930"/>
                </a:lnTo>
                <a:lnTo>
                  <a:pt x="215155"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512064" y="757620"/>
            <a:ext cx="0" cy="164197"/>
          </a:xfrm>
          <a:custGeom>
            <a:avLst/>
            <a:gdLst/>
            <a:ahLst/>
            <a:cxnLst/>
            <a:rect l="l" t="t" r="r" b="b"/>
            <a:pathLst>
              <a:path w="0" h="164197">
                <a:moveTo>
                  <a:pt x="0" y="164197"/>
                </a:moveTo>
                <a:lnTo>
                  <a:pt x="0"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458275" y="757620"/>
            <a:ext cx="107577" cy="53789"/>
          </a:xfrm>
          <a:custGeom>
            <a:avLst/>
            <a:gdLst/>
            <a:ahLst/>
            <a:cxnLst/>
            <a:rect l="l" t="t" r="r" b="b"/>
            <a:pathLst>
              <a:path w="107577" h="53789">
                <a:moveTo>
                  <a:pt x="0" y="53789"/>
                </a:moveTo>
                <a:lnTo>
                  <a:pt x="53789" y="0"/>
                </a:lnTo>
                <a:lnTo>
                  <a:pt x="107577" y="53789"/>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PRÉPARER ET CHARGER UN LOT DE DOCUMENTS</a:t>
            </a:r>
          </a:p>
        </p:txBody>
      </p:sp>
      <p:sp>
        <p:nvSpPr>
          <p:cNvPr id="9" name="Rectangle 8"/>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2" name="TextBox 11"/>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14 / 20</a:t>
            </a:r>
          </a:p>
        </p:txBody>
      </p:sp>
      <p:sp>
        <p:nvSpPr>
          <p:cNvPr id="13" name="Rounded Rectangle 12"/>
          <p:cNvSpPr/>
          <p:nvPr/>
        </p:nvSpPr>
        <p:spPr>
          <a:xfrm>
            <a:off x="365760" y="1143000"/>
            <a:ext cx="4023360" cy="210312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65760" y="1143000"/>
            <a:ext cx="4023360" cy="2743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reeform 14"/>
          <p:cNvSpPr/>
          <p:nvPr/>
        </p:nvSpPr>
        <p:spPr>
          <a:xfrm>
            <a:off x="496153" y="1181075"/>
            <a:ext cx="146267" cy="198169"/>
          </a:xfrm>
          <a:custGeom>
            <a:avLst/>
            <a:gdLst/>
            <a:ahLst/>
            <a:cxnLst/>
            <a:rect l="l" t="t" r="r" b="b"/>
            <a:pathLst>
              <a:path w="146267" h="198169">
                <a:moveTo>
                  <a:pt x="0" y="0"/>
                </a:moveTo>
                <a:lnTo>
                  <a:pt x="99084" y="0"/>
                </a:lnTo>
                <a:lnTo>
                  <a:pt x="146267" y="47183"/>
                </a:lnTo>
                <a:lnTo>
                  <a:pt x="146267" y="198169"/>
                </a:lnTo>
                <a:lnTo>
                  <a:pt x="0" y="198169"/>
                </a:lnTo>
                <a:close/>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595237" y="1181075"/>
            <a:ext cx="47183" cy="47183"/>
          </a:xfrm>
          <a:custGeom>
            <a:avLst/>
            <a:gdLst/>
            <a:ahLst/>
            <a:cxnLst/>
            <a:rect l="l" t="t" r="r" b="b"/>
            <a:pathLst>
              <a:path w="47183" h="47183">
                <a:moveTo>
                  <a:pt x="0" y="0"/>
                </a:moveTo>
                <a:lnTo>
                  <a:pt x="0" y="47183"/>
                </a:lnTo>
                <a:lnTo>
                  <a:pt x="47183" y="47183"/>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524463" y="1280160"/>
            <a:ext cx="89648" cy="0"/>
          </a:xfrm>
          <a:custGeom>
            <a:avLst/>
            <a:gdLst/>
            <a:ahLst/>
            <a:cxnLst/>
            <a:rect l="l" t="t" r="r" b="b"/>
            <a:pathLst>
              <a:path w="89648" h="0">
                <a:moveTo>
                  <a:pt x="0" y="0"/>
                </a:moveTo>
                <a:lnTo>
                  <a:pt x="89648"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524463" y="1313188"/>
            <a:ext cx="89648" cy="0"/>
          </a:xfrm>
          <a:custGeom>
            <a:avLst/>
            <a:gdLst/>
            <a:ahLst/>
            <a:cxnLst/>
            <a:rect l="l" t="t" r="r" b="b"/>
            <a:pathLst>
              <a:path w="89648" h="0">
                <a:moveTo>
                  <a:pt x="0" y="0"/>
                </a:moveTo>
                <a:lnTo>
                  <a:pt x="89648"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524463" y="1346216"/>
            <a:ext cx="56619" cy="0"/>
          </a:xfrm>
          <a:custGeom>
            <a:avLst/>
            <a:gdLst/>
            <a:ahLst/>
            <a:cxnLst/>
            <a:rect l="l" t="t" r="r" b="b"/>
            <a:pathLst>
              <a:path w="56619" h="0">
                <a:moveTo>
                  <a:pt x="0" y="0"/>
                </a:moveTo>
                <a:lnTo>
                  <a:pt x="56619"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1143000"/>
            <a:ext cx="3529584"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FORMATS ET ORGANISATION</a:t>
            </a:r>
          </a:p>
        </p:txBody>
      </p:sp>
      <p:sp>
        <p:nvSpPr>
          <p:cNvPr id="21" name="TextBox 20"/>
          <p:cNvSpPr txBox="1"/>
          <p:nvPr/>
        </p:nvSpPr>
        <p:spPr>
          <a:xfrm>
            <a:off x="530352" y="1563624"/>
            <a:ext cx="3694176" cy="1554479"/>
          </a:xfrm>
          <a:prstGeom prst="rect">
            <a:avLst/>
          </a:prstGeom>
          <a:noFill/>
        </p:spPr>
        <p:txBody>
          <a:bodyPr wrap="square" lIns="0" rIns="0" tIns="0" bIns="0" anchor="t">
            <a:spAutoFit/>
          </a:bodyPr>
          <a:lstStyle/>
          <a:p>
            <a:pPr algn="l" marL="152400" indent="-152400">
              <a:lnSpc>
                <a:spcPct val="105000"/>
              </a:lnSpc>
              <a:spcAft>
                <a:spcPts val="1300"/>
              </a:spcAft>
              <a:buClr>
                <a:srgbClr val="1B2A4A"/>
              </a:buClr>
              <a:buFont typeface="Arial" pitchFamily="34" charset="0"/>
              <a:buChar char="▪"/>
            </a:pPr>
            <a:r>
              <a:rPr sz="950" b="0" i="0">
                <a:solidFill>
                  <a:srgbClr val="333333"/>
                </a:solidFill>
                <a:latin typeface="Calibri"/>
                <a:ea typeface="Calibri"/>
                <a:cs typeface="Calibri"/>
              </a:rPr>
              <a:t>Fichiers PDF ou images ; les lots volumineux passent par une archive compressée</a:t>
            </a:r>
          </a:p>
          <a:p>
            <a:pPr algn="l" marL="152400" indent="-152400">
              <a:lnSpc>
                <a:spcPct val="105000"/>
              </a:lnSpc>
              <a:spcAft>
                <a:spcPts val="1300"/>
              </a:spcAft>
              <a:buClr>
                <a:srgbClr val="1B2A4A"/>
              </a:buClr>
              <a:buFont typeface="Arial" pitchFamily="34" charset="0"/>
              <a:buChar char="▪"/>
            </a:pPr>
            <a:r>
              <a:rPr sz="950" b="0" i="0">
                <a:solidFill>
                  <a:srgbClr val="333333"/>
                </a:solidFill>
                <a:latin typeface="Calibri"/>
                <a:ea typeface="Calibri"/>
                <a:cs typeface="Calibri"/>
              </a:rPr>
              <a:t>Un document par client, nommé avec la référence du compte ou du client</a:t>
            </a:r>
          </a:p>
          <a:p>
            <a:pPr algn="l" marL="152400" indent="-152400">
              <a:lnSpc>
                <a:spcPct val="105000"/>
              </a:lnSpc>
              <a:spcAft>
                <a:spcPts val="1300"/>
              </a:spcAft>
              <a:buClr>
                <a:srgbClr val="1B2A4A"/>
              </a:buClr>
              <a:buFont typeface="Arial" pitchFamily="34" charset="0"/>
              <a:buChar char="▪"/>
            </a:pPr>
            <a:r>
              <a:rPr sz="950" b="0" i="0">
                <a:solidFill>
                  <a:srgbClr val="333333"/>
                </a:solidFill>
                <a:latin typeface="Calibri"/>
                <a:ea typeface="Calibri"/>
                <a:cs typeface="Calibri"/>
              </a:rPr>
              <a:t>Le poids de chaque fichier est contrôlé au dépôt : au-delà, le fichier est refusé</a:t>
            </a:r>
          </a:p>
          <a:p>
            <a:pPr algn="l" marL="152400" indent="-152400">
              <a:lnSpc>
                <a:spcPct val="105000"/>
              </a:lnSpc>
              <a:spcAft>
                <a:spcPts val="1300"/>
              </a:spcAft>
              <a:buClr>
                <a:srgbClr val="1B2A4A"/>
              </a:buClr>
              <a:buFont typeface="Arial" pitchFamily="34" charset="0"/>
              <a:buChar char="▪"/>
            </a:pPr>
            <a:r>
              <a:rPr sz="950" b="0" i="0">
                <a:solidFill>
                  <a:srgbClr val="333333"/>
                </a:solidFill>
                <a:latin typeface="Calibri"/>
                <a:ea typeface="Calibri"/>
                <a:cs typeface="Calibri"/>
              </a:rPr>
              <a:t>Les pages recto et verso d'une même pièce restent dans un seul fichier</a:t>
            </a:r>
          </a:p>
        </p:txBody>
      </p:sp>
      <p:sp>
        <p:nvSpPr>
          <p:cNvPr id="22" name="Rounded Rectangle 21"/>
          <p:cNvSpPr/>
          <p:nvPr/>
        </p:nvSpPr>
        <p:spPr>
          <a:xfrm>
            <a:off x="4754880" y="1143000"/>
            <a:ext cx="4023360" cy="210312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754880" y="1143000"/>
            <a:ext cx="4023360"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Freeform 23"/>
          <p:cNvSpPr/>
          <p:nvPr/>
        </p:nvSpPr>
        <p:spPr>
          <a:xfrm>
            <a:off x="4847527" y="1181075"/>
            <a:ext cx="47183" cy="42465"/>
          </a:xfrm>
          <a:custGeom>
            <a:avLst/>
            <a:gdLst/>
            <a:ahLst/>
            <a:cxnLst/>
            <a:rect l="l" t="t" r="r" b="b"/>
            <a:pathLst>
              <a:path w="47183" h="42465">
                <a:moveTo>
                  <a:pt x="0" y="42465"/>
                </a:moveTo>
                <a:lnTo>
                  <a:pt x="0" y="0"/>
                </a:lnTo>
                <a:lnTo>
                  <a:pt x="47183"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5017385" y="1181075"/>
            <a:ext cx="47183" cy="42465"/>
          </a:xfrm>
          <a:custGeom>
            <a:avLst/>
            <a:gdLst/>
            <a:ahLst/>
            <a:cxnLst/>
            <a:rect l="l" t="t" r="r" b="b"/>
            <a:pathLst>
              <a:path w="47183" h="42465">
                <a:moveTo>
                  <a:pt x="0" y="0"/>
                </a:moveTo>
                <a:lnTo>
                  <a:pt x="47183" y="0"/>
                </a:lnTo>
                <a:lnTo>
                  <a:pt x="47183" y="42465"/>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5017385" y="1336779"/>
            <a:ext cx="47183" cy="42465"/>
          </a:xfrm>
          <a:custGeom>
            <a:avLst/>
            <a:gdLst/>
            <a:ahLst/>
            <a:cxnLst/>
            <a:rect l="l" t="t" r="r" b="b"/>
            <a:pathLst>
              <a:path w="47183" h="42465">
                <a:moveTo>
                  <a:pt x="47183" y="0"/>
                </a:moveTo>
                <a:lnTo>
                  <a:pt x="47183" y="42465"/>
                </a:lnTo>
                <a:lnTo>
                  <a:pt x="0" y="42465"/>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4847527" y="1336779"/>
            <a:ext cx="47183" cy="42465"/>
          </a:xfrm>
          <a:custGeom>
            <a:avLst/>
            <a:gdLst/>
            <a:ahLst/>
            <a:cxnLst/>
            <a:rect l="l" t="t" r="r" b="b"/>
            <a:pathLst>
              <a:path w="47183" h="42465">
                <a:moveTo>
                  <a:pt x="47183" y="42465"/>
                </a:moveTo>
                <a:lnTo>
                  <a:pt x="0" y="42465"/>
                </a:lnTo>
                <a:lnTo>
                  <a:pt x="0"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89991" y="1223540"/>
            <a:ext cx="132112" cy="113239"/>
          </a:xfrm>
          <a:prstGeom prst="rect">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Freeform 28"/>
          <p:cNvSpPr/>
          <p:nvPr/>
        </p:nvSpPr>
        <p:spPr>
          <a:xfrm>
            <a:off x="4866400" y="1280160"/>
            <a:ext cx="179295" cy="0"/>
          </a:xfrm>
          <a:custGeom>
            <a:avLst/>
            <a:gdLst/>
            <a:ahLst/>
            <a:cxnLst/>
            <a:rect l="l" t="t" r="r" b="b"/>
            <a:pathLst>
              <a:path w="179295" h="0">
                <a:moveTo>
                  <a:pt x="0" y="0"/>
                </a:moveTo>
                <a:lnTo>
                  <a:pt x="179295"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38928" y="1143000"/>
            <a:ext cx="3529584"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QUALITÉ DU SCAN</a:t>
            </a:r>
          </a:p>
        </p:txBody>
      </p:sp>
      <p:sp>
        <p:nvSpPr>
          <p:cNvPr id="31" name="TextBox 30"/>
          <p:cNvSpPr txBox="1"/>
          <p:nvPr/>
        </p:nvSpPr>
        <p:spPr>
          <a:xfrm>
            <a:off x="4919472" y="1563624"/>
            <a:ext cx="3694176" cy="1554479"/>
          </a:xfrm>
          <a:prstGeom prst="rect">
            <a:avLst/>
          </a:prstGeom>
          <a:noFill/>
        </p:spPr>
        <p:txBody>
          <a:bodyPr wrap="square" lIns="0" rIns="0" tIns="0" bIns="0" anchor="t">
            <a:spAutoFit/>
          </a:bodyPr>
          <a:lstStyle/>
          <a:p>
            <a:pPr algn="l" marL="152400" indent="-152400">
              <a:lnSpc>
                <a:spcPct val="105000"/>
              </a:lnSpc>
              <a:spcAft>
                <a:spcPts val="1300"/>
              </a:spcAft>
              <a:buClr>
                <a:srgbClr val="009A56"/>
              </a:buClr>
              <a:buFont typeface="Arial" pitchFamily="34" charset="0"/>
              <a:buChar char="▪"/>
            </a:pPr>
            <a:r>
              <a:rPr sz="950" b="0" i="0">
                <a:solidFill>
                  <a:srgbClr val="333333"/>
                </a:solidFill>
                <a:latin typeface="Calibri"/>
                <a:ea typeface="Calibri"/>
                <a:cs typeface="Calibri"/>
              </a:rPr>
              <a:t>Document à plat, entièrement dans le cadre, sans doigt ni ombre portée</a:t>
            </a:r>
          </a:p>
          <a:p>
            <a:pPr algn="l" marL="152400" indent="-152400">
              <a:lnSpc>
                <a:spcPct val="105000"/>
              </a:lnSpc>
              <a:spcAft>
                <a:spcPts val="1300"/>
              </a:spcAft>
              <a:buClr>
                <a:srgbClr val="009A56"/>
              </a:buClr>
              <a:buFont typeface="Arial" pitchFamily="34" charset="0"/>
              <a:buChar char="▪"/>
            </a:pPr>
            <a:r>
              <a:rPr sz="950" b="0" i="0">
                <a:solidFill>
                  <a:srgbClr val="333333"/>
                </a:solidFill>
                <a:latin typeface="Calibri"/>
                <a:ea typeface="Calibri"/>
                <a:cs typeface="Calibri"/>
              </a:rPr>
              <a:t>Résolution de lecture courante : 200 à 300 points par pouce</a:t>
            </a:r>
          </a:p>
          <a:p>
            <a:pPr algn="l" marL="152400" indent="-152400">
              <a:lnSpc>
                <a:spcPct val="105000"/>
              </a:lnSpc>
              <a:spcAft>
                <a:spcPts val="1300"/>
              </a:spcAft>
              <a:buClr>
                <a:srgbClr val="009A56"/>
              </a:buClr>
              <a:buFont typeface="Arial" pitchFamily="34" charset="0"/>
              <a:buChar char="▪"/>
            </a:pPr>
            <a:r>
              <a:rPr sz="950" b="0" i="0">
                <a:solidFill>
                  <a:srgbClr val="333333"/>
                </a:solidFill>
                <a:latin typeface="Calibri"/>
                <a:ea typeface="Calibri"/>
                <a:cs typeface="Calibri"/>
              </a:rPr>
              <a:t>Une photo floue ou surexposée produit une extraction inutilisable</a:t>
            </a:r>
          </a:p>
          <a:p>
            <a:pPr algn="l" marL="152400" indent="-152400">
              <a:lnSpc>
                <a:spcPct val="105000"/>
              </a:lnSpc>
              <a:spcAft>
                <a:spcPts val="1300"/>
              </a:spcAft>
              <a:buClr>
                <a:srgbClr val="009A56"/>
              </a:buClr>
              <a:buFont typeface="Arial" pitchFamily="34" charset="0"/>
              <a:buChar char="▪"/>
            </a:pPr>
            <a:r>
              <a:rPr sz="950" b="0" i="0">
                <a:solidFill>
                  <a:srgbClr val="333333"/>
                </a:solidFill>
                <a:latin typeface="Calibri"/>
                <a:ea typeface="Calibri"/>
                <a:cs typeface="Calibri"/>
              </a:rPr>
              <a:t>En cas de doute, relire le scan à l'écran avant de constituer le lot</a:t>
            </a:r>
          </a:p>
        </p:txBody>
      </p:sp>
      <p:sp>
        <p:nvSpPr>
          <p:cNvPr id="32" name="Rounded Rectangle 31"/>
          <p:cNvSpPr/>
          <p:nvPr/>
        </p:nvSpPr>
        <p:spPr>
          <a:xfrm>
            <a:off x="365760" y="3364992"/>
            <a:ext cx="8412480" cy="1207008"/>
          </a:xfrm>
          <a:prstGeom prst="roundRect">
            <a:avLst>
              <a:gd name="adj" fmla="val 6000"/>
            </a:avLst>
          </a:prstGeom>
          <a:solidFill>
            <a:srgbClr val="F0F7F4"/>
          </a:solidFill>
          <a:ln w="12700">
            <a:solidFill>
              <a:srgbClr val="C8E6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365760" y="3364992"/>
            <a:ext cx="8412480"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472561" y="3407785"/>
            <a:ext cx="188732" cy="188732"/>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reeform 34"/>
          <p:cNvSpPr/>
          <p:nvPr/>
        </p:nvSpPr>
        <p:spPr>
          <a:xfrm>
            <a:off x="566928" y="3445532"/>
            <a:ext cx="0" cy="56620"/>
          </a:xfrm>
          <a:custGeom>
            <a:avLst/>
            <a:gdLst/>
            <a:ahLst/>
            <a:cxnLst/>
            <a:rect l="l" t="t" r="r" b="b"/>
            <a:pathLst>
              <a:path w="0" h="56620">
                <a:moveTo>
                  <a:pt x="0" y="56620"/>
                </a:moveTo>
                <a:lnTo>
                  <a:pt x="0"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Freeform 35"/>
          <p:cNvSpPr/>
          <p:nvPr/>
        </p:nvSpPr>
        <p:spPr>
          <a:xfrm>
            <a:off x="566928" y="3502152"/>
            <a:ext cx="44823" cy="23591"/>
          </a:xfrm>
          <a:custGeom>
            <a:avLst/>
            <a:gdLst/>
            <a:ahLst/>
            <a:cxnLst/>
            <a:rect l="l" t="t" r="r" b="b"/>
            <a:pathLst>
              <a:path w="44823" h="23591">
                <a:moveTo>
                  <a:pt x="0" y="0"/>
                </a:moveTo>
                <a:lnTo>
                  <a:pt x="44823" y="23591"/>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9808" y="3364992"/>
            <a:ext cx="7918703"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APRÈS LE DÉPÔT : UN TRAITEMENT DIFFÉRÉ</a:t>
            </a:r>
          </a:p>
        </p:txBody>
      </p:sp>
      <p:sp>
        <p:nvSpPr>
          <p:cNvPr id="38" name="TextBox 37"/>
          <p:cNvSpPr txBox="1"/>
          <p:nvPr/>
        </p:nvSpPr>
        <p:spPr>
          <a:xfrm>
            <a:off x="566928" y="3767328"/>
            <a:ext cx="8046720" cy="731520"/>
          </a:xfrm>
          <a:prstGeom prst="rect">
            <a:avLst/>
          </a:prstGeom>
          <a:noFill/>
        </p:spPr>
        <p:txBody>
          <a:bodyPr wrap="square" lIns="0" rIns="0" tIns="0" bIns="0" anchor="t">
            <a:spAutoFit/>
          </a:bodyPr>
          <a:lstStyle/>
          <a:p>
            <a:pPr algn="l" marL="152400" indent="-152400">
              <a:lnSpc>
                <a:spcPct val="105000"/>
              </a:lnSpc>
              <a:spcAft>
                <a:spcPts val="800"/>
              </a:spcAft>
              <a:buClr>
                <a:srgbClr val="009A56"/>
              </a:buClr>
              <a:buFont typeface="Arial" pitchFamily="34" charset="0"/>
              <a:buChar char="▪"/>
            </a:pPr>
            <a:r>
              <a:rPr sz="1000" b="0" i="0">
                <a:solidFill>
                  <a:srgbClr val="333333"/>
                </a:solidFill>
                <a:latin typeface="Calibri"/>
                <a:ea typeface="Calibri"/>
                <a:cs typeface="Calibri"/>
              </a:rPr>
              <a:t>Le lot entre dans une file d'attente : la lecture des documents s'exécute en arrière-plan, il est inutile de rester sur l'écran.</a:t>
            </a:r>
          </a:p>
          <a:p>
            <a:pPr algn="l" marL="152400" indent="-152400">
              <a:lnSpc>
                <a:spcPct val="105000"/>
              </a:lnSpc>
              <a:spcAft>
                <a:spcPts val="800"/>
              </a:spcAft>
              <a:buClr>
                <a:srgbClr val="009A56"/>
              </a:buClr>
              <a:buFont typeface="Arial" pitchFamily="34" charset="0"/>
              <a:buChar char="▪"/>
            </a:pPr>
            <a:r>
              <a:rPr sz="1000" b="0" i="0">
                <a:solidFill>
                  <a:srgbClr val="333333"/>
                </a:solidFill>
                <a:latin typeface="Calibri"/>
                <a:ea typeface="Calibri"/>
                <a:cs typeface="Calibri"/>
              </a:rPr>
              <a:t>L'état de chaque document reste consultable ; un document en échec est signalé et peut être rechargé après un nouveau scan.</a:t>
            </a:r>
          </a:p>
          <a:p>
            <a:pPr algn="l" marL="152400" indent="-152400">
              <a:lnSpc>
                <a:spcPct val="105000"/>
              </a:lnSpc>
              <a:spcAft>
                <a:spcPts val="800"/>
              </a:spcAft>
              <a:buClr>
                <a:srgbClr val="009A56"/>
              </a:buClr>
              <a:buFont typeface="Arial" pitchFamily="34" charset="0"/>
              <a:buChar char="▪"/>
            </a:pPr>
            <a:r>
              <a:rPr sz="1000" b="0" i="0">
                <a:solidFill>
                  <a:srgbClr val="333333"/>
                </a:solidFill>
                <a:latin typeface="Calibri"/>
                <a:ea typeface="Calibri"/>
                <a:cs typeface="Calibri"/>
              </a:rPr>
              <a:t>Les résultats apparaissent ensuite dans l'écran de rapprochement, prêts à être validés.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3"/>
                                        </p:tgtEl>
                                        <p:attrNameLst>
                                          <p:attrName>style.visibility</p:attrName>
                                        </p:attrNameLst>
                                      </p:cBhvr>
                                      <p:to>
                                        <p:strVal val="visible"/>
                                      </p:to>
                                    </p:set>
                                    <p:animEffect transition="in" filter="fade">
                                      <p:cBhvr>
                                        <p:cTn id="5" dur="450"/>
                                        <p:tgtEl>
                                          <p:spTgt spid="13"/>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4"/>
                                        </p:tgtEl>
                                        <p:attrNameLst>
                                          <p:attrName>style.visibility</p:attrName>
                                        </p:attrNameLst>
                                      </p:cBhvr>
                                      <p:to>
                                        <p:strVal val="visible"/>
                                      </p:to>
                                    </p:set>
                                    <p:animEffect transition="in" filter="fade">
                                      <p:cBhvr>
                                        <p:cTn id="8" dur="450"/>
                                        <p:tgtEl>
                                          <p:spTgt spid="14"/>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450"/>
                                        <p:tgtEl>
                                          <p:spTgt spid="15"/>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450"/>
                                        <p:tgtEl>
                                          <p:spTgt spid="16"/>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50"/>
                                        <p:tgtEl>
                                          <p:spTgt spid="17"/>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450"/>
                                        <p:tgtEl>
                                          <p:spTgt spid="18"/>
                                        </p:tgtEl>
                                      </p:cBhvr>
                                    </p:animEffect>
                                  </p:childTnLst>
                                </p:cTn>
                              </p:par>
                              <p:par>
                                <p:cTn id="21" presetID="10" presetClass="entr" presetSubtype="0" fill="hold" grpId="0" nodeType="withEffect">
                                  <p:stCondLst>
                                    <p:cond delay="72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450"/>
                                        <p:tgtEl>
                                          <p:spTgt spid="19"/>
                                        </p:tgtEl>
                                      </p:cBhvr>
                                    </p:animEffect>
                                  </p:childTnLst>
                                </p:cTn>
                              </p:par>
                              <p:par>
                                <p:cTn id="24" presetID="10" presetClass="entr" presetSubtype="0" fill="hold" grpId="0" nodeType="withEffect">
                                  <p:stCondLst>
                                    <p:cond delay="84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450"/>
                                        <p:tgtEl>
                                          <p:spTgt spid="20"/>
                                        </p:tgtEl>
                                      </p:cBhvr>
                                    </p:animEffect>
                                  </p:childTnLst>
                                </p:cTn>
                              </p:par>
                              <p:par>
                                <p:cTn id="27" presetID="10" presetClass="entr" presetSubtype="0" fill="hold" grpId="0" nodeType="withEffect">
                                  <p:stCondLst>
                                    <p:cond delay="96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450"/>
                                        <p:tgtEl>
                                          <p:spTgt spid="21"/>
                                        </p:tgtEl>
                                      </p:cBhvr>
                                    </p:animEffect>
                                  </p:childTnLst>
                                </p:cTn>
                              </p:par>
                            </p:childTnLst>
                          </p:cTn>
                        </p:par>
                      </p:childTnLst>
                    </p:cTn>
                  </p:par>
                  <p:par>
                    <p:cTn id="62" fill="hold">
                      <p:stCondLst>
                        <p:cond delay="indefinite"/>
                      </p:stCondLst>
                      <p:childTnLst>
                        <p:par>
                          <p:cTn id="63"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50"/>
                                        <p:tgtEl>
                                          <p:spTgt spid="22"/>
                                        </p:tgtEl>
                                      </p:cBhvr>
                                    </p:animEffect>
                                  </p:childTnLst>
                                </p:cTn>
                              </p:par>
                              <p:par>
                                <p:cTn id="35" presetID="10" presetClass="entr" presetSubtype="0" fill="hold" grpId="0" nodeType="withEffect">
                                  <p:stCondLst>
                                    <p:cond delay="12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450"/>
                                        <p:tgtEl>
                                          <p:spTgt spid="23"/>
                                        </p:tgtEl>
                                      </p:cBhvr>
                                    </p:animEffect>
                                  </p:childTnLst>
                                </p:cTn>
                              </p:par>
                              <p:par>
                                <p:cTn id="38" presetID="10" presetClass="entr" presetSubtype="0" fill="hold" grpId="0" nodeType="withEffect">
                                  <p:stCondLst>
                                    <p:cond delay="24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450"/>
                                        <p:tgtEl>
                                          <p:spTgt spid="24"/>
                                        </p:tgtEl>
                                      </p:cBhvr>
                                    </p:animEffect>
                                  </p:childTnLst>
                                </p:cTn>
                              </p:par>
                              <p:par>
                                <p:cTn id="41" presetID="10" presetClass="entr" presetSubtype="0" fill="hold" grpId="0" nodeType="withEffect">
                                  <p:stCondLst>
                                    <p:cond delay="36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450"/>
                                        <p:tgtEl>
                                          <p:spTgt spid="25"/>
                                        </p:tgtEl>
                                      </p:cBhvr>
                                    </p:animEffect>
                                  </p:childTnLst>
                                </p:cTn>
                              </p:par>
                              <p:par>
                                <p:cTn id="44" presetID="10" presetClass="entr" presetSubtype="0" fill="hold" grpId="0" nodeType="withEffect">
                                  <p:stCondLst>
                                    <p:cond delay="48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450"/>
                                        <p:tgtEl>
                                          <p:spTgt spid="26"/>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450"/>
                                        <p:tgtEl>
                                          <p:spTgt spid="27"/>
                                        </p:tgtEl>
                                      </p:cBhvr>
                                    </p:animEffect>
                                  </p:childTnLst>
                                </p:cTn>
                              </p:par>
                              <p:par>
                                <p:cTn id="50" presetID="10" presetClass="entr" presetSubtype="0" fill="hold" grpId="0" nodeType="withEffect">
                                  <p:stCondLst>
                                    <p:cond delay="72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50"/>
                                        <p:tgtEl>
                                          <p:spTgt spid="28"/>
                                        </p:tgtEl>
                                      </p:cBhvr>
                                    </p:animEffect>
                                  </p:childTnLst>
                                </p:cTn>
                              </p:par>
                              <p:par>
                                <p:cTn id="53" presetID="10" presetClass="entr" presetSubtype="0" fill="hold" grpId="0" nodeType="withEffect">
                                  <p:stCondLst>
                                    <p:cond delay="84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450"/>
                                        <p:tgtEl>
                                          <p:spTgt spid="29"/>
                                        </p:tgtEl>
                                      </p:cBhvr>
                                    </p:animEffect>
                                  </p:childTnLst>
                                </p:cTn>
                              </p:par>
                              <p:par>
                                <p:cTn id="56" presetID="10" presetClass="entr" presetSubtype="0" fill="hold" grpId="0" nodeType="withEffect">
                                  <p:stCondLst>
                                    <p:cond delay="960"/>
                                  </p:stCondLst>
                                  <p:childTnLst>
                                    <p:set>
                                      <p:cBhvr>
                                        <p:cTn id="57" dur="1" fill="hold">
                                          <p:stCondLst>
                                            <p:cond delay="0"/>
                                          </p:stCondLst>
                                        </p:cTn>
                                        <p:tgtEl>
                                          <p:spTgt spid="30"/>
                                        </p:tgtEl>
                                        <p:attrNameLst>
                                          <p:attrName>style.visibility</p:attrName>
                                        </p:attrNameLst>
                                      </p:cBhvr>
                                      <p:to>
                                        <p:strVal val="visible"/>
                                      </p:to>
                                    </p:set>
                                    <p:animEffect transition="in" filter="fade">
                                      <p:cBhvr>
                                        <p:cTn id="58" dur="450"/>
                                        <p:tgtEl>
                                          <p:spTgt spid="30"/>
                                        </p:tgtEl>
                                      </p:cBhvr>
                                    </p:animEffect>
                                  </p:childTnLst>
                                </p:cTn>
                              </p:par>
                              <p:par>
                                <p:cTn id="59" presetID="10" presetClass="entr" presetSubtype="0" fill="hold" grpId="0" nodeType="withEffect">
                                  <p:stCondLst>
                                    <p:cond delay="1080"/>
                                  </p:stCondLst>
                                  <p:childTnLst>
                                    <p:set>
                                      <p:cBhvr>
                                        <p:cTn id="60" dur="1" fill="hold">
                                          <p:stCondLst>
                                            <p:cond delay="0"/>
                                          </p:stCondLst>
                                        </p:cTn>
                                        <p:tgtEl>
                                          <p:spTgt spid="31"/>
                                        </p:tgtEl>
                                        <p:attrNameLst>
                                          <p:attrName>style.visibility</p:attrName>
                                        </p:attrNameLst>
                                      </p:cBhvr>
                                      <p:to>
                                        <p:strVal val="visible"/>
                                      </p:to>
                                    </p:set>
                                    <p:animEffect transition="in" filter="fade">
                                      <p:cBhvr>
                                        <p:cTn id="61" dur="450"/>
                                        <p:tgtEl>
                                          <p:spTgt spid="31"/>
                                        </p:tgtEl>
                                      </p:cBhvr>
                                    </p:animEffect>
                                  </p:childTnLst>
                                </p:cTn>
                              </p:par>
                            </p:childTnLst>
                          </p:cTn>
                        </p:par>
                      </p:childTnLst>
                    </p:cTn>
                  </p:par>
                  <p:par>
                    <p:cTn id="85" fill="hold">
                      <p:stCondLst>
                        <p:cond delay="indefinite"/>
                      </p:stCondLst>
                      <p:childTnLst>
                        <p:par>
                          <p:cTn id="86"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32"/>
                                        </p:tgtEl>
                                        <p:attrNameLst>
                                          <p:attrName>style.visibility</p:attrName>
                                        </p:attrNameLst>
                                      </p:cBhvr>
                                      <p:to>
                                        <p:strVal val="visible"/>
                                      </p:to>
                                    </p:set>
                                    <p:animEffect transition="in" filter="fade">
                                      <p:cBhvr>
                                        <p:cTn id="66" dur="450"/>
                                        <p:tgtEl>
                                          <p:spTgt spid="32"/>
                                        </p:tgtEl>
                                      </p:cBhvr>
                                    </p:animEffect>
                                  </p:childTnLst>
                                </p:cTn>
                              </p:par>
                              <p:par>
                                <p:cTn id="67" presetID="10" presetClass="entr" presetSubtype="0" fill="hold" grpId="0" nodeType="withEffect">
                                  <p:stCondLst>
                                    <p:cond delay="12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childTnLst>
                                </p:cTn>
                              </p:par>
                              <p:par>
                                <p:cTn id="70" presetID="10" presetClass="entr" presetSubtype="0" fill="hold" grpId="0" nodeType="withEffect">
                                  <p:stCondLst>
                                    <p:cond delay="240"/>
                                  </p:stCondLst>
                                  <p:childTnLst>
                                    <p:set>
                                      <p:cBhvr>
                                        <p:cTn id="71" dur="1" fill="hold">
                                          <p:stCondLst>
                                            <p:cond delay="0"/>
                                          </p:stCondLst>
                                        </p:cTn>
                                        <p:tgtEl>
                                          <p:spTgt spid="34"/>
                                        </p:tgtEl>
                                        <p:attrNameLst>
                                          <p:attrName>style.visibility</p:attrName>
                                        </p:attrNameLst>
                                      </p:cBhvr>
                                      <p:to>
                                        <p:strVal val="visible"/>
                                      </p:to>
                                    </p:set>
                                    <p:animEffect transition="in" filter="fade">
                                      <p:cBhvr>
                                        <p:cTn id="72" dur="450"/>
                                        <p:tgtEl>
                                          <p:spTgt spid="34"/>
                                        </p:tgtEl>
                                      </p:cBhvr>
                                    </p:animEffect>
                                  </p:childTnLst>
                                </p:cTn>
                              </p:par>
                              <p:par>
                                <p:cTn id="73" presetID="10" presetClass="entr" presetSubtype="0" fill="hold" grpId="0" nodeType="withEffect">
                                  <p:stCondLst>
                                    <p:cond delay="36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450"/>
                                        <p:tgtEl>
                                          <p:spTgt spid="35"/>
                                        </p:tgtEl>
                                      </p:cBhvr>
                                    </p:animEffect>
                                  </p:childTnLst>
                                </p:cTn>
                              </p:par>
                              <p:par>
                                <p:cTn id="76" presetID="10" presetClass="entr" presetSubtype="0" fill="hold" grpId="0" nodeType="withEffect">
                                  <p:stCondLst>
                                    <p:cond delay="480"/>
                                  </p:stCondLst>
                                  <p:childTnLst>
                                    <p:set>
                                      <p:cBhvr>
                                        <p:cTn id="77" dur="1" fill="hold">
                                          <p:stCondLst>
                                            <p:cond delay="0"/>
                                          </p:stCondLst>
                                        </p:cTn>
                                        <p:tgtEl>
                                          <p:spTgt spid="36"/>
                                        </p:tgtEl>
                                        <p:attrNameLst>
                                          <p:attrName>style.visibility</p:attrName>
                                        </p:attrNameLst>
                                      </p:cBhvr>
                                      <p:to>
                                        <p:strVal val="visible"/>
                                      </p:to>
                                    </p:set>
                                    <p:animEffect transition="in" filter="fade">
                                      <p:cBhvr>
                                        <p:cTn id="78" dur="450"/>
                                        <p:tgtEl>
                                          <p:spTgt spid="36"/>
                                        </p:tgtEl>
                                      </p:cBhvr>
                                    </p:animEffect>
                                  </p:childTnLst>
                                </p:cTn>
                              </p:par>
                              <p:par>
                                <p:cTn id="79" presetID="10" presetClass="entr" presetSubtype="0" fill="hold" grpId="0" nodeType="withEffect">
                                  <p:stCondLst>
                                    <p:cond delay="60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450"/>
                                        <p:tgtEl>
                                          <p:spTgt spid="37"/>
                                        </p:tgtEl>
                                      </p:cBhvr>
                                    </p:animEffect>
                                  </p:childTnLst>
                                </p:cTn>
                              </p:par>
                              <p:par>
                                <p:cTn id="82" presetID="10" presetClass="entr" presetSubtype="0" fill="hold" grpId="0" nodeType="withEffect">
                                  <p:stCondLst>
                                    <p:cond delay="72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45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V.  SCREENING KYC ID</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Oval 4"/>
          <p:cNvSpPr/>
          <p:nvPr/>
        </p:nvSpPr>
        <p:spPr>
          <a:xfrm>
            <a:off x="427134" y="757620"/>
            <a:ext cx="79267" cy="79267"/>
          </a:xfrm>
          <a:prstGeom prst="ellipse">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387500" y="876521"/>
            <a:ext cx="138718" cy="96254"/>
          </a:xfrm>
          <a:custGeom>
            <a:avLst/>
            <a:gdLst/>
            <a:ahLst/>
            <a:cxnLst/>
            <a:rect l="l" t="t" r="r" b="b"/>
            <a:pathLst>
              <a:path w="138718" h="96254">
                <a:moveTo>
                  <a:pt x="0" y="96254"/>
                </a:moveTo>
                <a:lnTo>
                  <a:pt x="14155" y="33972"/>
                </a:lnTo>
                <a:lnTo>
                  <a:pt x="79268" y="0"/>
                </a:lnTo>
                <a:lnTo>
                  <a:pt x="138718" y="2831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534711" y="780268"/>
            <a:ext cx="101916" cy="93422"/>
          </a:xfrm>
          <a:custGeom>
            <a:avLst/>
            <a:gdLst/>
            <a:ahLst/>
            <a:cxnLst/>
            <a:rect l="l" t="t" r="r" b="b"/>
            <a:pathLst>
              <a:path w="101916" h="93422">
                <a:moveTo>
                  <a:pt x="0" y="56620"/>
                </a:moveTo>
                <a:lnTo>
                  <a:pt x="33972" y="93422"/>
                </a:lnTo>
                <a:lnTo>
                  <a:pt x="101916"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SCORE DE CORRESPONDANCE ET VALIDATION HUMAINE</a:t>
            </a:r>
          </a:p>
        </p:txBody>
      </p:sp>
      <p:sp>
        <p:nvSpPr>
          <p:cNvPr id="9" name="Rectangle 8"/>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2" name="TextBox 11"/>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15 / 20</a:t>
            </a:r>
          </a:p>
        </p:txBody>
      </p:sp>
      <p:sp>
        <p:nvSpPr>
          <p:cNvPr id="13" name="Rounded Rectangle 12"/>
          <p:cNvSpPr/>
          <p:nvPr/>
        </p:nvSpPr>
        <p:spPr>
          <a:xfrm>
            <a:off x="365760" y="1170432"/>
            <a:ext cx="2679192" cy="150876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65760" y="1170432"/>
            <a:ext cx="2679192"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467843" y="1208507"/>
            <a:ext cx="198168" cy="198168"/>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515026" y="1267486"/>
            <a:ext cx="108521" cy="82570"/>
          </a:xfrm>
          <a:custGeom>
            <a:avLst/>
            <a:gdLst/>
            <a:ahLst/>
            <a:cxnLst/>
            <a:rect l="l" t="t" r="r" b="b"/>
            <a:pathLst>
              <a:path w="108521" h="82570">
                <a:moveTo>
                  <a:pt x="0" y="44824"/>
                </a:moveTo>
                <a:lnTo>
                  <a:pt x="37747" y="82570"/>
                </a:lnTo>
                <a:lnTo>
                  <a:pt x="10852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1170432"/>
            <a:ext cx="2185416" cy="274320"/>
          </a:xfrm>
          <a:prstGeom prst="rect">
            <a:avLst/>
          </a:prstGeom>
          <a:noFill/>
        </p:spPr>
        <p:txBody>
          <a:bodyPr wrap="square" lIns="0" rIns="0" tIns="0" bIns="0" anchor="ctr">
            <a:spAutoFit/>
          </a:bodyPr>
          <a:lstStyle/>
          <a:p>
            <a:pPr algn="l"/>
            <a:r>
              <a:rPr sz="900" b="1" i="0" spc="40">
                <a:solidFill>
                  <a:srgbClr val="FFFFFF"/>
                </a:solidFill>
                <a:latin typeface="Calibri"/>
                <a:ea typeface="Calibri"/>
                <a:cs typeface="Calibri"/>
              </a:rPr>
              <a:t>CORRESPONDANCE FORTE</a:t>
            </a:r>
          </a:p>
        </p:txBody>
      </p:sp>
      <p:sp>
        <p:nvSpPr>
          <p:cNvPr id="18" name="TextBox 17"/>
          <p:cNvSpPr txBox="1"/>
          <p:nvPr/>
        </p:nvSpPr>
        <p:spPr>
          <a:xfrm>
            <a:off x="502920" y="1572768"/>
            <a:ext cx="2404872" cy="731520"/>
          </a:xfrm>
          <a:prstGeom prst="rect">
            <a:avLst/>
          </a:prstGeom>
          <a:noFill/>
        </p:spPr>
        <p:txBody>
          <a:bodyPr wrap="square" lIns="0" rIns="0" tIns="0" bIns="0" anchor="t">
            <a:spAutoFit/>
          </a:bodyPr>
          <a:lstStyle/>
          <a:p>
            <a:pPr algn="l">
              <a:lnSpc>
                <a:spcPct val="105000"/>
              </a:lnSpc>
            </a:pPr>
            <a:r>
              <a:rPr sz="950" b="0" i="0">
                <a:solidFill>
                  <a:srgbClr val="333333"/>
                </a:solidFill>
                <a:latin typeface="Calibri"/>
                <a:ea typeface="Calibri"/>
                <a:cs typeface="Calibri"/>
              </a:rPr>
              <a:t>Nom, date de naissance et numéro de pièce concordent : les trois critères pondérés sont alignés.</a:t>
            </a:r>
          </a:p>
        </p:txBody>
      </p:sp>
      <p:sp>
        <p:nvSpPr>
          <p:cNvPr id="19" name="Rectangle 18"/>
          <p:cNvSpPr/>
          <p:nvPr/>
        </p:nvSpPr>
        <p:spPr>
          <a:xfrm>
            <a:off x="502920" y="2304288"/>
            <a:ext cx="2404872"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2920" y="2359152"/>
            <a:ext cx="2404872" cy="274320"/>
          </a:xfrm>
          <a:prstGeom prst="rect">
            <a:avLst/>
          </a:prstGeom>
          <a:noFill/>
        </p:spPr>
        <p:txBody>
          <a:bodyPr wrap="square" lIns="0" rIns="0" tIns="0" bIns="0" anchor="ctr">
            <a:spAutoFit/>
          </a:bodyPr>
          <a:lstStyle/>
          <a:p>
            <a:pPr algn="l">
              <a:lnSpc>
                <a:spcPct val="100000"/>
              </a:lnSpc>
            </a:pPr>
            <a:r>
              <a:rPr sz="900" b="1" i="0">
                <a:solidFill>
                  <a:srgbClr val="009A56"/>
                </a:solidFill>
                <a:latin typeface="Calibri"/>
                <a:ea typeface="Calibri"/>
                <a:cs typeface="Calibri"/>
              </a:rPr>
              <a:t>Contrôle visuel rapide, puis validation</a:t>
            </a:r>
          </a:p>
        </p:txBody>
      </p:sp>
      <p:sp>
        <p:nvSpPr>
          <p:cNvPr id="21" name="Rounded Rectangle 20"/>
          <p:cNvSpPr/>
          <p:nvPr/>
        </p:nvSpPr>
        <p:spPr>
          <a:xfrm>
            <a:off x="3227832" y="1170432"/>
            <a:ext cx="2679192" cy="150876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227832" y="1170432"/>
            <a:ext cx="2679192"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Freeform 22"/>
          <p:cNvSpPr/>
          <p:nvPr/>
        </p:nvSpPr>
        <p:spPr>
          <a:xfrm>
            <a:off x="3325197" y="1213225"/>
            <a:ext cx="207605" cy="184014"/>
          </a:xfrm>
          <a:custGeom>
            <a:avLst/>
            <a:gdLst/>
            <a:ahLst/>
            <a:cxnLst/>
            <a:rect l="l" t="t" r="r" b="b"/>
            <a:pathLst>
              <a:path w="207605" h="184014">
                <a:moveTo>
                  <a:pt x="103802" y="0"/>
                </a:moveTo>
                <a:lnTo>
                  <a:pt x="207605" y="184014"/>
                </a:lnTo>
                <a:lnTo>
                  <a:pt x="0" y="184014"/>
                </a:lnTo>
                <a:close/>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3428999" y="1284000"/>
            <a:ext cx="0" cy="51901"/>
          </a:xfrm>
          <a:custGeom>
            <a:avLst/>
            <a:gdLst/>
            <a:ahLst/>
            <a:cxnLst/>
            <a:rect l="l" t="t" r="r" b="b"/>
            <a:pathLst>
              <a:path w="0" h="51901">
                <a:moveTo>
                  <a:pt x="0" y="0"/>
                </a:moveTo>
                <a:lnTo>
                  <a:pt x="0" y="51901"/>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417204" y="1354775"/>
            <a:ext cx="23591" cy="23591"/>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11879" y="1170432"/>
            <a:ext cx="2185416" cy="274320"/>
          </a:xfrm>
          <a:prstGeom prst="rect">
            <a:avLst/>
          </a:prstGeom>
          <a:noFill/>
        </p:spPr>
        <p:txBody>
          <a:bodyPr wrap="square" lIns="0" rIns="0" tIns="0" bIns="0" anchor="ctr">
            <a:spAutoFit/>
          </a:bodyPr>
          <a:lstStyle/>
          <a:p>
            <a:pPr algn="l"/>
            <a:r>
              <a:rPr sz="900" b="1" i="0" spc="40">
                <a:solidFill>
                  <a:srgbClr val="FFFFFF"/>
                </a:solidFill>
                <a:latin typeface="Calibri"/>
                <a:ea typeface="Calibri"/>
                <a:cs typeface="Calibri"/>
              </a:rPr>
              <a:t>À VÉRIFIER</a:t>
            </a:r>
          </a:p>
        </p:txBody>
      </p:sp>
      <p:sp>
        <p:nvSpPr>
          <p:cNvPr id="27" name="TextBox 26"/>
          <p:cNvSpPr txBox="1"/>
          <p:nvPr/>
        </p:nvSpPr>
        <p:spPr>
          <a:xfrm>
            <a:off x="3364991" y="1572768"/>
            <a:ext cx="2404872" cy="731520"/>
          </a:xfrm>
          <a:prstGeom prst="rect">
            <a:avLst/>
          </a:prstGeom>
          <a:noFill/>
        </p:spPr>
        <p:txBody>
          <a:bodyPr wrap="square" lIns="0" rIns="0" tIns="0" bIns="0" anchor="t">
            <a:spAutoFit/>
          </a:bodyPr>
          <a:lstStyle/>
          <a:p>
            <a:pPr algn="l">
              <a:lnSpc>
                <a:spcPct val="105000"/>
              </a:lnSpc>
            </a:pPr>
            <a:r>
              <a:rPr sz="950" b="0" i="0">
                <a:solidFill>
                  <a:srgbClr val="333333"/>
                </a:solidFill>
                <a:latin typeface="Calibri"/>
                <a:ea typeface="Calibri"/>
                <a:cs typeface="Calibri"/>
              </a:rPr>
              <a:t>Concordance partielle ou homonymie possible : un critère diverge ou reste illisible.</a:t>
            </a:r>
          </a:p>
        </p:txBody>
      </p:sp>
      <p:sp>
        <p:nvSpPr>
          <p:cNvPr id="28" name="Rectangle 27"/>
          <p:cNvSpPr/>
          <p:nvPr/>
        </p:nvSpPr>
        <p:spPr>
          <a:xfrm>
            <a:off x="3364991" y="2304288"/>
            <a:ext cx="2404872"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364991" y="2359152"/>
            <a:ext cx="2404872" cy="274320"/>
          </a:xfrm>
          <a:prstGeom prst="rect">
            <a:avLst/>
          </a:prstGeom>
          <a:noFill/>
        </p:spPr>
        <p:txBody>
          <a:bodyPr wrap="square" lIns="0" rIns="0" tIns="0" bIns="0" anchor="ctr">
            <a:spAutoFit/>
          </a:bodyPr>
          <a:lstStyle/>
          <a:p>
            <a:pPr algn="l">
              <a:lnSpc>
                <a:spcPct val="100000"/>
              </a:lnSpc>
            </a:pPr>
            <a:r>
              <a:rPr sz="900" b="1" i="0">
                <a:solidFill>
                  <a:srgbClr val="F59E0B"/>
                </a:solidFill>
                <a:latin typeface="Calibri"/>
                <a:ea typeface="Calibri"/>
                <a:cs typeface="Calibri"/>
              </a:rPr>
              <a:t>Ouvrir le dossier et comparer</a:t>
            </a:r>
          </a:p>
        </p:txBody>
      </p:sp>
      <p:sp>
        <p:nvSpPr>
          <p:cNvPr id="30" name="Rounded Rectangle 29"/>
          <p:cNvSpPr/>
          <p:nvPr/>
        </p:nvSpPr>
        <p:spPr>
          <a:xfrm>
            <a:off x="6089904" y="1170432"/>
            <a:ext cx="2679192" cy="150876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089904" y="1170432"/>
            <a:ext cx="2679192" cy="274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6191987" y="1208507"/>
            <a:ext cx="198168" cy="198168"/>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6222656" y="1239176"/>
            <a:ext cx="136831" cy="136831"/>
          </a:xfrm>
          <a:custGeom>
            <a:avLst/>
            <a:gdLst/>
            <a:ahLst/>
            <a:cxnLst/>
            <a:rect l="l" t="t" r="r" b="b"/>
            <a:pathLst>
              <a:path w="136831" h="136831">
                <a:moveTo>
                  <a:pt x="0" y="136831"/>
                </a:moveTo>
                <a:lnTo>
                  <a:pt x="13683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3952" y="1170432"/>
            <a:ext cx="2185416" cy="274320"/>
          </a:xfrm>
          <a:prstGeom prst="rect">
            <a:avLst/>
          </a:prstGeom>
          <a:noFill/>
        </p:spPr>
        <p:txBody>
          <a:bodyPr wrap="square" lIns="0" rIns="0" tIns="0" bIns="0" anchor="ctr">
            <a:spAutoFit/>
          </a:bodyPr>
          <a:lstStyle/>
          <a:p>
            <a:pPr algn="l"/>
            <a:r>
              <a:rPr sz="900" b="1" i="0" spc="40">
                <a:solidFill>
                  <a:srgbClr val="FFFFFF"/>
                </a:solidFill>
                <a:latin typeface="Calibri"/>
                <a:ea typeface="Calibri"/>
                <a:cs typeface="Calibri"/>
              </a:rPr>
              <a:t>CORRESPONDANCE FAIBLE</a:t>
            </a:r>
          </a:p>
        </p:txBody>
      </p:sp>
      <p:sp>
        <p:nvSpPr>
          <p:cNvPr id="35" name="TextBox 34"/>
          <p:cNvSpPr txBox="1"/>
          <p:nvPr/>
        </p:nvSpPr>
        <p:spPr>
          <a:xfrm>
            <a:off x="6227064" y="1572768"/>
            <a:ext cx="2404872" cy="731520"/>
          </a:xfrm>
          <a:prstGeom prst="rect">
            <a:avLst/>
          </a:prstGeom>
          <a:noFill/>
        </p:spPr>
        <p:txBody>
          <a:bodyPr wrap="square" lIns="0" rIns="0" tIns="0" bIns="0" anchor="t">
            <a:spAutoFit/>
          </a:bodyPr>
          <a:lstStyle/>
          <a:p>
            <a:pPr algn="l">
              <a:lnSpc>
                <a:spcPct val="105000"/>
              </a:lnSpc>
            </a:pPr>
            <a:r>
              <a:rPr sz="950" b="0" i="0">
                <a:solidFill>
                  <a:srgbClr val="333333"/>
                </a:solidFill>
                <a:latin typeface="Calibri"/>
                <a:ea typeface="Calibri"/>
                <a:cs typeface="Calibri"/>
              </a:rPr>
              <a:t>Trop d'écarts entre le document lu et le client proposé par le moteur.</a:t>
            </a:r>
          </a:p>
        </p:txBody>
      </p:sp>
      <p:sp>
        <p:nvSpPr>
          <p:cNvPr id="36" name="Rectangle 35"/>
          <p:cNvSpPr/>
          <p:nvPr/>
        </p:nvSpPr>
        <p:spPr>
          <a:xfrm>
            <a:off x="6227064" y="2304288"/>
            <a:ext cx="2404872"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227064" y="2359152"/>
            <a:ext cx="2404872" cy="274320"/>
          </a:xfrm>
          <a:prstGeom prst="rect">
            <a:avLst/>
          </a:prstGeom>
          <a:noFill/>
        </p:spPr>
        <p:txBody>
          <a:bodyPr wrap="square" lIns="0" rIns="0" tIns="0" bIns="0" anchor="ctr">
            <a:spAutoFit/>
          </a:bodyPr>
          <a:lstStyle/>
          <a:p>
            <a:pPr algn="l">
              <a:lnSpc>
                <a:spcPct val="100000"/>
              </a:lnSpc>
            </a:pPr>
            <a:r>
              <a:rPr sz="900" b="1" i="0">
                <a:solidFill>
                  <a:srgbClr val="C0392B"/>
                </a:solidFill>
                <a:latin typeface="Calibri"/>
                <a:ea typeface="Calibri"/>
                <a:cs typeface="Calibri"/>
              </a:rPr>
              <a:t>Rejeter et rechercher le client manuellement</a:t>
            </a:r>
          </a:p>
        </p:txBody>
      </p:sp>
      <p:sp>
        <p:nvSpPr>
          <p:cNvPr id="38" name="Rounded Rectangle 37"/>
          <p:cNvSpPr/>
          <p:nvPr/>
        </p:nvSpPr>
        <p:spPr>
          <a:xfrm>
            <a:off x="365760" y="2816352"/>
            <a:ext cx="8412480" cy="1755648"/>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365760" y="2816352"/>
            <a:ext cx="8412480" cy="2743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529181" y="2863864"/>
            <a:ext cx="75492" cy="75492"/>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Freeform 40"/>
          <p:cNvSpPr/>
          <p:nvPr/>
        </p:nvSpPr>
        <p:spPr>
          <a:xfrm>
            <a:off x="481998" y="2962948"/>
            <a:ext cx="169859" cy="84930"/>
          </a:xfrm>
          <a:custGeom>
            <a:avLst/>
            <a:gdLst/>
            <a:ahLst/>
            <a:cxnLst/>
            <a:rect l="l" t="t" r="r" b="b"/>
            <a:pathLst>
              <a:path w="169859" h="84930">
                <a:moveTo>
                  <a:pt x="0" y="84930"/>
                </a:moveTo>
                <a:lnTo>
                  <a:pt x="14155" y="28310"/>
                </a:lnTo>
                <a:lnTo>
                  <a:pt x="84930" y="0"/>
                </a:lnTo>
                <a:lnTo>
                  <a:pt x="155704" y="28310"/>
                </a:lnTo>
                <a:lnTo>
                  <a:pt x="169859" y="8493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808" y="2816352"/>
            <a:ext cx="7918703"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LA DÉCISION RESTE HUMAINE</a:t>
            </a:r>
          </a:p>
        </p:txBody>
      </p:sp>
      <p:sp>
        <p:nvSpPr>
          <p:cNvPr id="43" name="TextBox 42"/>
          <p:cNvSpPr txBox="1"/>
          <p:nvPr/>
        </p:nvSpPr>
        <p:spPr>
          <a:xfrm>
            <a:off x="566928" y="3246120"/>
            <a:ext cx="3931920" cy="1234440"/>
          </a:xfrm>
          <a:prstGeom prst="rect">
            <a:avLst/>
          </a:prstGeom>
          <a:noFill/>
        </p:spPr>
        <p:txBody>
          <a:bodyPr wrap="square" lIns="0" rIns="0" tIns="0" bIns="0" anchor="t">
            <a:spAutoFit/>
          </a:bodyPr>
          <a:lstStyle/>
          <a:p>
            <a:pPr algn="l" marL="152400" indent="-152400">
              <a:lnSpc>
                <a:spcPct val="100000"/>
              </a:lnSpc>
              <a:spcAft>
                <a:spcPts val="2000"/>
              </a:spcAft>
              <a:buClr>
                <a:srgbClr val="009A56"/>
              </a:buClr>
              <a:buFont typeface="Arial" pitchFamily="34" charset="0"/>
              <a:buChar char="▪"/>
            </a:pPr>
            <a:r>
              <a:rPr sz="950" b="0" i="0">
                <a:solidFill>
                  <a:srgbClr val="333333"/>
                </a:solidFill>
                <a:latin typeface="Calibri"/>
                <a:ea typeface="Calibri"/>
                <a:cs typeface="Calibri"/>
              </a:rPr>
              <a:t>Aucune donnée n'est écrite dans le corebanking par la plateforme</a:t>
            </a:r>
          </a:p>
          <a:p>
            <a:pPr algn="l" marL="152400" indent="-152400">
              <a:lnSpc>
                <a:spcPct val="100000"/>
              </a:lnSpc>
              <a:spcAft>
                <a:spcPts val="2000"/>
              </a:spcAft>
              <a:buClr>
                <a:srgbClr val="009A56"/>
              </a:buClr>
              <a:buFont typeface="Arial" pitchFamily="34" charset="0"/>
              <a:buChar char="▪"/>
            </a:pPr>
            <a:r>
              <a:rPr sz="950" b="0" i="0">
                <a:solidFill>
                  <a:srgbClr val="333333"/>
                </a:solidFill>
                <a:latin typeface="Calibri"/>
                <a:ea typeface="Calibri"/>
                <a:cs typeface="Calibri"/>
              </a:rPr>
              <a:t>Seuls les profils habilités peuvent valider un rapprochement</a:t>
            </a:r>
          </a:p>
          <a:p>
            <a:pPr algn="l" marL="152400" indent="-152400">
              <a:lnSpc>
                <a:spcPct val="100000"/>
              </a:lnSpc>
              <a:spcAft>
                <a:spcPts val="2000"/>
              </a:spcAft>
              <a:buClr>
                <a:srgbClr val="009A56"/>
              </a:buClr>
              <a:buFont typeface="Arial" pitchFamily="34" charset="0"/>
              <a:buChar char="▪"/>
            </a:pPr>
            <a:r>
              <a:rPr sz="950" b="0" i="0">
                <a:solidFill>
                  <a:srgbClr val="333333"/>
                </a:solidFill>
                <a:latin typeface="Calibri"/>
                <a:ea typeface="Calibri"/>
                <a:cs typeface="Calibri"/>
              </a:rPr>
              <a:t>Chaque décision est horodatée et nominative</a:t>
            </a:r>
          </a:p>
        </p:txBody>
      </p:sp>
      <p:sp>
        <p:nvSpPr>
          <p:cNvPr id="44" name="TextBox 43"/>
          <p:cNvSpPr txBox="1"/>
          <p:nvPr/>
        </p:nvSpPr>
        <p:spPr>
          <a:xfrm>
            <a:off x="4709160" y="3246120"/>
            <a:ext cx="3931920" cy="1234440"/>
          </a:xfrm>
          <a:prstGeom prst="rect">
            <a:avLst/>
          </a:prstGeom>
          <a:noFill/>
        </p:spPr>
        <p:txBody>
          <a:bodyPr wrap="square" lIns="0" rIns="0" tIns="0" bIns="0" anchor="t">
            <a:spAutoFit/>
          </a:bodyPr>
          <a:lstStyle/>
          <a:p>
            <a:pPr algn="l" marL="152400" indent="-152400">
              <a:lnSpc>
                <a:spcPct val="100000"/>
              </a:lnSpc>
              <a:spcAft>
                <a:spcPts val="2000"/>
              </a:spcAft>
              <a:buClr>
                <a:srgbClr val="009A56"/>
              </a:buClr>
              <a:buFont typeface="Arial" pitchFamily="34" charset="0"/>
              <a:buChar char="▪"/>
            </a:pPr>
            <a:r>
              <a:rPr sz="950" b="0" i="0">
                <a:solidFill>
                  <a:srgbClr val="333333"/>
                </a:solidFill>
                <a:latin typeface="Calibri"/>
                <a:ea typeface="Calibri"/>
                <a:cs typeface="Calibri"/>
              </a:rPr>
              <a:t>En cas de doute, on rejette : un faux rapprochement coûte plus cher qu'un dossier resté ouvert</a:t>
            </a:r>
          </a:p>
          <a:p>
            <a:pPr algn="l" marL="152400" indent="-152400">
              <a:lnSpc>
                <a:spcPct val="100000"/>
              </a:lnSpc>
              <a:spcAft>
                <a:spcPts val="2000"/>
              </a:spcAft>
              <a:buClr>
                <a:srgbClr val="009A56"/>
              </a:buClr>
              <a:buFont typeface="Arial" pitchFamily="34" charset="0"/>
              <a:buChar char="▪"/>
            </a:pPr>
            <a:r>
              <a:rPr sz="950" b="0" i="0">
                <a:solidFill>
                  <a:srgbClr val="333333"/>
                </a:solidFill>
                <a:latin typeface="Calibri"/>
                <a:ea typeface="Calibri"/>
                <a:cs typeface="Calibri"/>
              </a:rPr>
              <a:t>La pièce justificative reste archivée et consultable selon votre périmètre</a:t>
            </a:r>
          </a:p>
          <a:p>
            <a:pPr algn="l" marL="152400" indent="-152400">
              <a:lnSpc>
                <a:spcPct val="100000"/>
              </a:lnSpc>
              <a:spcAft>
                <a:spcPts val="2000"/>
              </a:spcAft>
              <a:buClr>
                <a:srgbClr val="009A56"/>
              </a:buClr>
              <a:buFont typeface="Arial" pitchFamily="34" charset="0"/>
              <a:buChar char="▪"/>
            </a:pPr>
            <a:r>
              <a:rPr sz="950" b="0" i="0">
                <a:solidFill>
                  <a:srgbClr val="333333"/>
                </a:solidFill>
                <a:latin typeface="Calibri"/>
                <a:ea typeface="Calibri"/>
                <a:cs typeface="Calibri"/>
              </a:rPr>
              <a:t>Les documents traités alimentent le suivi de complétude du lendemain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3"/>
                                        </p:tgtEl>
                                        <p:attrNameLst>
                                          <p:attrName>style.visibility</p:attrName>
                                        </p:attrNameLst>
                                      </p:cBhvr>
                                      <p:to>
                                        <p:strVal val="visible"/>
                                      </p:to>
                                    </p:set>
                                    <p:animEffect transition="in" filter="fade">
                                      <p:cBhvr>
                                        <p:cTn id="5" dur="450"/>
                                        <p:tgtEl>
                                          <p:spTgt spid="13"/>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4"/>
                                        </p:tgtEl>
                                        <p:attrNameLst>
                                          <p:attrName>style.visibility</p:attrName>
                                        </p:attrNameLst>
                                      </p:cBhvr>
                                      <p:to>
                                        <p:strVal val="visible"/>
                                      </p:to>
                                    </p:set>
                                    <p:animEffect transition="in" filter="fade">
                                      <p:cBhvr>
                                        <p:cTn id="8" dur="450"/>
                                        <p:tgtEl>
                                          <p:spTgt spid="14"/>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450"/>
                                        <p:tgtEl>
                                          <p:spTgt spid="15"/>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450"/>
                                        <p:tgtEl>
                                          <p:spTgt spid="16"/>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50"/>
                                        <p:tgtEl>
                                          <p:spTgt spid="17"/>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450"/>
                                        <p:tgtEl>
                                          <p:spTgt spid="18"/>
                                        </p:tgtEl>
                                      </p:cBhvr>
                                    </p:animEffect>
                                  </p:childTnLst>
                                </p:cTn>
                              </p:par>
                              <p:par>
                                <p:cTn id="21" presetID="10" presetClass="entr" presetSubtype="0" fill="hold" grpId="0" nodeType="withEffect">
                                  <p:stCondLst>
                                    <p:cond delay="72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450"/>
                                        <p:tgtEl>
                                          <p:spTgt spid="19"/>
                                        </p:tgtEl>
                                      </p:cBhvr>
                                    </p:animEffect>
                                  </p:childTnLst>
                                </p:cTn>
                              </p:par>
                              <p:par>
                                <p:cTn id="24" presetID="10" presetClass="entr" presetSubtype="0" fill="hold" grpId="0" nodeType="withEffect">
                                  <p:stCondLst>
                                    <p:cond delay="84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450"/>
                                        <p:tgtEl>
                                          <p:spTgt spid="20"/>
                                        </p:tgtEl>
                                      </p:cBhvr>
                                    </p:animEffect>
                                  </p:childTnLst>
                                </p:cTn>
                              </p:par>
                            </p:childTnLst>
                          </p:cTn>
                        </p:par>
                      </p:childTnLst>
                    </p:cTn>
                  </p:par>
                  <p:par>
                    <p:cTn id="56" fill="hold">
                      <p:stCondLst>
                        <p:cond delay="indefinite"/>
                      </p:stCondLst>
                      <p:childTnLst>
                        <p:par>
                          <p:cTn id="57"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50"/>
                                        <p:tgtEl>
                                          <p:spTgt spid="21"/>
                                        </p:tgtEl>
                                      </p:cBhvr>
                                    </p:animEffect>
                                  </p:childTnLst>
                                </p:cTn>
                              </p:par>
                              <p:par>
                                <p:cTn id="32" presetID="10" presetClass="entr" presetSubtype="0" fill="hold" grpId="0" nodeType="withEffect">
                                  <p:stCondLst>
                                    <p:cond delay="12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50"/>
                                        <p:tgtEl>
                                          <p:spTgt spid="22"/>
                                        </p:tgtEl>
                                      </p:cBhvr>
                                    </p:animEffect>
                                  </p:childTnLst>
                                </p:cTn>
                              </p:par>
                              <p:par>
                                <p:cTn id="35" presetID="10" presetClass="entr" presetSubtype="0" fill="hold" grpId="0" nodeType="withEffect">
                                  <p:stCondLst>
                                    <p:cond delay="24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450"/>
                                        <p:tgtEl>
                                          <p:spTgt spid="23"/>
                                        </p:tgtEl>
                                      </p:cBhvr>
                                    </p:animEffect>
                                  </p:childTnLst>
                                </p:cTn>
                              </p:par>
                              <p:par>
                                <p:cTn id="38" presetID="10" presetClass="entr" presetSubtype="0" fill="hold" grpId="0" nodeType="withEffect">
                                  <p:stCondLst>
                                    <p:cond delay="36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450"/>
                                        <p:tgtEl>
                                          <p:spTgt spid="24"/>
                                        </p:tgtEl>
                                      </p:cBhvr>
                                    </p:animEffect>
                                  </p:childTnLst>
                                </p:cTn>
                              </p:par>
                              <p:par>
                                <p:cTn id="41" presetID="10" presetClass="entr" presetSubtype="0" fill="hold" grpId="0" nodeType="withEffect">
                                  <p:stCondLst>
                                    <p:cond delay="48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450"/>
                                        <p:tgtEl>
                                          <p:spTgt spid="25"/>
                                        </p:tgtEl>
                                      </p:cBhvr>
                                    </p:animEffect>
                                  </p:childTnLst>
                                </p:cTn>
                              </p:par>
                              <p:par>
                                <p:cTn id="44" presetID="10" presetClass="entr" presetSubtype="0" fill="hold" grpId="0" nodeType="withEffect">
                                  <p:stCondLst>
                                    <p:cond delay="60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450"/>
                                        <p:tgtEl>
                                          <p:spTgt spid="26"/>
                                        </p:tgtEl>
                                      </p:cBhvr>
                                    </p:animEffect>
                                  </p:childTnLst>
                                </p:cTn>
                              </p:par>
                              <p:par>
                                <p:cTn id="47" presetID="10" presetClass="entr" presetSubtype="0" fill="hold" grpId="0" nodeType="withEffect">
                                  <p:stCondLst>
                                    <p:cond delay="72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450"/>
                                        <p:tgtEl>
                                          <p:spTgt spid="27"/>
                                        </p:tgtEl>
                                      </p:cBhvr>
                                    </p:animEffect>
                                  </p:childTnLst>
                                </p:cTn>
                              </p:par>
                              <p:par>
                                <p:cTn id="50" presetID="10" presetClass="entr" presetSubtype="0" fill="hold" grpId="0" nodeType="withEffect">
                                  <p:stCondLst>
                                    <p:cond delay="84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50"/>
                                        <p:tgtEl>
                                          <p:spTgt spid="28"/>
                                        </p:tgtEl>
                                      </p:cBhvr>
                                    </p:animEffect>
                                  </p:childTnLst>
                                </p:cTn>
                              </p:par>
                              <p:par>
                                <p:cTn id="53" presetID="10" presetClass="entr" presetSubtype="0" fill="hold" grpId="0" nodeType="withEffect">
                                  <p:stCondLst>
                                    <p:cond delay="96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450"/>
                                        <p:tgtEl>
                                          <p:spTgt spid="29"/>
                                        </p:tgtEl>
                                      </p:cBhvr>
                                    </p:animEffect>
                                  </p:childTnLst>
                                </p:cTn>
                              </p:par>
                            </p:childTnLst>
                          </p:cTn>
                        </p:par>
                      </p:childTnLst>
                    </p:cTn>
                  </p:par>
                  <p:par>
                    <p:cTn id="82" fill="hold">
                      <p:stCondLst>
                        <p:cond delay="indefinite"/>
                      </p:stCondLst>
                      <p:childTnLst>
                        <p:par>
                          <p:cTn id="83"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30"/>
                                        </p:tgtEl>
                                        <p:attrNameLst>
                                          <p:attrName>style.visibility</p:attrName>
                                        </p:attrNameLst>
                                      </p:cBhvr>
                                      <p:to>
                                        <p:strVal val="visible"/>
                                      </p:to>
                                    </p:set>
                                    <p:animEffect transition="in" filter="fade">
                                      <p:cBhvr>
                                        <p:cTn id="60" dur="450"/>
                                        <p:tgtEl>
                                          <p:spTgt spid="30"/>
                                        </p:tgtEl>
                                      </p:cBhvr>
                                    </p:animEffect>
                                  </p:childTnLst>
                                </p:cTn>
                              </p:par>
                              <p:par>
                                <p:cTn id="61" presetID="10" presetClass="entr" presetSubtype="0" fill="hold" grpId="0" nodeType="withEffect">
                                  <p:stCondLst>
                                    <p:cond delay="12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450"/>
                                        <p:tgtEl>
                                          <p:spTgt spid="31"/>
                                        </p:tgtEl>
                                      </p:cBhvr>
                                    </p:animEffect>
                                  </p:childTnLst>
                                </p:cTn>
                              </p:par>
                              <p:par>
                                <p:cTn id="64" presetID="10" presetClass="entr" presetSubtype="0" fill="hold" grpId="0" nodeType="withEffect">
                                  <p:stCondLst>
                                    <p:cond delay="240"/>
                                  </p:stCondLst>
                                  <p:childTnLst>
                                    <p:set>
                                      <p:cBhvr>
                                        <p:cTn id="65" dur="1" fill="hold">
                                          <p:stCondLst>
                                            <p:cond delay="0"/>
                                          </p:stCondLst>
                                        </p:cTn>
                                        <p:tgtEl>
                                          <p:spTgt spid="32"/>
                                        </p:tgtEl>
                                        <p:attrNameLst>
                                          <p:attrName>style.visibility</p:attrName>
                                        </p:attrNameLst>
                                      </p:cBhvr>
                                      <p:to>
                                        <p:strVal val="visible"/>
                                      </p:to>
                                    </p:set>
                                    <p:animEffect transition="in" filter="fade">
                                      <p:cBhvr>
                                        <p:cTn id="66" dur="450"/>
                                        <p:tgtEl>
                                          <p:spTgt spid="32"/>
                                        </p:tgtEl>
                                      </p:cBhvr>
                                    </p:animEffect>
                                  </p:childTnLst>
                                </p:cTn>
                              </p:par>
                              <p:par>
                                <p:cTn id="67" presetID="10" presetClass="entr" presetSubtype="0" fill="hold" grpId="0" nodeType="withEffect">
                                  <p:stCondLst>
                                    <p:cond delay="36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childTnLst>
                                </p:cTn>
                              </p:par>
                              <p:par>
                                <p:cTn id="70" presetID="10" presetClass="entr" presetSubtype="0" fill="hold" grpId="0" nodeType="withEffect">
                                  <p:stCondLst>
                                    <p:cond delay="480"/>
                                  </p:stCondLst>
                                  <p:childTnLst>
                                    <p:set>
                                      <p:cBhvr>
                                        <p:cTn id="71" dur="1" fill="hold">
                                          <p:stCondLst>
                                            <p:cond delay="0"/>
                                          </p:stCondLst>
                                        </p:cTn>
                                        <p:tgtEl>
                                          <p:spTgt spid="34"/>
                                        </p:tgtEl>
                                        <p:attrNameLst>
                                          <p:attrName>style.visibility</p:attrName>
                                        </p:attrNameLst>
                                      </p:cBhvr>
                                      <p:to>
                                        <p:strVal val="visible"/>
                                      </p:to>
                                    </p:set>
                                    <p:animEffect transition="in" filter="fade">
                                      <p:cBhvr>
                                        <p:cTn id="72" dur="450"/>
                                        <p:tgtEl>
                                          <p:spTgt spid="34"/>
                                        </p:tgtEl>
                                      </p:cBhvr>
                                    </p:animEffect>
                                  </p:childTnLst>
                                </p:cTn>
                              </p:par>
                              <p:par>
                                <p:cTn id="73" presetID="10" presetClass="entr" presetSubtype="0" fill="hold" grpId="0" nodeType="withEffect">
                                  <p:stCondLst>
                                    <p:cond delay="60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450"/>
                                        <p:tgtEl>
                                          <p:spTgt spid="35"/>
                                        </p:tgtEl>
                                      </p:cBhvr>
                                    </p:animEffect>
                                  </p:childTnLst>
                                </p:cTn>
                              </p:par>
                              <p:par>
                                <p:cTn id="76" presetID="10" presetClass="entr" presetSubtype="0" fill="hold" grpId="0" nodeType="withEffect">
                                  <p:stCondLst>
                                    <p:cond delay="720"/>
                                  </p:stCondLst>
                                  <p:childTnLst>
                                    <p:set>
                                      <p:cBhvr>
                                        <p:cTn id="77" dur="1" fill="hold">
                                          <p:stCondLst>
                                            <p:cond delay="0"/>
                                          </p:stCondLst>
                                        </p:cTn>
                                        <p:tgtEl>
                                          <p:spTgt spid="36"/>
                                        </p:tgtEl>
                                        <p:attrNameLst>
                                          <p:attrName>style.visibility</p:attrName>
                                        </p:attrNameLst>
                                      </p:cBhvr>
                                      <p:to>
                                        <p:strVal val="visible"/>
                                      </p:to>
                                    </p:set>
                                    <p:animEffect transition="in" filter="fade">
                                      <p:cBhvr>
                                        <p:cTn id="78" dur="450"/>
                                        <p:tgtEl>
                                          <p:spTgt spid="36"/>
                                        </p:tgtEl>
                                      </p:cBhvr>
                                    </p:animEffect>
                                  </p:childTnLst>
                                </p:cTn>
                              </p:par>
                              <p:par>
                                <p:cTn id="79" presetID="10" presetClass="entr" presetSubtype="0" fill="hold" grpId="0" nodeType="withEffect">
                                  <p:stCondLst>
                                    <p:cond delay="84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450"/>
                                        <p:tgtEl>
                                          <p:spTgt spid="37"/>
                                        </p:tgtEl>
                                      </p:cBhvr>
                                    </p:animEffect>
                                  </p:childTnLst>
                                </p:cTn>
                              </p:par>
                            </p:childTnLst>
                          </p:cTn>
                        </p:par>
                      </p:childTnLst>
                    </p:cTn>
                  </p:par>
                  <p:par>
                    <p:cTn id="105" fill="hold">
                      <p:stCondLst>
                        <p:cond delay="indefinite"/>
                      </p:stCondLst>
                      <p:childTnLst>
                        <p:par>
                          <p:cTn id="106" fill="hold">
                            <p:stCondLst>
                              <p:cond delay="0"/>
                            </p:stCondLst>
                            <p:childTnLst>
                              <p:par>
                                <p:cTn id="84" presetID="10" presetClass="entr" presetSubtype="0" fill="hold" grpId="0" nodeType="clickEffect">
                                  <p:stCondLst>
                                    <p:cond delay="0"/>
                                  </p:stCondLst>
                                  <p:childTnLst>
                                    <p:set>
                                      <p:cBhvr>
                                        <p:cTn id="85" dur="1" fill="hold">
                                          <p:stCondLst>
                                            <p:cond delay="0"/>
                                          </p:stCondLst>
                                        </p:cTn>
                                        <p:tgtEl>
                                          <p:spTgt spid="38"/>
                                        </p:tgtEl>
                                        <p:attrNameLst>
                                          <p:attrName>style.visibility</p:attrName>
                                        </p:attrNameLst>
                                      </p:cBhvr>
                                      <p:to>
                                        <p:strVal val="visible"/>
                                      </p:to>
                                    </p:set>
                                    <p:animEffect transition="in" filter="fade">
                                      <p:cBhvr>
                                        <p:cTn id="86" dur="450"/>
                                        <p:tgtEl>
                                          <p:spTgt spid="38"/>
                                        </p:tgtEl>
                                      </p:cBhvr>
                                    </p:animEffect>
                                  </p:childTnLst>
                                </p:cTn>
                              </p:par>
                              <p:par>
                                <p:cTn id="87" presetID="10" presetClass="entr" presetSubtype="0" fill="hold" grpId="0" nodeType="withEffect">
                                  <p:stCondLst>
                                    <p:cond delay="120"/>
                                  </p:stCondLst>
                                  <p:childTnLst>
                                    <p:set>
                                      <p:cBhvr>
                                        <p:cTn id="88" dur="1" fill="hold">
                                          <p:stCondLst>
                                            <p:cond delay="0"/>
                                          </p:stCondLst>
                                        </p:cTn>
                                        <p:tgtEl>
                                          <p:spTgt spid="39"/>
                                        </p:tgtEl>
                                        <p:attrNameLst>
                                          <p:attrName>style.visibility</p:attrName>
                                        </p:attrNameLst>
                                      </p:cBhvr>
                                      <p:to>
                                        <p:strVal val="visible"/>
                                      </p:to>
                                    </p:set>
                                    <p:animEffect transition="in" filter="fade">
                                      <p:cBhvr>
                                        <p:cTn id="89" dur="450"/>
                                        <p:tgtEl>
                                          <p:spTgt spid="39"/>
                                        </p:tgtEl>
                                      </p:cBhvr>
                                    </p:animEffect>
                                  </p:childTnLst>
                                </p:cTn>
                              </p:par>
                              <p:par>
                                <p:cTn id="90" presetID="10" presetClass="entr" presetSubtype="0" fill="hold" grpId="0" nodeType="withEffect">
                                  <p:stCondLst>
                                    <p:cond delay="240"/>
                                  </p:stCondLst>
                                  <p:childTnLst>
                                    <p:set>
                                      <p:cBhvr>
                                        <p:cTn id="91" dur="1" fill="hold">
                                          <p:stCondLst>
                                            <p:cond delay="0"/>
                                          </p:stCondLst>
                                        </p:cTn>
                                        <p:tgtEl>
                                          <p:spTgt spid="40"/>
                                        </p:tgtEl>
                                        <p:attrNameLst>
                                          <p:attrName>style.visibility</p:attrName>
                                        </p:attrNameLst>
                                      </p:cBhvr>
                                      <p:to>
                                        <p:strVal val="visible"/>
                                      </p:to>
                                    </p:set>
                                    <p:animEffect transition="in" filter="fade">
                                      <p:cBhvr>
                                        <p:cTn id="92" dur="450"/>
                                        <p:tgtEl>
                                          <p:spTgt spid="40"/>
                                        </p:tgtEl>
                                      </p:cBhvr>
                                    </p:animEffect>
                                  </p:childTnLst>
                                </p:cTn>
                              </p:par>
                              <p:par>
                                <p:cTn id="93" presetID="10" presetClass="entr" presetSubtype="0" fill="hold" grpId="0" nodeType="withEffect">
                                  <p:stCondLst>
                                    <p:cond delay="360"/>
                                  </p:stCondLst>
                                  <p:childTnLst>
                                    <p:set>
                                      <p:cBhvr>
                                        <p:cTn id="94" dur="1" fill="hold">
                                          <p:stCondLst>
                                            <p:cond delay="0"/>
                                          </p:stCondLst>
                                        </p:cTn>
                                        <p:tgtEl>
                                          <p:spTgt spid="41"/>
                                        </p:tgtEl>
                                        <p:attrNameLst>
                                          <p:attrName>style.visibility</p:attrName>
                                        </p:attrNameLst>
                                      </p:cBhvr>
                                      <p:to>
                                        <p:strVal val="visible"/>
                                      </p:to>
                                    </p:set>
                                    <p:animEffect transition="in" filter="fade">
                                      <p:cBhvr>
                                        <p:cTn id="95" dur="450"/>
                                        <p:tgtEl>
                                          <p:spTgt spid="41"/>
                                        </p:tgtEl>
                                      </p:cBhvr>
                                    </p:animEffect>
                                  </p:childTnLst>
                                </p:cTn>
                              </p:par>
                              <p:par>
                                <p:cTn id="96" presetID="10" presetClass="entr" presetSubtype="0" fill="hold" grpId="0" nodeType="withEffect">
                                  <p:stCondLst>
                                    <p:cond delay="480"/>
                                  </p:stCondLst>
                                  <p:childTnLst>
                                    <p:set>
                                      <p:cBhvr>
                                        <p:cTn id="97" dur="1" fill="hold">
                                          <p:stCondLst>
                                            <p:cond delay="0"/>
                                          </p:stCondLst>
                                        </p:cTn>
                                        <p:tgtEl>
                                          <p:spTgt spid="42"/>
                                        </p:tgtEl>
                                        <p:attrNameLst>
                                          <p:attrName>style.visibility</p:attrName>
                                        </p:attrNameLst>
                                      </p:cBhvr>
                                      <p:to>
                                        <p:strVal val="visible"/>
                                      </p:to>
                                    </p:set>
                                    <p:animEffect transition="in" filter="fade">
                                      <p:cBhvr>
                                        <p:cTn id="98" dur="450"/>
                                        <p:tgtEl>
                                          <p:spTgt spid="42"/>
                                        </p:tgtEl>
                                      </p:cBhvr>
                                    </p:animEffect>
                                  </p:childTnLst>
                                </p:cTn>
                              </p:par>
                              <p:par>
                                <p:cTn id="99" presetID="10" presetClass="entr" presetSubtype="0" fill="hold" grpId="0" nodeType="withEffect">
                                  <p:stCondLst>
                                    <p:cond delay="600"/>
                                  </p:stCondLst>
                                  <p:childTnLst>
                                    <p:set>
                                      <p:cBhvr>
                                        <p:cTn id="100" dur="1" fill="hold">
                                          <p:stCondLst>
                                            <p:cond delay="0"/>
                                          </p:stCondLst>
                                        </p:cTn>
                                        <p:tgtEl>
                                          <p:spTgt spid="43"/>
                                        </p:tgtEl>
                                        <p:attrNameLst>
                                          <p:attrName>style.visibility</p:attrName>
                                        </p:attrNameLst>
                                      </p:cBhvr>
                                      <p:to>
                                        <p:strVal val="visible"/>
                                      </p:to>
                                    </p:set>
                                    <p:animEffect transition="in" filter="fade">
                                      <p:cBhvr>
                                        <p:cTn id="101" dur="450"/>
                                        <p:tgtEl>
                                          <p:spTgt spid="43"/>
                                        </p:tgtEl>
                                      </p:cBhvr>
                                    </p:animEffect>
                                  </p:childTnLst>
                                </p:cTn>
                              </p:par>
                              <p:par>
                                <p:cTn id="102" presetID="10" presetClass="entr" presetSubtype="0" fill="hold" grpId="0" nodeType="withEffect">
                                  <p:stCondLst>
                                    <p:cond delay="720"/>
                                  </p:stCondLst>
                                  <p:childTnLst>
                                    <p:set>
                                      <p:cBhvr>
                                        <p:cTn id="103" dur="1" fill="hold">
                                          <p:stCondLst>
                                            <p:cond delay="0"/>
                                          </p:stCondLst>
                                        </p:cTn>
                                        <p:tgtEl>
                                          <p:spTgt spid="44"/>
                                        </p:tgtEl>
                                        <p:attrNameLst>
                                          <p:attrName>style.visibility</p:attrName>
                                        </p:attrNameLst>
                                      </p:cBhvr>
                                      <p:to>
                                        <p:strVal val="visible"/>
                                      </p:to>
                                    </p:set>
                                    <p:animEffect transition="in" filter="fade">
                                      <p:cBhvr>
                                        <p:cTn id="104" dur="45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VI.  RITUELS ET DÉPLOIEMENT</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Rectangle 4"/>
          <p:cNvSpPr/>
          <p:nvPr/>
        </p:nvSpPr>
        <p:spPr>
          <a:xfrm>
            <a:off x="398824" y="774606"/>
            <a:ext cx="226478" cy="198168"/>
          </a:xfrm>
          <a:prstGeom prst="rect">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398824" y="831226"/>
            <a:ext cx="226479" cy="0"/>
          </a:xfrm>
          <a:custGeom>
            <a:avLst/>
            <a:gdLst/>
            <a:ahLst/>
            <a:cxnLst/>
            <a:rect l="l" t="t" r="r" b="b"/>
            <a:pathLst>
              <a:path w="226479" h="0">
                <a:moveTo>
                  <a:pt x="0" y="0"/>
                </a:moveTo>
                <a:lnTo>
                  <a:pt x="226479"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455444" y="740634"/>
            <a:ext cx="0" cy="33972"/>
          </a:xfrm>
          <a:custGeom>
            <a:avLst/>
            <a:gdLst/>
            <a:ahLst/>
            <a:cxnLst/>
            <a:rect l="l" t="t" r="r" b="b"/>
            <a:pathLst>
              <a:path w="0" h="33972">
                <a:moveTo>
                  <a:pt x="0" y="33972"/>
                </a:moveTo>
                <a:lnTo>
                  <a:pt x="0"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568683" y="740634"/>
            <a:ext cx="0" cy="33972"/>
          </a:xfrm>
          <a:custGeom>
            <a:avLst/>
            <a:gdLst/>
            <a:ahLst/>
            <a:cxnLst/>
            <a:rect l="l" t="t" r="r" b="b"/>
            <a:pathLst>
              <a:path w="0" h="33972">
                <a:moveTo>
                  <a:pt x="0" y="33972"/>
                </a:moveTo>
                <a:lnTo>
                  <a:pt x="0"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45535" y="863782"/>
            <a:ext cx="25478" cy="25478"/>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9324" y="863782"/>
            <a:ext cx="25478" cy="25478"/>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53113" y="863782"/>
            <a:ext cx="25478" cy="25478"/>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45535" y="914740"/>
            <a:ext cx="25478" cy="25478"/>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99324" y="914740"/>
            <a:ext cx="25478" cy="25478"/>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INSCRIRE LA PLATEFORME DANS LE QUOTIDIEN</a:t>
            </a:r>
          </a:p>
        </p:txBody>
      </p:sp>
      <p:sp>
        <p:nvSpPr>
          <p:cNvPr id="15" name="Rectangle 14"/>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8" name="TextBox 17"/>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16 / 20</a:t>
            </a:r>
          </a:p>
        </p:txBody>
      </p:sp>
      <p:sp>
        <p:nvSpPr>
          <p:cNvPr id="19" name="Rounded Rectangle 18"/>
          <p:cNvSpPr/>
          <p:nvPr/>
        </p:nvSpPr>
        <p:spPr>
          <a:xfrm>
            <a:off x="365760" y="1170432"/>
            <a:ext cx="2679192" cy="269748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65760" y="1170432"/>
            <a:ext cx="2679192"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10308" y="1307592"/>
            <a:ext cx="113239" cy="113239"/>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58407" y="1392521"/>
            <a:ext cx="217041" cy="0"/>
          </a:xfrm>
          <a:custGeom>
            <a:avLst/>
            <a:gdLst/>
            <a:ahLst/>
            <a:cxnLst/>
            <a:rect l="l" t="t" r="r" b="b"/>
            <a:pathLst>
              <a:path w="217041" h="0">
                <a:moveTo>
                  <a:pt x="0" y="0"/>
                </a:moveTo>
                <a:lnTo>
                  <a:pt x="21704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Freeform 22"/>
          <p:cNvSpPr/>
          <p:nvPr/>
        </p:nvSpPr>
        <p:spPr>
          <a:xfrm>
            <a:off x="566928" y="1236817"/>
            <a:ext cx="0" cy="33028"/>
          </a:xfrm>
          <a:custGeom>
            <a:avLst/>
            <a:gdLst/>
            <a:ahLst/>
            <a:cxnLst/>
            <a:rect l="l" t="t" r="r" b="b"/>
            <a:pathLst>
              <a:path w="0" h="33028">
                <a:moveTo>
                  <a:pt x="0" y="33028"/>
                </a:moveTo>
                <a:lnTo>
                  <a:pt x="0"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474921" y="1274563"/>
            <a:ext cx="18873" cy="23592"/>
          </a:xfrm>
          <a:custGeom>
            <a:avLst/>
            <a:gdLst/>
            <a:ahLst/>
            <a:cxnLst/>
            <a:rect l="l" t="t" r="r" b="b"/>
            <a:pathLst>
              <a:path w="18873" h="23592">
                <a:moveTo>
                  <a:pt x="18873" y="23592"/>
                </a:moveTo>
                <a:lnTo>
                  <a:pt x="0"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640061" y="1274563"/>
            <a:ext cx="18873" cy="23592"/>
          </a:xfrm>
          <a:custGeom>
            <a:avLst/>
            <a:gdLst/>
            <a:ahLst/>
            <a:cxnLst/>
            <a:rect l="l" t="t" r="r" b="b"/>
            <a:pathLst>
              <a:path w="18873" h="23592">
                <a:moveTo>
                  <a:pt x="0" y="23592"/>
                </a:moveTo>
                <a:lnTo>
                  <a:pt x="18873"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1170432"/>
            <a:ext cx="2185416" cy="274320"/>
          </a:xfrm>
          <a:prstGeom prst="rect">
            <a:avLst/>
          </a:prstGeom>
          <a:noFill/>
        </p:spPr>
        <p:txBody>
          <a:bodyPr wrap="square" lIns="0" rIns="0" tIns="0" bIns="0" anchor="ctr">
            <a:spAutoFit/>
          </a:bodyPr>
          <a:lstStyle/>
          <a:p>
            <a:pPr algn="l"/>
            <a:r>
              <a:rPr sz="950" b="1" i="0" spc="40">
                <a:solidFill>
                  <a:srgbClr val="FFFFFF"/>
                </a:solidFill>
                <a:latin typeface="Calibri"/>
                <a:ea typeface="Calibri"/>
                <a:cs typeface="Calibri"/>
              </a:rPr>
              <a:t>CHAQUE JOUR</a:t>
            </a:r>
          </a:p>
        </p:txBody>
      </p:sp>
      <p:sp>
        <p:nvSpPr>
          <p:cNvPr id="27" name="TextBox 26"/>
          <p:cNvSpPr txBox="1"/>
          <p:nvPr/>
        </p:nvSpPr>
        <p:spPr>
          <a:xfrm>
            <a:off x="512064" y="1600200"/>
            <a:ext cx="2386584" cy="2194560"/>
          </a:xfrm>
          <a:prstGeom prst="rect">
            <a:avLst/>
          </a:prstGeom>
          <a:noFill/>
        </p:spPr>
        <p:txBody>
          <a:bodyPr wrap="square" lIns="0" rIns="0" tIns="0" bIns="0" anchor="t">
            <a:spAutoFit/>
          </a:bodyPr>
          <a:lstStyle/>
          <a:p>
            <a:pPr algn="l" marL="152400" indent="-152400">
              <a:lnSpc>
                <a:spcPct val="105000"/>
              </a:lnSpc>
              <a:spcAft>
                <a:spcPts val="1300"/>
              </a:spcAft>
              <a:buClr>
                <a:srgbClr val="009A56"/>
              </a:buClr>
              <a:buFont typeface="Arial" pitchFamily="34" charset="0"/>
              <a:buChar char="▪"/>
            </a:pPr>
            <a:r>
              <a:rPr sz="950" b="0" i="0">
                <a:solidFill>
                  <a:srgbClr val="333333"/>
                </a:solidFill>
                <a:latin typeface="Calibri"/>
                <a:ea typeface="Calibri"/>
                <a:cs typeface="Calibri"/>
              </a:rPr>
              <a:t>Le chargé consulte son flux de la veille et corrige les dossiers signalés</a:t>
            </a:r>
          </a:p>
          <a:p>
            <a:pPr algn="l" marL="152400" indent="-152400">
              <a:lnSpc>
                <a:spcPct val="105000"/>
              </a:lnSpc>
              <a:spcAft>
                <a:spcPts val="1300"/>
              </a:spcAft>
              <a:buClr>
                <a:srgbClr val="009A56"/>
              </a:buClr>
              <a:buFont typeface="Arial" pitchFamily="34" charset="0"/>
              <a:buChar char="▪"/>
            </a:pPr>
            <a:r>
              <a:rPr sz="950" b="0" i="0">
                <a:solidFill>
                  <a:srgbClr val="333333"/>
                </a:solidFill>
                <a:latin typeface="Calibri"/>
                <a:ea typeface="Calibri"/>
                <a:cs typeface="Calibri"/>
              </a:rPr>
              <a:t>Il dépose les pièces collectées en agence dans le lot du jour</a:t>
            </a:r>
          </a:p>
          <a:p>
            <a:pPr algn="l" marL="152400" indent="-152400">
              <a:lnSpc>
                <a:spcPct val="105000"/>
              </a:lnSpc>
              <a:spcAft>
                <a:spcPts val="1300"/>
              </a:spcAft>
              <a:buClr>
                <a:srgbClr val="009A56"/>
              </a:buClr>
              <a:buFont typeface="Arial" pitchFamily="34" charset="0"/>
              <a:buChar char="▪"/>
            </a:pPr>
            <a:r>
              <a:rPr sz="950" b="0" i="0">
                <a:solidFill>
                  <a:srgbClr val="333333"/>
                </a:solidFill>
                <a:latin typeface="Calibri"/>
                <a:ea typeface="Calibri"/>
                <a:cs typeface="Calibri"/>
              </a:rPr>
              <a:t>Il traite les rapprochements en attente sur son portefeuille</a:t>
            </a:r>
          </a:p>
          <a:p>
            <a:pPr algn="l" marL="152400" indent="-152400">
              <a:lnSpc>
                <a:spcPct val="105000"/>
              </a:lnSpc>
              <a:spcAft>
                <a:spcPts val="1300"/>
              </a:spcAft>
              <a:buClr>
                <a:srgbClr val="009A56"/>
              </a:buClr>
              <a:buFont typeface="Arial" pitchFamily="34" charset="0"/>
              <a:buChar char="▪"/>
            </a:pPr>
            <a:r>
              <a:rPr sz="950" b="0" i="0">
                <a:solidFill>
                  <a:srgbClr val="333333"/>
                </a:solidFill>
                <a:latin typeface="Calibri"/>
                <a:ea typeface="Calibri"/>
                <a:cs typeface="Calibri"/>
              </a:rPr>
              <a:t>Il contrôle le matin que ses corrections de la veille sont bien prises en compte</a:t>
            </a:r>
          </a:p>
        </p:txBody>
      </p:sp>
      <p:sp>
        <p:nvSpPr>
          <p:cNvPr id="28" name="Rounded Rectangle 27"/>
          <p:cNvSpPr/>
          <p:nvPr/>
        </p:nvSpPr>
        <p:spPr>
          <a:xfrm>
            <a:off x="3227832" y="1170432"/>
            <a:ext cx="2679192" cy="269748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227832" y="1170432"/>
            <a:ext cx="2679192" cy="2743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3334633" y="1213225"/>
            <a:ext cx="188732" cy="188732"/>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3428999" y="1250972"/>
            <a:ext cx="0" cy="56620"/>
          </a:xfrm>
          <a:custGeom>
            <a:avLst/>
            <a:gdLst/>
            <a:ahLst/>
            <a:cxnLst/>
            <a:rect l="l" t="t" r="r" b="b"/>
            <a:pathLst>
              <a:path w="0" h="56620">
                <a:moveTo>
                  <a:pt x="0" y="56620"/>
                </a:moveTo>
                <a:lnTo>
                  <a:pt x="0"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3428999" y="1307592"/>
            <a:ext cx="44824" cy="23591"/>
          </a:xfrm>
          <a:custGeom>
            <a:avLst/>
            <a:gdLst/>
            <a:ahLst/>
            <a:cxnLst/>
            <a:rect l="l" t="t" r="r" b="b"/>
            <a:pathLst>
              <a:path w="44824" h="23591">
                <a:moveTo>
                  <a:pt x="0" y="0"/>
                </a:moveTo>
                <a:lnTo>
                  <a:pt x="44824" y="23591"/>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11879" y="1170432"/>
            <a:ext cx="2185416" cy="274320"/>
          </a:xfrm>
          <a:prstGeom prst="rect">
            <a:avLst/>
          </a:prstGeom>
          <a:noFill/>
        </p:spPr>
        <p:txBody>
          <a:bodyPr wrap="square" lIns="0" rIns="0" tIns="0" bIns="0" anchor="ctr">
            <a:spAutoFit/>
          </a:bodyPr>
          <a:lstStyle/>
          <a:p>
            <a:pPr algn="l"/>
            <a:r>
              <a:rPr sz="950" b="1" i="0" spc="40">
                <a:solidFill>
                  <a:srgbClr val="FFFFFF"/>
                </a:solidFill>
                <a:latin typeface="Calibri"/>
                <a:ea typeface="Calibri"/>
                <a:cs typeface="Calibri"/>
              </a:rPr>
              <a:t>CHAQUE SEMAINE</a:t>
            </a:r>
          </a:p>
        </p:txBody>
      </p:sp>
      <p:sp>
        <p:nvSpPr>
          <p:cNvPr id="34" name="TextBox 33"/>
          <p:cNvSpPr txBox="1"/>
          <p:nvPr/>
        </p:nvSpPr>
        <p:spPr>
          <a:xfrm>
            <a:off x="3374136" y="1600200"/>
            <a:ext cx="2386584" cy="2194560"/>
          </a:xfrm>
          <a:prstGeom prst="rect">
            <a:avLst/>
          </a:prstGeom>
          <a:noFill/>
        </p:spPr>
        <p:txBody>
          <a:bodyPr wrap="square" lIns="0" rIns="0" tIns="0" bIns="0" anchor="t">
            <a:spAutoFit/>
          </a:bodyPr>
          <a:lstStyle/>
          <a:p>
            <a:pPr algn="l" marL="152400" indent="-152400">
              <a:lnSpc>
                <a:spcPct val="105000"/>
              </a:lnSpc>
              <a:spcAft>
                <a:spcPts val="1300"/>
              </a:spcAft>
              <a:buClr>
                <a:srgbClr val="1B2A4A"/>
              </a:buClr>
              <a:buFont typeface="Arial" pitchFamily="34" charset="0"/>
              <a:buChar char="▪"/>
            </a:pPr>
            <a:r>
              <a:rPr sz="950" b="0" i="0">
                <a:solidFill>
                  <a:srgbClr val="333333"/>
                </a:solidFill>
                <a:latin typeface="Calibri"/>
                <a:ea typeface="Calibri"/>
                <a:cs typeface="Calibri"/>
              </a:rPr>
              <a:t>Le directeur d'agence compare ses chargés et arbitre les priorités</a:t>
            </a:r>
          </a:p>
          <a:p>
            <a:pPr algn="l" marL="152400" indent="-152400">
              <a:lnSpc>
                <a:spcPct val="105000"/>
              </a:lnSpc>
              <a:spcAft>
                <a:spcPts val="1300"/>
              </a:spcAft>
              <a:buClr>
                <a:srgbClr val="1B2A4A"/>
              </a:buClr>
              <a:buFont typeface="Arial" pitchFamily="34" charset="0"/>
              <a:buChar char="▪"/>
            </a:pPr>
            <a:r>
              <a:rPr sz="950" b="0" i="0">
                <a:solidFill>
                  <a:srgbClr val="333333"/>
                </a:solidFill>
                <a:latin typeface="Calibri"/>
                <a:ea typeface="Calibri"/>
                <a:cs typeface="Calibri"/>
              </a:rPr>
              <a:t>Il vérifie que les dossiers échus depuis plus d'une semaine ont été traités</a:t>
            </a:r>
          </a:p>
          <a:p>
            <a:pPr algn="l" marL="152400" indent="-152400">
              <a:lnSpc>
                <a:spcPct val="105000"/>
              </a:lnSpc>
              <a:spcAft>
                <a:spcPts val="1300"/>
              </a:spcAft>
              <a:buClr>
                <a:srgbClr val="1B2A4A"/>
              </a:buClr>
              <a:buFont typeface="Arial" pitchFamily="34" charset="0"/>
              <a:buChar char="▪"/>
            </a:pPr>
            <a:r>
              <a:rPr sz="950" b="0" i="0">
                <a:solidFill>
                  <a:srgbClr val="333333"/>
                </a:solidFill>
                <a:latin typeface="Calibri"/>
                <a:ea typeface="Calibri"/>
                <a:cs typeface="Calibri"/>
              </a:rPr>
              <a:t>Il remonte au correspondant filiale les cas bloquants</a:t>
            </a:r>
          </a:p>
          <a:p>
            <a:pPr algn="l" marL="152400" indent="-152400">
              <a:lnSpc>
                <a:spcPct val="105000"/>
              </a:lnSpc>
              <a:spcAft>
                <a:spcPts val="1300"/>
              </a:spcAft>
              <a:buClr>
                <a:srgbClr val="1B2A4A"/>
              </a:buClr>
              <a:buFont typeface="Arial" pitchFamily="34" charset="0"/>
              <a:buChar char="▪"/>
            </a:pPr>
            <a:r>
              <a:rPr sz="950" b="0" i="0">
                <a:solidFill>
                  <a:srgbClr val="333333"/>
                </a:solidFill>
                <a:latin typeface="Calibri"/>
                <a:ea typeface="Calibri"/>
                <a:cs typeface="Calibri"/>
              </a:rPr>
              <a:t>Il consacre cinq minutes aux dossiers échus lors de la réunion d'agence</a:t>
            </a:r>
          </a:p>
        </p:txBody>
      </p:sp>
      <p:sp>
        <p:nvSpPr>
          <p:cNvPr id="35" name="Rounded Rectangle 34"/>
          <p:cNvSpPr/>
          <p:nvPr/>
        </p:nvSpPr>
        <p:spPr>
          <a:xfrm>
            <a:off x="6089904" y="1170432"/>
            <a:ext cx="2679192" cy="269748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089904" y="1170432"/>
            <a:ext cx="2679192" cy="274320"/>
          </a:xfrm>
          <a:prstGeom prst="rect">
            <a:avLst/>
          </a:prstGeom>
          <a:solidFill>
            <a:srgbClr val="5A6B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Freeform 36"/>
          <p:cNvSpPr/>
          <p:nvPr/>
        </p:nvSpPr>
        <p:spPr>
          <a:xfrm>
            <a:off x="6196705" y="1217944"/>
            <a:ext cx="193451" cy="179295"/>
          </a:xfrm>
          <a:custGeom>
            <a:avLst/>
            <a:gdLst/>
            <a:ahLst/>
            <a:cxnLst/>
            <a:rect l="l" t="t" r="r" b="b"/>
            <a:pathLst>
              <a:path w="193451" h="179295">
                <a:moveTo>
                  <a:pt x="0" y="0"/>
                </a:moveTo>
                <a:lnTo>
                  <a:pt x="0" y="179295"/>
                </a:lnTo>
                <a:lnTo>
                  <a:pt x="193451" y="179295"/>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6220297" y="1246254"/>
            <a:ext cx="155704" cy="108521"/>
          </a:xfrm>
          <a:custGeom>
            <a:avLst/>
            <a:gdLst/>
            <a:ahLst/>
            <a:cxnLst/>
            <a:rect l="l" t="t" r="r" b="b"/>
            <a:pathLst>
              <a:path w="155704" h="108521">
                <a:moveTo>
                  <a:pt x="0" y="108521"/>
                </a:moveTo>
                <a:lnTo>
                  <a:pt x="47183" y="51901"/>
                </a:lnTo>
                <a:lnTo>
                  <a:pt x="84929" y="80211"/>
                </a:lnTo>
                <a:lnTo>
                  <a:pt x="155704"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Freeform 38"/>
          <p:cNvSpPr/>
          <p:nvPr/>
        </p:nvSpPr>
        <p:spPr>
          <a:xfrm>
            <a:off x="6342973" y="1246254"/>
            <a:ext cx="33028" cy="33028"/>
          </a:xfrm>
          <a:custGeom>
            <a:avLst/>
            <a:gdLst/>
            <a:ahLst/>
            <a:cxnLst/>
            <a:rect l="l" t="t" r="r" b="b"/>
            <a:pathLst>
              <a:path w="33028" h="33028">
                <a:moveTo>
                  <a:pt x="0" y="0"/>
                </a:moveTo>
                <a:lnTo>
                  <a:pt x="33028" y="0"/>
                </a:lnTo>
                <a:lnTo>
                  <a:pt x="33028" y="33028"/>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3952" y="1170432"/>
            <a:ext cx="2185416" cy="274320"/>
          </a:xfrm>
          <a:prstGeom prst="rect">
            <a:avLst/>
          </a:prstGeom>
          <a:noFill/>
        </p:spPr>
        <p:txBody>
          <a:bodyPr wrap="square" lIns="0" rIns="0" tIns="0" bIns="0" anchor="ctr">
            <a:spAutoFit/>
          </a:bodyPr>
          <a:lstStyle/>
          <a:p>
            <a:pPr algn="l"/>
            <a:r>
              <a:rPr sz="950" b="1" i="0" spc="40">
                <a:solidFill>
                  <a:srgbClr val="FFFFFF"/>
                </a:solidFill>
                <a:latin typeface="Calibri"/>
                <a:ea typeface="Calibri"/>
                <a:cs typeface="Calibri"/>
              </a:rPr>
              <a:t>CHAQUE MOIS</a:t>
            </a:r>
          </a:p>
        </p:txBody>
      </p:sp>
      <p:sp>
        <p:nvSpPr>
          <p:cNvPr id="41" name="TextBox 40"/>
          <p:cNvSpPr txBox="1"/>
          <p:nvPr/>
        </p:nvSpPr>
        <p:spPr>
          <a:xfrm>
            <a:off x="6236208" y="1600200"/>
            <a:ext cx="2386584" cy="2194560"/>
          </a:xfrm>
          <a:prstGeom prst="rect">
            <a:avLst/>
          </a:prstGeom>
          <a:noFill/>
        </p:spPr>
        <p:txBody>
          <a:bodyPr wrap="square" lIns="0" rIns="0" tIns="0" bIns="0" anchor="t">
            <a:spAutoFit/>
          </a:bodyPr>
          <a:lstStyle/>
          <a:p>
            <a:pPr algn="l" marL="152400" indent="-152400">
              <a:lnSpc>
                <a:spcPct val="105000"/>
              </a:lnSpc>
              <a:spcAft>
                <a:spcPts val="1300"/>
              </a:spcAft>
              <a:buClr>
                <a:srgbClr val="5A6B8C"/>
              </a:buClr>
              <a:buFont typeface="Arial" pitchFamily="34" charset="0"/>
              <a:buChar char="▪"/>
            </a:pPr>
            <a:r>
              <a:rPr sz="950" b="0" i="0">
                <a:solidFill>
                  <a:srgbClr val="333333"/>
                </a:solidFill>
                <a:latin typeface="Calibri"/>
                <a:ea typeface="Calibri"/>
                <a:cs typeface="Calibri"/>
              </a:rPr>
              <a:t>Le correspondant KYC RDC publie le classement des agences</a:t>
            </a:r>
          </a:p>
          <a:p>
            <a:pPr algn="l" marL="152400" indent="-152400">
              <a:lnSpc>
                <a:spcPct val="105000"/>
              </a:lnSpc>
              <a:spcAft>
                <a:spcPts val="1300"/>
              </a:spcAft>
              <a:buClr>
                <a:srgbClr val="5A6B8C"/>
              </a:buClr>
              <a:buFont typeface="Arial" pitchFamily="34" charset="0"/>
              <a:buChar char="▪"/>
            </a:pPr>
            <a:r>
              <a:rPr sz="950" b="0" i="0">
                <a:solidFill>
                  <a:srgbClr val="333333"/>
                </a:solidFill>
                <a:latin typeface="Calibri"/>
                <a:ea typeface="Calibri"/>
                <a:cs typeface="Calibri"/>
              </a:rPr>
              <a:t>Il analyse l'évolution du stock et l'écart au mois précédent</a:t>
            </a:r>
          </a:p>
          <a:p>
            <a:pPr algn="l" marL="152400" indent="-152400">
              <a:lnSpc>
                <a:spcPct val="105000"/>
              </a:lnSpc>
              <a:spcAft>
                <a:spcPts val="1300"/>
              </a:spcAft>
              <a:buClr>
                <a:srgbClr val="5A6B8C"/>
              </a:buClr>
              <a:buFont typeface="Arial" pitchFamily="34" charset="0"/>
              <a:buChar char="▪"/>
            </a:pPr>
            <a:r>
              <a:rPr sz="950" b="0" i="0">
                <a:solidFill>
                  <a:srgbClr val="333333"/>
                </a:solidFill>
                <a:latin typeface="Calibri"/>
                <a:ea typeface="Calibri"/>
                <a:cs typeface="Calibri"/>
              </a:rPr>
              <a:t>Il ajuste les campagnes et les règles avec la Conformité Groupe</a:t>
            </a:r>
          </a:p>
          <a:p>
            <a:pPr algn="l" marL="152400" indent="-152400">
              <a:lnSpc>
                <a:spcPct val="105000"/>
              </a:lnSpc>
              <a:spcAft>
                <a:spcPts val="1300"/>
              </a:spcAft>
              <a:buClr>
                <a:srgbClr val="5A6B8C"/>
              </a:buClr>
              <a:buFont typeface="Arial" pitchFamily="34" charset="0"/>
              <a:buChar char="▪"/>
            </a:pPr>
            <a:r>
              <a:rPr sz="950" b="0" i="0">
                <a:solidFill>
                  <a:srgbClr val="333333"/>
                </a:solidFill>
                <a:latin typeface="Calibri"/>
                <a:ea typeface="Calibri"/>
                <a:cs typeface="Calibri"/>
              </a:rPr>
              <a:t>Il organise le rattrapage des agences en retard sur leurs objectifs</a:t>
            </a:r>
          </a:p>
        </p:txBody>
      </p:sp>
      <p:sp>
        <p:nvSpPr>
          <p:cNvPr id="42" name="Rounded Rectangle 41"/>
          <p:cNvSpPr/>
          <p:nvPr/>
        </p:nvSpPr>
        <p:spPr>
          <a:xfrm>
            <a:off x="365760" y="4041648"/>
            <a:ext cx="8412480" cy="548640"/>
          </a:xfrm>
          <a:prstGeom prst="roundRect">
            <a:avLst>
              <a:gd name="adj" fmla="val 6000"/>
            </a:avLst>
          </a:prstGeom>
          <a:solidFill>
            <a:srgbClr val="F0F7F4"/>
          </a:solidFill>
          <a:ln w="12700">
            <a:solidFill>
              <a:srgbClr val="C8E6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66928" y="4041648"/>
            <a:ext cx="8046720" cy="548640"/>
          </a:xfrm>
          <a:prstGeom prst="rect">
            <a:avLst/>
          </a:prstGeom>
          <a:noFill/>
        </p:spPr>
        <p:txBody>
          <a:bodyPr wrap="square" lIns="0" rIns="0" tIns="0" bIns="0" anchor="ctr">
            <a:spAutoFit/>
          </a:bodyPr>
          <a:lstStyle/>
          <a:p>
            <a:pPr algn="l">
              <a:lnSpc>
                <a:spcPct val="105000"/>
              </a:lnSpc>
            </a:pPr>
            <a:r>
              <a:rPr sz="1000" b="1" i="0">
                <a:solidFill>
                  <a:srgbClr val="009A56"/>
                </a:solidFill>
                <a:latin typeface="Calibri"/>
                <a:ea typeface="Calibri"/>
                <a:cs typeface="Calibri"/>
              </a:rPr>
              <a:t>Quinze minutes par jour suffisent. </a:t>
            </a:r>
            <a:r>
              <a:rPr sz="1000" b="0" i="0">
                <a:solidFill>
                  <a:srgbClr val="333333"/>
                </a:solidFill>
                <a:latin typeface="Calibri"/>
                <a:ea typeface="Calibri"/>
                <a:cs typeface="Calibri"/>
              </a:rPr>
              <a:t>Un portefeuille suivi chaque matin ne produit jamais le rattrapage massif que redoutent les agences en fin de trimestre.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50"/>
                                        <p:tgtEl>
                                          <p:spTgt spid="19"/>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50"/>
                                        <p:tgtEl>
                                          <p:spTgt spid="20"/>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50"/>
                                        <p:tgtEl>
                                          <p:spTgt spid="21"/>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50"/>
                                        <p:tgtEl>
                                          <p:spTgt spid="22"/>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50"/>
                                        <p:tgtEl>
                                          <p:spTgt spid="23"/>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50"/>
                                        <p:tgtEl>
                                          <p:spTgt spid="24"/>
                                        </p:tgtEl>
                                      </p:cBhvr>
                                    </p:animEffect>
                                  </p:childTnLst>
                                </p:cTn>
                              </p:par>
                              <p:par>
                                <p:cTn id="21" presetID="10" presetClass="entr" presetSubtype="0" fill="hold" grpId="0" nodeType="withEffect">
                                  <p:stCondLst>
                                    <p:cond delay="72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50"/>
                                        <p:tgtEl>
                                          <p:spTgt spid="25"/>
                                        </p:tgtEl>
                                      </p:cBhvr>
                                    </p:animEffect>
                                  </p:childTnLst>
                                </p:cTn>
                              </p:par>
                              <p:par>
                                <p:cTn id="24" presetID="10" presetClass="entr" presetSubtype="0" fill="hold" grpId="0" nodeType="withEffect">
                                  <p:stCondLst>
                                    <p:cond delay="84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50"/>
                                        <p:tgtEl>
                                          <p:spTgt spid="26"/>
                                        </p:tgtEl>
                                      </p:cBhvr>
                                    </p:animEffect>
                                  </p:childTnLst>
                                </p:cTn>
                              </p:par>
                              <p:par>
                                <p:cTn id="27" presetID="10" presetClass="entr" presetSubtype="0" fill="hold" grpId="0" nodeType="withEffect">
                                  <p:stCondLst>
                                    <p:cond delay="96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50"/>
                                        <p:tgtEl>
                                          <p:spTgt spid="27"/>
                                        </p:tgtEl>
                                      </p:cBhvr>
                                    </p:animEffect>
                                  </p:childTnLst>
                                </p:cTn>
                              </p:par>
                            </p:childTnLst>
                          </p:cTn>
                        </p:par>
                      </p:childTnLst>
                    </p:cTn>
                  </p:par>
                  <p:par>
                    <p:cTn id="53" fill="hold">
                      <p:stCondLst>
                        <p:cond delay="indefinite"/>
                      </p:stCondLst>
                      <p:childTnLst>
                        <p:par>
                          <p:cTn id="54"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50"/>
                                        <p:tgtEl>
                                          <p:spTgt spid="28"/>
                                        </p:tgtEl>
                                      </p:cBhvr>
                                    </p:animEffect>
                                  </p:childTnLst>
                                </p:cTn>
                              </p:par>
                              <p:par>
                                <p:cTn id="35" presetID="10" presetClass="entr" presetSubtype="0" fill="hold" grpId="0" nodeType="withEffect">
                                  <p:stCondLst>
                                    <p:cond delay="12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50"/>
                                        <p:tgtEl>
                                          <p:spTgt spid="29"/>
                                        </p:tgtEl>
                                      </p:cBhvr>
                                    </p:animEffect>
                                  </p:childTnLst>
                                </p:cTn>
                              </p:par>
                              <p:par>
                                <p:cTn id="38" presetID="10" presetClass="entr" presetSubtype="0" fill="hold" grpId="0" nodeType="withEffect">
                                  <p:stCondLst>
                                    <p:cond delay="24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50"/>
                                        <p:tgtEl>
                                          <p:spTgt spid="30"/>
                                        </p:tgtEl>
                                      </p:cBhvr>
                                    </p:animEffect>
                                  </p:childTnLst>
                                </p:cTn>
                              </p:par>
                              <p:par>
                                <p:cTn id="41" presetID="10" presetClass="entr" presetSubtype="0" fill="hold" grpId="0" nodeType="withEffect">
                                  <p:stCondLst>
                                    <p:cond delay="36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50"/>
                                        <p:tgtEl>
                                          <p:spTgt spid="31"/>
                                        </p:tgtEl>
                                      </p:cBhvr>
                                    </p:animEffect>
                                  </p:childTnLst>
                                </p:cTn>
                              </p:par>
                              <p:par>
                                <p:cTn id="44" presetID="10" presetClass="entr" presetSubtype="0" fill="hold" grpId="0" nodeType="withEffect">
                                  <p:stCondLst>
                                    <p:cond delay="48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50"/>
                                        <p:tgtEl>
                                          <p:spTgt spid="32"/>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50"/>
                                        <p:tgtEl>
                                          <p:spTgt spid="33"/>
                                        </p:tgtEl>
                                      </p:cBhvr>
                                    </p:animEffect>
                                  </p:childTnLst>
                                </p:cTn>
                              </p:par>
                              <p:par>
                                <p:cTn id="50" presetID="10" presetClass="entr" presetSubtype="0" fill="hold" grpId="0" nodeType="withEffect">
                                  <p:stCondLst>
                                    <p:cond delay="72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50"/>
                                        <p:tgtEl>
                                          <p:spTgt spid="34"/>
                                        </p:tgtEl>
                                      </p:cBhvr>
                                    </p:animEffect>
                                  </p:childTnLst>
                                </p:cTn>
                              </p:par>
                            </p:childTnLst>
                          </p:cTn>
                        </p:par>
                      </p:childTnLst>
                    </p:cTn>
                  </p:par>
                  <p:par>
                    <p:cTn id="76" fill="hold">
                      <p:stCondLst>
                        <p:cond delay="indefinite"/>
                      </p:stCondLst>
                      <p:childTnLst>
                        <p:par>
                          <p:cTn id="77"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50"/>
                                        <p:tgtEl>
                                          <p:spTgt spid="35"/>
                                        </p:tgtEl>
                                      </p:cBhvr>
                                    </p:animEffect>
                                  </p:childTnLst>
                                </p:cTn>
                              </p:par>
                              <p:par>
                                <p:cTn id="58" presetID="10" presetClass="entr" presetSubtype="0" fill="hold" grpId="0" nodeType="withEffect">
                                  <p:stCondLst>
                                    <p:cond delay="12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50"/>
                                        <p:tgtEl>
                                          <p:spTgt spid="36"/>
                                        </p:tgtEl>
                                      </p:cBhvr>
                                    </p:animEffect>
                                  </p:childTnLst>
                                </p:cTn>
                              </p:par>
                              <p:par>
                                <p:cTn id="61" presetID="10" presetClass="entr" presetSubtype="0" fill="hold" grpId="0" nodeType="withEffect">
                                  <p:stCondLst>
                                    <p:cond delay="24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50"/>
                                        <p:tgtEl>
                                          <p:spTgt spid="37"/>
                                        </p:tgtEl>
                                      </p:cBhvr>
                                    </p:animEffect>
                                  </p:childTnLst>
                                </p:cTn>
                              </p:par>
                              <p:par>
                                <p:cTn id="64" presetID="10" presetClass="entr" presetSubtype="0" fill="hold" grpId="0" nodeType="withEffect">
                                  <p:stCondLst>
                                    <p:cond delay="36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50"/>
                                        <p:tgtEl>
                                          <p:spTgt spid="38"/>
                                        </p:tgtEl>
                                      </p:cBhvr>
                                    </p:animEffect>
                                  </p:childTnLst>
                                </p:cTn>
                              </p:par>
                              <p:par>
                                <p:cTn id="67" presetID="10" presetClass="entr" presetSubtype="0" fill="hold" grpId="0" nodeType="withEffect">
                                  <p:stCondLst>
                                    <p:cond delay="48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50"/>
                                        <p:tgtEl>
                                          <p:spTgt spid="39"/>
                                        </p:tgtEl>
                                      </p:cBhvr>
                                    </p:animEffect>
                                  </p:childTnLst>
                                </p:cTn>
                              </p:par>
                              <p:par>
                                <p:cTn id="70" presetID="10" presetClass="entr" presetSubtype="0" fill="hold" grpId="0" nodeType="withEffect">
                                  <p:stCondLst>
                                    <p:cond delay="60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50"/>
                                        <p:tgtEl>
                                          <p:spTgt spid="40"/>
                                        </p:tgtEl>
                                      </p:cBhvr>
                                    </p:animEffect>
                                  </p:childTnLst>
                                </p:cTn>
                              </p:par>
                              <p:par>
                                <p:cTn id="73" presetID="10" presetClass="entr" presetSubtype="0" fill="hold" grpId="0" nodeType="withEffect">
                                  <p:stCondLst>
                                    <p:cond delay="72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50"/>
                                        <p:tgtEl>
                                          <p:spTgt spid="41"/>
                                        </p:tgtEl>
                                      </p:cBhvr>
                                    </p:animEffect>
                                  </p:childTnLst>
                                </p:cTn>
                              </p:par>
                            </p:childTnLst>
                          </p:cTn>
                        </p:par>
                      </p:childTnLst>
                    </p:cTn>
                  </p:par>
                  <p:par>
                    <p:cTn id="84" fill="hold">
                      <p:stCondLst>
                        <p:cond delay="indefinite"/>
                      </p:stCondLst>
                      <p:childTnLst>
                        <p:par>
                          <p:cTn id="85" fill="hold">
                            <p:stCondLst>
                              <p:cond delay="0"/>
                            </p:stCondLst>
                            <p:childTnLst>
                              <p:par>
                                <p:cTn id="78" presetID="10" presetClass="entr" presetSubtype="0" fill="hold" grpId="0" nodeType="click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50"/>
                                        <p:tgtEl>
                                          <p:spTgt spid="42"/>
                                        </p:tgtEl>
                                      </p:cBhvr>
                                    </p:animEffect>
                                  </p:childTnLst>
                                </p:cTn>
                              </p:par>
                              <p:par>
                                <p:cTn id="81" presetID="10" presetClass="entr" presetSubtype="0" fill="hold" grpId="0" nodeType="withEffect">
                                  <p:stCondLst>
                                    <p:cond delay="120"/>
                                  </p:stCondLst>
                                  <p:childTnLst>
                                    <p:set>
                                      <p:cBhvr>
                                        <p:cTn id="82" dur="1" fill="hold">
                                          <p:stCondLst>
                                            <p:cond delay="0"/>
                                          </p:stCondLst>
                                        </p:cTn>
                                        <p:tgtEl>
                                          <p:spTgt spid="43"/>
                                        </p:tgtEl>
                                        <p:attrNameLst>
                                          <p:attrName>style.visibility</p:attrName>
                                        </p:attrNameLst>
                                      </p:cBhvr>
                                      <p:to>
                                        <p:strVal val="visible"/>
                                      </p:to>
                                    </p:set>
                                    <p:animEffect transition="in" filter="fade">
                                      <p:cBhvr>
                                        <p:cTn id="83"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VI.  RITUELS ET DÉPLOIEMENT</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Rectangle 4"/>
          <p:cNvSpPr/>
          <p:nvPr/>
        </p:nvSpPr>
        <p:spPr>
          <a:xfrm>
            <a:off x="410148" y="746296"/>
            <a:ext cx="203830" cy="226478"/>
          </a:xfrm>
          <a:prstGeom prst="rect">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438458" y="785930"/>
            <a:ext cx="59451" cy="39634"/>
          </a:xfrm>
          <a:custGeom>
            <a:avLst/>
            <a:gdLst/>
            <a:ahLst/>
            <a:cxnLst/>
            <a:rect l="l" t="t" r="r" b="b"/>
            <a:pathLst>
              <a:path w="59451" h="39634">
                <a:moveTo>
                  <a:pt x="0" y="16986"/>
                </a:moveTo>
                <a:lnTo>
                  <a:pt x="22648" y="39634"/>
                </a:lnTo>
                <a:lnTo>
                  <a:pt x="59451"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523387" y="805747"/>
            <a:ext cx="62282" cy="0"/>
          </a:xfrm>
          <a:custGeom>
            <a:avLst/>
            <a:gdLst/>
            <a:ahLst/>
            <a:cxnLst/>
            <a:rect l="l" t="t" r="r" b="b"/>
            <a:pathLst>
              <a:path w="62282" h="0">
                <a:moveTo>
                  <a:pt x="0" y="0"/>
                </a:moveTo>
                <a:lnTo>
                  <a:pt x="62282"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438458" y="848212"/>
            <a:ext cx="59451" cy="39633"/>
          </a:xfrm>
          <a:custGeom>
            <a:avLst/>
            <a:gdLst/>
            <a:ahLst/>
            <a:cxnLst/>
            <a:rect l="l" t="t" r="r" b="b"/>
            <a:pathLst>
              <a:path w="59451" h="39633">
                <a:moveTo>
                  <a:pt x="0" y="16985"/>
                </a:moveTo>
                <a:lnTo>
                  <a:pt x="22648" y="39633"/>
                </a:lnTo>
                <a:lnTo>
                  <a:pt x="59451"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523387" y="868028"/>
            <a:ext cx="62282" cy="0"/>
          </a:xfrm>
          <a:custGeom>
            <a:avLst/>
            <a:gdLst/>
            <a:ahLst/>
            <a:cxnLst/>
            <a:rect l="l" t="t" r="r" b="b"/>
            <a:pathLst>
              <a:path w="62282" h="0">
                <a:moveTo>
                  <a:pt x="0" y="0"/>
                </a:moveTo>
                <a:lnTo>
                  <a:pt x="62282"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438458" y="910493"/>
            <a:ext cx="59451" cy="39634"/>
          </a:xfrm>
          <a:custGeom>
            <a:avLst/>
            <a:gdLst/>
            <a:ahLst/>
            <a:cxnLst/>
            <a:rect l="l" t="t" r="r" b="b"/>
            <a:pathLst>
              <a:path w="59451" h="39634">
                <a:moveTo>
                  <a:pt x="0" y="16986"/>
                </a:moveTo>
                <a:lnTo>
                  <a:pt x="22648" y="39634"/>
                </a:lnTo>
                <a:lnTo>
                  <a:pt x="59451"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523387" y="930310"/>
            <a:ext cx="62282" cy="0"/>
          </a:xfrm>
          <a:custGeom>
            <a:avLst/>
            <a:gdLst/>
            <a:ahLst/>
            <a:cxnLst/>
            <a:rect l="l" t="t" r="r" b="b"/>
            <a:pathLst>
              <a:path w="62282" h="0">
                <a:moveTo>
                  <a:pt x="0" y="0"/>
                </a:moveTo>
                <a:lnTo>
                  <a:pt x="62282"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BONNES PRATIQUES ET ERREURS FRÉQUENTES</a:t>
            </a:r>
          </a:p>
        </p:txBody>
      </p:sp>
      <p:sp>
        <p:nvSpPr>
          <p:cNvPr id="13" name="Rectangle 12"/>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6" name="TextBox 15"/>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17 / 20</a:t>
            </a:r>
          </a:p>
        </p:txBody>
      </p:sp>
      <p:sp>
        <p:nvSpPr>
          <p:cNvPr id="17" name="Rounded Rectangle 16"/>
          <p:cNvSpPr/>
          <p:nvPr/>
        </p:nvSpPr>
        <p:spPr>
          <a:xfrm>
            <a:off x="365760" y="1143000"/>
            <a:ext cx="4023360" cy="34290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365760" y="1143000"/>
            <a:ext cx="4023360"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67843" y="1181075"/>
            <a:ext cx="198168" cy="198168"/>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515026" y="1240054"/>
            <a:ext cx="108521" cy="82570"/>
          </a:xfrm>
          <a:custGeom>
            <a:avLst/>
            <a:gdLst/>
            <a:ahLst/>
            <a:cxnLst/>
            <a:rect l="l" t="t" r="r" b="b"/>
            <a:pathLst>
              <a:path w="108521" h="82570">
                <a:moveTo>
                  <a:pt x="0" y="44824"/>
                </a:moveTo>
                <a:lnTo>
                  <a:pt x="37747" y="82570"/>
                </a:lnTo>
                <a:lnTo>
                  <a:pt x="10852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1143000"/>
            <a:ext cx="3529584"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À FAIRE</a:t>
            </a:r>
          </a:p>
        </p:txBody>
      </p:sp>
      <p:sp>
        <p:nvSpPr>
          <p:cNvPr id="22" name="TextBox 21"/>
          <p:cNvSpPr txBox="1"/>
          <p:nvPr/>
        </p:nvSpPr>
        <p:spPr>
          <a:xfrm>
            <a:off x="530352" y="1563624"/>
            <a:ext cx="3694176" cy="2880360"/>
          </a:xfrm>
          <a:prstGeom prst="rect">
            <a:avLst/>
          </a:prstGeom>
          <a:noFill/>
        </p:spPr>
        <p:txBody>
          <a:bodyPr wrap="square" lIns="0" rIns="0" tIns="0" bIns="0" anchor="t">
            <a:spAutoFit/>
          </a:bodyPr>
          <a:lstStyle/>
          <a:p>
            <a:pPr algn="l" marL="152400" indent="-152400">
              <a:lnSpc>
                <a:spcPct val="105000"/>
              </a:lnSpc>
              <a:spcAft>
                <a:spcPts val="2100"/>
              </a:spcAft>
              <a:buClr>
                <a:srgbClr val="009A56"/>
              </a:buClr>
              <a:buFont typeface="Arial" pitchFamily="34" charset="0"/>
              <a:buChar char="▪"/>
            </a:pPr>
            <a:r>
              <a:rPr sz="1000" b="0" i="0">
                <a:solidFill>
                  <a:srgbClr val="333333"/>
                </a:solidFill>
                <a:latin typeface="Calibri"/>
                <a:ea typeface="Calibri"/>
                <a:cs typeface="Calibri"/>
              </a:rPr>
              <a:t>Traiter le flux du jour avant de s'attaquer au stock ancien</a:t>
            </a:r>
          </a:p>
          <a:p>
            <a:pPr algn="l" marL="152400" indent="-152400">
              <a:lnSpc>
                <a:spcPct val="105000"/>
              </a:lnSpc>
              <a:spcAft>
                <a:spcPts val="2100"/>
              </a:spcAft>
              <a:buClr>
                <a:srgbClr val="009A56"/>
              </a:buClr>
              <a:buFont typeface="Arial" pitchFamily="34" charset="0"/>
              <a:buChar char="▪"/>
            </a:pPr>
            <a:r>
              <a:rPr sz="1000" b="0" i="0">
                <a:solidFill>
                  <a:srgbClr val="333333"/>
                </a:solidFill>
                <a:latin typeface="Calibri"/>
                <a:ea typeface="Calibri"/>
                <a:cs typeface="Calibri"/>
              </a:rPr>
              <a:t>Corriger à la source, dans le corebanking, jamais seulement dans un tableur</a:t>
            </a:r>
          </a:p>
          <a:p>
            <a:pPr algn="l" marL="152400" indent="-152400">
              <a:lnSpc>
                <a:spcPct val="105000"/>
              </a:lnSpc>
              <a:spcAft>
                <a:spcPts val="2100"/>
              </a:spcAft>
              <a:buClr>
                <a:srgbClr val="009A56"/>
              </a:buClr>
              <a:buFont typeface="Arial" pitchFamily="34" charset="0"/>
              <a:buChar char="▪"/>
            </a:pPr>
            <a:r>
              <a:rPr sz="1000" b="0" i="0">
                <a:solidFill>
                  <a:srgbClr val="333333"/>
                </a:solidFill>
                <a:latin typeface="Calibri"/>
                <a:ea typeface="Calibri"/>
                <a:cs typeface="Calibri"/>
              </a:rPr>
              <a:t>Rapprocher chaque correction d'une pièce justificative archivée</a:t>
            </a:r>
          </a:p>
          <a:p>
            <a:pPr algn="l" marL="152400" indent="-152400">
              <a:lnSpc>
                <a:spcPct val="105000"/>
              </a:lnSpc>
              <a:spcAft>
                <a:spcPts val="2100"/>
              </a:spcAft>
              <a:buClr>
                <a:srgbClr val="009A56"/>
              </a:buClr>
              <a:buFont typeface="Arial" pitchFamily="34" charset="0"/>
              <a:buChar char="▪"/>
            </a:pPr>
            <a:r>
              <a:rPr sz="1000" b="0" i="0">
                <a:solidFill>
                  <a:srgbClr val="333333"/>
                </a:solidFill>
                <a:latin typeface="Calibri"/>
                <a:ea typeface="Calibri"/>
                <a:cs typeface="Calibri"/>
              </a:rPr>
              <a:t>Signaler une règle qui produit des faux positifs plutôt que de l'ignorer</a:t>
            </a:r>
          </a:p>
          <a:p>
            <a:pPr algn="l" marL="152400" indent="-152400">
              <a:lnSpc>
                <a:spcPct val="105000"/>
              </a:lnSpc>
              <a:spcAft>
                <a:spcPts val="2100"/>
              </a:spcAft>
              <a:buClr>
                <a:srgbClr val="009A56"/>
              </a:buClr>
              <a:buFont typeface="Arial" pitchFamily="34" charset="0"/>
              <a:buChar char="▪"/>
            </a:pPr>
            <a:r>
              <a:rPr sz="1000" b="0" i="0">
                <a:solidFill>
                  <a:srgbClr val="333333"/>
                </a:solidFill>
                <a:latin typeface="Calibri"/>
                <a:ea typeface="Calibri"/>
                <a:cs typeface="Calibri"/>
              </a:rPr>
              <a:t>Vérifier son taux le lendemain matin pour confirmer la prise en compte</a:t>
            </a:r>
          </a:p>
          <a:p>
            <a:pPr algn="l" marL="152400" indent="-152400">
              <a:lnSpc>
                <a:spcPct val="105000"/>
              </a:lnSpc>
              <a:spcAft>
                <a:spcPts val="2100"/>
              </a:spcAft>
              <a:buClr>
                <a:srgbClr val="009A56"/>
              </a:buClr>
              <a:buFont typeface="Arial" pitchFamily="34" charset="0"/>
              <a:buChar char="▪"/>
            </a:pPr>
            <a:r>
              <a:rPr sz="1000" b="0" i="0">
                <a:solidFill>
                  <a:srgbClr val="333333"/>
                </a:solidFill>
                <a:latin typeface="Calibri"/>
                <a:ea typeface="Calibri"/>
                <a:cs typeface="Calibri"/>
              </a:rPr>
              <a:t>Profiter de chaque visite en agence pour collecter la pièce manquante</a:t>
            </a:r>
          </a:p>
        </p:txBody>
      </p:sp>
      <p:sp>
        <p:nvSpPr>
          <p:cNvPr id="23" name="Rounded Rectangle 22"/>
          <p:cNvSpPr/>
          <p:nvPr/>
        </p:nvSpPr>
        <p:spPr>
          <a:xfrm>
            <a:off x="4754880" y="1143000"/>
            <a:ext cx="4023360" cy="34290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754880" y="1143000"/>
            <a:ext cx="4023360" cy="2743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4856963" y="1181075"/>
            <a:ext cx="198168" cy="198168"/>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4887632" y="1211744"/>
            <a:ext cx="136831" cy="136831"/>
          </a:xfrm>
          <a:custGeom>
            <a:avLst/>
            <a:gdLst/>
            <a:ahLst/>
            <a:cxnLst/>
            <a:rect l="l" t="t" r="r" b="b"/>
            <a:pathLst>
              <a:path w="136831" h="136831">
                <a:moveTo>
                  <a:pt x="0" y="136831"/>
                </a:moveTo>
                <a:lnTo>
                  <a:pt x="13683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38928" y="1143000"/>
            <a:ext cx="3529584"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À ÉVITER</a:t>
            </a:r>
          </a:p>
        </p:txBody>
      </p:sp>
      <p:sp>
        <p:nvSpPr>
          <p:cNvPr id="28" name="TextBox 27"/>
          <p:cNvSpPr txBox="1"/>
          <p:nvPr/>
        </p:nvSpPr>
        <p:spPr>
          <a:xfrm>
            <a:off x="4919472" y="1563624"/>
            <a:ext cx="3694176" cy="2880360"/>
          </a:xfrm>
          <a:prstGeom prst="rect">
            <a:avLst/>
          </a:prstGeom>
          <a:noFill/>
        </p:spPr>
        <p:txBody>
          <a:bodyPr wrap="square" lIns="0" rIns="0" tIns="0" bIns="0" anchor="t">
            <a:spAutoFit/>
          </a:bodyPr>
          <a:lstStyle/>
          <a:p>
            <a:pPr algn="l" marL="152400" indent="-152400">
              <a:lnSpc>
                <a:spcPct val="105000"/>
              </a:lnSpc>
              <a:spcAft>
                <a:spcPts val="2100"/>
              </a:spcAft>
              <a:buClr>
                <a:srgbClr val="C0392B"/>
              </a:buClr>
              <a:buFont typeface="Arial" pitchFamily="34" charset="0"/>
              <a:buChar char="▪"/>
            </a:pPr>
            <a:r>
              <a:rPr sz="1000" b="0" i="0">
                <a:solidFill>
                  <a:srgbClr val="333333"/>
                </a:solidFill>
                <a:latin typeface="Calibri"/>
                <a:ea typeface="Calibri"/>
                <a:cs typeface="Calibri"/>
              </a:rPr>
              <a:t>Remplir un champ avec une mention générique pour faire monter le taux</a:t>
            </a:r>
          </a:p>
          <a:p>
            <a:pPr algn="l" marL="152400" indent="-152400">
              <a:lnSpc>
                <a:spcPct val="105000"/>
              </a:lnSpc>
              <a:spcAft>
                <a:spcPts val="2100"/>
              </a:spcAft>
              <a:buClr>
                <a:srgbClr val="C0392B"/>
              </a:buClr>
              <a:buFont typeface="Arial" pitchFamily="34" charset="0"/>
              <a:buChar char="▪"/>
            </a:pPr>
            <a:r>
              <a:rPr sz="1000" b="0" i="0">
                <a:solidFill>
                  <a:srgbClr val="333333"/>
                </a:solidFill>
                <a:latin typeface="Calibri"/>
                <a:ea typeface="Calibri"/>
                <a:cs typeface="Calibri"/>
              </a:rPr>
              <a:t>Partager son identifiant avec un collègue ou un stagiaire</a:t>
            </a:r>
          </a:p>
          <a:p>
            <a:pPr algn="l" marL="152400" indent="-152400">
              <a:lnSpc>
                <a:spcPct val="105000"/>
              </a:lnSpc>
              <a:spcAft>
                <a:spcPts val="2100"/>
              </a:spcAft>
              <a:buClr>
                <a:srgbClr val="C0392B"/>
              </a:buClr>
              <a:buFont typeface="Arial" pitchFamily="34" charset="0"/>
              <a:buChar char="▪"/>
            </a:pPr>
            <a:r>
              <a:rPr sz="1000" b="0" i="0">
                <a:solidFill>
                  <a:srgbClr val="333333"/>
                </a:solidFill>
                <a:latin typeface="Calibri"/>
                <a:ea typeface="Calibri"/>
                <a:cs typeface="Calibri"/>
              </a:rPr>
              <a:t>Exporter des listes nominatives hors du poste bancaire</a:t>
            </a:r>
          </a:p>
          <a:p>
            <a:pPr algn="l" marL="152400" indent="-152400">
              <a:lnSpc>
                <a:spcPct val="105000"/>
              </a:lnSpc>
              <a:spcAft>
                <a:spcPts val="2100"/>
              </a:spcAft>
              <a:buClr>
                <a:srgbClr val="C0392B"/>
              </a:buClr>
              <a:buFont typeface="Arial" pitchFamily="34" charset="0"/>
              <a:buChar char="▪"/>
            </a:pPr>
            <a:r>
              <a:rPr sz="1000" b="0" i="0">
                <a:solidFill>
                  <a:srgbClr val="333333"/>
                </a:solidFill>
                <a:latin typeface="Calibri"/>
                <a:ea typeface="Calibri"/>
                <a:cs typeface="Calibri"/>
              </a:rPr>
              <a:t>Valider un rapprochement douteux pour solder la file d'attente</a:t>
            </a:r>
          </a:p>
          <a:p>
            <a:pPr algn="l" marL="152400" indent="-152400">
              <a:lnSpc>
                <a:spcPct val="105000"/>
              </a:lnSpc>
              <a:spcAft>
                <a:spcPts val="2100"/>
              </a:spcAft>
              <a:buClr>
                <a:srgbClr val="C0392B"/>
              </a:buClr>
              <a:buFont typeface="Arial" pitchFamily="34" charset="0"/>
              <a:buChar char="▪"/>
            </a:pPr>
            <a:r>
              <a:rPr sz="1000" b="0" i="0">
                <a:solidFill>
                  <a:srgbClr val="333333"/>
                </a:solidFill>
                <a:latin typeface="Calibri"/>
                <a:ea typeface="Calibri"/>
                <a:cs typeface="Calibri"/>
              </a:rPr>
              <a:t>Attendre la revue mensuelle pour découvrir les dossiers échus</a:t>
            </a:r>
          </a:p>
          <a:p>
            <a:pPr algn="l" marL="152400" indent="-152400">
              <a:lnSpc>
                <a:spcPct val="105000"/>
              </a:lnSpc>
              <a:spcAft>
                <a:spcPts val="2100"/>
              </a:spcAft>
              <a:buClr>
                <a:srgbClr val="C0392B"/>
              </a:buClr>
              <a:buFont typeface="Arial" pitchFamily="34" charset="0"/>
              <a:buChar char="▪"/>
            </a:pPr>
            <a:r>
              <a:rPr sz="1000" b="0" i="0">
                <a:solidFill>
                  <a:srgbClr val="333333"/>
                </a:solidFill>
                <a:latin typeface="Calibri"/>
                <a:ea typeface="Calibri"/>
                <a:cs typeface="Calibri"/>
              </a:rPr>
              <a:t>Corriger un dossier sans conserver la pièce qui justifie la nouvelle valeur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7"/>
                                        </p:tgtEl>
                                        <p:attrNameLst>
                                          <p:attrName>style.visibility</p:attrName>
                                        </p:attrNameLst>
                                      </p:cBhvr>
                                      <p:to>
                                        <p:strVal val="visible"/>
                                      </p:to>
                                    </p:set>
                                    <p:animEffect transition="in" filter="fade">
                                      <p:cBhvr>
                                        <p:cTn id="5" dur="450"/>
                                        <p:tgtEl>
                                          <p:spTgt spid="17"/>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8"/>
                                        </p:tgtEl>
                                        <p:attrNameLst>
                                          <p:attrName>style.visibility</p:attrName>
                                        </p:attrNameLst>
                                      </p:cBhvr>
                                      <p:to>
                                        <p:strVal val="visible"/>
                                      </p:to>
                                    </p:set>
                                    <p:animEffect transition="in" filter="fade">
                                      <p:cBhvr>
                                        <p:cTn id="8" dur="450"/>
                                        <p:tgtEl>
                                          <p:spTgt spid="18"/>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450"/>
                                        <p:tgtEl>
                                          <p:spTgt spid="19"/>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450"/>
                                        <p:tgtEl>
                                          <p:spTgt spid="20"/>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50"/>
                                        <p:tgtEl>
                                          <p:spTgt spid="21"/>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22"/>
                                        </p:tgtEl>
                                        <p:attrNameLst>
                                          <p:attrName>style.visibility</p:attrName>
                                        </p:attrNameLst>
                                      </p:cBhvr>
                                      <p:to>
                                        <p:strVal val="visible"/>
                                      </p:to>
                                    </p:set>
                                    <p:animEffect transition="in" filter="fade">
                                      <p:cBhvr>
                                        <p:cTn id="20" dur="450"/>
                                        <p:tgtEl>
                                          <p:spTgt spid="22"/>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450"/>
                                        <p:tgtEl>
                                          <p:spTgt spid="23"/>
                                        </p:tgtEl>
                                      </p:cBhvr>
                                    </p:animEffect>
                                  </p:childTnLst>
                                </p:cTn>
                              </p:par>
                              <p:par>
                                <p:cTn id="26" presetID="10" presetClass="entr" presetSubtype="0" fill="hold" grpId="0" nodeType="withEffect">
                                  <p:stCondLst>
                                    <p:cond delay="12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450"/>
                                        <p:tgtEl>
                                          <p:spTgt spid="24"/>
                                        </p:tgtEl>
                                      </p:cBhvr>
                                    </p:animEffect>
                                  </p:childTnLst>
                                </p:cTn>
                              </p:par>
                              <p:par>
                                <p:cTn id="29" presetID="10" presetClass="entr" presetSubtype="0" fill="hold" grpId="0" nodeType="withEffect">
                                  <p:stCondLst>
                                    <p:cond delay="24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50"/>
                                        <p:tgtEl>
                                          <p:spTgt spid="25"/>
                                        </p:tgtEl>
                                      </p:cBhvr>
                                    </p:animEffect>
                                  </p:childTnLst>
                                </p:cTn>
                              </p:par>
                              <p:par>
                                <p:cTn id="32" presetID="10" presetClass="entr" presetSubtype="0" fill="hold" grpId="0" nodeType="withEffect">
                                  <p:stCondLst>
                                    <p:cond delay="36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50"/>
                                        <p:tgtEl>
                                          <p:spTgt spid="26"/>
                                        </p:tgtEl>
                                      </p:cBhvr>
                                    </p:animEffect>
                                  </p:childTnLst>
                                </p:cTn>
                              </p:par>
                              <p:par>
                                <p:cTn id="35" presetID="10" presetClass="entr" presetSubtype="0" fill="hold" grpId="0" nodeType="withEffect">
                                  <p:stCondLst>
                                    <p:cond delay="48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50"/>
                                        <p:tgtEl>
                                          <p:spTgt spid="27"/>
                                        </p:tgtEl>
                                      </p:cBhvr>
                                    </p:animEffect>
                                  </p:childTnLst>
                                </p:cTn>
                              </p:par>
                              <p:par>
                                <p:cTn id="38" presetID="10" presetClass="entr" presetSubtype="0" fill="hold" grpId="0" nodeType="withEffect">
                                  <p:stCondLst>
                                    <p:cond delay="60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VI.  RITUELS ET DÉPLOIEMENT</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Freeform 4"/>
          <p:cNvSpPr/>
          <p:nvPr/>
        </p:nvSpPr>
        <p:spPr>
          <a:xfrm>
            <a:off x="438458" y="740634"/>
            <a:ext cx="0" cy="237803"/>
          </a:xfrm>
          <a:custGeom>
            <a:avLst/>
            <a:gdLst/>
            <a:ahLst/>
            <a:cxnLst/>
            <a:rect l="l" t="t" r="r" b="b"/>
            <a:pathLst>
              <a:path w="0" h="237803">
                <a:moveTo>
                  <a:pt x="0" y="0"/>
                </a:moveTo>
                <a:lnTo>
                  <a:pt x="0" y="237803"/>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438458" y="757620"/>
            <a:ext cx="164197" cy="84930"/>
          </a:xfrm>
          <a:custGeom>
            <a:avLst/>
            <a:gdLst/>
            <a:ahLst/>
            <a:cxnLst/>
            <a:rect l="l" t="t" r="r" b="b"/>
            <a:pathLst>
              <a:path w="164197" h="84930">
                <a:moveTo>
                  <a:pt x="0" y="0"/>
                </a:moveTo>
                <a:lnTo>
                  <a:pt x="164197" y="39634"/>
                </a:lnTo>
                <a:lnTo>
                  <a:pt x="0" y="84930"/>
                </a:lnTo>
                <a:close/>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FEUILLE DE ROUTE DU DÉPLOIEMENT EN RDC</a:t>
            </a:r>
          </a:p>
        </p:txBody>
      </p:sp>
      <p:sp>
        <p:nvSpPr>
          <p:cNvPr id="8" name="Rectangle 7"/>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1" name="TextBox 10"/>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18 / 20</a:t>
            </a:r>
          </a:p>
        </p:txBody>
      </p:sp>
      <p:sp>
        <p:nvSpPr>
          <p:cNvPr id="12" name="Rounded Rectangle 11"/>
          <p:cNvSpPr/>
          <p:nvPr/>
        </p:nvSpPr>
        <p:spPr>
          <a:xfrm>
            <a:off x="365760" y="1234440"/>
            <a:ext cx="1572768" cy="20574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932688" y="1371600"/>
            <a:ext cx="438912" cy="438912"/>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32688" y="1371600"/>
            <a:ext cx="438912" cy="438912"/>
          </a:xfrm>
          <a:prstGeom prst="rect">
            <a:avLst/>
          </a:prstGeom>
          <a:noFill/>
        </p:spPr>
        <p:txBody>
          <a:bodyPr wrap="square" lIns="0" rIns="0" tIns="0" bIns="0" anchor="ctr">
            <a:spAutoFit/>
          </a:bodyPr>
          <a:lstStyle/>
          <a:p>
            <a:pPr algn="ctr"/>
            <a:r>
              <a:rPr sz="1400" b="1" i="0">
                <a:solidFill>
                  <a:srgbClr val="FFFFFF"/>
                </a:solidFill>
                <a:latin typeface="Calibri"/>
                <a:ea typeface="Calibri"/>
                <a:cs typeface="Calibri"/>
              </a:rPr>
              <a:t>1</a:t>
            </a:r>
          </a:p>
        </p:txBody>
      </p:sp>
      <p:sp>
        <p:nvSpPr>
          <p:cNvPr id="15" name="TextBox 14"/>
          <p:cNvSpPr txBox="1"/>
          <p:nvPr/>
        </p:nvSpPr>
        <p:spPr>
          <a:xfrm>
            <a:off x="438912" y="1901952"/>
            <a:ext cx="1426464" cy="274320"/>
          </a:xfrm>
          <a:prstGeom prst="rect">
            <a:avLst/>
          </a:prstGeom>
          <a:noFill/>
        </p:spPr>
        <p:txBody>
          <a:bodyPr wrap="square" lIns="0" rIns="0" tIns="0" bIns="0" anchor="ctr">
            <a:spAutoFit/>
          </a:bodyPr>
          <a:lstStyle/>
          <a:p>
            <a:pPr algn="ctr"/>
            <a:r>
              <a:rPr sz="950" b="1" i="0">
                <a:solidFill>
                  <a:srgbClr val="1B2A4A"/>
                </a:solidFill>
                <a:latin typeface="Calibri"/>
                <a:ea typeface="Calibri"/>
                <a:cs typeface="Calibri"/>
              </a:rPr>
              <a:t>CADRAGE</a:t>
            </a:r>
          </a:p>
        </p:txBody>
      </p:sp>
      <p:sp>
        <p:nvSpPr>
          <p:cNvPr id="16" name="TextBox 15"/>
          <p:cNvSpPr txBox="1"/>
          <p:nvPr/>
        </p:nvSpPr>
        <p:spPr>
          <a:xfrm>
            <a:off x="475488" y="2212848"/>
            <a:ext cx="1353312" cy="658368"/>
          </a:xfrm>
          <a:prstGeom prst="rect">
            <a:avLst/>
          </a:prstGeom>
          <a:noFill/>
        </p:spPr>
        <p:txBody>
          <a:bodyPr wrap="square" lIns="0" rIns="0" tIns="0" bIns="0" anchor="t">
            <a:spAutoFit/>
          </a:bodyPr>
          <a:lstStyle/>
          <a:p>
            <a:pPr algn="ctr">
              <a:lnSpc>
                <a:spcPct val="105000"/>
              </a:lnSpc>
            </a:pPr>
            <a:r>
              <a:rPr sz="850" b="0" i="0">
                <a:solidFill>
                  <a:srgbClr val="666666"/>
                </a:solidFill>
                <a:latin typeface="Calibri"/>
                <a:ea typeface="Calibri"/>
                <a:cs typeface="Calibri"/>
              </a:rPr>
              <a:t>Périmètre, champs suivis et règles validés avec la Conformité RDC</a:t>
            </a:r>
          </a:p>
        </p:txBody>
      </p:sp>
      <p:sp>
        <p:nvSpPr>
          <p:cNvPr id="17" name="Rectangle 16"/>
          <p:cNvSpPr/>
          <p:nvPr/>
        </p:nvSpPr>
        <p:spPr>
          <a:xfrm>
            <a:off x="566928" y="2907792"/>
            <a:ext cx="1170432" cy="256032"/>
          </a:xfrm>
          <a:prstGeom prst="rect">
            <a:avLst/>
          </a:prstGeom>
          <a:solidFill>
            <a:srgbClr val="F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6928" y="2907792"/>
            <a:ext cx="1170432" cy="256032"/>
          </a:xfrm>
          <a:prstGeom prst="rect">
            <a:avLst/>
          </a:prstGeom>
          <a:noFill/>
        </p:spPr>
        <p:txBody>
          <a:bodyPr wrap="square" lIns="0" rIns="0" tIns="0" bIns="0" anchor="ctr">
            <a:spAutoFit/>
          </a:bodyPr>
          <a:lstStyle/>
          <a:p>
            <a:pPr algn="ctr"/>
            <a:r>
              <a:rPr sz="800" b="1" i="0">
                <a:solidFill>
                  <a:srgbClr val="009A56"/>
                </a:solidFill>
                <a:latin typeface="Calibri"/>
                <a:ea typeface="Calibri"/>
                <a:cs typeface="Calibri"/>
              </a:rPr>
              <a:t>Septembre 2026</a:t>
            </a:r>
          </a:p>
        </p:txBody>
      </p:sp>
      <p:sp>
        <p:nvSpPr>
          <p:cNvPr id="19" name="Rectangle 18"/>
          <p:cNvSpPr/>
          <p:nvPr/>
        </p:nvSpPr>
        <p:spPr>
          <a:xfrm>
            <a:off x="1975104" y="2240280"/>
            <a:ext cx="100584" cy="36576"/>
          </a:xfrm>
          <a:prstGeom prst="rect">
            <a:avLst/>
          </a:prstGeom>
          <a:solidFill>
            <a:srgbClr val="C8E6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075688" y="1234440"/>
            <a:ext cx="1572768" cy="20574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2642616" y="1371600"/>
            <a:ext cx="438912" cy="438912"/>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42616" y="1371600"/>
            <a:ext cx="438912" cy="438912"/>
          </a:xfrm>
          <a:prstGeom prst="rect">
            <a:avLst/>
          </a:prstGeom>
          <a:noFill/>
        </p:spPr>
        <p:txBody>
          <a:bodyPr wrap="square" lIns="0" rIns="0" tIns="0" bIns="0" anchor="ctr">
            <a:spAutoFit/>
          </a:bodyPr>
          <a:lstStyle/>
          <a:p>
            <a:pPr algn="ctr"/>
            <a:r>
              <a:rPr sz="1400" b="1" i="0">
                <a:solidFill>
                  <a:srgbClr val="FFFFFF"/>
                </a:solidFill>
                <a:latin typeface="Calibri"/>
                <a:ea typeface="Calibri"/>
                <a:cs typeface="Calibri"/>
              </a:rPr>
              <a:t>2</a:t>
            </a:r>
          </a:p>
        </p:txBody>
      </p:sp>
      <p:sp>
        <p:nvSpPr>
          <p:cNvPr id="23" name="TextBox 22"/>
          <p:cNvSpPr txBox="1"/>
          <p:nvPr/>
        </p:nvSpPr>
        <p:spPr>
          <a:xfrm>
            <a:off x="2148840" y="1901952"/>
            <a:ext cx="1426464" cy="274320"/>
          </a:xfrm>
          <a:prstGeom prst="rect">
            <a:avLst/>
          </a:prstGeom>
          <a:noFill/>
        </p:spPr>
        <p:txBody>
          <a:bodyPr wrap="square" lIns="0" rIns="0" tIns="0" bIns="0" anchor="ctr">
            <a:spAutoFit/>
          </a:bodyPr>
          <a:lstStyle/>
          <a:p>
            <a:pPr algn="ctr"/>
            <a:r>
              <a:rPr sz="950" b="1" i="0">
                <a:solidFill>
                  <a:srgbClr val="1B2A4A"/>
                </a:solidFill>
                <a:latin typeface="Calibri"/>
                <a:ea typeface="Calibri"/>
                <a:cs typeface="Calibri"/>
              </a:rPr>
              <a:t>PARAMÉTRAGE</a:t>
            </a:r>
          </a:p>
        </p:txBody>
      </p:sp>
      <p:sp>
        <p:nvSpPr>
          <p:cNvPr id="24" name="TextBox 23"/>
          <p:cNvSpPr txBox="1"/>
          <p:nvPr/>
        </p:nvSpPr>
        <p:spPr>
          <a:xfrm>
            <a:off x="2185416" y="2212848"/>
            <a:ext cx="1353312" cy="658368"/>
          </a:xfrm>
          <a:prstGeom prst="rect">
            <a:avLst/>
          </a:prstGeom>
          <a:noFill/>
        </p:spPr>
        <p:txBody>
          <a:bodyPr wrap="square" lIns="0" rIns="0" tIns="0" bIns="0" anchor="t">
            <a:spAutoFit/>
          </a:bodyPr>
          <a:lstStyle/>
          <a:p>
            <a:pPr algn="ctr">
              <a:lnSpc>
                <a:spcPct val="105000"/>
              </a:lnSpc>
            </a:pPr>
            <a:r>
              <a:rPr sz="850" b="0" i="0">
                <a:solidFill>
                  <a:srgbClr val="666666"/>
                </a:solidFill>
                <a:latin typeface="Calibri"/>
                <a:ea typeface="Calibri"/>
                <a:cs typeface="Calibri"/>
              </a:rPr>
              <a:t>Création des comptes, des organes et des habilitations</a:t>
            </a:r>
          </a:p>
        </p:txBody>
      </p:sp>
      <p:sp>
        <p:nvSpPr>
          <p:cNvPr id="25" name="Rectangle 24"/>
          <p:cNvSpPr/>
          <p:nvPr/>
        </p:nvSpPr>
        <p:spPr>
          <a:xfrm>
            <a:off x="2276856" y="2907792"/>
            <a:ext cx="1170432" cy="256032"/>
          </a:xfrm>
          <a:prstGeom prst="rect">
            <a:avLst/>
          </a:prstGeom>
          <a:solidFill>
            <a:srgbClr val="F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76856" y="2907792"/>
            <a:ext cx="1170432" cy="256032"/>
          </a:xfrm>
          <a:prstGeom prst="rect">
            <a:avLst/>
          </a:prstGeom>
          <a:noFill/>
        </p:spPr>
        <p:txBody>
          <a:bodyPr wrap="square" lIns="0" rIns="0" tIns="0" bIns="0" anchor="ctr">
            <a:spAutoFit/>
          </a:bodyPr>
          <a:lstStyle/>
          <a:p>
            <a:pPr algn="ctr"/>
            <a:r>
              <a:rPr sz="800" b="1" i="0">
                <a:solidFill>
                  <a:srgbClr val="009A56"/>
                </a:solidFill>
                <a:latin typeface="Calibri"/>
                <a:ea typeface="Calibri"/>
                <a:cs typeface="Calibri"/>
              </a:rPr>
              <a:t>Octobre 2026</a:t>
            </a:r>
          </a:p>
        </p:txBody>
      </p:sp>
      <p:sp>
        <p:nvSpPr>
          <p:cNvPr id="27" name="Rectangle 26"/>
          <p:cNvSpPr/>
          <p:nvPr/>
        </p:nvSpPr>
        <p:spPr>
          <a:xfrm>
            <a:off x="3685032" y="2240280"/>
            <a:ext cx="100584" cy="36576"/>
          </a:xfrm>
          <a:prstGeom prst="rect">
            <a:avLst/>
          </a:prstGeom>
          <a:solidFill>
            <a:srgbClr val="C8E6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3785615" y="1234440"/>
            <a:ext cx="1572768" cy="20574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4352544" y="1371600"/>
            <a:ext cx="438912" cy="438912"/>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352544" y="1371600"/>
            <a:ext cx="438912" cy="438912"/>
          </a:xfrm>
          <a:prstGeom prst="rect">
            <a:avLst/>
          </a:prstGeom>
          <a:noFill/>
        </p:spPr>
        <p:txBody>
          <a:bodyPr wrap="square" lIns="0" rIns="0" tIns="0" bIns="0" anchor="ctr">
            <a:spAutoFit/>
          </a:bodyPr>
          <a:lstStyle/>
          <a:p>
            <a:pPr algn="ctr"/>
            <a:r>
              <a:rPr sz="1400" b="1" i="0">
                <a:solidFill>
                  <a:srgbClr val="FFFFFF"/>
                </a:solidFill>
                <a:latin typeface="Calibri"/>
                <a:ea typeface="Calibri"/>
                <a:cs typeface="Calibri"/>
              </a:rPr>
              <a:t>3</a:t>
            </a:r>
          </a:p>
        </p:txBody>
      </p:sp>
      <p:sp>
        <p:nvSpPr>
          <p:cNvPr id="31" name="TextBox 30"/>
          <p:cNvSpPr txBox="1"/>
          <p:nvPr/>
        </p:nvSpPr>
        <p:spPr>
          <a:xfrm>
            <a:off x="3858768" y="1901952"/>
            <a:ext cx="1426464" cy="274320"/>
          </a:xfrm>
          <a:prstGeom prst="rect">
            <a:avLst/>
          </a:prstGeom>
          <a:noFill/>
        </p:spPr>
        <p:txBody>
          <a:bodyPr wrap="square" lIns="0" rIns="0" tIns="0" bIns="0" anchor="ctr">
            <a:spAutoFit/>
          </a:bodyPr>
          <a:lstStyle/>
          <a:p>
            <a:pPr algn="ctr"/>
            <a:r>
              <a:rPr sz="950" b="1" i="0">
                <a:solidFill>
                  <a:srgbClr val="1B2A4A"/>
                </a:solidFill>
                <a:latin typeface="Calibri"/>
                <a:ea typeface="Calibri"/>
                <a:cs typeface="Calibri"/>
              </a:rPr>
              <a:t>PILOTE</a:t>
            </a:r>
          </a:p>
        </p:txBody>
      </p:sp>
      <p:sp>
        <p:nvSpPr>
          <p:cNvPr id="32" name="TextBox 31"/>
          <p:cNvSpPr txBox="1"/>
          <p:nvPr/>
        </p:nvSpPr>
        <p:spPr>
          <a:xfrm>
            <a:off x="3895344" y="2212848"/>
            <a:ext cx="1353312" cy="658368"/>
          </a:xfrm>
          <a:prstGeom prst="rect">
            <a:avLst/>
          </a:prstGeom>
          <a:noFill/>
        </p:spPr>
        <p:txBody>
          <a:bodyPr wrap="square" lIns="0" rIns="0" tIns="0" bIns="0" anchor="t">
            <a:spAutoFit/>
          </a:bodyPr>
          <a:lstStyle/>
          <a:p>
            <a:pPr algn="ctr">
              <a:lnSpc>
                <a:spcPct val="105000"/>
              </a:lnSpc>
            </a:pPr>
            <a:r>
              <a:rPr sz="850" b="0" i="0">
                <a:solidFill>
                  <a:srgbClr val="666666"/>
                </a:solidFill>
                <a:latin typeface="Calibri"/>
                <a:ea typeface="Calibri"/>
                <a:cs typeface="Calibri"/>
              </a:rPr>
              <a:t>Deux agences de Kinshasa pendant trois semaines</a:t>
            </a:r>
          </a:p>
        </p:txBody>
      </p:sp>
      <p:sp>
        <p:nvSpPr>
          <p:cNvPr id="33" name="Rectangle 32"/>
          <p:cNvSpPr/>
          <p:nvPr/>
        </p:nvSpPr>
        <p:spPr>
          <a:xfrm>
            <a:off x="3986783" y="2907792"/>
            <a:ext cx="1170432" cy="256032"/>
          </a:xfrm>
          <a:prstGeom prst="rect">
            <a:avLst/>
          </a:prstGeom>
          <a:solidFill>
            <a:srgbClr val="F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986783" y="2907792"/>
            <a:ext cx="1170432" cy="256032"/>
          </a:xfrm>
          <a:prstGeom prst="rect">
            <a:avLst/>
          </a:prstGeom>
          <a:noFill/>
        </p:spPr>
        <p:txBody>
          <a:bodyPr wrap="square" lIns="0" rIns="0" tIns="0" bIns="0" anchor="ctr">
            <a:spAutoFit/>
          </a:bodyPr>
          <a:lstStyle/>
          <a:p>
            <a:pPr algn="ctr"/>
            <a:r>
              <a:rPr sz="800" b="1" i="0">
                <a:solidFill>
                  <a:srgbClr val="009A56"/>
                </a:solidFill>
                <a:latin typeface="Calibri"/>
                <a:ea typeface="Calibri"/>
                <a:cs typeface="Calibri"/>
              </a:rPr>
              <a:t>Novembre 2026</a:t>
            </a:r>
          </a:p>
        </p:txBody>
      </p:sp>
      <p:sp>
        <p:nvSpPr>
          <p:cNvPr id="35" name="Rectangle 34"/>
          <p:cNvSpPr/>
          <p:nvPr/>
        </p:nvSpPr>
        <p:spPr>
          <a:xfrm>
            <a:off x="5394959" y="2240280"/>
            <a:ext cx="100584" cy="36576"/>
          </a:xfrm>
          <a:prstGeom prst="rect">
            <a:avLst/>
          </a:prstGeom>
          <a:solidFill>
            <a:srgbClr val="C8E6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5495544" y="1234440"/>
            <a:ext cx="1572768" cy="20574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6062472" y="1371600"/>
            <a:ext cx="438912" cy="438912"/>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062472" y="1371600"/>
            <a:ext cx="438912" cy="438912"/>
          </a:xfrm>
          <a:prstGeom prst="rect">
            <a:avLst/>
          </a:prstGeom>
          <a:noFill/>
        </p:spPr>
        <p:txBody>
          <a:bodyPr wrap="square" lIns="0" rIns="0" tIns="0" bIns="0" anchor="ctr">
            <a:spAutoFit/>
          </a:bodyPr>
          <a:lstStyle/>
          <a:p>
            <a:pPr algn="ctr"/>
            <a:r>
              <a:rPr sz="1400" b="1" i="0">
                <a:solidFill>
                  <a:srgbClr val="FFFFFF"/>
                </a:solidFill>
                <a:latin typeface="Calibri"/>
                <a:ea typeface="Calibri"/>
                <a:cs typeface="Calibri"/>
              </a:rPr>
              <a:t>4</a:t>
            </a:r>
          </a:p>
        </p:txBody>
      </p:sp>
      <p:sp>
        <p:nvSpPr>
          <p:cNvPr id="39" name="TextBox 38"/>
          <p:cNvSpPr txBox="1"/>
          <p:nvPr/>
        </p:nvSpPr>
        <p:spPr>
          <a:xfrm>
            <a:off x="5568696" y="1901952"/>
            <a:ext cx="1426464" cy="274320"/>
          </a:xfrm>
          <a:prstGeom prst="rect">
            <a:avLst/>
          </a:prstGeom>
          <a:noFill/>
        </p:spPr>
        <p:txBody>
          <a:bodyPr wrap="square" lIns="0" rIns="0" tIns="0" bIns="0" anchor="ctr">
            <a:spAutoFit/>
          </a:bodyPr>
          <a:lstStyle/>
          <a:p>
            <a:pPr algn="ctr"/>
            <a:r>
              <a:rPr sz="950" b="1" i="0">
                <a:solidFill>
                  <a:srgbClr val="1B2A4A"/>
                </a:solidFill>
                <a:latin typeface="Calibri"/>
                <a:ea typeface="Calibri"/>
                <a:cs typeface="Calibri"/>
              </a:rPr>
              <a:t>FORMATION</a:t>
            </a:r>
          </a:p>
        </p:txBody>
      </p:sp>
      <p:sp>
        <p:nvSpPr>
          <p:cNvPr id="40" name="TextBox 39"/>
          <p:cNvSpPr txBox="1"/>
          <p:nvPr/>
        </p:nvSpPr>
        <p:spPr>
          <a:xfrm>
            <a:off x="5605272" y="2212848"/>
            <a:ext cx="1353312" cy="658368"/>
          </a:xfrm>
          <a:prstGeom prst="rect">
            <a:avLst/>
          </a:prstGeom>
          <a:noFill/>
        </p:spPr>
        <p:txBody>
          <a:bodyPr wrap="square" lIns="0" rIns="0" tIns="0" bIns="0" anchor="t">
            <a:spAutoFit/>
          </a:bodyPr>
          <a:lstStyle/>
          <a:p>
            <a:pPr algn="ctr">
              <a:lnSpc>
                <a:spcPct val="105000"/>
              </a:lnSpc>
            </a:pPr>
            <a:r>
              <a:rPr sz="850" b="0" i="0">
                <a:solidFill>
                  <a:srgbClr val="666666"/>
                </a:solidFill>
                <a:latin typeface="Calibri"/>
                <a:ea typeface="Calibri"/>
                <a:cs typeface="Calibri"/>
              </a:rPr>
              <a:t>Sessions par vague, une par direction régionale</a:t>
            </a:r>
          </a:p>
        </p:txBody>
      </p:sp>
      <p:sp>
        <p:nvSpPr>
          <p:cNvPr id="41" name="Rectangle 40"/>
          <p:cNvSpPr/>
          <p:nvPr/>
        </p:nvSpPr>
        <p:spPr>
          <a:xfrm>
            <a:off x="5696712" y="2907792"/>
            <a:ext cx="1170432" cy="256032"/>
          </a:xfrm>
          <a:prstGeom prst="rect">
            <a:avLst/>
          </a:prstGeom>
          <a:solidFill>
            <a:srgbClr val="F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696712" y="2907792"/>
            <a:ext cx="1170432" cy="256032"/>
          </a:xfrm>
          <a:prstGeom prst="rect">
            <a:avLst/>
          </a:prstGeom>
          <a:noFill/>
        </p:spPr>
        <p:txBody>
          <a:bodyPr wrap="square" lIns="0" rIns="0" tIns="0" bIns="0" anchor="ctr">
            <a:spAutoFit/>
          </a:bodyPr>
          <a:lstStyle/>
          <a:p>
            <a:pPr algn="ctr"/>
            <a:r>
              <a:rPr sz="800" b="1" i="0">
                <a:solidFill>
                  <a:srgbClr val="009A56"/>
                </a:solidFill>
                <a:latin typeface="Calibri"/>
                <a:ea typeface="Calibri"/>
                <a:cs typeface="Calibri"/>
              </a:rPr>
              <a:t>Décembre 2026</a:t>
            </a:r>
          </a:p>
        </p:txBody>
      </p:sp>
      <p:sp>
        <p:nvSpPr>
          <p:cNvPr id="43" name="Rectangle 42"/>
          <p:cNvSpPr/>
          <p:nvPr/>
        </p:nvSpPr>
        <p:spPr>
          <a:xfrm>
            <a:off x="7104888" y="2240280"/>
            <a:ext cx="100584" cy="36576"/>
          </a:xfrm>
          <a:prstGeom prst="rect">
            <a:avLst/>
          </a:prstGeom>
          <a:solidFill>
            <a:srgbClr val="C8E6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ounded Rectangle 43"/>
          <p:cNvSpPr/>
          <p:nvPr/>
        </p:nvSpPr>
        <p:spPr>
          <a:xfrm>
            <a:off x="7205472" y="1234440"/>
            <a:ext cx="1572768" cy="20574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772400" y="1371600"/>
            <a:ext cx="438912" cy="438912"/>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772400" y="1371600"/>
            <a:ext cx="438912" cy="438912"/>
          </a:xfrm>
          <a:prstGeom prst="rect">
            <a:avLst/>
          </a:prstGeom>
          <a:noFill/>
        </p:spPr>
        <p:txBody>
          <a:bodyPr wrap="square" lIns="0" rIns="0" tIns="0" bIns="0" anchor="ctr">
            <a:spAutoFit/>
          </a:bodyPr>
          <a:lstStyle/>
          <a:p>
            <a:pPr algn="ctr"/>
            <a:r>
              <a:rPr sz="1400" b="1" i="0">
                <a:solidFill>
                  <a:srgbClr val="FFFFFF"/>
                </a:solidFill>
                <a:latin typeface="Calibri"/>
                <a:ea typeface="Calibri"/>
                <a:cs typeface="Calibri"/>
              </a:rPr>
              <a:t>5</a:t>
            </a:r>
          </a:p>
        </p:txBody>
      </p:sp>
      <p:sp>
        <p:nvSpPr>
          <p:cNvPr id="47" name="TextBox 46"/>
          <p:cNvSpPr txBox="1"/>
          <p:nvPr/>
        </p:nvSpPr>
        <p:spPr>
          <a:xfrm>
            <a:off x="7278624" y="1901952"/>
            <a:ext cx="1426464" cy="274320"/>
          </a:xfrm>
          <a:prstGeom prst="rect">
            <a:avLst/>
          </a:prstGeom>
          <a:noFill/>
        </p:spPr>
        <p:txBody>
          <a:bodyPr wrap="square" lIns="0" rIns="0" tIns="0" bIns="0" anchor="ctr">
            <a:spAutoFit/>
          </a:bodyPr>
          <a:lstStyle/>
          <a:p>
            <a:pPr algn="ctr"/>
            <a:r>
              <a:rPr sz="950" b="1" i="0">
                <a:solidFill>
                  <a:srgbClr val="1B2A4A"/>
                </a:solidFill>
                <a:latin typeface="Calibri"/>
                <a:ea typeface="Calibri"/>
                <a:cs typeface="Calibri"/>
              </a:rPr>
              <a:t>GÉNÉRALISATION</a:t>
            </a:r>
          </a:p>
        </p:txBody>
      </p:sp>
      <p:sp>
        <p:nvSpPr>
          <p:cNvPr id="48" name="TextBox 47"/>
          <p:cNvSpPr txBox="1"/>
          <p:nvPr/>
        </p:nvSpPr>
        <p:spPr>
          <a:xfrm>
            <a:off x="7315200" y="2212848"/>
            <a:ext cx="1353312" cy="658368"/>
          </a:xfrm>
          <a:prstGeom prst="rect">
            <a:avLst/>
          </a:prstGeom>
          <a:noFill/>
        </p:spPr>
        <p:txBody>
          <a:bodyPr wrap="square" lIns="0" rIns="0" tIns="0" bIns="0" anchor="t">
            <a:spAutoFit/>
          </a:bodyPr>
          <a:lstStyle/>
          <a:p>
            <a:pPr algn="ctr">
              <a:lnSpc>
                <a:spcPct val="105000"/>
              </a:lnSpc>
            </a:pPr>
            <a:r>
              <a:rPr sz="850" b="0" i="0">
                <a:solidFill>
                  <a:srgbClr val="666666"/>
                </a:solidFill>
                <a:latin typeface="Calibri"/>
                <a:ea typeface="Calibri"/>
                <a:cs typeface="Calibri"/>
              </a:rPr>
              <a:t>Extension au réseau et suivi en comité mensuel</a:t>
            </a:r>
          </a:p>
        </p:txBody>
      </p:sp>
      <p:sp>
        <p:nvSpPr>
          <p:cNvPr id="49" name="Rectangle 48"/>
          <p:cNvSpPr/>
          <p:nvPr/>
        </p:nvSpPr>
        <p:spPr>
          <a:xfrm>
            <a:off x="7406640" y="2907792"/>
            <a:ext cx="1170432" cy="256032"/>
          </a:xfrm>
          <a:prstGeom prst="rect">
            <a:avLst/>
          </a:prstGeom>
          <a:solidFill>
            <a:srgbClr val="F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7406640" y="2907792"/>
            <a:ext cx="1170432" cy="256032"/>
          </a:xfrm>
          <a:prstGeom prst="rect">
            <a:avLst/>
          </a:prstGeom>
          <a:noFill/>
        </p:spPr>
        <p:txBody>
          <a:bodyPr wrap="square" lIns="0" rIns="0" tIns="0" bIns="0" anchor="ctr">
            <a:spAutoFit/>
          </a:bodyPr>
          <a:lstStyle/>
          <a:p>
            <a:pPr algn="ctr"/>
            <a:r>
              <a:rPr sz="800" b="1" i="0">
                <a:solidFill>
                  <a:srgbClr val="009A56"/>
                </a:solidFill>
                <a:latin typeface="Calibri"/>
                <a:ea typeface="Calibri"/>
                <a:cs typeface="Calibri"/>
              </a:rPr>
              <a:t>1er trim. 2027</a:t>
            </a:r>
          </a:p>
        </p:txBody>
      </p:sp>
      <p:sp>
        <p:nvSpPr>
          <p:cNvPr id="51" name="Rounded Rectangle 50"/>
          <p:cNvSpPr/>
          <p:nvPr/>
        </p:nvSpPr>
        <p:spPr>
          <a:xfrm>
            <a:off x="365760" y="3456432"/>
            <a:ext cx="8412480" cy="1097280"/>
          </a:xfrm>
          <a:prstGeom prst="roundRect">
            <a:avLst>
              <a:gd name="adj" fmla="val 6000"/>
            </a:avLst>
          </a:prstGeom>
          <a:solidFill>
            <a:srgbClr val="F0F7F4"/>
          </a:solidFill>
          <a:ln w="12700">
            <a:solidFill>
              <a:srgbClr val="C8E6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365760" y="3456432"/>
            <a:ext cx="8412480"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9639" y="3506303"/>
            <a:ext cx="80211" cy="80211"/>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Freeform 53"/>
          <p:cNvSpPr/>
          <p:nvPr/>
        </p:nvSpPr>
        <p:spPr>
          <a:xfrm>
            <a:off x="545695" y="3574718"/>
            <a:ext cx="108521" cy="108521"/>
          </a:xfrm>
          <a:custGeom>
            <a:avLst/>
            <a:gdLst/>
            <a:ahLst/>
            <a:cxnLst/>
            <a:rect l="l" t="t" r="r" b="b"/>
            <a:pathLst>
              <a:path w="108521" h="108521">
                <a:moveTo>
                  <a:pt x="0" y="0"/>
                </a:moveTo>
                <a:lnTo>
                  <a:pt x="108521" y="108521"/>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Freeform 54"/>
          <p:cNvSpPr/>
          <p:nvPr/>
        </p:nvSpPr>
        <p:spPr>
          <a:xfrm>
            <a:off x="590519" y="3593591"/>
            <a:ext cx="25951" cy="25951"/>
          </a:xfrm>
          <a:custGeom>
            <a:avLst/>
            <a:gdLst/>
            <a:ahLst/>
            <a:cxnLst/>
            <a:rect l="l" t="t" r="r" b="b"/>
            <a:pathLst>
              <a:path w="25951" h="25951">
                <a:moveTo>
                  <a:pt x="0" y="25951"/>
                </a:moveTo>
                <a:lnTo>
                  <a:pt x="25951"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Freeform 55"/>
          <p:cNvSpPr/>
          <p:nvPr/>
        </p:nvSpPr>
        <p:spPr>
          <a:xfrm>
            <a:off x="616470" y="3619542"/>
            <a:ext cx="25950" cy="25951"/>
          </a:xfrm>
          <a:custGeom>
            <a:avLst/>
            <a:gdLst/>
            <a:ahLst/>
            <a:cxnLst/>
            <a:rect l="l" t="t" r="r" b="b"/>
            <a:pathLst>
              <a:path w="25950" h="25951">
                <a:moveTo>
                  <a:pt x="0" y="25951"/>
                </a:moveTo>
                <a:lnTo>
                  <a:pt x="25950" y="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8" y="3456432"/>
            <a:ext cx="7918703"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CE QUI CONDITIONNE LA RÉUSSITE</a:t>
            </a:r>
          </a:p>
        </p:txBody>
      </p:sp>
      <p:sp>
        <p:nvSpPr>
          <p:cNvPr id="58" name="TextBox 57"/>
          <p:cNvSpPr txBox="1"/>
          <p:nvPr/>
        </p:nvSpPr>
        <p:spPr>
          <a:xfrm>
            <a:off x="566928" y="3858768"/>
            <a:ext cx="8046720" cy="640080"/>
          </a:xfrm>
          <a:prstGeom prst="rect">
            <a:avLst/>
          </a:prstGeom>
          <a:noFill/>
        </p:spPr>
        <p:txBody>
          <a:bodyPr wrap="square" lIns="0" rIns="0" tIns="0" bIns="0" anchor="t">
            <a:spAutoFit/>
          </a:bodyPr>
          <a:lstStyle/>
          <a:p>
            <a:pPr algn="l" marL="152400" indent="-152400">
              <a:lnSpc>
                <a:spcPct val="100000"/>
              </a:lnSpc>
              <a:spcAft>
                <a:spcPts val="300"/>
              </a:spcAft>
              <a:buClr>
                <a:srgbClr val="009A56"/>
              </a:buClr>
              <a:buFont typeface="Arial" pitchFamily="34" charset="0"/>
              <a:buChar char="▪"/>
            </a:pPr>
            <a:r>
              <a:rPr sz="950" b="0" i="0">
                <a:solidFill>
                  <a:srgbClr val="333333"/>
                </a:solidFill>
                <a:latin typeface="Calibri"/>
                <a:ea typeface="Calibri"/>
                <a:cs typeface="Calibri"/>
              </a:rPr>
              <a:t>Un correspondant KYC identifié dans chaque agence, connu de tous</a:t>
            </a:r>
          </a:p>
          <a:p>
            <a:pPr algn="l" marL="152400" indent="-152400">
              <a:lnSpc>
                <a:spcPct val="100000"/>
              </a:lnSpc>
              <a:spcAft>
                <a:spcPts val="300"/>
              </a:spcAft>
              <a:buClr>
                <a:srgbClr val="009A56"/>
              </a:buClr>
              <a:buFont typeface="Arial" pitchFamily="34" charset="0"/>
              <a:buChar char="▪"/>
            </a:pPr>
            <a:r>
              <a:rPr sz="950" b="0" i="0">
                <a:solidFill>
                  <a:srgbClr val="333333"/>
                </a:solidFill>
                <a:latin typeface="Calibri"/>
                <a:ea typeface="Calibri"/>
                <a:cs typeface="Calibri"/>
              </a:rPr>
              <a:t>Des objectifs de progression chiffrés et suivis en comité mensuel</a:t>
            </a:r>
          </a:p>
          <a:p>
            <a:pPr algn="l" marL="152400" indent="-152400">
              <a:lnSpc>
                <a:spcPct val="100000"/>
              </a:lnSpc>
              <a:spcAft>
                <a:spcPts val="300"/>
              </a:spcAft>
              <a:buClr>
                <a:srgbClr val="009A56"/>
              </a:buClr>
              <a:buFont typeface="Arial" pitchFamily="34" charset="0"/>
              <a:buChar char="▪"/>
            </a:pPr>
            <a:r>
              <a:rPr sz="950" b="0" i="0">
                <a:solidFill>
                  <a:srgbClr val="333333"/>
                </a:solidFill>
                <a:latin typeface="Calibri"/>
                <a:ea typeface="Calibri"/>
                <a:cs typeface="Calibri"/>
              </a:rPr>
              <a:t>Un canal unique de remontée des anomalies vers le Pôle Projet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2"/>
                                        </p:tgtEl>
                                        <p:attrNameLst>
                                          <p:attrName>style.visibility</p:attrName>
                                        </p:attrNameLst>
                                      </p:cBhvr>
                                      <p:to>
                                        <p:strVal val="visible"/>
                                      </p:to>
                                    </p:set>
                                    <p:animEffect transition="in" filter="fade">
                                      <p:cBhvr>
                                        <p:cTn id="5" dur="450"/>
                                        <p:tgtEl>
                                          <p:spTgt spid="12"/>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3"/>
                                        </p:tgtEl>
                                        <p:attrNameLst>
                                          <p:attrName>style.visibility</p:attrName>
                                        </p:attrNameLst>
                                      </p:cBhvr>
                                      <p:to>
                                        <p:strVal val="visible"/>
                                      </p:to>
                                    </p:set>
                                    <p:animEffect transition="in" filter="fade">
                                      <p:cBhvr>
                                        <p:cTn id="8" dur="450"/>
                                        <p:tgtEl>
                                          <p:spTgt spid="13"/>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50"/>
                                        <p:tgtEl>
                                          <p:spTgt spid="14"/>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450"/>
                                        <p:tgtEl>
                                          <p:spTgt spid="15"/>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450"/>
                                        <p:tgtEl>
                                          <p:spTgt spid="16"/>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450"/>
                                        <p:tgtEl>
                                          <p:spTgt spid="17"/>
                                        </p:tgtEl>
                                      </p:cBhvr>
                                    </p:animEffect>
                                  </p:childTnLst>
                                </p:cTn>
                              </p:par>
                              <p:par>
                                <p:cTn id="21" presetID="10" presetClass="entr" presetSubtype="0" fill="hold" grpId="0" nodeType="withEffect">
                                  <p:stCondLst>
                                    <p:cond delay="72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50"/>
                                        <p:tgtEl>
                                          <p:spTgt spid="18"/>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50"/>
                                        <p:tgtEl>
                                          <p:spTgt spid="20"/>
                                        </p:tgtEl>
                                      </p:cBhvr>
                                    </p:animEffect>
                                  </p:childTnLst>
                                </p:cTn>
                              </p:par>
                              <p:par>
                                <p:cTn id="29" presetID="10" presetClass="entr" presetSubtype="0" fill="hold" grpId="0" nodeType="withEffect">
                                  <p:stCondLst>
                                    <p:cond delay="12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50"/>
                                        <p:tgtEl>
                                          <p:spTgt spid="21"/>
                                        </p:tgtEl>
                                      </p:cBhvr>
                                    </p:animEffect>
                                  </p:childTnLst>
                                </p:cTn>
                              </p:par>
                              <p:par>
                                <p:cTn id="32" presetID="10" presetClass="entr" presetSubtype="0" fill="hold" grpId="0" nodeType="withEffect">
                                  <p:stCondLst>
                                    <p:cond delay="24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50"/>
                                        <p:tgtEl>
                                          <p:spTgt spid="22"/>
                                        </p:tgtEl>
                                      </p:cBhvr>
                                    </p:animEffect>
                                  </p:childTnLst>
                                </p:cTn>
                              </p:par>
                              <p:par>
                                <p:cTn id="35" presetID="10" presetClass="entr" presetSubtype="0" fill="hold" grpId="0" nodeType="withEffect">
                                  <p:stCondLst>
                                    <p:cond delay="36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450"/>
                                        <p:tgtEl>
                                          <p:spTgt spid="23"/>
                                        </p:tgtEl>
                                      </p:cBhvr>
                                    </p:animEffect>
                                  </p:childTnLst>
                                </p:cTn>
                              </p:par>
                              <p:par>
                                <p:cTn id="38" presetID="10" presetClass="entr" presetSubtype="0" fill="hold" grpId="0" nodeType="withEffect">
                                  <p:stCondLst>
                                    <p:cond delay="48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450"/>
                                        <p:tgtEl>
                                          <p:spTgt spid="24"/>
                                        </p:tgtEl>
                                      </p:cBhvr>
                                    </p:animEffect>
                                  </p:childTnLst>
                                </p:cTn>
                              </p:par>
                              <p:par>
                                <p:cTn id="41" presetID="10" presetClass="entr" presetSubtype="0" fill="hold" grpId="0" nodeType="withEffect">
                                  <p:stCondLst>
                                    <p:cond delay="60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450"/>
                                        <p:tgtEl>
                                          <p:spTgt spid="25"/>
                                        </p:tgtEl>
                                      </p:cBhvr>
                                    </p:animEffect>
                                  </p:childTnLst>
                                </p:cTn>
                              </p:par>
                              <p:par>
                                <p:cTn id="44" presetID="10" presetClass="entr" presetSubtype="0" fill="hold" grpId="0" nodeType="withEffect">
                                  <p:stCondLst>
                                    <p:cond delay="72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450"/>
                                        <p:tgtEl>
                                          <p:spTgt spid="26"/>
                                        </p:tgtEl>
                                      </p:cBhvr>
                                    </p:animEffect>
                                  </p:childTnLst>
                                </p:cTn>
                              </p:par>
                            </p:childTnLst>
                          </p:cTn>
                        </p:par>
                      </p:childTnLst>
                    </p:cTn>
                  </p:par>
                  <p:par>
                    <p:cTn id="70" fill="hold">
                      <p:stCondLst>
                        <p:cond delay="indefinite"/>
                      </p:stCondLst>
                      <p:childTnLst>
                        <p:par>
                          <p:cTn id="71"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450"/>
                                        <p:tgtEl>
                                          <p:spTgt spid="28"/>
                                        </p:tgtEl>
                                      </p:cBhvr>
                                    </p:animEffect>
                                  </p:childTnLst>
                                </p:cTn>
                              </p:par>
                              <p:par>
                                <p:cTn id="52" presetID="10" presetClass="entr" presetSubtype="0" fill="hold" grpId="0" nodeType="withEffect">
                                  <p:stCondLst>
                                    <p:cond delay="120"/>
                                  </p:stCondLst>
                                  <p:childTnLst>
                                    <p:set>
                                      <p:cBhvr>
                                        <p:cTn id="53" dur="1" fill="hold">
                                          <p:stCondLst>
                                            <p:cond delay="0"/>
                                          </p:stCondLst>
                                        </p:cTn>
                                        <p:tgtEl>
                                          <p:spTgt spid="29"/>
                                        </p:tgtEl>
                                        <p:attrNameLst>
                                          <p:attrName>style.visibility</p:attrName>
                                        </p:attrNameLst>
                                      </p:cBhvr>
                                      <p:to>
                                        <p:strVal val="visible"/>
                                      </p:to>
                                    </p:set>
                                    <p:animEffect transition="in" filter="fade">
                                      <p:cBhvr>
                                        <p:cTn id="54" dur="450"/>
                                        <p:tgtEl>
                                          <p:spTgt spid="29"/>
                                        </p:tgtEl>
                                      </p:cBhvr>
                                    </p:animEffect>
                                  </p:childTnLst>
                                </p:cTn>
                              </p:par>
                              <p:par>
                                <p:cTn id="55" presetID="10" presetClass="entr" presetSubtype="0" fill="hold" grpId="0" nodeType="withEffect">
                                  <p:stCondLst>
                                    <p:cond delay="24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450"/>
                                        <p:tgtEl>
                                          <p:spTgt spid="30"/>
                                        </p:tgtEl>
                                      </p:cBhvr>
                                    </p:animEffect>
                                  </p:childTnLst>
                                </p:cTn>
                              </p:par>
                              <p:par>
                                <p:cTn id="58" presetID="10" presetClass="entr" presetSubtype="0" fill="hold" grpId="0" nodeType="withEffect">
                                  <p:stCondLst>
                                    <p:cond delay="36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450"/>
                                        <p:tgtEl>
                                          <p:spTgt spid="31"/>
                                        </p:tgtEl>
                                      </p:cBhvr>
                                    </p:animEffect>
                                  </p:childTnLst>
                                </p:cTn>
                              </p:par>
                              <p:par>
                                <p:cTn id="61" presetID="10" presetClass="entr" presetSubtype="0" fill="hold" grpId="0" nodeType="withEffect">
                                  <p:stCondLst>
                                    <p:cond delay="48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50"/>
                                        <p:tgtEl>
                                          <p:spTgt spid="32"/>
                                        </p:tgtEl>
                                      </p:cBhvr>
                                    </p:animEffect>
                                  </p:childTnLst>
                                </p:cTn>
                              </p:par>
                              <p:par>
                                <p:cTn id="64" presetID="10" presetClass="entr" presetSubtype="0" fill="hold" grpId="0" nodeType="withEffect">
                                  <p:stCondLst>
                                    <p:cond delay="60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50"/>
                                        <p:tgtEl>
                                          <p:spTgt spid="33"/>
                                        </p:tgtEl>
                                      </p:cBhvr>
                                    </p:animEffect>
                                  </p:childTnLst>
                                </p:cTn>
                              </p:par>
                              <p:par>
                                <p:cTn id="67" presetID="10" presetClass="entr" presetSubtype="0" fill="hold" grpId="0" nodeType="withEffect">
                                  <p:stCondLst>
                                    <p:cond delay="72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50"/>
                                        <p:tgtEl>
                                          <p:spTgt spid="34"/>
                                        </p:tgtEl>
                                      </p:cBhvr>
                                    </p:animEffect>
                                  </p:childTnLst>
                                </p:cTn>
                              </p:par>
                            </p:childTnLst>
                          </p:cTn>
                        </p:par>
                      </p:childTnLst>
                    </p:cTn>
                  </p:par>
                  <p:par>
                    <p:cTn id="93" fill="hold">
                      <p:stCondLst>
                        <p:cond delay="indefinite"/>
                      </p:stCondLst>
                      <p:childTnLst>
                        <p:par>
                          <p:cTn id="94" fill="hold">
                            <p:stCondLst>
                              <p:cond delay="0"/>
                            </p:stCondLst>
                            <p:childTnLst>
                              <p:par>
                                <p:cTn id="72" presetID="10" presetClass="entr" presetSubtype="0" fill="hold" grpId="0" nodeType="clickEffect">
                                  <p:stCondLst>
                                    <p:cond delay="0"/>
                                  </p:stCondLst>
                                  <p:childTnLst>
                                    <p:set>
                                      <p:cBhvr>
                                        <p:cTn id="73" dur="1" fill="hold">
                                          <p:stCondLst>
                                            <p:cond delay="0"/>
                                          </p:stCondLst>
                                        </p:cTn>
                                        <p:tgtEl>
                                          <p:spTgt spid="36"/>
                                        </p:tgtEl>
                                        <p:attrNameLst>
                                          <p:attrName>style.visibility</p:attrName>
                                        </p:attrNameLst>
                                      </p:cBhvr>
                                      <p:to>
                                        <p:strVal val="visible"/>
                                      </p:to>
                                    </p:set>
                                    <p:animEffect transition="in" filter="fade">
                                      <p:cBhvr>
                                        <p:cTn id="74" dur="450"/>
                                        <p:tgtEl>
                                          <p:spTgt spid="36"/>
                                        </p:tgtEl>
                                      </p:cBhvr>
                                    </p:animEffect>
                                  </p:childTnLst>
                                </p:cTn>
                              </p:par>
                              <p:par>
                                <p:cTn id="75" presetID="10" presetClass="entr" presetSubtype="0" fill="hold" grpId="0" nodeType="withEffect">
                                  <p:stCondLst>
                                    <p:cond delay="12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450"/>
                                        <p:tgtEl>
                                          <p:spTgt spid="37"/>
                                        </p:tgtEl>
                                      </p:cBhvr>
                                    </p:animEffect>
                                  </p:childTnLst>
                                </p:cTn>
                              </p:par>
                              <p:par>
                                <p:cTn id="78" presetID="10" presetClass="entr" presetSubtype="0" fill="hold" grpId="0" nodeType="withEffect">
                                  <p:stCondLst>
                                    <p:cond delay="240"/>
                                  </p:stCondLst>
                                  <p:childTnLst>
                                    <p:set>
                                      <p:cBhvr>
                                        <p:cTn id="79" dur="1" fill="hold">
                                          <p:stCondLst>
                                            <p:cond delay="0"/>
                                          </p:stCondLst>
                                        </p:cTn>
                                        <p:tgtEl>
                                          <p:spTgt spid="38"/>
                                        </p:tgtEl>
                                        <p:attrNameLst>
                                          <p:attrName>style.visibility</p:attrName>
                                        </p:attrNameLst>
                                      </p:cBhvr>
                                      <p:to>
                                        <p:strVal val="visible"/>
                                      </p:to>
                                    </p:set>
                                    <p:animEffect transition="in" filter="fade">
                                      <p:cBhvr>
                                        <p:cTn id="80" dur="450"/>
                                        <p:tgtEl>
                                          <p:spTgt spid="38"/>
                                        </p:tgtEl>
                                      </p:cBhvr>
                                    </p:animEffect>
                                  </p:childTnLst>
                                </p:cTn>
                              </p:par>
                              <p:par>
                                <p:cTn id="81" presetID="10" presetClass="entr" presetSubtype="0" fill="hold" grpId="0" nodeType="withEffect">
                                  <p:stCondLst>
                                    <p:cond delay="360"/>
                                  </p:stCondLst>
                                  <p:childTnLst>
                                    <p:set>
                                      <p:cBhvr>
                                        <p:cTn id="82" dur="1" fill="hold">
                                          <p:stCondLst>
                                            <p:cond delay="0"/>
                                          </p:stCondLst>
                                        </p:cTn>
                                        <p:tgtEl>
                                          <p:spTgt spid="39"/>
                                        </p:tgtEl>
                                        <p:attrNameLst>
                                          <p:attrName>style.visibility</p:attrName>
                                        </p:attrNameLst>
                                      </p:cBhvr>
                                      <p:to>
                                        <p:strVal val="visible"/>
                                      </p:to>
                                    </p:set>
                                    <p:animEffect transition="in" filter="fade">
                                      <p:cBhvr>
                                        <p:cTn id="83" dur="450"/>
                                        <p:tgtEl>
                                          <p:spTgt spid="39"/>
                                        </p:tgtEl>
                                      </p:cBhvr>
                                    </p:animEffect>
                                  </p:childTnLst>
                                </p:cTn>
                              </p:par>
                              <p:par>
                                <p:cTn id="84" presetID="10" presetClass="entr" presetSubtype="0" fill="hold" grpId="0" nodeType="withEffect">
                                  <p:stCondLst>
                                    <p:cond delay="480"/>
                                  </p:stCondLst>
                                  <p:childTnLst>
                                    <p:set>
                                      <p:cBhvr>
                                        <p:cTn id="85" dur="1" fill="hold">
                                          <p:stCondLst>
                                            <p:cond delay="0"/>
                                          </p:stCondLst>
                                        </p:cTn>
                                        <p:tgtEl>
                                          <p:spTgt spid="40"/>
                                        </p:tgtEl>
                                        <p:attrNameLst>
                                          <p:attrName>style.visibility</p:attrName>
                                        </p:attrNameLst>
                                      </p:cBhvr>
                                      <p:to>
                                        <p:strVal val="visible"/>
                                      </p:to>
                                    </p:set>
                                    <p:animEffect transition="in" filter="fade">
                                      <p:cBhvr>
                                        <p:cTn id="86" dur="450"/>
                                        <p:tgtEl>
                                          <p:spTgt spid="40"/>
                                        </p:tgtEl>
                                      </p:cBhvr>
                                    </p:animEffect>
                                  </p:childTnLst>
                                </p:cTn>
                              </p:par>
                              <p:par>
                                <p:cTn id="87" presetID="10" presetClass="entr" presetSubtype="0" fill="hold" grpId="0" nodeType="withEffect">
                                  <p:stCondLst>
                                    <p:cond delay="600"/>
                                  </p:stCondLst>
                                  <p:childTnLst>
                                    <p:set>
                                      <p:cBhvr>
                                        <p:cTn id="88" dur="1" fill="hold">
                                          <p:stCondLst>
                                            <p:cond delay="0"/>
                                          </p:stCondLst>
                                        </p:cTn>
                                        <p:tgtEl>
                                          <p:spTgt spid="41"/>
                                        </p:tgtEl>
                                        <p:attrNameLst>
                                          <p:attrName>style.visibility</p:attrName>
                                        </p:attrNameLst>
                                      </p:cBhvr>
                                      <p:to>
                                        <p:strVal val="visible"/>
                                      </p:to>
                                    </p:set>
                                    <p:animEffect transition="in" filter="fade">
                                      <p:cBhvr>
                                        <p:cTn id="89" dur="450"/>
                                        <p:tgtEl>
                                          <p:spTgt spid="41"/>
                                        </p:tgtEl>
                                      </p:cBhvr>
                                    </p:animEffect>
                                  </p:childTnLst>
                                </p:cTn>
                              </p:par>
                              <p:par>
                                <p:cTn id="90" presetID="10" presetClass="entr" presetSubtype="0" fill="hold" grpId="0" nodeType="withEffect">
                                  <p:stCondLst>
                                    <p:cond delay="720"/>
                                  </p:stCondLst>
                                  <p:childTnLst>
                                    <p:set>
                                      <p:cBhvr>
                                        <p:cTn id="91" dur="1" fill="hold">
                                          <p:stCondLst>
                                            <p:cond delay="0"/>
                                          </p:stCondLst>
                                        </p:cTn>
                                        <p:tgtEl>
                                          <p:spTgt spid="42"/>
                                        </p:tgtEl>
                                        <p:attrNameLst>
                                          <p:attrName>style.visibility</p:attrName>
                                        </p:attrNameLst>
                                      </p:cBhvr>
                                      <p:to>
                                        <p:strVal val="visible"/>
                                      </p:to>
                                    </p:set>
                                    <p:animEffect transition="in" filter="fade">
                                      <p:cBhvr>
                                        <p:cTn id="92" dur="450"/>
                                        <p:tgtEl>
                                          <p:spTgt spid="42"/>
                                        </p:tgtEl>
                                      </p:cBhvr>
                                    </p:animEffect>
                                  </p:childTnLst>
                                </p:cTn>
                              </p:par>
                            </p:childTnLst>
                          </p:cTn>
                        </p:par>
                      </p:childTnLst>
                    </p:cTn>
                  </p:par>
                  <p:par>
                    <p:cTn id="116" fill="hold">
                      <p:stCondLst>
                        <p:cond delay="indefinite"/>
                      </p:stCondLst>
                      <p:childTnLst>
                        <p:par>
                          <p:cTn id="117"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44"/>
                                        </p:tgtEl>
                                        <p:attrNameLst>
                                          <p:attrName>style.visibility</p:attrName>
                                        </p:attrNameLst>
                                      </p:cBhvr>
                                      <p:to>
                                        <p:strVal val="visible"/>
                                      </p:to>
                                    </p:set>
                                    <p:animEffect transition="in" filter="fade">
                                      <p:cBhvr>
                                        <p:cTn id="97" dur="450"/>
                                        <p:tgtEl>
                                          <p:spTgt spid="44"/>
                                        </p:tgtEl>
                                      </p:cBhvr>
                                    </p:animEffect>
                                  </p:childTnLst>
                                </p:cTn>
                              </p:par>
                              <p:par>
                                <p:cTn id="98" presetID="10" presetClass="entr" presetSubtype="0" fill="hold" grpId="0" nodeType="withEffect">
                                  <p:stCondLst>
                                    <p:cond delay="120"/>
                                  </p:stCondLst>
                                  <p:childTnLst>
                                    <p:set>
                                      <p:cBhvr>
                                        <p:cTn id="99" dur="1" fill="hold">
                                          <p:stCondLst>
                                            <p:cond delay="0"/>
                                          </p:stCondLst>
                                        </p:cTn>
                                        <p:tgtEl>
                                          <p:spTgt spid="45"/>
                                        </p:tgtEl>
                                        <p:attrNameLst>
                                          <p:attrName>style.visibility</p:attrName>
                                        </p:attrNameLst>
                                      </p:cBhvr>
                                      <p:to>
                                        <p:strVal val="visible"/>
                                      </p:to>
                                    </p:set>
                                    <p:animEffect transition="in" filter="fade">
                                      <p:cBhvr>
                                        <p:cTn id="100" dur="450"/>
                                        <p:tgtEl>
                                          <p:spTgt spid="45"/>
                                        </p:tgtEl>
                                      </p:cBhvr>
                                    </p:animEffect>
                                  </p:childTnLst>
                                </p:cTn>
                              </p:par>
                              <p:par>
                                <p:cTn id="101" presetID="10" presetClass="entr" presetSubtype="0" fill="hold" grpId="0" nodeType="withEffect">
                                  <p:stCondLst>
                                    <p:cond delay="240"/>
                                  </p:stCondLst>
                                  <p:childTnLst>
                                    <p:set>
                                      <p:cBhvr>
                                        <p:cTn id="102" dur="1" fill="hold">
                                          <p:stCondLst>
                                            <p:cond delay="0"/>
                                          </p:stCondLst>
                                        </p:cTn>
                                        <p:tgtEl>
                                          <p:spTgt spid="46"/>
                                        </p:tgtEl>
                                        <p:attrNameLst>
                                          <p:attrName>style.visibility</p:attrName>
                                        </p:attrNameLst>
                                      </p:cBhvr>
                                      <p:to>
                                        <p:strVal val="visible"/>
                                      </p:to>
                                    </p:set>
                                    <p:animEffect transition="in" filter="fade">
                                      <p:cBhvr>
                                        <p:cTn id="103" dur="450"/>
                                        <p:tgtEl>
                                          <p:spTgt spid="46"/>
                                        </p:tgtEl>
                                      </p:cBhvr>
                                    </p:animEffect>
                                  </p:childTnLst>
                                </p:cTn>
                              </p:par>
                              <p:par>
                                <p:cTn id="104" presetID="10" presetClass="entr" presetSubtype="0" fill="hold" grpId="0" nodeType="withEffect">
                                  <p:stCondLst>
                                    <p:cond delay="360"/>
                                  </p:stCondLst>
                                  <p:childTnLst>
                                    <p:set>
                                      <p:cBhvr>
                                        <p:cTn id="105" dur="1" fill="hold">
                                          <p:stCondLst>
                                            <p:cond delay="0"/>
                                          </p:stCondLst>
                                        </p:cTn>
                                        <p:tgtEl>
                                          <p:spTgt spid="47"/>
                                        </p:tgtEl>
                                        <p:attrNameLst>
                                          <p:attrName>style.visibility</p:attrName>
                                        </p:attrNameLst>
                                      </p:cBhvr>
                                      <p:to>
                                        <p:strVal val="visible"/>
                                      </p:to>
                                    </p:set>
                                    <p:animEffect transition="in" filter="fade">
                                      <p:cBhvr>
                                        <p:cTn id="106" dur="450"/>
                                        <p:tgtEl>
                                          <p:spTgt spid="47"/>
                                        </p:tgtEl>
                                      </p:cBhvr>
                                    </p:animEffect>
                                  </p:childTnLst>
                                </p:cTn>
                              </p:par>
                              <p:par>
                                <p:cTn id="107" presetID="10" presetClass="entr" presetSubtype="0" fill="hold" grpId="0" nodeType="withEffect">
                                  <p:stCondLst>
                                    <p:cond delay="480"/>
                                  </p:stCondLst>
                                  <p:childTnLst>
                                    <p:set>
                                      <p:cBhvr>
                                        <p:cTn id="108" dur="1" fill="hold">
                                          <p:stCondLst>
                                            <p:cond delay="0"/>
                                          </p:stCondLst>
                                        </p:cTn>
                                        <p:tgtEl>
                                          <p:spTgt spid="48"/>
                                        </p:tgtEl>
                                        <p:attrNameLst>
                                          <p:attrName>style.visibility</p:attrName>
                                        </p:attrNameLst>
                                      </p:cBhvr>
                                      <p:to>
                                        <p:strVal val="visible"/>
                                      </p:to>
                                    </p:set>
                                    <p:animEffect transition="in" filter="fade">
                                      <p:cBhvr>
                                        <p:cTn id="109" dur="450"/>
                                        <p:tgtEl>
                                          <p:spTgt spid="48"/>
                                        </p:tgtEl>
                                      </p:cBhvr>
                                    </p:animEffect>
                                  </p:childTnLst>
                                </p:cTn>
                              </p:par>
                              <p:par>
                                <p:cTn id="110" presetID="10" presetClass="entr" presetSubtype="0" fill="hold" grpId="0" nodeType="withEffect">
                                  <p:stCondLst>
                                    <p:cond delay="600"/>
                                  </p:stCondLst>
                                  <p:childTnLst>
                                    <p:set>
                                      <p:cBhvr>
                                        <p:cTn id="111" dur="1" fill="hold">
                                          <p:stCondLst>
                                            <p:cond delay="0"/>
                                          </p:stCondLst>
                                        </p:cTn>
                                        <p:tgtEl>
                                          <p:spTgt spid="49"/>
                                        </p:tgtEl>
                                        <p:attrNameLst>
                                          <p:attrName>style.visibility</p:attrName>
                                        </p:attrNameLst>
                                      </p:cBhvr>
                                      <p:to>
                                        <p:strVal val="visible"/>
                                      </p:to>
                                    </p:set>
                                    <p:animEffect transition="in" filter="fade">
                                      <p:cBhvr>
                                        <p:cTn id="112" dur="450"/>
                                        <p:tgtEl>
                                          <p:spTgt spid="49"/>
                                        </p:tgtEl>
                                      </p:cBhvr>
                                    </p:animEffect>
                                  </p:childTnLst>
                                </p:cTn>
                              </p:par>
                              <p:par>
                                <p:cTn id="113" presetID="10" presetClass="entr" presetSubtype="0" fill="hold" grpId="0" nodeType="withEffect">
                                  <p:stCondLst>
                                    <p:cond delay="720"/>
                                  </p:stCondLst>
                                  <p:childTnLst>
                                    <p:set>
                                      <p:cBhvr>
                                        <p:cTn id="114" dur="1" fill="hold">
                                          <p:stCondLst>
                                            <p:cond delay="0"/>
                                          </p:stCondLst>
                                        </p:cTn>
                                        <p:tgtEl>
                                          <p:spTgt spid="50"/>
                                        </p:tgtEl>
                                        <p:attrNameLst>
                                          <p:attrName>style.visibility</p:attrName>
                                        </p:attrNameLst>
                                      </p:cBhvr>
                                      <p:to>
                                        <p:strVal val="visible"/>
                                      </p:to>
                                    </p:set>
                                    <p:animEffect transition="in" filter="fade">
                                      <p:cBhvr>
                                        <p:cTn id="115" dur="450"/>
                                        <p:tgtEl>
                                          <p:spTgt spid="50"/>
                                        </p:tgtEl>
                                      </p:cBhvr>
                                    </p:animEffect>
                                  </p:childTnLst>
                                </p:cTn>
                              </p:par>
                            </p:childTnLst>
                          </p:cTn>
                        </p:par>
                      </p:childTnLst>
                    </p:cTn>
                  </p:par>
                  <p:par>
                    <p:cTn id="142" fill="hold">
                      <p:stCondLst>
                        <p:cond delay="indefinite"/>
                      </p:stCondLst>
                      <p:childTnLst>
                        <p:par>
                          <p:cTn id="143" fill="hold">
                            <p:stCondLst>
                              <p:cond delay="0"/>
                            </p:stCondLst>
                            <p:childTnLst>
                              <p:par>
                                <p:cTn id="118" presetID="10" presetClass="entr" presetSubtype="0" fill="hold" grpId="0" nodeType="clickEffect">
                                  <p:stCondLst>
                                    <p:cond delay="0"/>
                                  </p:stCondLst>
                                  <p:childTnLst>
                                    <p:set>
                                      <p:cBhvr>
                                        <p:cTn id="119" dur="1" fill="hold">
                                          <p:stCondLst>
                                            <p:cond delay="0"/>
                                          </p:stCondLst>
                                        </p:cTn>
                                        <p:tgtEl>
                                          <p:spTgt spid="51"/>
                                        </p:tgtEl>
                                        <p:attrNameLst>
                                          <p:attrName>style.visibility</p:attrName>
                                        </p:attrNameLst>
                                      </p:cBhvr>
                                      <p:to>
                                        <p:strVal val="visible"/>
                                      </p:to>
                                    </p:set>
                                    <p:animEffect transition="in" filter="fade">
                                      <p:cBhvr>
                                        <p:cTn id="120" dur="450"/>
                                        <p:tgtEl>
                                          <p:spTgt spid="51"/>
                                        </p:tgtEl>
                                      </p:cBhvr>
                                    </p:animEffect>
                                  </p:childTnLst>
                                </p:cTn>
                              </p:par>
                              <p:par>
                                <p:cTn id="121" presetID="10" presetClass="entr" presetSubtype="0" fill="hold" grpId="0" nodeType="withEffect">
                                  <p:stCondLst>
                                    <p:cond delay="120"/>
                                  </p:stCondLst>
                                  <p:childTnLst>
                                    <p:set>
                                      <p:cBhvr>
                                        <p:cTn id="122" dur="1" fill="hold">
                                          <p:stCondLst>
                                            <p:cond delay="0"/>
                                          </p:stCondLst>
                                        </p:cTn>
                                        <p:tgtEl>
                                          <p:spTgt spid="52"/>
                                        </p:tgtEl>
                                        <p:attrNameLst>
                                          <p:attrName>style.visibility</p:attrName>
                                        </p:attrNameLst>
                                      </p:cBhvr>
                                      <p:to>
                                        <p:strVal val="visible"/>
                                      </p:to>
                                    </p:set>
                                    <p:animEffect transition="in" filter="fade">
                                      <p:cBhvr>
                                        <p:cTn id="123" dur="450"/>
                                        <p:tgtEl>
                                          <p:spTgt spid="52"/>
                                        </p:tgtEl>
                                      </p:cBhvr>
                                    </p:animEffect>
                                  </p:childTnLst>
                                </p:cTn>
                              </p:par>
                              <p:par>
                                <p:cTn id="124" presetID="10" presetClass="entr" presetSubtype="0" fill="hold" grpId="0" nodeType="withEffect">
                                  <p:stCondLst>
                                    <p:cond delay="240"/>
                                  </p:stCondLst>
                                  <p:childTnLst>
                                    <p:set>
                                      <p:cBhvr>
                                        <p:cTn id="125" dur="1" fill="hold">
                                          <p:stCondLst>
                                            <p:cond delay="0"/>
                                          </p:stCondLst>
                                        </p:cTn>
                                        <p:tgtEl>
                                          <p:spTgt spid="53"/>
                                        </p:tgtEl>
                                        <p:attrNameLst>
                                          <p:attrName>style.visibility</p:attrName>
                                        </p:attrNameLst>
                                      </p:cBhvr>
                                      <p:to>
                                        <p:strVal val="visible"/>
                                      </p:to>
                                    </p:set>
                                    <p:animEffect transition="in" filter="fade">
                                      <p:cBhvr>
                                        <p:cTn id="126" dur="450"/>
                                        <p:tgtEl>
                                          <p:spTgt spid="53"/>
                                        </p:tgtEl>
                                      </p:cBhvr>
                                    </p:animEffect>
                                  </p:childTnLst>
                                </p:cTn>
                              </p:par>
                              <p:par>
                                <p:cTn id="127" presetID="10" presetClass="entr" presetSubtype="0" fill="hold" grpId="0" nodeType="withEffect">
                                  <p:stCondLst>
                                    <p:cond delay="360"/>
                                  </p:stCondLst>
                                  <p:childTnLst>
                                    <p:set>
                                      <p:cBhvr>
                                        <p:cTn id="128" dur="1" fill="hold">
                                          <p:stCondLst>
                                            <p:cond delay="0"/>
                                          </p:stCondLst>
                                        </p:cTn>
                                        <p:tgtEl>
                                          <p:spTgt spid="54"/>
                                        </p:tgtEl>
                                        <p:attrNameLst>
                                          <p:attrName>style.visibility</p:attrName>
                                        </p:attrNameLst>
                                      </p:cBhvr>
                                      <p:to>
                                        <p:strVal val="visible"/>
                                      </p:to>
                                    </p:set>
                                    <p:animEffect transition="in" filter="fade">
                                      <p:cBhvr>
                                        <p:cTn id="129" dur="450"/>
                                        <p:tgtEl>
                                          <p:spTgt spid="54"/>
                                        </p:tgtEl>
                                      </p:cBhvr>
                                    </p:animEffect>
                                  </p:childTnLst>
                                </p:cTn>
                              </p:par>
                              <p:par>
                                <p:cTn id="130" presetID="10" presetClass="entr" presetSubtype="0" fill="hold" grpId="0" nodeType="withEffect">
                                  <p:stCondLst>
                                    <p:cond delay="480"/>
                                  </p:stCondLst>
                                  <p:childTnLst>
                                    <p:set>
                                      <p:cBhvr>
                                        <p:cTn id="131" dur="1" fill="hold">
                                          <p:stCondLst>
                                            <p:cond delay="0"/>
                                          </p:stCondLst>
                                        </p:cTn>
                                        <p:tgtEl>
                                          <p:spTgt spid="55"/>
                                        </p:tgtEl>
                                        <p:attrNameLst>
                                          <p:attrName>style.visibility</p:attrName>
                                        </p:attrNameLst>
                                      </p:cBhvr>
                                      <p:to>
                                        <p:strVal val="visible"/>
                                      </p:to>
                                    </p:set>
                                    <p:animEffect transition="in" filter="fade">
                                      <p:cBhvr>
                                        <p:cTn id="132" dur="450"/>
                                        <p:tgtEl>
                                          <p:spTgt spid="55"/>
                                        </p:tgtEl>
                                      </p:cBhvr>
                                    </p:animEffect>
                                  </p:childTnLst>
                                </p:cTn>
                              </p:par>
                              <p:par>
                                <p:cTn id="133" presetID="10" presetClass="entr" presetSubtype="0" fill="hold" grpId="0" nodeType="withEffect">
                                  <p:stCondLst>
                                    <p:cond delay="600"/>
                                  </p:stCondLst>
                                  <p:childTnLst>
                                    <p:set>
                                      <p:cBhvr>
                                        <p:cTn id="134" dur="1" fill="hold">
                                          <p:stCondLst>
                                            <p:cond delay="0"/>
                                          </p:stCondLst>
                                        </p:cTn>
                                        <p:tgtEl>
                                          <p:spTgt spid="56"/>
                                        </p:tgtEl>
                                        <p:attrNameLst>
                                          <p:attrName>style.visibility</p:attrName>
                                        </p:attrNameLst>
                                      </p:cBhvr>
                                      <p:to>
                                        <p:strVal val="visible"/>
                                      </p:to>
                                    </p:set>
                                    <p:animEffect transition="in" filter="fade">
                                      <p:cBhvr>
                                        <p:cTn id="135" dur="450"/>
                                        <p:tgtEl>
                                          <p:spTgt spid="56"/>
                                        </p:tgtEl>
                                      </p:cBhvr>
                                    </p:animEffect>
                                  </p:childTnLst>
                                </p:cTn>
                              </p:par>
                              <p:par>
                                <p:cTn id="136" presetID="10" presetClass="entr" presetSubtype="0" fill="hold" grpId="0" nodeType="withEffect">
                                  <p:stCondLst>
                                    <p:cond delay="720"/>
                                  </p:stCondLst>
                                  <p:childTnLst>
                                    <p:set>
                                      <p:cBhvr>
                                        <p:cTn id="137" dur="1" fill="hold">
                                          <p:stCondLst>
                                            <p:cond delay="0"/>
                                          </p:stCondLst>
                                        </p:cTn>
                                        <p:tgtEl>
                                          <p:spTgt spid="57"/>
                                        </p:tgtEl>
                                        <p:attrNameLst>
                                          <p:attrName>style.visibility</p:attrName>
                                        </p:attrNameLst>
                                      </p:cBhvr>
                                      <p:to>
                                        <p:strVal val="visible"/>
                                      </p:to>
                                    </p:set>
                                    <p:animEffect transition="in" filter="fade">
                                      <p:cBhvr>
                                        <p:cTn id="138" dur="450"/>
                                        <p:tgtEl>
                                          <p:spTgt spid="57"/>
                                        </p:tgtEl>
                                      </p:cBhvr>
                                    </p:animEffect>
                                  </p:childTnLst>
                                </p:cTn>
                              </p:par>
                              <p:par>
                                <p:cTn id="139" presetID="10" presetClass="entr" presetSubtype="0" fill="hold" grpId="0" nodeType="withEffect">
                                  <p:stCondLst>
                                    <p:cond delay="840"/>
                                  </p:stCondLst>
                                  <p:childTnLst>
                                    <p:set>
                                      <p:cBhvr>
                                        <p:cTn id="140" dur="1" fill="hold">
                                          <p:stCondLst>
                                            <p:cond delay="0"/>
                                          </p:stCondLst>
                                        </p:cTn>
                                        <p:tgtEl>
                                          <p:spTgt spid="58"/>
                                        </p:tgtEl>
                                        <p:attrNameLst>
                                          <p:attrName>style.visibility</p:attrName>
                                        </p:attrNameLst>
                                      </p:cBhvr>
                                      <p:to>
                                        <p:strVal val="visible"/>
                                      </p:to>
                                    </p:set>
                                    <p:animEffect transition="in" filter="fade">
                                      <p:cBhvr>
                                        <p:cTn id="141" dur="45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669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274320" y="0"/>
            <a:ext cx="6400800" cy="566928"/>
          </a:xfrm>
          <a:prstGeom prst="rect">
            <a:avLst/>
          </a:prstGeom>
          <a:noFill/>
        </p:spPr>
        <p:txBody>
          <a:bodyPr wrap="square" lIns="0" rIns="0" tIns="0" bIns="0" anchor="ctr">
            <a:spAutoFit/>
          </a:bodyPr>
          <a:lstStyle/>
          <a:p>
            <a:pPr algn="l"/>
            <a:r>
              <a:rPr sz="1800" b="1" i="0" spc="100">
                <a:solidFill>
                  <a:srgbClr val="FFFFFF"/>
                </a:solidFill>
                <a:latin typeface="Calibri"/>
                <a:ea typeface="Calibri"/>
                <a:cs typeface="Calibri"/>
              </a:rPr>
              <a:t>ANNEXE  |  SUPPORT ET RESSOURCES</a:t>
            </a: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Freeform 4"/>
          <p:cNvSpPr/>
          <p:nvPr/>
        </p:nvSpPr>
        <p:spPr>
          <a:xfrm>
            <a:off x="393162" y="757620"/>
            <a:ext cx="237803" cy="203831"/>
          </a:xfrm>
          <a:custGeom>
            <a:avLst/>
            <a:gdLst/>
            <a:ahLst/>
            <a:cxnLst/>
            <a:rect l="l" t="t" r="r" b="b"/>
            <a:pathLst>
              <a:path w="237803" h="203831">
                <a:moveTo>
                  <a:pt x="0" y="0"/>
                </a:moveTo>
                <a:lnTo>
                  <a:pt x="237803" y="0"/>
                </a:lnTo>
                <a:lnTo>
                  <a:pt x="237803" y="141549"/>
                </a:lnTo>
                <a:lnTo>
                  <a:pt x="96254" y="141549"/>
                </a:lnTo>
                <a:lnTo>
                  <a:pt x="45296" y="203831"/>
                </a:lnTo>
                <a:lnTo>
                  <a:pt x="45296" y="141549"/>
                </a:lnTo>
                <a:lnTo>
                  <a:pt x="0" y="141549"/>
                </a:lnTo>
                <a:close/>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46951" y="814240"/>
            <a:ext cx="28309" cy="28309"/>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97909" y="814240"/>
            <a:ext cx="28309" cy="28309"/>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48866" y="814240"/>
            <a:ext cx="28309" cy="28309"/>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731520"/>
            <a:ext cx="8046719" cy="274320"/>
          </a:xfrm>
          <a:prstGeom prst="rect">
            <a:avLst/>
          </a:prstGeom>
          <a:noFill/>
        </p:spPr>
        <p:txBody>
          <a:bodyPr wrap="square" lIns="0" rIns="0" tIns="0" bIns="0" anchor="ctr">
            <a:spAutoFit/>
          </a:bodyPr>
          <a:lstStyle/>
          <a:p>
            <a:pPr algn="l"/>
            <a:r>
              <a:rPr sz="1100" b="1" i="0" spc="60">
                <a:solidFill>
                  <a:srgbClr val="009A56"/>
                </a:solidFill>
                <a:latin typeface="Calibri"/>
                <a:ea typeface="Calibri"/>
                <a:cs typeface="Calibri"/>
              </a:rPr>
              <a:t>À QUI S'ADRESSER, ET POUR QUOI</a:t>
            </a:r>
          </a:p>
        </p:txBody>
      </p:sp>
      <p:sp>
        <p:nvSpPr>
          <p:cNvPr id="10" name="Rectangle 9"/>
          <p:cNvSpPr/>
          <p:nvPr/>
        </p:nvSpPr>
        <p:spPr>
          <a:xfrm>
            <a:off x="365760" y="987552"/>
            <a:ext cx="8412480" cy="27432"/>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0" y="4892040"/>
            <a:ext cx="9144000" cy="25603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5760" y="4892040"/>
            <a:ext cx="3657600" cy="256032"/>
          </a:xfrm>
          <a:prstGeom prst="rect">
            <a:avLst/>
          </a:prstGeom>
          <a:noFill/>
        </p:spPr>
        <p:txBody>
          <a:bodyPr wrap="square" lIns="0" rIns="0" tIns="0" bIns="0" anchor="ctr">
            <a:spAutoFit/>
          </a:bodyPr>
          <a:lstStyle/>
          <a:p>
            <a:pPr algn="l"/>
            <a:r>
              <a:rPr sz="800" b="0" i="0">
                <a:solidFill>
                  <a:srgbClr val="888888"/>
                </a:solidFill>
                <a:latin typeface="Calibri"/>
                <a:ea typeface="Calibri"/>
                <a:cs typeface="Calibri"/>
              </a:rPr>
              <a:t>Formation Plateforme KYC  |  BOA RDC</a:t>
            </a:r>
          </a:p>
        </p:txBody>
      </p:sp>
      <p:sp>
        <p:nvSpPr>
          <p:cNvPr id="13" name="TextBox 12"/>
          <p:cNvSpPr txBox="1"/>
          <p:nvPr/>
        </p:nvSpPr>
        <p:spPr>
          <a:xfrm>
            <a:off x="5120640" y="4892040"/>
            <a:ext cx="3657600" cy="256032"/>
          </a:xfrm>
          <a:prstGeom prst="rect">
            <a:avLst/>
          </a:prstGeom>
          <a:noFill/>
        </p:spPr>
        <p:txBody>
          <a:bodyPr wrap="square" lIns="0" rIns="0" tIns="0" bIns="0" anchor="ctr">
            <a:spAutoFit/>
          </a:bodyPr>
          <a:lstStyle/>
          <a:p>
            <a:pPr algn="r"/>
            <a:r>
              <a:rPr sz="800" b="0" i="0">
                <a:solidFill>
                  <a:srgbClr val="888888"/>
                </a:solidFill>
                <a:latin typeface="Calibri"/>
                <a:ea typeface="Calibri"/>
                <a:cs typeface="Calibri"/>
              </a:rPr>
              <a:t>19 / 20</a:t>
            </a:r>
          </a:p>
        </p:txBody>
      </p:sp>
      <p:sp>
        <p:nvSpPr>
          <p:cNvPr id="14" name="Rounded Rectangle 13"/>
          <p:cNvSpPr/>
          <p:nvPr/>
        </p:nvSpPr>
        <p:spPr>
          <a:xfrm>
            <a:off x="365760" y="1143000"/>
            <a:ext cx="4023360" cy="34290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365760" y="1143000"/>
            <a:ext cx="4023360" cy="2743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29181" y="1190512"/>
            <a:ext cx="75492" cy="75492"/>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481998" y="1289596"/>
            <a:ext cx="169859" cy="84930"/>
          </a:xfrm>
          <a:custGeom>
            <a:avLst/>
            <a:gdLst/>
            <a:ahLst/>
            <a:cxnLst/>
            <a:rect l="l" t="t" r="r" b="b"/>
            <a:pathLst>
              <a:path w="169859" h="84930">
                <a:moveTo>
                  <a:pt x="0" y="84930"/>
                </a:moveTo>
                <a:lnTo>
                  <a:pt x="14155" y="28310"/>
                </a:lnTo>
                <a:lnTo>
                  <a:pt x="84930" y="0"/>
                </a:lnTo>
                <a:lnTo>
                  <a:pt x="155704" y="28310"/>
                </a:lnTo>
                <a:lnTo>
                  <a:pt x="169859" y="84930"/>
                </a:lnTo>
              </a:path>
            </a:pathLst>
          </a:cu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1143000"/>
            <a:ext cx="3529584"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VOS INTERLOCUTEURS</a:t>
            </a:r>
          </a:p>
        </p:txBody>
      </p:sp>
      <p:sp>
        <p:nvSpPr>
          <p:cNvPr id="19" name="Oval 18"/>
          <p:cNvSpPr/>
          <p:nvPr/>
        </p:nvSpPr>
        <p:spPr>
          <a:xfrm>
            <a:off x="590197" y="1760629"/>
            <a:ext cx="96253" cy="96253"/>
          </a:xfrm>
          <a:prstGeom prst="ellipse">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669465" y="1842728"/>
            <a:ext cx="130225" cy="130225"/>
          </a:xfrm>
          <a:custGeom>
            <a:avLst/>
            <a:gdLst/>
            <a:ahLst/>
            <a:cxnLst/>
            <a:rect l="l" t="t" r="r" b="b"/>
            <a:pathLst>
              <a:path w="130225" h="130225">
                <a:moveTo>
                  <a:pt x="0" y="0"/>
                </a:moveTo>
                <a:lnTo>
                  <a:pt x="130225" y="130225"/>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723253" y="1865376"/>
            <a:ext cx="31141" cy="31140"/>
          </a:xfrm>
          <a:custGeom>
            <a:avLst/>
            <a:gdLst/>
            <a:ahLst/>
            <a:cxnLst/>
            <a:rect l="l" t="t" r="r" b="b"/>
            <a:pathLst>
              <a:path w="31141" h="31140">
                <a:moveTo>
                  <a:pt x="0" y="31140"/>
                </a:moveTo>
                <a:lnTo>
                  <a:pt x="31141"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754394" y="1896516"/>
            <a:ext cx="31141" cy="31141"/>
          </a:xfrm>
          <a:custGeom>
            <a:avLst/>
            <a:gdLst/>
            <a:ahLst/>
            <a:cxnLst/>
            <a:rect l="l" t="t" r="r" b="b"/>
            <a:pathLst>
              <a:path w="31141" h="31141">
                <a:moveTo>
                  <a:pt x="0" y="31141"/>
                </a:moveTo>
                <a:lnTo>
                  <a:pt x="31141"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1627632"/>
            <a:ext cx="3291840" cy="237744"/>
          </a:xfrm>
          <a:prstGeom prst="rect">
            <a:avLst/>
          </a:prstGeom>
          <a:noFill/>
        </p:spPr>
        <p:txBody>
          <a:bodyPr wrap="square" lIns="0" rIns="0" tIns="0" bIns="0" anchor="ctr">
            <a:spAutoFit/>
          </a:bodyPr>
          <a:lstStyle/>
          <a:p>
            <a:pPr algn="l"/>
            <a:r>
              <a:rPr sz="950" b="1" i="0">
                <a:solidFill>
                  <a:srgbClr val="1B2A4A"/>
                </a:solidFill>
                <a:latin typeface="Calibri"/>
                <a:ea typeface="Calibri"/>
                <a:cs typeface="Calibri"/>
              </a:rPr>
              <a:t>Accès, mot de passe, verrouillage</a:t>
            </a:r>
          </a:p>
        </p:txBody>
      </p:sp>
      <p:sp>
        <p:nvSpPr>
          <p:cNvPr id="24" name="TextBox 23"/>
          <p:cNvSpPr txBox="1"/>
          <p:nvPr/>
        </p:nvSpPr>
        <p:spPr>
          <a:xfrm>
            <a:off x="914400" y="1865376"/>
            <a:ext cx="3291840" cy="237744"/>
          </a:xfrm>
          <a:prstGeom prst="rect">
            <a:avLst/>
          </a:prstGeom>
          <a:noFill/>
        </p:spPr>
        <p:txBody>
          <a:bodyPr wrap="square" lIns="0" rIns="0" tIns="0" bIns="0" anchor="ctr">
            <a:spAutoFit/>
          </a:bodyPr>
          <a:lstStyle/>
          <a:p>
            <a:pPr algn="l"/>
            <a:r>
              <a:rPr sz="950" b="0" i="0">
                <a:solidFill>
                  <a:srgbClr val="009A56"/>
                </a:solidFill>
                <a:latin typeface="Calibri"/>
                <a:ea typeface="Calibri"/>
                <a:cs typeface="Calibri"/>
              </a:rPr>
              <a:t>DSI BOA RDC</a:t>
            </a:r>
          </a:p>
        </p:txBody>
      </p:sp>
      <p:sp>
        <p:nvSpPr>
          <p:cNvPr id="25" name="Rectangle 24"/>
          <p:cNvSpPr/>
          <p:nvPr/>
        </p:nvSpPr>
        <p:spPr>
          <a:xfrm>
            <a:off x="548640" y="2139696"/>
            <a:ext cx="3657600"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76042" y="2331690"/>
            <a:ext cx="237802" cy="237802"/>
          </a:xfrm>
          <a:prstGeom prst="ellipse">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649648" y="2405296"/>
            <a:ext cx="90591" cy="90591"/>
          </a:xfrm>
          <a:custGeom>
            <a:avLst/>
            <a:gdLst/>
            <a:ahLst/>
            <a:cxnLst/>
            <a:rect l="l" t="t" r="r" b="b"/>
            <a:pathLst>
              <a:path w="90591" h="90591">
                <a:moveTo>
                  <a:pt x="90591" y="0"/>
                </a:moveTo>
                <a:lnTo>
                  <a:pt x="62281" y="62281"/>
                </a:lnTo>
                <a:lnTo>
                  <a:pt x="0" y="90591"/>
                </a:lnTo>
                <a:lnTo>
                  <a:pt x="28310" y="28310"/>
                </a:lnTo>
                <a:close/>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2212848"/>
            <a:ext cx="3291840" cy="237744"/>
          </a:xfrm>
          <a:prstGeom prst="rect">
            <a:avLst/>
          </a:prstGeom>
          <a:noFill/>
        </p:spPr>
        <p:txBody>
          <a:bodyPr wrap="square" lIns="0" rIns="0" tIns="0" bIns="0" anchor="ctr">
            <a:spAutoFit/>
          </a:bodyPr>
          <a:lstStyle/>
          <a:p>
            <a:pPr algn="l"/>
            <a:r>
              <a:rPr sz="950" b="1" i="0">
                <a:solidFill>
                  <a:srgbClr val="1B2A4A"/>
                </a:solidFill>
                <a:latin typeface="Calibri"/>
                <a:ea typeface="Calibri"/>
                <a:cs typeface="Calibri"/>
              </a:rPr>
              <a:t>Périmètre incorrect, menu manquant</a:t>
            </a:r>
          </a:p>
        </p:txBody>
      </p:sp>
      <p:sp>
        <p:nvSpPr>
          <p:cNvPr id="29" name="TextBox 28"/>
          <p:cNvSpPr txBox="1"/>
          <p:nvPr/>
        </p:nvSpPr>
        <p:spPr>
          <a:xfrm>
            <a:off x="914400" y="2450591"/>
            <a:ext cx="3291840" cy="237744"/>
          </a:xfrm>
          <a:prstGeom prst="rect">
            <a:avLst/>
          </a:prstGeom>
          <a:noFill/>
        </p:spPr>
        <p:txBody>
          <a:bodyPr wrap="square" lIns="0" rIns="0" tIns="0" bIns="0" anchor="ctr">
            <a:spAutoFit/>
          </a:bodyPr>
          <a:lstStyle/>
          <a:p>
            <a:pPr algn="l"/>
            <a:r>
              <a:rPr sz="950" b="0" i="0">
                <a:solidFill>
                  <a:srgbClr val="009A56"/>
                </a:solidFill>
                <a:latin typeface="Calibri"/>
                <a:ea typeface="Calibri"/>
                <a:cs typeface="Calibri"/>
              </a:rPr>
              <a:t>Correspondant KYC filiale</a:t>
            </a:r>
          </a:p>
        </p:txBody>
      </p:sp>
      <p:sp>
        <p:nvSpPr>
          <p:cNvPr id="30" name="Rectangle 29"/>
          <p:cNvSpPr/>
          <p:nvPr/>
        </p:nvSpPr>
        <p:spPr>
          <a:xfrm>
            <a:off x="548640" y="2724912"/>
            <a:ext cx="3657600"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Freeform 30"/>
          <p:cNvSpPr/>
          <p:nvPr/>
        </p:nvSpPr>
        <p:spPr>
          <a:xfrm>
            <a:off x="694944" y="2950878"/>
            <a:ext cx="0" cy="175521"/>
          </a:xfrm>
          <a:custGeom>
            <a:avLst/>
            <a:gdLst/>
            <a:ahLst/>
            <a:cxnLst/>
            <a:rect l="l" t="t" r="r" b="b"/>
            <a:pathLst>
              <a:path w="0" h="175521">
                <a:moveTo>
                  <a:pt x="0" y="0"/>
                </a:moveTo>
                <a:lnTo>
                  <a:pt x="0" y="175521"/>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632662" y="3137723"/>
            <a:ext cx="124563" cy="0"/>
          </a:xfrm>
          <a:custGeom>
            <a:avLst/>
            <a:gdLst/>
            <a:ahLst/>
            <a:cxnLst/>
            <a:rect l="l" t="t" r="r" b="b"/>
            <a:pathLst>
              <a:path w="124563" h="0">
                <a:moveTo>
                  <a:pt x="0" y="0"/>
                </a:moveTo>
                <a:lnTo>
                  <a:pt x="124563"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598690" y="2979188"/>
            <a:ext cx="192507" cy="0"/>
          </a:xfrm>
          <a:custGeom>
            <a:avLst/>
            <a:gdLst/>
            <a:ahLst/>
            <a:cxnLst/>
            <a:rect l="l" t="t" r="r" b="b"/>
            <a:pathLst>
              <a:path w="192507" h="0">
                <a:moveTo>
                  <a:pt x="0" y="0"/>
                </a:moveTo>
                <a:lnTo>
                  <a:pt x="192507"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598690" y="2979188"/>
            <a:ext cx="0" cy="22648"/>
          </a:xfrm>
          <a:custGeom>
            <a:avLst/>
            <a:gdLst/>
            <a:ahLst/>
            <a:cxnLst/>
            <a:rect l="l" t="t" r="r" b="b"/>
            <a:pathLst>
              <a:path w="0" h="22648">
                <a:moveTo>
                  <a:pt x="0" y="0"/>
                </a:moveTo>
                <a:lnTo>
                  <a:pt x="0" y="22648"/>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reeform 34"/>
          <p:cNvSpPr/>
          <p:nvPr/>
        </p:nvSpPr>
        <p:spPr>
          <a:xfrm>
            <a:off x="791197" y="2979188"/>
            <a:ext cx="0" cy="22648"/>
          </a:xfrm>
          <a:custGeom>
            <a:avLst/>
            <a:gdLst/>
            <a:ahLst/>
            <a:cxnLst/>
            <a:rect l="l" t="t" r="r" b="b"/>
            <a:pathLst>
              <a:path w="0" h="22648">
                <a:moveTo>
                  <a:pt x="0" y="0"/>
                </a:moveTo>
                <a:lnTo>
                  <a:pt x="0" y="22648"/>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Freeform 35"/>
          <p:cNvSpPr/>
          <p:nvPr/>
        </p:nvSpPr>
        <p:spPr>
          <a:xfrm>
            <a:off x="561887" y="3001836"/>
            <a:ext cx="73606" cy="62281"/>
          </a:xfrm>
          <a:custGeom>
            <a:avLst/>
            <a:gdLst/>
            <a:ahLst/>
            <a:cxnLst/>
            <a:rect l="l" t="t" r="r" b="b"/>
            <a:pathLst>
              <a:path w="73606" h="62281">
                <a:moveTo>
                  <a:pt x="0" y="0"/>
                </a:moveTo>
                <a:lnTo>
                  <a:pt x="73606" y="0"/>
                </a:lnTo>
                <a:lnTo>
                  <a:pt x="36803" y="62281"/>
                </a:lnTo>
                <a:close/>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754394" y="3001836"/>
            <a:ext cx="73606" cy="62281"/>
          </a:xfrm>
          <a:custGeom>
            <a:avLst/>
            <a:gdLst/>
            <a:ahLst/>
            <a:cxnLst/>
            <a:rect l="l" t="t" r="r" b="b"/>
            <a:pathLst>
              <a:path w="73606" h="62281">
                <a:moveTo>
                  <a:pt x="0" y="0"/>
                </a:moveTo>
                <a:lnTo>
                  <a:pt x="73606" y="0"/>
                </a:lnTo>
                <a:lnTo>
                  <a:pt x="36803" y="62281"/>
                </a:lnTo>
                <a:close/>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77958" y="2962202"/>
            <a:ext cx="33971" cy="33971"/>
          </a:xfrm>
          <a:prstGeom prst="ellipse">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 y="2798064"/>
            <a:ext cx="3291840" cy="237744"/>
          </a:xfrm>
          <a:prstGeom prst="rect">
            <a:avLst/>
          </a:prstGeom>
          <a:noFill/>
        </p:spPr>
        <p:txBody>
          <a:bodyPr wrap="square" lIns="0" rIns="0" tIns="0" bIns="0" anchor="ctr">
            <a:spAutoFit/>
          </a:bodyPr>
          <a:lstStyle/>
          <a:p>
            <a:pPr algn="l"/>
            <a:r>
              <a:rPr sz="950" b="1" i="0">
                <a:solidFill>
                  <a:srgbClr val="1B2A4A"/>
                </a:solidFill>
                <a:latin typeface="Calibri"/>
                <a:ea typeface="Calibri"/>
                <a:cs typeface="Calibri"/>
              </a:rPr>
              <a:t>Règle contestée, champ à ajouter</a:t>
            </a:r>
          </a:p>
        </p:txBody>
      </p:sp>
      <p:sp>
        <p:nvSpPr>
          <p:cNvPr id="40" name="TextBox 39"/>
          <p:cNvSpPr txBox="1"/>
          <p:nvPr/>
        </p:nvSpPr>
        <p:spPr>
          <a:xfrm>
            <a:off x="914400" y="3035808"/>
            <a:ext cx="3291840" cy="237744"/>
          </a:xfrm>
          <a:prstGeom prst="rect">
            <a:avLst/>
          </a:prstGeom>
          <a:noFill/>
        </p:spPr>
        <p:txBody>
          <a:bodyPr wrap="square" lIns="0" rIns="0" tIns="0" bIns="0" anchor="ctr">
            <a:spAutoFit/>
          </a:bodyPr>
          <a:lstStyle/>
          <a:p>
            <a:pPr algn="l"/>
            <a:r>
              <a:rPr sz="950" b="0" i="0">
                <a:solidFill>
                  <a:srgbClr val="009A56"/>
                </a:solidFill>
                <a:latin typeface="Calibri"/>
                <a:ea typeface="Calibri"/>
                <a:cs typeface="Calibri"/>
              </a:rPr>
              <a:t>Conformité BOA RDC</a:t>
            </a:r>
          </a:p>
        </p:txBody>
      </p:sp>
      <p:sp>
        <p:nvSpPr>
          <p:cNvPr id="41" name="Rectangle 40"/>
          <p:cNvSpPr/>
          <p:nvPr/>
        </p:nvSpPr>
        <p:spPr>
          <a:xfrm>
            <a:off x="548640" y="3310128"/>
            <a:ext cx="3657600"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15676" y="3541756"/>
            <a:ext cx="158535" cy="158535"/>
          </a:xfrm>
          <a:prstGeom prst="ellipse">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63803" y="3589883"/>
            <a:ext cx="62281" cy="62281"/>
          </a:xfrm>
          <a:prstGeom prst="ellipse">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773408" y="3653525"/>
            <a:ext cx="36617" cy="15167"/>
          </a:xfrm>
          <a:custGeom>
            <a:avLst/>
            <a:gdLst/>
            <a:ahLst/>
            <a:cxnLst/>
            <a:rect l="l" t="t" r="r" b="b"/>
            <a:pathLst>
              <a:path w="36617" h="15167">
                <a:moveTo>
                  <a:pt x="0" y="0"/>
                </a:moveTo>
                <a:lnTo>
                  <a:pt x="36617" y="15167"/>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Freeform 44"/>
          <p:cNvSpPr/>
          <p:nvPr/>
        </p:nvSpPr>
        <p:spPr>
          <a:xfrm>
            <a:off x="727445" y="3699488"/>
            <a:ext cx="15167" cy="36617"/>
          </a:xfrm>
          <a:custGeom>
            <a:avLst/>
            <a:gdLst/>
            <a:ahLst/>
            <a:cxnLst/>
            <a:rect l="l" t="t" r="r" b="b"/>
            <a:pathLst>
              <a:path w="15167" h="36617">
                <a:moveTo>
                  <a:pt x="0" y="0"/>
                </a:moveTo>
                <a:lnTo>
                  <a:pt x="15167" y="36617"/>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Freeform 45"/>
          <p:cNvSpPr/>
          <p:nvPr/>
        </p:nvSpPr>
        <p:spPr>
          <a:xfrm>
            <a:off x="647275" y="3699488"/>
            <a:ext cx="15167" cy="36617"/>
          </a:xfrm>
          <a:custGeom>
            <a:avLst/>
            <a:gdLst/>
            <a:ahLst/>
            <a:cxnLst/>
            <a:rect l="l" t="t" r="r" b="b"/>
            <a:pathLst>
              <a:path w="15167" h="36617">
                <a:moveTo>
                  <a:pt x="15167" y="0"/>
                </a:moveTo>
                <a:lnTo>
                  <a:pt x="0" y="36617"/>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Freeform 46"/>
          <p:cNvSpPr/>
          <p:nvPr/>
        </p:nvSpPr>
        <p:spPr>
          <a:xfrm>
            <a:off x="579862" y="3653525"/>
            <a:ext cx="36617" cy="15167"/>
          </a:xfrm>
          <a:custGeom>
            <a:avLst/>
            <a:gdLst/>
            <a:ahLst/>
            <a:cxnLst/>
            <a:rect l="l" t="t" r="r" b="b"/>
            <a:pathLst>
              <a:path w="36617" h="15167">
                <a:moveTo>
                  <a:pt x="36617" y="0"/>
                </a:moveTo>
                <a:lnTo>
                  <a:pt x="0" y="15167"/>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Freeform 47"/>
          <p:cNvSpPr/>
          <p:nvPr/>
        </p:nvSpPr>
        <p:spPr>
          <a:xfrm>
            <a:off x="579862" y="3573355"/>
            <a:ext cx="36617" cy="15167"/>
          </a:xfrm>
          <a:custGeom>
            <a:avLst/>
            <a:gdLst/>
            <a:ahLst/>
            <a:cxnLst/>
            <a:rect l="l" t="t" r="r" b="b"/>
            <a:pathLst>
              <a:path w="36617" h="15167">
                <a:moveTo>
                  <a:pt x="36617" y="15167"/>
                </a:moveTo>
                <a:lnTo>
                  <a:pt x="0"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Freeform 48"/>
          <p:cNvSpPr/>
          <p:nvPr/>
        </p:nvSpPr>
        <p:spPr>
          <a:xfrm>
            <a:off x="647275" y="3505942"/>
            <a:ext cx="15167" cy="36617"/>
          </a:xfrm>
          <a:custGeom>
            <a:avLst/>
            <a:gdLst/>
            <a:ahLst/>
            <a:cxnLst/>
            <a:rect l="l" t="t" r="r" b="b"/>
            <a:pathLst>
              <a:path w="15167" h="36617">
                <a:moveTo>
                  <a:pt x="15167" y="36617"/>
                </a:moveTo>
                <a:lnTo>
                  <a:pt x="0"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Freeform 49"/>
          <p:cNvSpPr/>
          <p:nvPr/>
        </p:nvSpPr>
        <p:spPr>
          <a:xfrm>
            <a:off x="727445" y="3505942"/>
            <a:ext cx="15167" cy="36617"/>
          </a:xfrm>
          <a:custGeom>
            <a:avLst/>
            <a:gdLst/>
            <a:ahLst/>
            <a:cxnLst/>
            <a:rect l="l" t="t" r="r" b="b"/>
            <a:pathLst>
              <a:path w="15167" h="36617">
                <a:moveTo>
                  <a:pt x="0" y="36617"/>
                </a:moveTo>
                <a:lnTo>
                  <a:pt x="15167"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Freeform 50"/>
          <p:cNvSpPr/>
          <p:nvPr/>
        </p:nvSpPr>
        <p:spPr>
          <a:xfrm>
            <a:off x="773408" y="3573355"/>
            <a:ext cx="36617" cy="15167"/>
          </a:xfrm>
          <a:custGeom>
            <a:avLst/>
            <a:gdLst/>
            <a:ahLst/>
            <a:cxnLst/>
            <a:rect l="l" t="t" r="r" b="b"/>
            <a:pathLst>
              <a:path w="36617" h="15167">
                <a:moveTo>
                  <a:pt x="0" y="15167"/>
                </a:moveTo>
                <a:lnTo>
                  <a:pt x="36617" y="0"/>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4400" y="3383280"/>
            <a:ext cx="3291840" cy="237744"/>
          </a:xfrm>
          <a:prstGeom prst="rect">
            <a:avLst/>
          </a:prstGeom>
          <a:noFill/>
        </p:spPr>
        <p:txBody>
          <a:bodyPr wrap="square" lIns="0" rIns="0" tIns="0" bIns="0" anchor="ctr">
            <a:spAutoFit/>
          </a:bodyPr>
          <a:lstStyle/>
          <a:p>
            <a:pPr algn="l"/>
            <a:r>
              <a:rPr sz="950" b="1" i="0">
                <a:solidFill>
                  <a:srgbClr val="1B2A4A"/>
                </a:solidFill>
                <a:latin typeface="Calibri"/>
                <a:ea typeface="Calibri"/>
                <a:cs typeface="Calibri"/>
              </a:rPr>
              <a:t>Anomalie technique, écran en erreur</a:t>
            </a:r>
          </a:p>
        </p:txBody>
      </p:sp>
      <p:sp>
        <p:nvSpPr>
          <p:cNvPr id="53" name="TextBox 52"/>
          <p:cNvSpPr txBox="1"/>
          <p:nvPr/>
        </p:nvSpPr>
        <p:spPr>
          <a:xfrm>
            <a:off x="914400" y="3621024"/>
            <a:ext cx="3291840" cy="237744"/>
          </a:xfrm>
          <a:prstGeom prst="rect">
            <a:avLst/>
          </a:prstGeom>
          <a:noFill/>
        </p:spPr>
        <p:txBody>
          <a:bodyPr wrap="square" lIns="0" rIns="0" tIns="0" bIns="0" anchor="ctr">
            <a:spAutoFit/>
          </a:bodyPr>
          <a:lstStyle/>
          <a:p>
            <a:pPr algn="l"/>
            <a:r>
              <a:rPr sz="950" b="0" i="0">
                <a:solidFill>
                  <a:srgbClr val="009A56"/>
                </a:solidFill>
                <a:latin typeface="Calibri"/>
                <a:ea typeface="Calibri"/>
                <a:cs typeface="Calibri"/>
              </a:rPr>
              <a:t>Pôle Projet Groupe</a:t>
            </a:r>
          </a:p>
        </p:txBody>
      </p:sp>
      <p:sp>
        <p:nvSpPr>
          <p:cNvPr id="54" name="Rectangle 53"/>
          <p:cNvSpPr/>
          <p:nvPr/>
        </p:nvSpPr>
        <p:spPr>
          <a:xfrm>
            <a:off x="548640" y="3895344"/>
            <a:ext cx="3657600"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Freeform 54"/>
          <p:cNvSpPr/>
          <p:nvPr/>
        </p:nvSpPr>
        <p:spPr>
          <a:xfrm>
            <a:off x="570380" y="4101493"/>
            <a:ext cx="249127" cy="59451"/>
          </a:xfrm>
          <a:custGeom>
            <a:avLst/>
            <a:gdLst/>
            <a:ahLst/>
            <a:cxnLst/>
            <a:rect l="l" t="t" r="r" b="b"/>
            <a:pathLst>
              <a:path w="249127" h="59451">
                <a:moveTo>
                  <a:pt x="0" y="59451"/>
                </a:moveTo>
                <a:lnTo>
                  <a:pt x="39634" y="0"/>
                </a:lnTo>
                <a:lnTo>
                  <a:pt x="209493" y="0"/>
                </a:lnTo>
                <a:lnTo>
                  <a:pt x="249127" y="59451"/>
                </a:lnTo>
              </a:path>
            </a:pathLst>
          </a:cu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87366" y="4160944"/>
            <a:ext cx="215154" cy="158535"/>
          </a:xfrm>
          <a:prstGeom prst="rect">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1338" y="4200578"/>
            <a:ext cx="56619" cy="50957"/>
          </a:xfrm>
          <a:prstGeom prst="rect">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11929" y="4206240"/>
            <a:ext cx="56619" cy="113239"/>
          </a:xfrm>
          <a:prstGeom prst="rect">
            <a:avLst/>
          </a:prstGeom>
          <a:noFill/>
          <a:ln w="22018" cap="rnd">
            <a:solidFill>
              <a:srgbClr val="009A5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14400" y="3968496"/>
            <a:ext cx="3291840" cy="237744"/>
          </a:xfrm>
          <a:prstGeom prst="rect">
            <a:avLst/>
          </a:prstGeom>
          <a:noFill/>
        </p:spPr>
        <p:txBody>
          <a:bodyPr wrap="square" lIns="0" rIns="0" tIns="0" bIns="0" anchor="ctr">
            <a:spAutoFit/>
          </a:bodyPr>
          <a:lstStyle/>
          <a:p>
            <a:pPr algn="l"/>
            <a:r>
              <a:rPr sz="950" b="1" i="0">
                <a:solidFill>
                  <a:srgbClr val="1B2A4A"/>
                </a:solidFill>
                <a:latin typeface="Calibri"/>
                <a:ea typeface="Calibri"/>
                <a:cs typeface="Calibri"/>
              </a:rPr>
              <a:t>Question métier sur un dossier</a:t>
            </a:r>
          </a:p>
        </p:txBody>
      </p:sp>
      <p:sp>
        <p:nvSpPr>
          <p:cNvPr id="60" name="TextBox 59"/>
          <p:cNvSpPr txBox="1"/>
          <p:nvPr/>
        </p:nvSpPr>
        <p:spPr>
          <a:xfrm>
            <a:off x="914400" y="4206240"/>
            <a:ext cx="3291840" cy="237744"/>
          </a:xfrm>
          <a:prstGeom prst="rect">
            <a:avLst/>
          </a:prstGeom>
          <a:noFill/>
        </p:spPr>
        <p:txBody>
          <a:bodyPr wrap="square" lIns="0" rIns="0" tIns="0" bIns="0" anchor="ctr">
            <a:spAutoFit/>
          </a:bodyPr>
          <a:lstStyle/>
          <a:p>
            <a:pPr algn="l"/>
            <a:r>
              <a:rPr sz="950" b="0" i="0">
                <a:solidFill>
                  <a:srgbClr val="009A56"/>
                </a:solidFill>
                <a:latin typeface="Calibri"/>
                <a:ea typeface="Calibri"/>
                <a:cs typeface="Calibri"/>
              </a:rPr>
              <a:t>Directeur d'agence</a:t>
            </a:r>
          </a:p>
        </p:txBody>
      </p:sp>
      <p:sp>
        <p:nvSpPr>
          <p:cNvPr id="61" name="Rounded Rectangle 60"/>
          <p:cNvSpPr/>
          <p:nvPr/>
        </p:nvSpPr>
        <p:spPr>
          <a:xfrm>
            <a:off x="4754880" y="1143000"/>
            <a:ext cx="4023360" cy="3429000"/>
          </a:xfrm>
          <a:prstGeom prst="roundRect">
            <a:avLst>
              <a:gd name="adj" fmla="val 6000"/>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4754880" y="1143000"/>
            <a:ext cx="4023360" cy="274320"/>
          </a:xfrm>
          <a:prstGeom prst="rect">
            <a:avLst/>
          </a:prstGeom>
          <a:solidFill>
            <a:srgbClr val="009A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Oval 62"/>
          <p:cNvSpPr/>
          <p:nvPr/>
        </p:nvSpPr>
        <p:spPr>
          <a:xfrm>
            <a:off x="4856963" y="1181075"/>
            <a:ext cx="198168" cy="198168"/>
          </a:xfrm>
          <a:prstGeom prst="ellipse">
            <a:avLst/>
          </a:prstGeom>
          <a:noFill/>
          <a:ln w="18348" cap="rnd">
            <a:solidFill>
              <a:srgbClr val="FFFFFF"/>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838090" y="1162202"/>
            <a:ext cx="235915" cy="235915"/>
          </a:xfrm>
          <a:prstGeom prst="rect">
            <a:avLst/>
          </a:prstGeom>
          <a:noFill/>
        </p:spPr>
        <p:txBody>
          <a:bodyPr wrap="none" lIns="0" rIns="0" tIns="0" bIns="0" anchor="ctr">
            <a:spAutoFit/>
          </a:bodyPr>
          <a:lstStyle/>
          <a:p>
            <a:pPr algn="ctr"/>
            <a:r>
              <a:rPr b="1" sz="1151">
                <a:solidFill>
                  <a:srgbClr val="FFFFFF"/>
                </a:solidFill>
                <a:latin typeface="Calibri"/>
              </a:rPr>
              <a:t>?</a:t>
            </a:r>
          </a:p>
        </p:txBody>
      </p:sp>
      <p:sp>
        <p:nvSpPr>
          <p:cNvPr id="65" name="TextBox 64"/>
          <p:cNvSpPr txBox="1"/>
          <p:nvPr/>
        </p:nvSpPr>
        <p:spPr>
          <a:xfrm>
            <a:off x="5138928" y="1143000"/>
            <a:ext cx="3529584" cy="274320"/>
          </a:xfrm>
          <a:prstGeom prst="rect">
            <a:avLst/>
          </a:prstGeom>
          <a:noFill/>
        </p:spPr>
        <p:txBody>
          <a:bodyPr wrap="square" lIns="0" rIns="0" tIns="0" bIns="0" anchor="ctr">
            <a:spAutoFit/>
          </a:bodyPr>
          <a:lstStyle/>
          <a:p>
            <a:pPr algn="l"/>
            <a:r>
              <a:rPr sz="1000" b="1" i="0" spc="40">
                <a:solidFill>
                  <a:srgbClr val="FFFFFF"/>
                </a:solidFill>
                <a:latin typeface="Calibri"/>
                <a:ea typeface="Calibri"/>
                <a:cs typeface="Calibri"/>
              </a:rPr>
              <a:t>QUESTIONS FRÉQUENTES</a:t>
            </a:r>
          </a:p>
        </p:txBody>
      </p:sp>
      <p:sp>
        <p:nvSpPr>
          <p:cNvPr id="66" name="TextBox 65"/>
          <p:cNvSpPr txBox="1"/>
          <p:nvPr/>
        </p:nvSpPr>
        <p:spPr>
          <a:xfrm>
            <a:off x="4937760" y="1627632"/>
            <a:ext cx="3657600" cy="256032"/>
          </a:xfrm>
          <a:prstGeom prst="rect">
            <a:avLst/>
          </a:prstGeom>
          <a:noFill/>
        </p:spPr>
        <p:txBody>
          <a:bodyPr wrap="square" lIns="0" rIns="0" tIns="0" bIns="0" anchor="ctr">
            <a:spAutoFit/>
          </a:bodyPr>
          <a:lstStyle/>
          <a:p>
            <a:pPr algn="l">
              <a:lnSpc>
                <a:spcPct val="100000"/>
              </a:lnSpc>
            </a:pPr>
            <a:r>
              <a:rPr sz="950" b="1" i="0">
                <a:solidFill>
                  <a:srgbClr val="1B2A4A"/>
                </a:solidFill>
                <a:latin typeface="Calibri"/>
                <a:ea typeface="Calibri"/>
                <a:cs typeface="Calibri"/>
              </a:rPr>
              <a:t>Mon taux n'a pas bougé après mes corrections.</a:t>
            </a:r>
          </a:p>
        </p:txBody>
      </p:sp>
      <p:sp>
        <p:nvSpPr>
          <p:cNvPr id="67" name="TextBox 66"/>
          <p:cNvSpPr txBox="1"/>
          <p:nvPr/>
        </p:nvSpPr>
        <p:spPr>
          <a:xfrm>
            <a:off x="4937760" y="1901952"/>
            <a:ext cx="3657600" cy="457200"/>
          </a:xfrm>
          <a:prstGeom prst="rect">
            <a:avLst/>
          </a:prstGeom>
          <a:noFill/>
        </p:spPr>
        <p:txBody>
          <a:bodyPr wrap="square" lIns="0" rIns="0" tIns="0" bIns="0" anchor="t">
            <a:spAutoFit/>
          </a:bodyPr>
          <a:lstStyle/>
          <a:p>
            <a:pPr algn="l">
              <a:lnSpc>
                <a:spcPct val="105000"/>
              </a:lnSpc>
            </a:pPr>
            <a:r>
              <a:rPr sz="900" b="0" i="0">
                <a:solidFill>
                  <a:srgbClr val="333333"/>
                </a:solidFill>
                <a:latin typeface="Calibri"/>
                <a:ea typeface="Calibri"/>
                <a:cs typeface="Calibri"/>
              </a:rPr>
              <a:t>Les données sont réinjectées la nuit : le taux se met à jour le lendemain matin.</a:t>
            </a:r>
          </a:p>
        </p:txBody>
      </p:sp>
      <p:sp>
        <p:nvSpPr>
          <p:cNvPr id="68" name="TextBox 67"/>
          <p:cNvSpPr txBox="1"/>
          <p:nvPr/>
        </p:nvSpPr>
        <p:spPr>
          <a:xfrm>
            <a:off x="4937760" y="2377440"/>
            <a:ext cx="3657600" cy="256032"/>
          </a:xfrm>
          <a:prstGeom prst="rect">
            <a:avLst/>
          </a:prstGeom>
          <a:noFill/>
        </p:spPr>
        <p:txBody>
          <a:bodyPr wrap="square" lIns="0" rIns="0" tIns="0" bIns="0" anchor="ctr">
            <a:spAutoFit/>
          </a:bodyPr>
          <a:lstStyle/>
          <a:p>
            <a:pPr algn="l">
              <a:lnSpc>
                <a:spcPct val="100000"/>
              </a:lnSpc>
            </a:pPr>
            <a:r>
              <a:rPr sz="950" b="1" i="0">
                <a:solidFill>
                  <a:srgbClr val="1B2A4A"/>
                </a:solidFill>
                <a:latin typeface="Calibri"/>
                <a:ea typeface="Calibri"/>
                <a:cs typeface="Calibri"/>
              </a:rPr>
              <a:t>Je ne vois pas les clients d'un collègue.</a:t>
            </a:r>
          </a:p>
        </p:txBody>
      </p:sp>
      <p:sp>
        <p:nvSpPr>
          <p:cNvPr id="69" name="TextBox 68"/>
          <p:cNvSpPr txBox="1"/>
          <p:nvPr/>
        </p:nvSpPr>
        <p:spPr>
          <a:xfrm>
            <a:off x="4937760" y="2651760"/>
            <a:ext cx="3657600" cy="457200"/>
          </a:xfrm>
          <a:prstGeom prst="rect">
            <a:avLst/>
          </a:prstGeom>
          <a:noFill/>
        </p:spPr>
        <p:txBody>
          <a:bodyPr wrap="square" lIns="0" rIns="0" tIns="0" bIns="0" anchor="t">
            <a:spAutoFit/>
          </a:bodyPr>
          <a:lstStyle/>
          <a:p>
            <a:pPr algn="l">
              <a:lnSpc>
                <a:spcPct val="105000"/>
              </a:lnSpc>
            </a:pPr>
            <a:r>
              <a:rPr sz="900" b="0" i="0">
                <a:solidFill>
                  <a:srgbClr val="333333"/>
                </a:solidFill>
                <a:latin typeface="Calibri"/>
                <a:ea typeface="Calibri"/>
                <a:cs typeface="Calibri"/>
              </a:rPr>
              <a:t>C'est normal : chacun ne voit que son propre portefeuille.</a:t>
            </a:r>
          </a:p>
        </p:txBody>
      </p:sp>
      <p:sp>
        <p:nvSpPr>
          <p:cNvPr id="70" name="TextBox 69"/>
          <p:cNvSpPr txBox="1"/>
          <p:nvPr/>
        </p:nvSpPr>
        <p:spPr>
          <a:xfrm>
            <a:off x="4937760" y="3127248"/>
            <a:ext cx="3657600" cy="256032"/>
          </a:xfrm>
          <a:prstGeom prst="rect">
            <a:avLst/>
          </a:prstGeom>
          <a:noFill/>
        </p:spPr>
        <p:txBody>
          <a:bodyPr wrap="square" lIns="0" rIns="0" tIns="0" bIns="0" anchor="ctr">
            <a:spAutoFit/>
          </a:bodyPr>
          <a:lstStyle/>
          <a:p>
            <a:pPr algn="l">
              <a:lnSpc>
                <a:spcPct val="100000"/>
              </a:lnSpc>
            </a:pPr>
            <a:r>
              <a:rPr sz="950" b="1" i="0">
                <a:solidFill>
                  <a:srgbClr val="1B2A4A"/>
                </a:solidFill>
                <a:latin typeface="Calibri"/>
                <a:ea typeface="Calibri"/>
                <a:cs typeface="Calibri"/>
              </a:rPr>
              <a:t>Un dossier apparaît en écart à tort.</a:t>
            </a:r>
          </a:p>
        </p:txBody>
      </p:sp>
      <p:sp>
        <p:nvSpPr>
          <p:cNvPr id="71" name="TextBox 70"/>
          <p:cNvSpPr txBox="1"/>
          <p:nvPr/>
        </p:nvSpPr>
        <p:spPr>
          <a:xfrm>
            <a:off x="4937760" y="3401568"/>
            <a:ext cx="3657600" cy="457200"/>
          </a:xfrm>
          <a:prstGeom prst="rect">
            <a:avLst/>
          </a:prstGeom>
          <a:noFill/>
        </p:spPr>
        <p:txBody>
          <a:bodyPr wrap="square" lIns="0" rIns="0" tIns="0" bIns="0" anchor="t">
            <a:spAutoFit/>
          </a:bodyPr>
          <a:lstStyle/>
          <a:p>
            <a:pPr algn="l">
              <a:lnSpc>
                <a:spcPct val="105000"/>
              </a:lnSpc>
            </a:pPr>
            <a:r>
              <a:rPr sz="900" b="0" i="0">
                <a:solidFill>
                  <a:srgbClr val="333333"/>
                </a:solidFill>
                <a:latin typeface="Calibri"/>
                <a:ea typeface="Calibri"/>
                <a:cs typeface="Calibri"/>
              </a:rPr>
              <a:t>Extraire la ligne, la transmettre au correspondant filiale : la règle sera réexaminée.</a:t>
            </a:r>
          </a:p>
        </p:txBody>
      </p:sp>
      <p:sp>
        <p:nvSpPr>
          <p:cNvPr id="72" name="TextBox 71"/>
          <p:cNvSpPr txBox="1"/>
          <p:nvPr/>
        </p:nvSpPr>
        <p:spPr>
          <a:xfrm>
            <a:off x="4937760" y="3877056"/>
            <a:ext cx="3657600" cy="256032"/>
          </a:xfrm>
          <a:prstGeom prst="rect">
            <a:avLst/>
          </a:prstGeom>
          <a:noFill/>
        </p:spPr>
        <p:txBody>
          <a:bodyPr wrap="square" lIns="0" rIns="0" tIns="0" bIns="0" anchor="ctr">
            <a:spAutoFit/>
          </a:bodyPr>
          <a:lstStyle/>
          <a:p>
            <a:pPr algn="l">
              <a:lnSpc>
                <a:spcPct val="100000"/>
              </a:lnSpc>
            </a:pPr>
            <a:r>
              <a:rPr sz="950" b="1" i="0">
                <a:solidFill>
                  <a:srgbClr val="1B2A4A"/>
                </a:solidFill>
                <a:latin typeface="Calibri"/>
                <a:ea typeface="Calibri"/>
                <a:cs typeface="Calibri"/>
              </a:rPr>
              <a:t>Le document chargé reste sans résultat.</a:t>
            </a:r>
          </a:p>
        </p:txBody>
      </p:sp>
      <p:sp>
        <p:nvSpPr>
          <p:cNvPr id="73" name="TextBox 72"/>
          <p:cNvSpPr txBox="1"/>
          <p:nvPr/>
        </p:nvSpPr>
        <p:spPr>
          <a:xfrm>
            <a:off x="4937760" y="4151376"/>
            <a:ext cx="3657600" cy="457200"/>
          </a:xfrm>
          <a:prstGeom prst="rect">
            <a:avLst/>
          </a:prstGeom>
          <a:noFill/>
        </p:spPr>
        <p:txBody>
          <a:bodyPr wrap="square" lIns="0" rIns="0" tIns="0" bIns="0" anchor="t">
            <a:spAutoFit/>
          </a:bodyPr>
          <a:lstStyle/>
          <a:p>
            <a:pPr algn="l">
              <a:lnSpc>
                <a:spcPct val="105000"/>
              </a:lnSpc>
            </a:pPr>
            <a:r>
              <a:rPr sz="900" b="0" i="0">
                <a:solidFill>
                  <a:srgbClr val="333333"/>
                </a:solidFill>
                <a:latin typeface="Calibri"/>
                <a:ea typeface="Calibri"/>
                <a:cs typeface="Calibri"/>
              </a:rPr>
              <a:t>Vérifier la lisibilité du scan, puis recharger le document.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44" fill="hold">
                      <p:stCondLst>
                        <p:cond delay="indefinite"/>
                      </p:stCondLst>
                      <p:childTnLst>
                        <p:par>
                          <p:cTn id="14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50"/>
                                        <p:tgtEl>
                                          <p:spTgt spid="14"/>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50"/>
                                        <p:tgtEl>
                                          <p:spTgt spid="15"/>
                                        </p:tgtEl>
                                      </p:cBhvr>
                                    </p:animEffect>
                                  </p:childTnLst>
                                </p:cTn>
                              </p:par>
                              <p:par>
                                <p:cTn id="9" presetID="10" presetClass="entr" presetSubtype="0" fill="hold" grpId="0" nodeType="withEffect">
                                  <p:stCondLst>
                                    <p:cond delay="24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50"/>
                                        <p:tgtEl>
                                          <p:spTgt spid="16"/>
                                        </p:tgtEl>
                                      </p:cBhvr>
                                    </p:animEffect>
                                  </p:childTnLst>
                                </p:cTn>
                              </p:par>
                              <p:par>
                                <p:cTn id="12" presetID="10" presetClass="entr" presetSubtype="0" fill="hold" grpId="0" nodeType="withEffect">
                                  <p:stCondLst>
                                    <p:cond delay="36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50"/>
                                        <p:tgtEl>
                                          <p:spTgt spid="17"/>
                                        </p:tgtEl>
                                      </p:cBhvr>
                                    </p:animEffect>
                                  </p:childTnLst>
                                </p:cTn>
                              </p:par>
                              <p:par>
                                <p:cTn id="15" presetID="10" presetClass="entr" presetSubtype="0" fill="hold" grpId="0" nodeType="withEffect">
                                  <p:stCondLst>
                                    <p:cond delay="48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50"/>
                                        <p:tgtEl>
                                          <p:spTgt spid="18"/>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50"/>
                                        <p:tgtEl>
                                          <p:spTgt spid="19"/>
                                        </p:tgtEl>
                                      </p:cBhvr>
                                    </p:animEffect>
                                  </p:childTnLst>
                                </p:cTn>
                              </p:par>
                              <p:par>
                                <p:cTn id="21" presetID="10" presetClass="entr" presetSubtype="0" fill="hold" grpId="0" nodeType="withEffect">
                                  <p:stCondLst>
                                    <p:cond delay="72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50"/>
                                        <p:tgtEl>
                                          <p:spTgt spid="20"/>
                                        </p:tgtEl>
                                      </p:cBhvr>
                                    </p:animEffect>
                                  </p:childTnLst>
                                </p:cTn>
                              </p:par>
                              <p:par>
                                <p:cTn id="24" presetID="10" presetClass="entr" presetSubtype="0" fill="hold" grpId="0" nodeType="withEffect">
                                  <p:stCondLst>
                                    <p:cond delay="84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50"/>
                                        <p:tgtEl>
                                          <p:spTgt spid="21"/>
                                        </p:tgtEl>
                                      </p:cBhvr>
                                    </p:animEffect>
                                  </p:childTnLst>
                                </p:cTn>
                              </p:par>
                              <p:par>
                                <p:cTn id="27" presetID="10" presetClass="entr" presetSubtype="0" fill="hold" grpId="0" nodeType="withEffect">
                                  <p:stCondLst>
                                    <p:cond delay="96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50"/>
                                        <p:tgtEl>
                                          <p:spTgt spid="22"/>
                                        </p:tgtEl>
                                      </p:cBhvr>
                                    </p:animEffect>
                                  </p:childTnLst>
                                </p:cTn>
                              </p:par>
                              <p:par>
                                <p:cTn id="30" presetID="10" presetClass="entr" presetSubtype="0" fill="hold" grpId="0" nodeType="withEffect">
                                  <p:stCondLst>
                                    <p:cond delay="108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450"/>
                                        <p:tgtEl>
                                          <p:spTgt spid="23"/>
                                        </p:tgtEl>
                                      </p:cBhvr>
                                    </p:animEffect>
                                  </p:childTnLst>
                                </p:cTn>
                              </p:par>
                              <p:par>
                                <p:cTn id="33" presetID="10" presetClass="entr" presetSubtype="0" fill="hold" grpId="0" nodeType="withEffect">
                                  <p:stCondLst>
                                    <p:cond delay="120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450"/>
                                        <p:tgtEl>
                                          <p:spTgt spid="24"/>
                                        </p:tgtEl>
                                      </p:cBhvr>
                                    </p:animEffect>
                                  </p:childTnLst>
                                </p:cTn>
                              </p:par>
                              <p:par>
                                <p:cTn id="36" presetID="10" presetClass="entr" presetSubtype="0" fill="hold" grpId="0" nodeType="withEffect">
                                  <p:stCondLst>
                                    <p:cond delay="1320"/>
                                  </p:stCondLst>
                                  <p:childTnLst>
                                    <p:set>
                                      <p:cBhvr>
                                        <p:cTn id="37" dur="1" fill="hold">
                                          <p:stCondLst>
                                            <p:cond delay="0"/>
                                          </p:stCondLst>
                                        </p:cTn>
                                        <p:tgtEl>
                                          <p:spTgt spid="25"/>
                                        </p:tgtEl>
                                        <p:attrNameLst>
                                          <p:attrName>style.visibility</p:attrName>
                                        </p:attrNameLst>
                                      </p:cBhvr>
                                      <p:to>
                                        <p:strVal val="visible"/>
                                      </p:to>
                                    </p:set>
                                    <p:animEffect transition="in" filter="fade">
                                      <p:cBhvr>
                                        <p:cTn id="38" dur="450"/>
                                        <p:tgtEl>
                                          <p:spTgt spid="25"/>
                                        </p:tgtEl>
                                      </p:cBhvr>
                                    </p:animEffect>
                                  </p:childTnLst>
                                </p:cTn>
                              </p:par>
                              <p:par>
                                <p:cTn id="39" presetID="10" presetClass="entr" presetSubtype="0" fill="hold" grpId="0" nodeType="withEffect">
                                  <p:stCondLst>
                                    <p:cond delay="144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450"/>
                                        <p:tgtEl>
                                          <p:spTgt spid="26"/>
                                        </p:tgtEl>
                                      </p:cBhvr>
                                    </p:animEffect>
                                  </p:childTnLst>
                                </p:cTn>
                              </p:par>
                              <p:par>
                                <p:cTn id="42" presetID="10" presetClass="entr" presetSubtype="0" fill="hold" grpId="0" nodeType="withEffect">
                                  <p:stCondLst>
                                    <p:cond delay="1560"/>
                                  </p:stCondLst>
                                  <p:childTnLst>
                                    <p:set>
                                      <p:cBhvr>
                                        <p:cTn id="43" dur="1" fill="hold">
                                          <p:stCondLst>
                                            <p:cond delay="0"/>
                                          </p:stCondLst>
                                        </p:cTn>
                                        <p:tgtEl>
                                          <p:spTgt spid="27"/>
                                        </p:tgtEl>
                                        <p:attrNameLst>
                                          <p:attrName>style.visibility</p:attrName>
                                        </p:attrNameLst>
                                      </p:cBhvr>
                                      <p:to>
                                        <p:strVal val="visible"/>
                                      </p:to>
                                    </p:set>
                                    <p:animEffect transition="in" filter="fade">
                                      <p:cBhvr>
                                        <p:cTn id="44" dur="450"/>
                                        <p:tgtEl>
                                          <p:spTgt spid="27"/>
                                        </p:tgtEl>
                                      </p:cBhvr>
                                    </p:animEffect>
                                  </p:childTnLst>
                                </p:cTn>
                              </p:par>
                              <p:par>
                                <p:cTn id="45" presetID="10" presetClass="entr" presetSubtype="0" fill="hold" grpId="0" nodeType="withEffect">
                                  <p:stCondLst>
                                    <p:cond delay="168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50"/>
                                        <p:tgtEl>
                                          <p:spTgt spid="28"/>
                                        </p:tgtEl>
                                      </p:cBhvr>
                                    </p:animEffect>
                                  </p:childTnLst>
                                </p:cTn>
                              </p:par>
                              <p:par>
                                <p:cTn id="48" presetID="10" presetClass="entr" presetSubtype="0" fill="hold" grpId="0" nodeType="withEffect">
                                  <p:stCondLst>
                                    <p:cond delay="180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50"/>
                                        <p:tgtEl>
                                          <p:spTgt spid="29"/>
                                        </p:tgtEl>
                                      </p:cBhvr>
                                    </p:animEffect>
                                  </p:childTnLst>
                                </p:cTn>
                              </p:par>
                              <p:par>
                                <p:cTn id="51" presetID="10" presetClass="entr" presetSubtype="0" fill="hold" grpId="0" nodeType="withEffect">
                                  <p:stCondLst>
                                    <p:cond delay="192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450"/>
                                        <p:tgtEl>
                                          <p:spTgt spid="30"/>
                                        </p:tgtEl>
                                      </p:cBhvr>
                                    </p:animEffect>
                                  </p:childTnLst>
                                </p:cTn>
                              </p:par>
                              <p:par>
                                <p:cTn id="54" presetID="10" presetClass="entr" presetSubtype="0" fill="hold" grpId="0" nodeType="withEffect">
                                  <p:stCondLst>
                                    <p:cond delay="2040"/>
                                  </p:stCondLst>
                                  <p:childTnLst>
                                    <p:set>
                                      <p:cBhvr>
                                        <p:cTn id="55" dur="1" fill="hold">
                                          <p:stCondLst>
                                            <p:cond delay="0"/>
                                          </p:stCondLst>
                                        </p:cTn>
                                        <p:tgtEl>
                                          <p:spTgt spid="31"/>
                                        </p:tgtEl>
                                        <p:attrNameLst>
                                          <p:attrName>style.visibility</p:attrName>
                                        </p:attrNameLst>
                                      </p:cBhvr>
                                      <p:to>
                                        <p:strVal val="visible"/>
                                      </p:to>
                                    </p:set>
                                    <p:animEffect transition="in" filter="fade">
                                      <p:cBhvr>
                                        <p:cTn id="56" dur="450"/>
                                        <p:tgtEl>
                                          <p:spTgt spid="31"/>
                                        </p:tgtEl>
                                      </p:cBhvr>
                                    </p:animEffect>
                                  </p:childTnLst>
                                </p:cTn>
                              </p:par>
                              <p:par>
                                <p:cTn id="57" presetID="10" presetClass="entr" presetSubtype="0" fill="hold" grpId="0" nodeType="withEffect">
                                  <p:stCondLst>
                                    <p:cond delay="216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450"/>
                                        <p:tgtEl>
                                          <p:spTgt spid="32"/>
                                        </p:tgtEl>
                                      </p:cBhvr>
                                    </p:animEffect>
                                  </p:childTnLst>
                                </p:cTn>
                              </p:par>
                              <p:par>
                                <p:cTn id="60" presetID="10" presetClass="entr" presetSubtype="0" fill="hold" grpId="0" nodeType="withEffect">
                                  <p:stCondLst>
                                    <p:cond delay="2280"/>
                                  </p:stCondLst>
                                  <p:childTnLst>
                                    <p:set>
                                      <p:cBhvr>
                                        <p:cTn id="61" dur="1" fill="hold">
                                          <p:stCondLst>
                                            <p:cond delay="0"/>
                                          </p:stCondLst>
                                        </p:cTn>
                                        <p:tgtEl>
                                          <p:spTgt spid="33"/>
                                        </p:tgtEl>
                                        <p:attrNameLst>
                                          <p:attrName>style.visibility</p:attrName>
                                        </p:attrNameLst>
                                      </p:cBhvr>
                                      <p:to>
                                        <p:strVal val="visible"/>
                                      </p:to>
                                    </p:set>
                                    <p:animEffect transition="in" filter="fade">
                                      <p:cBhvr>
                                        <p:cTn id="62" dur="450"/>
                                        <p:tgtEl>
                                          <p:spTgt spid="33"/>
                                        </p:tgtEl>
                                      </p:cBhvr>
                                    </p:animEffect>
                                  </p:childTnLst>
                                </p:cTn>
                              </p:par>
                              <p:par>
                                <p:cTn id="63" presetID="10" presetClass="entr" presetSubtype="0" fill="hold" grpId="0" nodeType="withEffect">
                                  <p:stCondLst>
                                    <p:cond delay="240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450"/>
                                        <p:tgtEl>
                                          <p:spTgt spid="34"/>
                                        </p:tgtEl>
                                      </p:cBhvr>
                                    </p:animEffect>
                                  </p:childTnLst>
                                </p:cTn>
                              </p:par>
                              <p:par>
                                <p:cTn id="66" presetID="10" presetClass="entr" presetSubtype="0" fill="hold" grpId="0" nodeType="withEffect">
                                  <p:stCondLst>
                                    <p:cond delay="2520"/>
                                  </p:stCondLst>
                                  <p:childTnLst>
                                    <p:set>
                                      <p:cBhvr>
                                        <p:cTn id="67" dur="1" fill="hold">
                                          <p:stCondLst>
                                            <p:cond delay="0"/>
                                          </p:stCondLst>
                                        </p:cTn>
                                        <p:tgtEl>
                                          <p:spTgt spid="35"/>
                                        </p:tgtEl>
                                        <p:attrNameLst>
                                          <p:attrName>style.visibility</p:attrName>
                                        </p:attrNameLst>
                                      </p:cBhvr>
                                      <p:to>
                                        <p:strVal val="visible"/>
                                      </p:to>
                                    </p:set>
                                    <p:animEffect transition="in" filter="fade">
                                      <p:cBhvr>
                                        <p:cTn id="68" dur="450"/>
                                        <p:tgtEl>
                                          <p:spTgt spid="35"/>
                                        </p:tgtEl>
                                      </p:cBhvr>
                                    </p:animEffect>
                                  </p:childTnLst>
                                </p:cTn>
                              </p:par>
                              <p:par>
                                <p:cTn id="69" presetID="10" presetClass="entr" presetSubtype="0" fill="hold" grpId="0" nodeType="withEffect">
                                  <p:stCondLst>
                                    <p:cond delay="264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450"/>
                                        <p:tgtEl>
                                          <p:spTgt spid="36"/>
                                        </p:tgtEl>
                                      </p:cBhvr>
                                    </p:animEffect>
                                  </p:childTnLst>
                                </p:cTn>
                              </p:par>
                              <p:par>
                                <p:cTn id="72" presetID="10" presetClass="entr" presetSubtype="0" fill="hold" grpId="0" nodeType="withEffect">
                                  <p:stCondLst>
                                    <p:cond delay="2760"/>
                                  </p:stCondLst>
                                  <p:childTnLst>
                                    <p:set>
                                      <p:cBhvr>
                                        <p:cTn id="73" dur="1" fill="hold">
                                          <p:stCondLst>
                                            <p:cond delay="0"/>
                                          </p:stCondLst>
                                        </p:cTn>
                                        <p:tgtEl>
                                          <p:spTgt spid="37"/>
                                        </p:tgtEl>
                                        <p:attrNameLst>
                                          <p:attrName>style.visibility</p:attrName>
                                        </p:attrNameLst>
                                      </p:cBhvr>
                                      <p:to>
                                        <p:strVal val="visible"/>
                                      </p:to>
                                    </p:set>
                                    <p:animEffect transition="in" filter="fade">
                                      <p:cBhvr>
                                        <p:cTn id="74" dur="450"/>
                                        <p:tgtEl>
                                          <p:spTgt spid="37"/>
                                        </p:tgtEl>
                                      </p:cBhvr>
                                    </p:animEffect>
                                  </p:childTnLst>
                                </p:cTn>
                              </p:par>
                              <p:par>
                                <p:cTn id="75" presetID="10" presetClass="entr" presetSubtype="0" fill="hold" grpId="0" nodeType="withEffect">
                                  <p:stCondLst>
                                    <p:cond delay="2880"/>
                                  </p:stCondLst>
                                  <p:childTnLst>
                                    <p:set>
                                      <p:cBhvr>
                                        <p:cTn id="76" dur="1" fill="hold">
                                          <p:stCondLst>
                                            <p:cond delay="0"/>
                                          </p:stCondLst>
                                        </p:cTn>
                                        <p:tgtEl>
                                          <p:spTgt spid="38"/>
                                        </p:tgtEl>
                                        <p:attrNameLst>
                                          <p:attrName>style.visibility</p:attrName>
                                        </p:attrNameLst>
                                      </p:cBhvr>
                                      <p:to>
                                        <p:strVal val="visible"/>
                                      </p:to>
                                    </p:set>
                                    <p:animEffect transition="in" filter="fade">
                                      <p:cBhvr>
                                        <p:cTn id="77" dur="450"/>
                                        <p:tgtEl>
                                          <p:spTgt spid="38"/>
                                        </p:tgtEl>
                                      </p:cBhvr>
                                    </p:animEffect>
                                  </p:childTnLst>
                                </p:cTn>
                              </p:par>
                              <p:par>
                                <p:cTn id="78" presetID="10" presetClass="entr" presetSubtype="0" fill="hold" grpId="0" nodeType="withEffect">
                                  <p:stCondLst>
                                    <p:cond delay="3000"/>
                                  </p:stCondLst>
                                  <p:childTnLst>
                                    <p:set>
                                      <p:cBhvr>
                                        <p:cTn id="79" dur="1" fill="hold">
                                          <p:stCondLst>
                                            <p:cond delay="0"/>
                                          </p:stCondLst>
                                        </p:cTn>
                                        <p:tgtEl>
                                          <p:spTgt spid="39"/>
                                        </p:tgtEl>
                                        <p:attrNameLst>
                                          <p:attrName>style.visibility</p:attrName>
                                        </p:attrNameLst>
                                      </p:cBhvr>
                                      <p:to>
                                        <p:strVal val="visible"/>
                                      </p:to>
                                    </p:set>
                                    <p:animEffect transition="in" filter="fade">
                                      <p:cBhvr>
                                        <p:cTn id="80" dur="450"/>
                                        <p:tgtEl>
                                          <p:spTgt spid="39"/>
                                        </p:tgtEl>
                                      </p:cBhvr>
                                    </p:animEffect>
                                  </p:childTnLst>
                                </p:cTn>
                              </p:par>
                              <p:par>
                                <p:cTn id="81" presetID="10" presetClass="entr" presetSubtype="0" fill="hold" grpId="0" nodeType="withEffect">
                                  <p:stCondLst>
                                    <p:cond delay="3120"/>
                                  </p:stCondLst>
                                  <p:childTnLst>
                                    <p:set>
                                      <p:cBhvr>
                                        <p:cTn id="82" dur="1" fill="hold">
                                          <p:stCondLst>
                                            <p:cond delay="0"/>
                                          </p:stCondLst>
                                        </p:cTn>
                                        <p:tgtEl>
                                          <p:spTgt spid="40"/>
                                        </p:tgtEl>
                                        <p:attrNameLst>
                                          <p:attrName>style.visibility</p:attrName>
                                        </p:attrNameLst>
                                      </p:cBhvr>
                                      <p:to>
                                        <p:strVal val="visible"/>
                                      </p:to>
                                    </p:set>
                                    <p:animEffect transition="in" filter="fade">
                                      <p:cBhvr>
                                        <p:cTn id="83" dur="450"/>
                                        <p:tgtEl>
                                          <p:spTgt spid="40"/>
                                        </p:tgtEl>
                                      </p:cBhvr>
                                    </p:animEffect>
                                  </p:childTnLst>
                                </p:cTn>
                              </p:par>
                              <p:par>
                                <p:cTn id="84" presetID="10" presetClass="entr" presetSubtype="0" fill="hold" grpId="0" nodeType="withEffect">
                                  <p:stCondLst>
                                    <p:cond delay="3240"/>
                                  </p:stCondLst>
                                  <p:childTnLst>
                                    <p:set>
                                      <p:cBhvr>
                                        <p:cTn id="85" dur="1" fill="hold">
                                          <p:stCondLst>
                                            <p:cond delay="0"/>
                                          </p:stCondLst>
                                        </p:cTn>
                                        <p:tgtEl>
                                          <p:spTgt spid="41"/>
                                        </p:tgtEl>
                                        <p:attrNameLst>
                                          <p:attrName>style.visibility</p:attrName>
                                        </p:attrNameLst>
                                      </p:cBhvr>
                                      <p:to>
                                        <p:strVal val="visible"/>
                                      </p:to>
                                    </p:set>
                                    <p:animEffect transition="in" filter="fade">
                                      <p:cBhvr>
                                        <p:cTn id="86" dur="450"/>
                                        <p:tgtEl>
                                          <p:spTgt spid="41"/>
                                        </p:tgtEl>
                                      </p:cBhvr>
                                    </p:animEffect>
                                  </p:childTnLst>
                                </p:cTn>
                              </p:par>
                              <p:par>
                                <p:cTn id="87" presetID="10" presetClass="entr" presetSubtype="0" fill="hold" grpId="0" nodeType="withEffect">
                                  <p:stCondLst>
                                    <p:cond delay="3360"/>
                                  </p:stCondLst>
                                  <p:childTnLst>
                                    <p:set>
                                      <p:cBhvr>
                                        <p:cTn id="88" dur="1" fill="hold">
                                          <p:stCondLst>
                                            <p:cond delay="0"/>
                                          </p:stCondLst>
                                        </p:cTn>
                                        <p:tgtEl>
                                          <p:spTgt spid="42"/>
                                        </p:tgtEl>
                                        <p:attrNameLst>
                                          <p:attrName>style.visibility</p:attrName>
                                        </p:attrNameLst>
                                      </p:cBhvr>
                                      <p:to>
                                        <p:strVal val="visible"/>
                                      </p:to>
                                    </p:set>
                                    <p:animEffect transition="in" filter="fade">
                                      <p:cBhvr>
                                        <p:cTn id="89" dur="450"/>
                                        <p:tgtEl>
                                          <p:spTgt spid="42"/>
                                        </p:tgtEl>
                                      </p:cBhvr>
                                    </p:animEffect>
                                  </p:childTnLst>
                                </p:cTn>
                              </p:par>
                              <p:par>
                                <p:cTn id="90" presetID="10" presetClass="entr" presetSubtype="0" fill="hold" grpId="0" nodeType="withEffect">
                                  <p:stCondLst>
                                    <p:cond delay="3480"/>
                                  </p:stCondLst>
                                  <p:childTnLst>
                                    <p:set>
                                      <p:cBhvr>
                                        <p:cTn id="91" dur="1" fill="hold">
                                          <p:stCondLst>
                                            <p:cond delay="0"/>
                                          </p:stCondLst>
                                        </p:cTn>
                                        <p:tgtEl>
                                          <p:spTgt spid="43"/>
                                        </p:tgtEl>
                                        <p:attrNameLst>
                                          <p:attrName>style.visibility</p:attrName>
                                        </p:attrNameLst>
                                      </p:cBhvr>
                                      <p:to>
                                        <p:strVal val="visible"/>
                                      </p:to>
                                    </p:set>
                                    <p:animEffect transition="in" filter="fade">
                                      <p:cBhvr>
                                        <p:cTn id="92" dur="450"/>
                                        <p:tgtEl>
                                          <p:spTgt spid="43"/>
                                        </p:tgtEl>
                                      </p:cBhvr>
                                    </p:animEffect>
                                  </p:childTnLst>
                                </p:cTn>
                              </p:par>
                              <p:par>
                                <p:cTn id="93" presetID="10" presetClass="entr" presetSubtype="0" fill="hold" grpId="0" nodeType="withEffect">
                                  <p:stCondLst>
                                    <p:cond delay="3600"/>
                                  </p:stCondLst>
                                  <p:childTnLst>
                                    <p:set>
                                      <p:cBhvr>
                                        <p:cTn id="94" dur="1" fill="hold">
                                          <p:stCondLst>
                                            <p:cond delay="0"/>
                                          </p:stCondLst>
                                        </p:cTn>
                                        <p:tgtEl>
                                          <p:spTgt spid="44"/>
                                        </p:tgtEl>
                                        <p:attrNameLst>
                                          <p:attrName>style.visibility</p:attrName>
                                        </p:attrNameLst>
                                      </p:cBhvr>
                                      <p:to>
                                        <p:strVal val="visible"/>
                                      </p:to>
                                    </p:set>
                                    <p:animEffect transition="in" filter="fade">
                                      <p:cBhvr>
                                        <p:cTn id="95" dur="450"/>
                                        <p:tgtEl>
                                          <p:spTgt spid="44"/>
                                        </p:tgtEl>
                                      </p:cBhvr>
                                    </p:animEffect>
                                  </p:childTnLst>
                                </p:cTn>
                              </p:par>
                              <p:par>
                                <p:cTn id="96" presetID="10" presetClass="entr" presetSubtype="0" fill="hold" grpId="0" nodeType="withEffect">
                                  <p:stCondLst>
                                    <p:cond delay="3720"/>
                                  </p:stCondLst>
                                  <p:childTnLst>
                                    <p:set>
                                      <p:cBhvr>
                                        <p:cTn id="97" dur="1" fill="hold">
                                          <p:stCondLst>
                                            <p:cond delay="0"/>
                                          </p:stCondLst>
                                        </p:cTn>
                                        <p:tgtEl>
                                          <p:spTgt spid="45"/>
                                        </p:tgtEl>
                                        <p:attrNameLst>
                                          <p:attrName>style.visibility</p:attrName>
                                        </p:attrNameLst>
                                      </p:cBhvr>
                                      <p:to>
                                        <p:strVal val="visible"/>
                                      </p:to>
                                    </p:set>
                                    <p:animEffect transition="in" filter="fade">
                                      <p:cBhvr>
                                        <p:cTn id="98" dur="450"/>
                                        <p:tgtEl>
                                          <p:spTgt spid="45"/>
                                        </p:tgtEl>
                                      </p:cBhvr>
                                    </p:animEffect>
                                  </p:childTnLst>
                                </p:cTn>
                              </p:par>
                              <p:par>
                                <p:cTn id="99" presetID="10" presetClass="entr" presetSubtype="0" fill="hold" grpId="0" nodeType="withEffect">
                                  <p:stCondLst>
                                    <p:cond delay="3840"/>
                                  </p:stCondLst>
                                  <p:childTnLst>
                                    <p:set>
                                      <p:cBhvr>
                                        <p:cTn id="100" dur="1" fill="hold">
                                          <p:stCondLst>
                                            <p:cond delay="0"/>
                                          </p:stCondLst>
                                        </p:cTn>
                                        <p:tgtEl>
                                          <p:spTgt spid="46"/>
                                        </p:tgtEl>
                                        <p:attrNameLst>
                                          <p:attrName>style.visibility</p:attrName>
                                        </p:attrNameLst>
                                      </p:cBhvr>
                                      <p:to>
                                        <p:strVal val="visible"/>
                                      </p:to>
                                    </p:set>
                                    <p:animEffect transition="in" filter="fade">
                                      <p:cBhvr>
                                        <p:cTn id="101" dur="450"/>
                                        <p:tgtEl>
                                          <p:spTgt spid="46"/>
                                        </p:tgtEl>
                                      </p:cBhvr>
                                    </p:animEffect>
                                  </p:childTnLst>
                                </p:cTn>
                              </p:par>
                              <p:par>
                                <p:cTn id="102" presetID="10" presetClass="entr" presetSubtype="0" fill="hold" grpId="0" nodeType="withEffect">
                                  <p:stCondLst>
                                    <p:cond delay="3960"/>
                                  </p:stCondLst>
                                  <p:childTnLst>
                                    <p:set>
                                      <p:cBhvr>
                                        <p:cTn id="103" dur="1" fill="hold">
                                          <p:stCondLst>
                                            <p:cond delay="0"/>
                                          </p:stCondLst>
                                        </p:cTn>
                                        <p:tgtEl>
                                          <p:spTgt spid="47"/>
                                        </p:tgtEl>
                                        <p:attrNameLst>
                                          <p:attrName>style.visibility</p:attrName>
                                        </p:attrNameLst>
                                      </p:cBhvr>
                                      <p:to>
                                        <p:strVal val="visible"/>
                                      </p:to>
                                    </p:set>
                                    <p:animEffect transition="in" filter="fade">
                                      <p:cBhvr>
                                        <p:cTn id="104" dur="450"/>
                                        <p:tgtEl>
                                          <p:spTgt spid="47"/>
                                        </p:tgtEl>
                                      </p:cBhvr>
                                    </p:animEffect>
                                  </p:childTnLst>
                                </p:cTn>
                              </p:par>
                              <p:par>
                                <p:cTn id="105" presetID="10" presetClass="entr" presetSubtype="0" fill="hold" grpId="0" nodeType="withEffect">
                                  <p:stCondLst>
                                    <p:cond delay="4080"/>
                                  </p:stCondLst>
                                  <p:childTnLst>
                                    <p:set>
                                      <p:cBhvr>
                                        <p:cTn id="106" dur="1" fill="hold">
                                          <p:stCondLst>
                                            <p:cond delay="0"/>
                                          </p:stCondLst>
                                        </p:cTn>
                                        <p:tgtEl>
                                          <p:spTgt spid="48"/>
                                        </p:tgtEl>
                                        <p:attrNameLst>
                                          <p:attrName>style.visibility</p:attrName>
                                        </p:attrNameLst>
                                      </p:cBhvr>
                                      <p:to>
                                        <p:strVal val="visible"/>
                                      </p:to>
                                    </p:set>
                                    <p:animEffect transition="in" filter="fade">
                                      <p:cBhvr>
                                        <p:cTn id="107" dur="450"/>
                                        <p:tgtEl>
                                          <p:spTgt spid="48"/>
                                        </p:tgtEl>
                                      </p:cBhvr>
                                    </p:animEffect>
                                  </p:childTnLst>
                                </p:cTn>
                              </p:par>
                              <p:par>
                                <p:cTn id="108" presetID="10" presetClass="entr" presetSubtype="0" fill="hold" grpId="0" nodeType="withEffect">
                                  <p:stCondLst>
                                    <p:cond delay="4200"/>
                                  </p:stCondLst>
                                  <p:childTnLst>
                                    <p:set>
                                      <p:cBhvr>
                                        <p:cTn id="109" dur="1" fill="hold">
                                          <p:stCondLst>
                                            <p:cond delay="0"/>
                                          </p:stCondLst>
                                        </p:cTn>
                                        <p:tgtEl>
                                          <p:spTgt spid="49"/>
                                        </p:tgtEl>
                                        <p:attrNameLst>
                                          <p:attrName>style.visibility</p:attrName>
                                        </p:attrNameLst>
                                      </p:cBhvr>
                                      <p:to>
                                        <p:strVal val="visible"/>
                                      </p:to>
                                    </p:set>
                                    <p:animEffect transition="in" filter="fade">
                                      <p:cBhvr>
                                        <p:cTn id="110" dur="450"/>
                                        <p:tgtEl>
                                          <p:spTgt spid="49"/>
                                        </p:tgtEl>
                                      </p:cBhvr>
                                    </p:animEffect>
                                  </p:childTnLst>
                                </p:cTn>
                              </p:par>
                              <p:par>
                                <p:cTn id="111" presetID="10" presetClass="entr" presetSubtype="0" fill="hold" grpId="0" nodeType="withEffect">
                                  <p:stCondLst>
                                    <p:cond delay="4320"/>
                                  </p:stCondLst>
                                  <p:childTnLst>
                                    <p:set>
                                      <p:cBhvr>
                                        <p:cTn id="112" dur="1" fill="hold">
                                          <p:stCondLst>
                                            <p:cond delay="0"/>
                                          </p:stCondLst>
                                        </p:cTn>
                                        <p:tgtEl>
                                          <p:spTgt spid="50"/>
                                        </p:tgtEl>
                                        <p:attrNameLst>
                                          <p:attrName>style.visibility</p:attrName>
                                        </p:attrNameLst>
                                      </p:cBhvr>
                                      <p:to>
                                        <p:strVal val="visible"/>
                                      </p:to>
                                    </p:set>
                                    <p:animEffect transition="in" filter="fade">
                                      <p:cBhvr>
                                        <p:cTn id="113" dur="450"/>
                                        <p:tgtEl>
                                          <p:spTgt spid="50"/>
                                        </p:tgtEl>
                                      </p:cBhvr>
                                    </p:animEffect>
                                  </p:childTnLst>
                                </p:cTn>
                              </p:par>
                              <p:par>
                                <p:cTn id="114" presetID="10" presetClass="entr" presetSubtype="0" fill="hold" grpId="0" nodeType="withEffect">
                                  <p:stCondLst>
                                    <p:cond delay="4440"/>
                                  </p:stCondLst>
                                  <p:childTnLst>
                                    <p:set>
                                      <p:cBhvr>
                                        <p:cTn id="115" dur="1" fill="hold">
                                          <p:stCondLst>
                                            <p:cond delay="0"/>
                                          </p:stCondLst>
                                        </p:cTn>
                                        <p:tgtEl>
                                          <p:spTgt spid="51"/>
                                        </p:tgtEl>
                                        <p:attrNameLst>
                                          <p:attrName>style.visibility</p:attrName>
                                        </p:attrNameLst>
                                      </p:cBhvr>
                                      <p:to>
                                        <p:strVal val="visible"/>
                                      </p:to>
                                    </p:set>
                                    <p:animEffect transition="in" filter="fade">
                                      <p:cBhvr>
                                        <p:cTn id="116" dur="450"/>
                                        <p:tgtEl>
                                          <p:spTgt spid="51"/>
                                        </p:tgtEl>
                                      </p:cBhvr>
                                    </p:animEffect>
                                  </p:childTnLst>
                                </p:cTn>
                              </p:par>
                              <p:par>
                                <p:cTn id="117" presetID="10" presetClass="entr" presetSubtype="0" fill="hold" grpId="0" nodeType="withEffect">
                                  <p:stCondLst>
                                    <p:cond delay="4560"/>
                                  </p:stCondLst>
                                  <p:childTnLst>
                                    <p:set>
                                      <p:cBhvr>
                                        <p:cTn id="118" dur="1" fill="hold">
                                          <p:stCondLst>
                                            <p:cond delay="0"/>
                                          </p:stCondLst>
                                        </p:cTn>
                                        <p:tgtEl>
                                          <p:spTgt spid="52"/>
                                        </p:tgtEl>
                                        <p:attrNameLst>
                                          <p:attrName>style.visibility</p:attrName>
                                        </p:attrNameLst>
                                      </p:cBhvr>
                                      <p:to>
                                        <p:strVal val="visible"/>
                                      </p:to>
                                    </p:set>
                                    <p:animEffect transition="in" filter="fade">
                                      <p:cBhvr>
                                        <p:cTn id="119" dur="450"/>
                                        <p:tgtEl>
                                          <p:spTgt spid="52"/>
                                        </p:tgtEl>
                                      </p:cBhvr>
                                    </p:animEffect>
                                  </p:childTnLst>
                                </p:cTn>
                              </p:par>
                              <p:par>
                                <p:cTn id="120" presetID="10" presetClass="entr" presetSubtype="0" fill="hold" grpId="0" nodeType="withEffect">
                                  <p:stCondLst>
                                    <p:cond delay="4680"/>
                                  </p:stCondLst>
                                  <p:childTnLst>
                                    <p:set>
                                      <p:cBhvr>
                                        <p:cTn id="121" dur="1" fill="hold">
                                          <p:stCondLst>
                                            <p:cond delay="0"/>
                                          </p:stCondLst>
                                        </p:cTn>
                                        <p:tgtEl>
                                          <p:spTgt spid="53"/>
                                        </p:tgtEl>
                                        <p:attrNameLst>
                                          <p:attrName>style.visibility</p:attrName>
                                        </p:attrNameLst>
                                      </p:cBhvr>
                                      <p:to>
                                        <p:strVal val="visible"/>
                                      </p:to>
                                    </p:set>
                                    <p:animEffect transition="in" filter="fade">
                                      <p:cBhvr>
                                        <p:cTn id="122" dur="450"/>
                                        <p:tgtEl>
                                          <p:spTgt spid="53"/>
                                        </p:tgtEl>
                                      </p:cBhvr>
                                    </p:animEffect>
                                  </p:childTnLst>
                                </p:cTn>
                              </p:par>
                              <p:par>
                                <p:cTn id="123" presetID="10" presetClass="entr" presetSubtype="0" fill="hold" grpId="0" nodeType="withEffect">
                                  <p:stCondLst>
                                    <p:cond delay="4800"/>
                                  </p:stCondLst>
                                  <p:childTnLst>
                                    <p:set>
                                      <p:cBhvr>
                                        <p:cTn id="124" dur="1" fill="hold">
                                          <p:stCondLst>
                                            <p:cond delay="0"/>
                                          </p:stCondLst>
                                        </p:cTn>
                                        <p:tgtEl>
                                          <p:spTgt spid="54"/>
                                        </p:tgtEl>
                                        <p:attrNameLst>
                                          <p:attrName>style.visibility</p:attrName>
                                        </p:attrNameLst>
                                      </p:cBhvr>
                                      <p:to>
                                        <p:strVal val="visible"/>
                                      </p:to>
                                    </p:set>
                                    <p:animEffect transition="in" filter="fade">
                                      <p:cBhvr>
                                        <p:cTn id="125" dur="450"/>
                                        <p:tgtEl>
                                          <p:spTgt spid="54"/>
                                        </p:tgtEl>
                                      </p:cBhvr>
                                    </p:animEffect>
                                  </p:childTnLst>
                                </p:cTn>
                              </p:par>
                              <p:par>
                                <p:cTn id="126" presetID="10" presetClass="entr" presetSubtype="0" fill="hold" grpId="0" nodeType="withEffect">
                                  <p:stCondLst>
                                    <p:cond delay="4920"/>
                                  </p:stCondLst>
                                  <p:childTnLst>
                                    <p:set>
                                      <p:cBhvr>
                                        <p:cTn id="127" dur="1" fill="hold">
                                          <p:stCondLst>
                                            <p:cond delay="0"/>
                                          </p:stCondLst>
                                        </p:cTn>
                                        <p:tgtEl>
                                          <p:spTgt spid="55"/>
                                        </p:tgtEl>
                                        <p:attrNameLst>
                                          <p:attrName>style.visibility</p:attrName>
                                        </p:attrNameLst>
                                      </p:cBhvr>
                                      <p:to>
                                        <p:strVal val="visible"/>
                                      </p:to>
                                    </p:set>
                                    <p:animEffect transition="in" filter="fade">
                                      <p:cBhvr>
                                        <p:cTn id="128" dur="450"/>
                                        <p:tgtEl>
                                          <p:spTgt spid="55"/>
                                        </p:tgtEl>
                                      </p:cBhvr>
                                    </p:animEffect>
                                  </p:childTnLst>
                                </p:cTn>
                              </p:par>
                              <p:par>
                                <p:cTn id="129" presetID="10" presetClass="entr" presetSubtype="0" fill="hold" grpId="0" nodeType="withEffect">
                                  <p:stCondLst>
                                    <p:cond delay="5040"/>
                                  </p:stCondLst>
                                  <p:childTnLst>
                                    <p:set>
                                      <p:cBhvr>
                                        <p:cTn id="130" dur="1" fill="hold">
                                          <p:stCondLst>
                                            <p:cond delay="0"/>
                                          </p:stCondLst>
                                        </p:cTn>
                                        <p:tgtEl>
                                          <p:spTgt spid="56"/>
                                        </p:tgtEl>
                                        <p:attrNameLst>
                                          <p:attrName>style.visibility</p:attrName>
                                        </p:attrNameLst>
                                      </p:cBhvr>
                                      <p:to>
                                        <p:strVal val="visible"/>
                                      </p:to>
                                    </p:set>
                                    <p:animEffect transition="in" filter="fade">
                                      <p:cBhvr>
                                        <p:cTn id="131" dur="450"/>
                                        <p:tgtEl>
                                          <p:spTgt spid="56"/>
                                        </p:tgtEl>
                                      </p:cBhvr>
                                    </p:animEffect>
                                  </p:childTnLst>
                                </p:cTn>
                              </p:par>
                              <p:par>
                                <p:cTn id="132" presetID="10" presetClass="entr" presetSubtype="0" fill="hold" grpId="0" nodeType="withEffect">
                                  <p:stCondLst>
                                    <p:cond delay="5160"/>
                                  </p:stCondLst>
                                  <p:childTnLst>
                                    <p:set>
                                      <p:cBhvr>
                                        <p:cTn id="133" dur="1" fill="hold">
                                          <p:stCondLst>
                                            <p:cond delay="0"/>
                                          </p:stCondLst>
                                        </p:cTn>
                                        <p:tgtEl>
                                          <p:spTgt spid="57"/>
                                        </p:tgtEl>
                                        <p:attrNameLst>
                                          <p:attrName>style.visibility</p:attrName>
                                        </p:attrNameLst>
                                      </p:cBhvr>
                                      <p:to>
                                        <p:strVal val="visible"/>
                                      </p:to>
                                    </p:set>
                                    <p:animEffect transition="in" filter="fade">
                                      <p:cBhvr>
                                        <p:cTn id="134" dur="450"/>
                                        <p:tgtEl>
                                          <p:spTgt spid="57"/>
                                        </p:tgtEl>
                                      </p:cBhvr>
                                    </p:animEffect>
                                  </p:childTnLst>
                                </p:cTn>
                              </p:par>
                              <p:par>
                                <p:cTn id="135" presetID="10" presetClass="entr" presetSubtype="0" fill="hold" grpId="0" nodeType="withEffect">
                                  <p:stCondLst>
                                    <p:cond delay="5280"/>
                                  </p:stCondLst>
                                  <p:childTnLst>
                                    <p:set>
                                      <p:cBhvr>
                                        <p:cTn id="136" dur="1" fill="hold">
                                          <p:stCondLst>
                                            <p:cond delay="0"/>
                                          </p:stCondLst>
                                        </p:cTn>
                                        <p:tgtEl>
                                          <p:spTgt spid="58"/>
                                        </p:tgtEl>
                                        <p:attrNameLst>
                                          <p:attrName>style.visibility</p:attrName>
                                        </p:attrNameLst>
                                      </p:cBhvr>
                                      <p:to>
                                        <p:strVal val="visible"/>
                                      </p:to>
                                    </p:set>
                                    <p:animEffect transition="in" filter="fade">
                                      <p:cBhvr>
                                        <p:cTn id="137" dur="450"/>
                                        <p:tgtEl>
                                          <p:spTgt spid="58"/>
                                        </p:tgtEl>
                                      </p:cBhvr>
                                    </p:animEffect>
                                  </p:childTnLst>
                                </p:cTn>
                              </p:par>
                              <p:par>
                                <p:cTn id="138" presetID="10" presetClass="entr" presetSubtype="0" fill="hold" grpId="0" nodeType="withEffect">
                                  <p:stCondLst>
                                    <p:cond delay="5400"/>
                                  </p:stCondLst>
                                  <p:childTnLst>
                                    <p:set>
                                      <p:cBhvr>
                                        <p:cTn id="139" dur="1" fill="hold">
                                          <p:stCondLst>
                                            <p:cond delay="0"/>
                                          </p:stCondLst>
                                        </p:cTn>
                                        <p:tgtEl>
                                          <p:spTgt spid="59"/>
                                        </p:tgtEl>
                                        <p:attrNameLst>
                                          <p:attrName>style.visibility</p:attrName>
                                        </p:attrNameLst>
                                      </p:cBhvr>
                                      <p:to>
                                        <p:strVal val="visible"/>
                                      </p:to>
                                    </p:set>
                                    <p:animEffect transition="in" filter="fade">
                                      <p:cBhvr>
                                        <p:cTn id="140" dur="450"/>
                                        <p:tgtEl>
                                          <p:spTgt spid="59"/>
                                        </p:tgtEl>
                                      </p:cBhvr>
                                    </p:animEffect>
                                  </p:childTnLst>
                                </p:cTn>
                              </p:par>
                              <p:par>
                                <p:cTn id="141" presetID="10" presetClass="entr" presetSubtype="0" fill="hold" grpId="0" nodeType="withEffect">
                                  <p:stCondLst>
                                    <p:cond delay="5520"/>
                                  </p:stCondLst>
                                  <p:childTnLst>
                                    <p:set>
                                      <p:cBhvr>
                                        <p:cTn id="142" dur="1" fill="hold">
                                          <p:stCondLst>
                                            <p:cond delay="0"/>
                                          </p:stCondLst>
                                        </p:cTn>
                                        <p:tgtEl>
                                          <p:spTgt spid="60"/>
                                        </p:tgtEl>
                                        <p:attrNameLst>
                                          <p:attrName>style.visibility</p:attrName>
                                        </p:attrNameLst>
                                      </p:cBhvr>
                                      <p:to>
                                        <p:strVal val="visible"/>
                                      </p:to>
                                    </p:set>
                                    <p:animEffect transition="in" filter="fade">
                                      <p:cBhvr>
                                        <p:cTn id="143" dur="450"/>
                                        <p:tgtEl>
                                          <p:spTgt spid="60"/>
                                        </p:tgtEl>
                                      </p:cBhvr>
                                    </p:animEffect>
                                  </p:childTnLst>
                                </p:cTn>
                              </p:par>
                            </p:childTnLst>
                          </p:cTn>
                        </p:par>
                      </p:childTnLst>
                    </p:cTn>
                  </p:par>
                  <p:par>
                    <p:cTn id="185" fill="hold">
                      <p:stCondLst>
                        <p:cond delay="indefinite"/>
                      </p:stCondLst>
                      <p:childTnLst>
                        <p:par>
                          <p:cTn id="186" fill="hold">
                            <p:stCondLst>
                              <p:cond delay="0"/>
                            </p:stCondLst>
                            <p:childTnLst>
                              <p:par>
                                <p:cTn id="146" presetID="10" presetClass="entr" presetSubtype="0" fill="hold" grpId="0" nodeType="clickEffect">
                                  <p:stCondLst>
                                    <p:cond delay="0"/>
                                  </p:stCondLst>
                                  <p:childTnLst>
                                    <p:set>
                                      <p:cBhvr>
                                        <p:cTn id="147" dur="1" fill="hold">
                                          <p:stCondLst>
                                            <p:cond delay="0"/>
                                          </p:stCondLst>
                                        </p:cTn>
                                        <p:tgtEl>
                                          <p:spTgt spid="61"/>
                                        </p:tgtEl>
                                        <p:attrNameLst>
                                          <p:attrName>style.visibility</p:attrName>
                                        </p:attrNameLst>
                                      </p:cBhvr>
                                      <p:to>
                                        <p:strVal val="visible"/>
                                      </p:to>
                                    </p:set>
                                    <p:animEffect transition="in" filter="fade">
                                      <p:cBhvr>
                                        <p:cTn id="148" dur="450"/>
                                        <p:tgtEl>
                                          <p:spTgt spid="61"/>
                                        </p:tgtEl>
                                      </p:cBhvr>
                                    </p:animEffect>
                                  </p:childTnLst>
                                </p:cTn>
                              </p:par>
                              <p:par>
                                <p:cTn id="149" presetID="10" presetClass="entr" presetSubtype="0" fill="hold" grpId="0" nodeType="withEffect">
                                  <p:stCondLst>
                                    <p:cond delay="120"/>
                                  </p:stCondLst>
                                  <p:childTnLst>
                                    <p:set>
                                      <p:cBhvr>
                                        <p:cTn id="150" dur="1" fill="hold">
                                          <p:stCondLst>
                                            <p:cond delay="0"/>
                                          </p:stCondLst>
                                        </p:cTn>
                                        <p:tgtEl>
                                          <p:spTgt spid="62"/>
                                        </p:tgtEl>
                                        <p:attrNameLst>
                                          <p:attrName>style.visibility</p:attrName>
                                        </p:attrNameLst>
                                      </p:cBhvr>
                                      <p:to>
                                        <p:strVal val="visible"/>
                                      </p:to>
                                    </p:set>
                                    <p:animEffect transition="in" filter="fade">
                                      <p:cBhvr>
                                        <p:cTn id="151" dur="450"/>
                                        <p:tgtEl>
                                          <p:spTgt spid="62"/>
                                        </p:tgtEl>
                                      </p:cBhvr>
                                    </p:animEffect>
                                  </p:childTnLst>
                                </p:cTn>
                              </p:par>
                              <p:par>
                                <p:cTn id="152" presetID="10" presetClass="entr" presetSubtype="0" fill="hold" grpId="0" nodeType="withEffect">
                                  <p:stCondLst>
                                    <p:cond delay="240"/>
                                  </p:stCondLst>
                                  <p:childTnLst>
                                    <p:set>
                                      <p:cBhvr>
                                        <p:cTn id="153" dur="1" fill="hold">
                                          <p:stCondLst>
                                            <p:cond delay="0"/>
                                          </p:stCondLst>
                                        </p:cTn>
                                        <p:tgtEl>
                                          <p:spTgt spid="63"/>
                                        </p:tgtEl>
                                        <p:attrNameLst>
                                          <p:attrName>style.visibility</p:attrName>
                                        </p:attrNameLst>
                                      </p:cBhvr>
                                      <p:to>
                                        <p:strVal val="visible"/>
                                      </p:to>
                                    </p:set>
                                    <p:animEffect transition="in" filter="fade">
                                      <p:cBhvr>
                                        <p:cTn id="154" dur="450"/>
                                        <p:tgtEl>
                                          <p:spTgt spid="63"/>
                                        </p:tgtEl>
                                      </p:cBhvr>
                                    </p:animEffect>
                                  </p:childTnLst>
                                </p:cTn>
                              </p:par>
                              <p:par>
                                <p:cTn id="155" presetID="10" presetClass="entr" presetSubtype="0" fill="hold" grpId="0" nodeType="withEffect">
                                  <p:stCondLst>
                                    <p:cond delay="360"/>
                                  </p:stCondLst>
                                  <p:childTnLst>
                                    <p:set>
                                      <p:cBhvr>
                                        <p:cTn id="156" dur="1" fill="hold">
                                          <p:stCondLst>
                                            <p:cond delay="0"/>
                                          </p:stCondLst>
                                        </p:cTn>
                                        <p:tgtEl>
                                          <p:spTgt spid="64"/>
                                        </p:tgtEl>
                                        <p:attrNameLst>
                                          <p:attrName>style.visibility</p:attrName>
                                        </p:attrNameLst>
                                      </p:cBhvr>
                                      <p:to>
                                        <p:strVal val="visible"/>
                                      </p:to>
                                    </p:set>
                                    <p:animEffect transition="in" filter="fade">
                                      <p:cBhvr>
                                        <p:cTn id="157" dur="450"/>
                                        <p:tgtEl>
                                          <p:spTgt spid="64"/>
                                        </p:tgtEl>
                                      </p:cBhvr>
                                    </p:animEffect>
                                  </p:childTnLst>
                                </p:cTn>
                              </p:par>
                              <p:par>
                                <p:cTn id="158" presetID="10" presetClass="entr" presetSubtype="0" fill="hold" grpId="0" nodeType="withEffect">
                                  <p:stCondLst>
                                    <p:cond delay="480"/>
                                  </p:stCondLst>
                                  <p:childTnLst>
                                    <p:set>
                                      <p:cBhvr>
                                        <p:cTn id="159" dur="1" fill="hold">
                                          <p:stCondLst>
                                            <p:cond delay="0"/>
                                          </p:stCondLst>
                                        </p:cTn>
                                        <p:tgtEl>
                                          <p:spTgt spid="65"/>
                                        </p:tgtEl>
                                        <p:attrNameLst>
                                          <p:attrName>style.visibility</p:attrName>
                                        </p:attrNameLst>
                                      </p:cBhvr>
                                      <p:to>
                                        <p:strVal val="visible"/>
                                      </p:to>
                                    </p:set>
                                    <p:animEffect transition="in" filter="fade">
                                      <p:cBhvr>
                                        <p:cTn id="160" dur="450"/>
                                        <p:tgtEl>
                                          <p:spTgt spid="65"/>
                                        </p:tgtEl>
                                      </p:cBhvr>
                                    </p:animEffect>
                                  </p:childTnLst>
                                </p:cTn>
                              </p:par>
                              <p:par>
                                <p:cTn id="161" presetID="10" presetClass="entr" presetSubtype="0" fill="hold" grpId="0" nodeType="withEffect">
                                  <p:stCondLst>
                                    <p:cond delay="600"/>
                                  </p:stCondLst>
                                  <p:childTnLst>
                                    <p:set>
                                      <p:cBhvr>
                                        <p:cTn id="162" dur="1" fill="hold">
                                          <p:stCondLst>
                                            <p:cond delay="0"/>
                                          </p:stCondLst>
                                        </p:cTn>
                                        <p:tgtEl>
                                          <p:spTgt spid="66"/>
                                        </p:tgtEl>
                                        <p:attrNameLst>
                                          <p:attrName>style.visibility</p:attrName>
                                        </p:attrNameLst>
                                      </p:cBhvr>
                                      <p:to>
                                        <p:strVal val="visible"/>
                                      </p:to>
                                    </p:set>
                                    <p:animEffect transition="in" filter="fade">
                                      <p:cBhvr>
                                        <p:cTn id="163" dur="450"/>
                                        <p:tgtEl>
                                          <p:spTgt spid="66"/>
                                        </p:tgtEl>
                                      </p:cBhvr>
                                    </p:animEffect>
                                  </p:childTnLst>
                                </p:cTn>
                              </p:par>
                              <p:par>
                                <p:cTn id="164" presetID="10" presetClass="entr" presetSubtype="0" fill="hold" grpId="0" nodeType="withEffect">
                                  <p:stCondLst>
                                    <p:cond delay="720"/>
                                  </p:stCondLst>
                                  <p:childTnLst>
                                    <p:set>
                                      <p:cBhvr>
                                        <p:cTn id="165" dur="1" fill="hold">
                                          <p:stCondLst>
                                            <p:cond delay="0"/>
                                          </p:stCondLst>
                                        </p:cTn>
                                        <p:tgtEl>
                                          <p:spTgt spid="67"/>
                                        </p:tgtEl>
                                        <p:attrNameLst>
                                          <p:attrName>style.visibility</p:attrName>
                                        </p:attrNameLst>
                                      </p:cBhvr>
                                      <p:to>
                                        <p:strVal val="visible"/>
                                      </p:to>
                                    </p:set>
                                    <p:animEffect transition="in" filter="fade">
                                      <p:cBhvr>
                                        <p:cTn id="166" dur="450"/>
                                        <p:tgtEl>
                                          <p:spTgt spid="67"/>
                                        </p:tgtEl>
                                      </p:cBhvr>
                                    </p:animEffect>
                                  </p:childTnLst>
                                </p:cTn>
                              </p:par>
                              <p:par>
                                <p:cTn id="167" presetID="10" presetClass="entr" presetSubtype="0" fill="hold" grpId="0" nodeType="withEffect">
                                  <p:stCondLst>
                                    <p:cond delay="840"/>
                                  </p:stCondLst>
                                  <p:childTnLst>
                                    <p:set>
                                      <p:cBhvr>
                                        <p:cTn id="168" dur="1" fill="hold">
                                          <p:stCondLst>
                                            <p:cond delay="0"/>
                                          </p:stCondLst>
                                        </p:cTn>
                                        <p:tgtEl>
                                          <p:spTgt spid="68"/>
                                        </p:tgtEl>
                                        <p:attrNameLst>
                                          <p:attrName>style.visibility</p:attrName>
                                        </p:attrNameLst>
                                      </p:cBhvr>
                                      <p:to>
                                        <p:strVal val="visible"/>
                                      </p:to>
                                    </p:set>
                                    <p:animEffect transition="in" filter="fade">
                                      <p:cBhvr>
                                        <p:cTn id="169" dur="450"/>
                                        <p:tgtEl>
                                          <p:spTgt spid="68"/>
                                        </p:tgtEl>
                                      </p:cBhvr>
                                    </p:animEffect>
                                  </p:childTnLst>
                                </p:cTn>
                              </p:par>
                              <p:par>
                                <p:cTn id="170" presetID="10" presetClass="entr" presetSubtype="0" fill="hold" grpId="0" nodeType="withEffect">
                                  <p:stCondLst>
                                    <p:cond delay="960"/>
                                  </p:stCondLst>
                                  <p:childTnLst>
                                    <p:set>
                                      <p:cBhvr>
                                        <p:cTn id="171" dur="1" fill="hold">
                                          <p:stCondLst>
                                            <p:cond delay="0"/>
                                          </p:stCondLst>
                                        </p:cTn>
                                        <p:tgtEl>
                                          <p:spTgt spid="69"/>
                                        </p:tgtEl>
                                        <p:attrNameLst>
                                          <p:attrName>style.visibility</p:attrName>
                                        </p:attrNameLst>
                                      </p:cBhvr>
                                      <p:to>
                                        <p:strVal val="visible"/>
                                      </p:to>
                                    </p:set>
                                    <p:animEffect transition="in" filter="fade">
                                      <p:cBhvr>
                                        <p:cTn id="172" dur="450"/>
                                        <p:tgtEl>
                                          <p:spTgt spid="69"/>
                                        </p:tgtEl>
                                      </p:cBhvr>
                                    </p:animEffect>
                                  </p:childTnLst>
                                </p:cTn>
                              </p:par>
                              <p:par>
                                <p:cTn id="173" presetID="10" presetClass="entr" presetSubtype="0" fill="hold" grpId="0" nodeType="withEffect">
                                  <p:stCondLst>
                                    <p:cond delay="1080"/>
                                  </p:stCondLst>
                                  <p:childTnLst>
                                    <p:set>
                                      <p:cBhvr>
                                        <p:cTn id="174" dur="1" fill="hold">
                                          <p:stCondLst>
                                            <p:cond delay="0"/>
                                          </p:stCondLst>
                                        </p:cTn>
                                        <p:tgtEl>
                                          <p:spTgt spid="70"/>
                                        </p:tgtEl>
                                        <p:attrNameLst>
                                          <p:attrName>style.visibility</p:attrName>
                                        </p:attrNameLst>
                                      </p:cBhvr>
                                      <p:to>
                                        <p:strVal val="visible"/>
                                      </p:to>
                                    </p:set>
                                    <p:animEffect transition="in" filter="fade">
                                      <p:cBhvr>
                                        <p:cTn id="175" dur="450"/>
                                        <p:tgtEl>
                                          <p:spTgt spid="70"/>
                                        </p:tgtEl>
                                      </p:cBhvr>
                                    </p:animEffect>
                                  </p:childTnLst>
                                </p:cTn>
                              </p:par>
                              <p:par>
                                <p:cTn id="176" presetID="10" presetClass="entr" presetSubtype="0" fill="hold" grpId="0" nodeType="withEffect">
                                  <p:stCondLst>
                                    <p:cond delay="1200"/>
                                  </p:stCondLst>
                                  <p:childTnLst>
                                    <p:set>
                                      <p:cBhvr>
                                        <p:cTn id="177" dur="1" fill="hold">
                                          <p:stCondLst>
                                            <p:cond delay="0"/>
                                          </p:stCondLst>
                                        </p:cTn>
                                        <p:tgtEl>
                                          <p:spTgt spid="71"/>
                                        </p:tgtEl>
                                        <p:attrNameLst>
                                          <p:attrName>style.visibility</p:attrName>
                                        </p:attrNameLst>
                                      </p:cBhvr>
                                      <p:to>
                                        <p:strVal val="visible"/>
                                      </p:to>
                                    </p:set>
                                    <p:animEffect transition="in" filter="fade">
                                      <p:cBhvr>
                                        <p:cTn id="178" dur="450"/>
                                        <p:tgtEl>
                                          <p:spTgt spid="71"/>
                                        </p:tgtEl>
                                      </p:cBhvr>
                                    </p:animEffect>
                                  </p:childTnLst>
                                </p:cTn>
                              </p:par>
                              <p:par>
                                <p:cTn id="179" presetID="10" presetClass="entr" presetSubtype="0" fill="hold" grpId="0" nodeType="withEffect">
                                  <p:stCondLst>
                                    <p:cond delay="1320"/>
                                  </p:stCondLst>
                                  <p:childTnLst>
                                    <p:set>
                                      <p:cBhvr>
                                        <p:cTn id="180" dur="1" fill="hold">
                                          <p:stCondLst>
                                            <p:cond delay="0"/>
                                          </p:stCondLst>
                                        </p:cTn>
                                        <p:tgtEl>
                                          <p:spTgt spid="72"/>
                                        </p:tgtEl>
                                        <p:attrNameLst>
                                          <p:attrName>style.visibility</p:attrName>
                                        </p:attrNameLst>
                                      </p:cBhvr>
                                      <p:to>
                                        <p:strVal val="visible"/>
                                      </p:to>
                                    </p:set>
                                    <p:animEffect transition="in" filter="fade">
                                      <p:cBhvr>
                                        <p:cTn id="181" dur="450"/>
                                        <p:tgtEl>
                                          <p:spTgt spid="72"/>
                                        </p:tgtEl>
                                      </p:cBhvr>
                                    </p:animEffect>
                                  </p:childTnLst>
                                </p:cTn>
                              </p:par>
                              <p:par>
                                <p:cTn id="182" presetID="10" presetClass="entr" presetSubtype="0" fill="hold" grpId="0" nodeType="withEffect">
                                  <p:stCondLst>
                                    <p:cond delay="1440"/>
                                  </p:stCondLst>
                                  <p:childTnLst>
                                    <p:set>
                                      <p:cBhvr>
                                        <p:cTn id="183" dur="1" fill="hold">
                                          <p:stCondLst>
                                            <p:cond delay="0"/>
                                          </p:stCondLst>
                                        </p:cTn>
                                        <p:tgtEl>
                                          <p:spTgt spid="73"/>
                                        </p:tgtEl>
                                        <p:attrNameLst>
                                          <p:attrName>style.visibility</p:attrName>
                                        </p:attrNameLst>
                                      </p:cBhvr>
                                      <p:to>
                                        <p:strVal val="visible"/>
                                      </p:to>
                                    </p:set>
                                    <p:animEffect transition="in" filter="fade">
                                      <p:cBhvr>
                                        <p:cTn id="184" dur="45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9A56"/>
        </a:solidFill>
        <a:effectLst/>
      </p:bgPr>
    </p:bg>
    <p:spTree>
      <p:nvGrpSpPr>
        <p:cNvPr id="1" name=""/>
        <p:cNvGrpSpPr/>
        <p:nvPr/>
      </p:nvGrpSpPr>
      <p:grpSpPr/>
      <p:sp>
        <p:nvSpPr>
          <p:cNvPr id="2" name="Oval 1"/>
          <p:cNvSpPr/>
          <p:nvPr/>
        </p:nvSpPr>
        <p:spPr>
          <a:xfrm>
            <a:off x="7498079" y="-1371600"/>
            <a:ext cx="3657600" cy="4572000"/>
          </a:xfrm>
          <a:prstGeom prst="ellipse">
            <a:avLst/>
          </a:prstGeom>
          <a:solidFill>
            <a:srgbClr val="00C060">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8046720" y="1828800"/>
            <a:ext cx="2743200" cy="3474720"/>
          </a:xfrm>
          <a:prstGeom prst="ellipse">
            <a:avLst/>
          </a:prstGeom>
          <a:solidFill>
            <a:srgbClr val="00C060">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 name="Picture 3" descr="logo_boa.png"/>
          <p:cNvPicPr>
            <a:picLocks noChangeAspect="1"/>
          </p:cNvPicPr>
          <p:nvPr/>
        </p:nvPicPr>
        <p:blipFill>
          <a:blip r:embed="rId2"/>
          <a:stretch>
            <a:fillRect/>
          </a:stretch>
        </p:blipFill>
        <p:spPr>
          <a:xfrm>
            <a:off x="6812280" y="0"/>
            <a:ext cx="2331720" cy="566928"/>
          </a:xfrm>
          <a:prstGeom prst="rect">
            <a:avLst/>
          </a:prstGeom>
        </p:spPr>
      </p:pic>
      <p:sp>
        <p:nvSpPr>
          <p:cNvPr id="5" name="TextBox 4"/>
          <p:cNvSpPr txBox="1"/>
          <p:nvPr/>
        </p:nvSpPr>
        <p:spPr>
          <a:xfrm>
            <a:off x="914400" y="1325880"/>
            <a:ext cx="5486400" cy="1188720"/>
          </a:xfrm>
          <a:prstGeom prst="rect">
            <a:avLst/>
          </a:prstGeom>
          <a:noFill/>
        </p:spPr>
        <p:txBody>
          <a:bodyPr wrap="square" lIns="0" rIns="0" tIns="0" bIns="0" anchor="ctr">
            <a:spAutoFit/>
          </a:bodyPr>
          <a:lstStyle/>
          <a:p>
            <a:pPr algn="l"/>
            <a:r>
              <a:rPr sz="5000" b="1" i="0" spc="500">
                <a:solidFill>
                  <a:srgbClr val="FFFFFF"/>
                </a:solidFill>
                <a:latin typeface="Calibri"/>
                <a:ea typeface="Calibri"/>
                <a:cs typeface="Calibri"/>
              </a:rPr>
              <a:t>MERCI</a:t>
            </a:r>
          </a:p>
        </p:txBody>
      </p:sp>
      <p:sp>
        <p:nvSpPr>
          <p:cNvPr id="6" name="Rectangle 5"/>
          <p:cNvSpPr/>
          <p:nvPr/>
        </p:nvSpPr>
        <p:spPr>
          <a:xfrm>
            <a:off x="914400" y="2651760"/>
            <a:ext cx="50292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2880360"/>
            <a:ext cx="5943600" cy="822960"/>
          </a:xfrm>
          <a:prstGeom prst="rect">
            <a:avLst/>
          </a:prstGeom>
          <a:noFill/>
        </p:spPr>
        <p:txBody>
          <a:bodyPr wrap="square" lIns="0" rIns="0" tIns="0" bIns="0" anchor="t">
            <a:spAutoFit/>
          </a:bodyPr>
          <a:lstStyle/>
          <a:p>
            <a:pPr algn="l">
              <a:lnSpc>
                <a:spcPct val="110000"/>
              </a:lnSpc>
              <a:spcAft>
                <a:spcPts val="600"/>
              </a:spcAft>
            </a:pPr>
            <a:r>
              <a:rPr sz="1200" b="0" i="0">
                <a:solidFill>
                  <a:srgbClr val="D4F5E4"/>
                </a:solidFill>
                <a:latin typeface="Calibri"/>
                <a:ea typeface="Calibri"/>
                <a:cs typeface="Calibri"/>
              </a:rPr>
              <a:t>Place aux questions et à l'atelier pratique.</a:t>
            </a:r>
          </a:p>
          <a:p>
            <a:pPr algn="l">
              <a:lnSpc>
                <a:spcPct val="110000"/>
              </a:lnSpc>
              <a:spcAft>
                <a:spcPts val="600"/>
              </a:spcAft>
            </a:pPr>
            <a:r>
              <a:rPr sz="1200" b="0" i="0">
                <a:solidFill>
                  <a:srgbClr val="D4F5E4"/>
                </a:solidFill>
                <a:latin typeface="Calibri"/>
                <a:ea typeface="Calibri"/>
                <a:cs typeface="Calibri"/>
              </a:rPr>
              <a:t>La qualité du référentiel client se construit dossier par dossier.</a:t>
            </a:r>
          </a:p>
        </p:txBody>
      </p:sp>
      <p:sp>
        <p:nvSpPr>
          <p:cNvPr id="8" name="TextBox 7"/>
          <p:cNvSpPr txBox="1"/>
          <p:nvPr/>
        </p:nvSpPr>
        <p:spPr>
          <a:xfrm>
            <a:off x="914400" y="4297680"/>
            <a:ext cx="5943600" cy="365760"/>
          </a:xfrm>
          <a:prstGeom prst="rect">
            <a:avLst/>
          </a:prstGeom>
          <a:noFill/>
        </p:spPr>
        <p:txBody>
          <a:bodyPr wrap="square" lIns="0" rIns="0" tIns="0" bIns="0" anchor="t">
            <a:spAutoFit/>
          </a:bodyPr>
          <a:lstStyle/>
          <a:p>
            <a:pPr algn="l"/>
            <a:r>
              <a:rPr sz="1000" b="0" i="0">
                <a:solidFill>
                  <a:srgbClr val="A0D4B8"/>
                </a:solidFill>
                <a:latin typeface="Calibri"/>
                <a:ea typeface="Calibri"/>
                <a:cs typeface="Calibri"/>
              </a:rPr>
              <a:t>Conformité BOA Group  |  Pôle Projet  —  Septembre 2026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50"/>
                                        <p:tgtEl>
                                          <p:spTgt spid="5"/>
                                        </p:tgtEl>
                                      </p:cBhvr>
                                    </p:animEffect>
                                  </p:childTnLst>
                                </p:cTn>
                              </p:par>
                              <p:par>
                                <p:cTn id="6" presetID="10" presetClass="entr" presetSubtype="0" fill="hold" grpId="0" nodeType="withEffect">
                                  <p:stCondLst>
                                    <p:cond delay="12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50"/>
                                        <p:tgtEl>
                                          <p:spTgt spid="6"/>
                                        </p:tgtEl>
                                      </p:cBhvr>
                                    </p:animEffect>
                                  </p:childTnLst>
                                </p:cTn>
                              </p:par>
                            </p:childTnLst>
                          </p:cTn>
                        </p:par>
                      </p:childTnLst>
                    </p:cTn>
                  </p:par>
                  <p:par>
                    <p:cTn id="14" fill="hold">
                      <p:stCondLst>
                        <p:cond delay="indefinite"/>
                      </p:stCondLst>
                      <p:childTnLst>
                        <p:par>
                          <p:cTn id="15"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childTnLst>
                                </p:cTn>
                              </p:par>
                            </p:childTnLst>
                          </p:cTn>
                        </p:par>
                      </p:childTnLst>
                    </p:cTn>
                  </p:par>
                  <p:par>
                    <p:cTn id="19" fill="hold">
                      <p:stCondLst>
                        <p:cond delay="indefinite"/>
                      </p:stCondLst>
                      <p:childTnLst>
                        <p:par>
                          <p:cTn id="20"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113</TotalTime>
  <Words>803</Words>
  <Application>Microsoft Office PowerPoint</Application>
  <PresentationFormat>Affichage à l'écran (16:9)</PresentationFormat>
  <Paragraphs>179</Paragraphs>
  <Slides>9</Slides>
  <Notes>9</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9</vt:i4>
      </vt:variant>
    </vt:vector>
  </HeadingPairs>
  <TitlesOfParts>
    <vt:vector size="1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Screening KYC ID – Fiche Projet</dc:title>
  <dc:subject>PptxGenJS Presentation</dc:subject>
  <dc:creator>PptxGenJS</dc:creator>
  <cp:lastModifiedBy>Mamadou Fallou Sylla</cp:lastModifiedBy>
  <cp:revision>2</cp:revision>
  <dcterms:created xsi:type="dcterms:W3CDTF">2026-05-21T14:51:05Z</dcterms:created>
  <dcterms:modified xsi:type="dcterms:W3CDTF">2026-06-10T16:05:49Z</dcterms:modified>
</cp:coreProperties>
</file>