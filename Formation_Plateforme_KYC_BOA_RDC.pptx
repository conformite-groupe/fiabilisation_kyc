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9"/>
    <p:sldId id="257" r:id="rId10"/>
    <p:sldId id="258" r:id="rId8"/>
    <p:sldId id="259" r:id="rId7"/>
    <p:sldId id="260" r:id="rId6"/>
    <p:sldId id="261" r:id="rId5"/>
    <p:sldId id="262" r:id="rId4"/>
    <p:sldId id="263" r:id="rId3"/>
    <p:sldId id="264" r:id="rId2"/>
    <p:sldId id="265" r:id="rId18"/>
    <p:sldId id="266" r:id="rId19"/>
    <p:sldId id="267" r:id="rId20"/>
    <p:sldId id="268" r:id="rId21"/>
    <p:sldId id="269" r:id="rId22"/>
    <p:sldId id="270" r:id="rId23"/>
    <p:sldId id="271" r:id="rId24"/>
    <p:sldId id="272" r:id="rId25"/>
    <p:sldId id="273" r:id="rId26"/>
    <p:sldId id="274" r:id="rId27"/>
    <p:sldId id="275"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D5237E-7655-497C-9474-451EF1EF2F4C}" v="2" dt="2026-06-10T14:59:37.3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3" d="100"/>
          <a:sy n="143" d="100"/>
        </p:scale>
        <p:origin x="10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madou Fallou Sylla" userId="c456aed9-8824-4632-add3-85c26a03832d" providerId="ADAL" clId="{59587479-4389-46B4-BE53-52C117EAA1BD}"/>
    <pc:docChg chg="undo custSel addSld delSld modSld">
      <pc:chgData name="Mamadou Fallou Sylla" userId="c456aed9-8824-4632-add3-85c26a03832d" providerId="ADAL" clId="{59587479-4389-46B4-BE53-52C117EAA1BD}" dt="2026-06-10T16:05:47.061" v="239" actId="47"/>
      <pc:docMkLst>
        <pc:docMk/>
      </pc:docMkLst>
      <pc:sldChg chg="modSp mod">
        <pc:chgData name="Mamadou Fallou Sylla" userId="c456aed9-8824-4632-add3-85c26a03832d" providerId="ADAL" clId="{59587479-4389-46B4-BE53-52C117EAA1BD}" dt="2026-06-10T14:35:06.102" v="39" actId="1076"/>
        <pc:sldMkLst>
          <pc:docMk/>
          <pc:sldMk cId="0" sldId="256"/>
        </pc:sldMkLst>
        <pc:spChg chg="mod">
          <ac:chgData name="Mamadou Fallou Sylla" userId="c456aed9-8824-4632-add3-85c26a03832d" providerId="ADAL" clId="{59587479-4389-46B4-BE53-52C117EAA1BD}" dt="2026-06-10T14:35:06.102" v="39" actId="1076"/>
          <ac:spMkLst>
            <pc:docMk/>
            <pc:sldMk cId="0" sldId="256"/>
            <ac:spMk id="2" creationId="{00000000-0000-0000-0000-000000000000}"/>
          </ac:spMkLst>
        </pc:spChg>
        <pc:spChg chg="mod">
          <ac:chgData name="Mamadou Fallou Sylla" userId="c456aed9-8824-4632-add3-85c26a03832d" providerId="ADAL" clId="{59587479-4389-46B4-BE53-52C117EAA1BD}" dt="2026-06-05T09:31:35.803" v="13" actId="20577"/>
          <ac:spMkLst>
            <pc:docMk/>
            <pc:sldMk cId="0" sldId="256"/>
            <ac:spMk id="10" creationId="{00000000-0000-0000-0000-000000000000}"/>
          </ac:spMkLst>
        </pc:spChg>
      </pc:sldChg>
      <pc:sldChg chg="modSp mod">
        <pc:chgData name="Mamadou Fallou Sylla" userId="c456aed9-8824-4632-add3-85c26a03832d" providerId="ADAL" clId="{59587479-4389-46B4-BE53-52C117EAA1BD}" dt="2026-06-10T14:59:58.565" v="237" actId="20577"/>
        <pc:sldMkLst>
          <pc:docMk/>
          <pc:sldMk cId="0" sldId="257"/>
        </pc:sldMkLst>
        <pc:spChg chg="mod">
          <ac:chgData name="Mamadou Fallou Sylla" userId="c456aed9-8824-4632-add3-85c26a03832d" providerId="ADAL" clId="{59587479-4389-46B4-BE53-52C117EAA1BD}" dt="2026-06-05T09:31:27.105" v="9" actId="20577"/>
          <ac:spMkLst>
            <pc:docMk/>
            <pc:sldMk cId="0" sldId="257"/>
            <ac:spMk id="7" creationId="{00000000-0000-0000-0000-000000000000}"/>
          </ac:spMkLst>
        </pc:spChg>
        <pc:spChg chg="mod">
          <ac:chgData name="Mamadou Fallou Sylla" userId="c456aed9-8824-4632-add3-85c26a03832d" providerId="ADAL" clId="{59587479-4389-46B4-BE53-52C117EAA1BD}" dt="2026-06-10T14:59:58.565" v="237" actId="20577"/>
          <ac:spMkLst>
            <pc:docMk/>
            <pc:sldMk cId="0" sldId="257"/>
            <ac:spMk id="18" creationId="{00000000-0000-0000-0000-000000000000}"/>
          </ac:spMkLst>
        </pc:spChg>
      </pc:sldChg>
      <pc:sldChg chg="modSp mod">
        <pc:chgData name="Mamadou Fallou Sylla" userId="c456aed9-8824-4632-add3-85c26a03832d" providerId="ADAL" clId="{59587479-4389-46B4-BE53-52C117EAA1BD}" dt="2026-06-10T14:49:55.992" v="225" actId="20577"/>
        <pc:sldMkLst>
          <pc:docMk/>
          <pc:sldMk cId="0" sldId="258"/>
        </pc:sldMkLst>
        <pc:spChg chg="mod">
          <ac:chgData name="Mamadou Fallou Sylla" userId="c456aed9-8824-4632-add3-85c26a03832d" providerId="ADAL" clId="{59587479-4389-46B4-BE53-52C117EAA1BD}" dt="2026-06-10T14:49:55.992" v="225" actId="20577"/>
          <ac:spMkLst>
            <pc:docMk/>
            <pc:sldMk cId="0" sldId="258"/>
            <ac:spMk id="18" creationId="{00000000-0000-0000-0000-000000000000}"/>
          </ac:spMkLst>
        </pc:spChg>
      </pc:sldChg>
      <pc:sldChg chg="modSp mod">
        <pc:chgData name="Mamadou Fallou Sylla" userId="c456aed9-8824-4632-add3-85c26a03832d" providerId="ADAL" clId="{59587479-4389-46B4-BE53-52C117EAA1BD}" dt="2026-06-10T14:38:54.910" v="211" actId="207"/>
        <pc:sldMkLst>
          <pc:docMk/>
          <pc:sldMk cId="0" sldId="260"/>
        </pc:sldMkLst>
        <pc:spChg chg="mod">
          <ac:chgData name="Mamadou Fallou Sylla" userId="c456aed9-8824-4632-add3-85c26a03832d" providerId="ADAL" clId="{59587479-4389-46B4-BE53-52C117EAA1BD}" dt="2026-06-05T09:32:38.891" v="21" actId="20577"/>
          <ac:spMkLst>
            <pc:docMk/>
            <pc:sldMk cId="0" sldId="260"/>
            <ac:spMk id="9" creationId="{00000000-0000-0000-0000-000000000000}"/>
          </ac:spMkLst>
        </pc:spChg>
        <pc:spChg chg="mod">
          <ac:chgData name="Mamadou Fallou Sylla" userId="c456aed9-8824-4632-add3-85c26a03832d" providerId="ADAL" clId="{59587479-4389-46B4-BE53-52C117EAA1BD}" dt="2026-06-05T09:30:30.437" v="0"/>
          <ac:spMkLst>
            <pc:docMk/>
            <pc:sldMk cId="0" sldId="260"/>
            <ac:spMk id="39" creationId="{00000000-0000-0000-0000-000000000000}"/>
          </ac:spMkLst>
        </pc:spChg>
        <pc:spChg chg="mod">
          <ac:chgData name="Mamadou Fallou Sylla" userId="c456aed9-8824-4632-add3-85c26a03832d" providerId="ADAL" clId="{59587479-4389-46B4-BE53-52C117EAA1BD}" dt="2026-06-10T14:35:37.255" v="104" actId="20577"/>
          <ac:spMkLst>
            <pc:docMk/>
            <pc:sldMk cId="0" sldId="260"/>
            <ac:spMk id="40" creationId="{00000000-0000-0000-0000-000000000000}"/>
          </ac:spMkLst>
        </pc:spChg>
        <pc:graphicFrameChg chg="modGraphic">
          <ac:chgData name="Mamadou Fallou Sylla" userId="c456aed9-8824-4632-add3-85c26a03832d" providerId="ADAL" clId="{59587479-4389-46B4-BE53-52C117EAA1BD}" dt="2026-06-10T14:38:54.910" v="211" actId="207"/>
          <ac:graphicFrameMkLst>
            <pc:docMk/>
            <pc:sldMk cId="0" sldId="260"/>
            <ac:graphicFrameMk id="42" creationId="{00000000-0000-0000-0000-000000000000}"/>
          </ac:graphicFrameMkLst>
        </pc:graphicFrameChg>
      </pc:sldChg>
      <pc:sldChg chg="delSp modSp mod">
        <pc:chgData name="Mamadou Fallou Sylla" userId="c456aed9-8824-4632-add3-85c26a03832d" providerId="ADAL" clId="{59587479-4389-46B4-BE53-52C117EAA1BD}" dt="2026-06-10T14:52:49.827" v="232" actId="1076"/>
        <pc:sldMkLst>
          <pc:docMk/>
          <pc:sldMk cId="0" sldId="261"/>
        </pc:sldMkLst>
        <pc:spChg chg="mod">
          <ac:chgData name="Mamadou Fallou Sylla" userId="c456aed9-8824-4632-add3-85c26a03832d" providerId="ADAL" clId="{59587479-4389-46B4-BE53-52C117EAA1BD}" dt="2026-06-10T14:52:39.463" v="231" actId="1076"/>
          <ac:spMkLst>
            <pc:docMk/>
            <pc:sldMk cId="0" sldId="261"/>
            <ac:spMk id="3" creationId="{00000000-0000-0000-0000-000000000000}"/>
          </ac:spMkLst>
        </pc:spChg>
        <pc:spChg chg="mod">
          <ac:chgData name="Mamadou Fallou Sylla" userId="c456aed9-8824-4632-add3-85c26a03832d" providerId="ADAL" clId="{59587479-4389-46B4-BE53-52C117EAA1BD}" dt="2026-06-05T09:35:13.105" v="37" actId="20577"/>
          <ac:spMkLst>
            <pc:docMk/>
            <pc:sldMk cId="0" sldId="261"/>
            <ac:spMk id="8" creationId="{00000000-0000-0000-0000-000000000000}"/>
          </ac:spMkLst>
        </pc:spChg>
        <pc:spChg chg="mod">
          <ac:chgData name="Mamadou Fallou Sylla" userId="c456aed9-8824-4632-add3-85c26a03832d" providerId="ADAL" clId="{59587479-4389-46B4-BE53-52C117EAA1BD}" dt="2026-06-10T14:52:49.827" v="232" actId="1076"/>
          <ac:spMkLst>
            <pc:docMk/>
            <pc:sldMk cId="0" sldId="261"/>
            <ac:spMk id="10" creationId="{00000000-0000-0000-0000-000000000000}"/>
          </ac:spMkLst>
        </pc:spChg>
        <pc:spChg chg="mod">
          <ac:chgData name="Mamadou Fallou Sylla" userId="c456aed9-8824-4632-add3-85c26a03832d" providerId="ADAL" clId="{59587479-4389-46B4-BE53-52C117EAA1BD}" dt="2026-06-10T14:52:49.827" v="232" actId="1076"/>
          <ac:spMkLst>
            <pc:docMk/>
            <pc:sldMk cId="0" sldId="261"/>
            <ac:spMk id="13" creationId="{00000000-0000-0000-0000-000000000000}"/>
          </ac:spMkLst>
        </pc:spChg>
        <pc:spChg chg="mod">
          <ac:chgData name="Mamadou Fallou Sylla" userId="c456aed9-8824-4632-add3-85c26a03832d" providerId="ADAL" clId="{59587479-4389-46B4-BE53-52C117EAA1BD}" dt="2026-06-10T14:52:49.827" v="232" actId="1076"/>
          <ac:spMkLst>
            <pc:docMk/>
            <pc:sldMk cId="0" sldId="261"/>
            <ac:spMk id="18" creationId="{00000000-0000-0000-0000-000000000000}"/>
          </ac:spMkLst>
        </pc:spChg>
        <pc:spChg chg="mod">
          <ac:chgData name="Mamadou Fallou Sylla" userId="c456aed9-8824-4632-add3-85c26a03832d" providerId="ADAL" clId="{59587479-4389-46B4-BE53-52C117EAA1BD}" dt="2026-06-10T14:52:49.827" v="232" actId="1076"/>
          <ac:spMkLst>
            <pc:docMk/>
            <pc:sldMk cId="0" sldId="261"/>
            <ac:spMk id="19" creationId="{00000000-0000-0000-0000-000000000000}"/>
          </ac:spMkLst>
        </pc:spChg>
        <pc:spChg chg="mod">
          <ac:chgData name="Mamadou Fallou Sylla" userId="c456aed9-8824-4632-add3-85c26a03832d" providerId="ADAL" clId="{59587479-4389-46B4-BE53-52C117EAA1BD}" dt="2026-06-10T14:52:49.827" v="232" actId="1076"/>
          <ac:spMkLst>
            <pc:docMk/>
            <pc:sldMk cId="0" sldId="261"/>
            <ac:spMk id="20" creationId="{00000000-0000-0000-0000-000000000000}"/>
          </ac:spMkLst>
        </pc:spChg>
        <pc:spChg chg="mod">
          <ac:chgData name="Mamadou Fallou Sylla" userId="c456aed9-8824-4632-add3-85c26a03832d" providerId="ADAL" clId="{59587479-4389-46B4-BE53-52C117EAA1BD}" dt="2026-06-10T14:52:49.827" v="232" actId="1076"/>
          <ac:spMkLst>
            <pc:docMk/>
            <pc:sldMk cId="0" sldId="261"/>
            <ac:spMk id="22" creationId="{00000000-0000-0000-0000-000000000000}"/>
          </ac:spMkLst>
        </pc:spChg>
        <pc:spChg chg="mod">
          <ac:chgData name="Mamadou Fallou Sylla" userId="c456aed9-8824-4632-add3-85c26a03832d" providerId="ADAL" clId="{59587479-4389-46B4-BE53-52C117EAA1BD}" dt="2026-06-10T14:52:49.827" v="232" actId="1076"/>
          <ac:spMkLst>
            <pc:docMk/>
            <pc:sldMk cId="0" sldId="261"/>
            <ac:spMk id="30" creationId="{00000000-0000-0000-0000-000000000000}"/>
          </ac:spMkLst>
        </pc:spChg>
        <pc:spChg chg="mod">
          <ac:chgData name="Mamadou Fallou Sylla" userId="c456aed9-8824-4632-add3-85c26a03832d" providerId="ADAL" clId="{59587479-4389-46B4-BE53-52C117EAA1BD}" dt="2026-06-10T14:52:49.827" v="232" actId="1076"/>
          <ac:spMkLst>
            <pc:docMk/>
            <pc:sldMk cId="0" sldId="261"/>
            <ac:spMk id="39" creationId="{00000000-0000-0000-0000-000000000000}"/>
          </ac:spMkLst>
        </pc:spChg>
        <pc:spChg chg="mod">
          <ac:chgData name="Mamadou Fallou Sylla" userId="c456aed9-8824-4632-add3-85c26a03832d" providerId="ADAL" clId="{59587479-4389-46B4-BE53-52C117EAA1BD}" dt="2026-06-10T14:52:49.827" v="232" actId="1076"/>
          <ac:spMkLst>
            <pc:docMk/>
            <pc:sldMk cId="0" sldId="261"/>
            <ac:spMk id="50" creationId="{00000000-0000-0000-0000-000000000000}"/>
          </ac:spMkLst>
        </pc:spChg>
        <pc:spChg chg="mod">
          <ac:chgData name="Mamadou Fallou Sylla" userId="c456aed9-8824-4632-add3-85c26a03832d" providerId="ADAL" clId="{59587479-4389-46B4-BE53-52C117EAA1BD}" dt="2026-06-10T14:52:49.827" v="232" actId="1076"/>
          <ac:spMkLst>
            <pc:docMk/>
            <pc:sldMk cId="0" sldId="261"/>
            <ac:spMk id="51" creationId="{00000000-0000-0000-0000-000000000000}"/>
          </ac:spMkLst>
        </pc:spChg>
        <pc:spChg chg="del">
          <ac:chgData name="Mamadou Fallou Sylla" userId="c456aed9-8824-4632-add3-85c26a03832d" providerId="ADAL" clId="{59587479-4389-46B4-BE53-52C117EAA1BD}" dt="2026-06-10T14:52:33.839" v="229" actId="478"/>
          <ac:spMkLst>
            <pc:docMk/>
            <pc:sldMk cId="0" sldId="261"/>
            <ac:spMk id="52" creationId="{00000000-0000-0000-0000-000000000000}"/>
          </ac:spMkLst>
        </pc:spChg>
        <pc:spChg chg="del">
          <ac:chgData name="Mamadou Fallou Sylla" userId="c456aed9-8824-4632-add3-85c26a03832d" providerId="ADAL" clId="{59587479-4389-46B4-BE53-52C117EAA1BD}" dt="2026-06-10T14:52:28.852" v="228" actId="478"/>
          <ac:spMkLst>
            <pc:docMk/>
            <pc:sldMk cId="0" sldId="261"/>
            <ac:spMk id="55" creationId="{00000000-0000-0000-0000-000000000000}"/>
          </ac:spMkLst>
        </pc:spChg>
        <pc:spChg chg="del">
          <ac:chgData name="Mamadou Fallou Sylla" userId="c456aed9-8824-4632-add3-85c26a03832d" providerId="ADAL" clId="{59587479-4389-46B4-BE53-52C117EAA1BD}" dt="2026-06-10T14:52:28.852" v="228" actId="478"/>
          <ac:spMkLst>
            <pc:docMk/>
            <pc:sldMk cId="0" sldId="261"/>
            <ac:spMk id="57" creationId="{00000000-0000-0000-0000-000000000000}"/>
          </ac:spMkLst>
        </pc:spChg>
        <pc:spChg chg="del">
          <ac:chgData name="Mamadou Fallou Sylla" userId="c456aed9-8824-4632-add3-85c26a03832d" providerId="ADAL" clId="{59587479-4389-46B4-BE53-52C117EAA1BD}" dt="2026-06-10T14:52:28.852" v="228" actId="478"/>
          <ac:spMkLst>
            <pc:docMk/>
            <pc:sldMk cId="0" sldId="261"/>
            <ac:spMk id="60" creationId="{00000000-0000-0000-0000-000000000000}"/>
          </ac:spMkLst>
        </pc:spChg>
        <pc:spChg chg="del">
          <ac:chgData name="Mamadou Fallou Sylla" userId="c456aed9-8824-4632-add3-85c26a03832d" providerId="ADAL" clId="{59587479-4389-46B4-BE53-52C117EAA1BD}" dt="2026-06-10T14:52:28.852" v="228" actId="478"/>
          <ac:spMkLst>
            <pc:docMk/>
            <pc:sldMk cId="0" sldId="261"/>
            <ac:spMk id="61" creationId="{00000000-0000-0000-0000-000000000000}"/>
          </ac:spMkLst>
        </pc:spChg>
        <pc:spChg chg="del">
          <ac:chgData name="Mamadou Fallou Sylla" userId="c456aed9-8824-4632-add3-85c26a03832d" providerId="ADAL" clId="{59587479-4389-46B4-BE53-52C117EAA1BD}" dt="2026-06-10T14:52:28.852" v="228" actId="478"/>
          <ac:spMkLst>
            <pc:docMk/>
            <pc:sldMk cId="0" sldId="261"/>
            <ac:spMk id="62" creationId="{00000000-0000-0000-0000-000000000000}"/>
          </ac:spMkLst>
        </pc:spChg>
        <pc:spChg chg="del">
          <ac:chgData name="Mamadou Fallou Sylla" userId="c456aed9-8824-4632-add3-85c26a03832d" providerId="ADAL" clId="{59587479-4389-46B4-BE53-52C117EAA1BD}" dt="2026-06-10T14:52:28.852" v="228" actId="478"/>
          <ac:spMkLst>
            <pc:docMk/>
            <pc:sldMk cId="0" sldId="261"/>
            <ac:spMk id="64" creationId="{00000000-0000-0000-0000-000000000000}"/>
          </ac:spMkLst>
        </pc:spChg>
        <pc:spChg chg="del">
          <ac:chgData name="Mamadou Fallou Sylla" userId="c456aed9-8824-4632-add3-85c26a03832d" providerId="ADAL" clId="{59587479-4389-46B4-BE53-52C117EAA1BD}" dt="2026-06-10T14:52:28.852" v="228" actId="478"/>
          <ac:spMkLst>
            <pc:docMk/>
            <pc:sldMk cId="0" sldId="261"/>
            <ac:spMk id="66" creationId="{00000000-0000-0000-0000-000000000000}"/>
          </ac:spMkLst>
        </pc:spChg>
        <pc:spChg chg="del">
          <ac:chgData name="Mamadou Fallou Sylla" userId="c456aed9-8824-4632-add3-85c26a03832d" providerId="ADAL" clId="{59587479-4389-46B4-BE53-52C117EAA1BD}" dt="2026-06-10T14:52:28.852" v="228" actId="478"/>
          <ac:spMkLst>
            <pc:docMk/>
            <pc:sldMk cId="0" sldId="261"/>
            <ac:spMk id="68" creationId="{00000000-0000-0000-0000-000000000000}"/>
          </ac:spMkLst>
        </pc:spChg>
        <pc:spChg chg="del">
          <ac:chgData name="Mamadou Fallou Sylla" userId="c456aed9-8824-4632-add3-85c26a03832d" providerId="ADAL" clId="{59587479-4389-46B4-BE53-52C117EAA1BD}" dt="2026-06-10T14:52:28.852" v="228" actId="478"/>
          <ac:spMkLst>
            <pc:docMk/>
            <pc:sldMk cId="0" sldId="261"/>
            <ac:spMk id="69" creationId="{00000000-0000-0000-0000-000000000000}"/>
          </ac:spMkLst>
        </pc:spChg>
        <pc:spChg chg="del">
          <ac:chgData name="Mamadou Fallou Sylla" userId="c456aed9-8824-4632-add3-85c26a03832d" providerId="ADAL" clId="{59587479-4389-46B4-BE53-52C117EAA1BD}" dt="2026-06-10T14:52:28.852" v="228" actId="478"/>
          <ac:spMkLst>
            <pc:docMk/>
            <pc:sldMk cId="0" sldId="261"/>
            <ac:spMk id="70" creationId="{00000000-0000-0000-0000-000000000000}"/>
          </ac:spMkLst>
        </pc:spChg>
      </pc:sldChg>
      <pc:sldChg chg="modSp mod">
        <pc:chgData name="Mamadou Fallou Sylla" userId="c456aed9-8824-4632-add3-85c26a03832d" providerId="ADAL" clId="{59587479-4389-46B4-BE53-52C117EAA1BD}" dt="2026-06-10T14:53:15.801" v="234" actId="20577"/>
        <pc:sldMkLst>
          <pc:docMk/>
          <pc:sldMk cId="0" sldId="262"/>
        </pc:sldMkLst>
        <pc:spChg chg="mod">
          <ac:chgData name="Mamadou Fallou Sylla" userId="c456aed9-8824-4632-add3-85c26a03832d" providerId="ADAL" clId="{59587479-4389-46B4-BE53-52C117EAA1BD}" dt="2026-06-10T14:53:15.801" v="234" actId="20577"/>
          <ac:spMkLst>
            <pc:docMk/>
            <pc:sldMk cId="0" sldId="262"/>
            <ac:spMk id="9" creationId="{00000000-0000-0000-0000-000000000000}"/>
          </ac:spMkLst>
        </pc:spChg>
        <pc:spChg chg="mod">
          <ac:chgData name="Mamadou Fallou Sylla" userId="c456aed9-8824-4632-add3-85c26a03832d" providerId="ADAL" clId="{59587479-4389-46B4-BE53-52C117EAA1BD}" dt="2026-06-05T09:30:30.437" v="0"/>
          <ac:spMkLst>
            <pc:docMk/>
            <pc:sldMk cId="0" sldId="262"/>
            <ac:spMk id="24" creationId="{00000000-0000-0000-0000-000000000000}"/>
          </ac:spMkLst>
        </pc:spChg>
        <pc:spChg chg="mod">
          <ac:chgData name="Mamadou Fallou Sylla" userId="c456aed9-8824-4632-add3-85c26a03832d" providerId="ADAL" clId="{59587479-4389-46B4-BE53-52C117EAA1BD}" dt="2026-06-05T09:30:30.437" v="0"/>
          <ac:spMkLst>
            <pc:docMk/>
            <pc:sldMk cId="0" sldId="262"/>
            <ac:spMk id="25" creationId="{00000000-0000-0000-0000-000000000000}"/>
          </ac:spMkLst>
        </pc:spChg>
      </pc:sldChg>
      <pc:sldChg chg="modSp mod">
        <pc:chgData name="Mamadou Fallou Sylla" userId="c456aed9-8824-4632-add3-85c26a03832d" providerId="ADAL" clId="{59587479-4389-46B4-BE53-52C117EAA1BD}" dt="2026-06-05T09:34:15.327" v="33" actId="20577"/>
        <pc:sldMkLst>
          <pc:docMk/>
          <pc:sldMk cId="0" sldId="264"/>
        </pc:sldMkLst>
        <pc:spChg chg="mod">
          <ac:chgData name="Mamadou Fallou Sylla" userId="c456aed9-8824-4632-add3-85c26a03832d" providerId="ADAL" clId="{59587479-4389-46B4-BE53-52C117EAA1BD}" dt="2026-06-05T09:34:15.327" v="33" actId="20577"/>
          <ac:spMkLst>
            <pc:docMk/>
            <pc:sldMk cId="0" sldId="264"/>
            <ac:spMk id="10" creationId="{00000000-0000-0000-0000-000000000000}"/>
          </ac:spMkLst>
        </pc:spChg>
      </pc:sldChg>
      <pc:sldChg chg="add del mod setBg modShow">
        <pc:chgData name="Mamadou Fallou Sylla" userId="c456aed9-8824-4632-add3-85c26a03832d" providerId="ADAL" clId="{59587479-4389-46B4-BE53-52C117EAA1BD}" dt="2026-06-10T16:05:47.061" v="239" actId="47"/>
        <pc:sldMkLst>
          <pc:docMk/>
          <pc:sldMk cId="3341009548" sldId="265"/>
        </pc:sldMkLst>
      </pc:sldChg>
      <pc:sldChg chg="add del mod setBg modShow">
        <pc:chgData name="Mamadou Fallou Sylla" userId="c456aed9-8824-4632-add3-85c26a03832d" providerId="ADAL" clId="{59587479-4389-46B4-BE53-52C117EAA1BD}" dt="2026-06-10T16:05:40.295" v="238" actId="47"/>
        <pc:sldMkLst>
          <pc:docMk/>
          <pc:sldMk cId="1359394268"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725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Accueil. Se présenter, présenter le Pôle Projet et la Conformité RDC. Annoncer la durée et le fait que la session se termine par un atelier sur des dossiers réels.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Annoncer le fil conducteur : on part du pourquoi, on descend jusqu'au geste quotidien. Demander aux participants de noter leurs questions, un temps leur est réservé en fin de journée.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Faire reformuler les objectifs par deux ou trois participants pour vérifier les attentes. Rappeler les horaires et la pause du midi.</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Laisser les participants réagir au constat avant de dévoiler la colonne de droite. Demander un exemple vécu de dossier incomplet : cela ancre la suite de la session.</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Ces quatre repères servent de grille de lecture pour toute la journée. Insister sur J+1 : c'est la source de la majorité des incompréhensions sur les taux.</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Faire réaliser la connexion en direct si la salle dispose de postes. Rappeler que le verrouillage après échecs est une protection, pas une sanction.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Faire situer chaque participant dans le tableau avant de commenter. Préciser qu'un périmètre incorrect se corrige auprès du correspondant filiale, pas dans l'écran.</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Projeter l'écran réel en parallèle et pointer les cinq zones une à une. Faire manipuler un filtre pour montrer que tout l'écran suit.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Point le plus souvent mal compris de la journée : prendre le temps. Demander un exemple de dossier complet mais non conforme.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Utiliser un exemple chiffré de la filiale : le flux d'un chargé qui n'a rien ouvert hier. Bien dire que le flux vide n'est jamais remplacé par le stock.</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Construire une règle à l'écran avec la salle, sur un champ qu'ils connaissent. Rappeler que toute règle contestée doit être remontée avec un dossier à l'appui.</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C'est le cœur opérationnel : cinq gestes qui transforment un taux en travail réel. Faire réaliser un export en direct et ouvrir le fichier obtenu.</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Présenter la chaîne complète avant de rentrer dans les écrans. Insister sur la dernière étape : la machine propose, l'humain décide.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Montrer un bon et un mauvais scan côte à côte. Rappeler que le traitement est différé : inutile d'attendre devant l'écran.</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Faire traiter trois cas préparés à l'avance, un par niveau de score. Faire verbaliser la règle : dans le doute, on rejette.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Faire remplir à chacun son propre rituel sur la fiche de session. Le directeur d'agence s'engage sur le point hebdomadaire devant le groupe.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Passer rapidement : la colonne de droite se commente d'elle-même. Insister sur l'export hors du poste bancaire, qui est un vrai risque de conformité.</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Situer la salle dans le calendrier et annoncer la date de la prochaine vague. Nommer publiquement le correspondant KYC de chaque agence présente.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Faire noter les contacts. Demander s'il reste des questions non traitées dans la journée. Distribuer et récupérer la fiche d'évaluation.</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00" name="Notes Placeholder"/>
          <p:cNvSpPr>
            <a:spLocks noGrp="1"/>
          </p:cNvSpPr>
          <p:nvPr>
            <p:ph type="body" idx="1"/>
          </p:nvPr>
        </p:nvSpPr>
        <p:spPr/>
        <p:txBody>
          <a:bodyPr/>
          <a:lstStyle/>
          <a:p>
            <a:r>
              <a:rPr lang="fr-FR" dirty="0"/>
              <a:t>Remercier, rappeler l'atelier pratique et la mise à disposition du support. Donner le premier rendez-vous de suivi.</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11.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3.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21.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3.png"/><Relationship Id="rId4" Type="http://schemas.openxmlformats.org/officeDocument/2006/relationships/image" Target="../media/image31.png"/><Relationship Id="rId5" Type="http://schemas.openxmlformats.org/officeDocument/2006/relationships/image" Target="../media/image19.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 Id="rId3" Type="http://schemas.openxmlformats.org/officeDocument/2006/relationships/image" Target="../media/image3.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21.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35.png"/><Relationship Id="rId5" Type="http://schemas.openxmlformats.org/officeDocument/2006/relationships/image" Target="../media/image11.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png"/><Relationship Id="rId3" Type="http://schemas.openxmlformats.org/officeDocument/2006/relationships/image" Target="../media/image3.png"/><Relationship Id="rId4" Type="http://schemas.openxmlformats.org/officeDocument/2006/relationships/image" Target="../media/image35.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png"/><Relationship Id="rId3" Type="http://schemas.openxmlformats.org/officeDocument/2006/relationships/image" Target="../media/image3.png"/><Relationship Id="rId4" Type="http://schemas.openxmlformats.org/officeDocument/2006/relationships/image" Target="../media/image31.png"/><Relationship Id="rId5" Type="http://schemas.openxmlformats.org/officeDocument/2006/relationships/image" Target="../media/image41.png"/><Relationship Id="rId6" Type="http://schemas.openxmlformats.org/officeDocument/2006/relationships/image" Target="../media/image32.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39.png"/><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12.png"/><Relationship Id="rId6" Type="http://schemas.openxmlformats.org/officeDocument/2006/relationships/image" Target="../media/image45.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44.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46.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7.png"/><Relationship Id="rId3" Type="http://schemas.openxmlformats.org/officeDocument/2006/relationships/image" Target="../media/image3.png"/><Relationship Id="rId4" Type="http://schemas.openxmlformats.org/officeDocument/2006/relationships/image" Target="../media/image39.png"/><Relationship Id="rId5" Type="http://schemas.openxmlformats.org/officeDocument/2006/relationships/image" Target="../media/image46.png"/><Relationship Id="rId6" Type="http://schemas.openxmlformats.org/officeDocument/2006/relationships/image" Target="../media/image13.png"/><Relationship Id="rId7" Type="http://schemas.openxmlformats.org/officeDocument/2006/relationships/image" Target="../media/image7.png"/><Relationship Id="rId8" Type="http://schemas.openxmlformats.org/officeDocument/2006/relationships/image" Target="../media/image36.png"/><Relationship Id="rId9" Type="http://schemas.openxmlformats.org/officeDocument/2006/relationships/image" Target="../media/image29.png"/><Relationship Id="rId10" Type="http://schemas.openxmlformats.org/officeDocument/2006/relationships/image" Target="../media/image48.png"/><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9.png"/><Relationship Id="rId3" Type="http://schemas.openxmlformats.org/officeDocument/2006/relationships/image" Target="../media/image2.png"/><Relationship Id="rId4"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181"/>
        </a:solidFill>
        <a:effectLst/>
      </p:bgPr>
    </p:bg>
    <p:spTree>
      <p:nvGrpSpPr>
        <p:cNvPr id="1" name=""/>
        <p:cNvGrpSpPr/>
        <p:nvPr/>
      </p:nvGrpSpPr>
      <p:grpSpPr/>
      <p:pic>
        <p:nvPicPr>
          <p:cNvPr id="2" name="Picture 1" descr="motif_004181_4.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566928" y="960120"/>
            <a:ext cx="5943600" cy="3154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68680" y="1234440"/>
            <a:ext cx="5394960" cy="1143000"/>
          </a:xfrm>
          <a:prstGeom prst="rect">
            <a:avLst/>
          </a:prstGeom>
          <a:noFill/>
        </p:spPr>
        <p:txBody>
          <a:bodyPr wrap="square" lIns="0" rIns="0" tIns="0" bIns="0" anchor="ctr">
            <a:spAutoFit/>
          </a:bodyPr>
          <a:lstStyle/>
          <a:p>
            <a:pPr algn="l"/>
            <a:r>
              <a:rPr sz="3400" b="1" i="0" spc="100">
                <a:solidFill>
                  <a:srgbClr val="004181"/>
                </a:solidFill>
                <a:latin typeface="Arial"/>
                <a:ea typeface="Arial"/>
                <a:cs typeface="Arial"/>
              </a:rPr>
              <a:t>PLATEFORME </a:t>
            </a:r>
            <a:r>
              <a:rPr sz="3400" b="1" i="0" spc="100">
                <a:solidFill>
                  <a:srgbClr val="009654"/>
                </a:solidFill>
                <a:latin typeface="Arial"/>
                <a:ea typeface="Arial"/>
                <a:cs typeface="Arial"/>
              </a:rPr>
              <a:t>KYC</a:t>
            </a:r>
          </a:p>
        </p:txBody>
      </p:sp>
      <p:sp>
        <p:nvSpPr>
          <p:cNvPr id="5" name="TextBox 4"/>
          <p:cNvSpPr txBox="1"/>
          <p:nvPr/>
        </p:nvSpPr>
        <p:spPr>
          <a:xfrm>
            <a:off x="868680" y="2377440"/>
            <a:ext cx="5394960" cy="310896"/>
          </a:xfrm>
          <a:prstGeom prst="rect">
            <a:avLst/>
          </a:prstGeom>
          <a:noFill/>
        </p:spPr>
        <p:txBody>
          <a:bodyPr wrap="square" lIns="0" rIns="0" tIns="0" bIns="0" anchor="ctr">
            <a:spAutoFit/>
          </a:bodyPr>
          <a:lstStyle/>
          <a:p>
            <a:pPr algn="l"/>
            <a:r>
              <a:rPr sz="1300" b="1" i="0" spc="160">
                <a:solidFill>
                  <a:srgbClr val="3A3A3A"/>
                </a:solidFill>
                <a:latin typeface="Arial"/>
                <a:ea typeface="Arial"/>
                <a:cs typeface="Arial"/>
              </a:rPr>
              <a:t>FORMATION DES UTILISATEURS</a:t>
            </a:r>
          </a:p>
        </p:txBody>
      </p:sp>
      <p:sp>
        <p:nvSpPr>
          <p:cNvPr id="6" name="Rectangle 5"/>
          <p:cNvSpPr/>
          <p:nvPr/>
        </p:nvSpPr>
        <p:spPr>
          <a:xfrm>
            <a:off x="868680" y="2761488"/>
            <a:ext cx="1371600" cy="457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68680" y="2926080"/>
            <a:ext cx="2743200" cy="256032"/>
          </a:xfrm>
          <a:prstGeom prst="rect">
            <a:avLst/>
          </a:prstGeom>
          <a:noFill/>
        </p:spPr>
        <p:txBody>
          <a:bodyPr wrap="square" lIns="0" rIns="0" tIns="0" bIns="0" anchor="ctr">
            <a:spAutoFit/>
          </a:bodyPr>
          <a:lstStyle/>
          <a:p>
            <a:pPr algn="l"/>
            <a:r>
              <a:rPr sz="1000" b="0" i="0">
                <a:solidFill>
                  <a:srgbClr val="6E6E6E"/>
                </a:solidFill>
                <a:latin typeface="Arial"/>
                <a:ea typeface="Arial"/>
                <a:cs typeface="Arial"/>
              </a:rPr>
              <a:t>BOA RDC  |  10.09.2026</a:t>
            </a:r>
          </a:p>
        </p:txBody>
      </p:sp>
      <p:sp>
        <p:nvSpPr>
          <p:cNvPr id="8" name="TextBox 7"/>
          <p:cNvSpPr txBox="1"/>
          <p:nvPr/>
        </p:nvSpPr>
        <p:spPr>
          <a:xfrm>
            <a:off x="4023360" y="2926080"/>
            <a:ext cx="2240280" cy="256032"/>
          </a:xfrm>
          <a:prstGeom prst="rect">
            <a:avLst/>
          </a:prstGeom>
          <a:noFill/>
        </p:spPr>
        <p:txBody>
          <a:bodyPr wrap="square" lIns="0" rIns="0" tIns="0" bIns="0" anchor="ctr">
            <a:spAutoFit/>
          </a:bodyPr>
          <a:lstStyle/>
          <a:p>
            <a:pPr algn="r"/>
            <a:r>
              <a:rPr sz="1000" b="1" i="0">
                <a:solidFill>
                  <a:srgbClr val="6E6E6E"/>
                </a:solidFill>
                <a:latin typeface="Arial"/>
                <a:ea typeface="Arial"/>
                <a:cs typeface="Arial"/>
              </a:rPr>
              <a:t>V1</a:t>
            </a:r>
          </a:p>
        </p:txBody>
      </p:sp>
      <p:pic>
        <p:nvPicPr>
          <p:cNvPr id="9" name="Picture 8" descr="logo_couleur.png"/>
          <p:cNvPicPr>
            <a:picLocks noChangeAspect="1"/>
          </p:cNvPicPr>
          <p:nvPr/>
        </p:nvPicPr>
        <p:blipFill>
          <a:blip r:embed="rId3"/>
          <a:stretch>
            <a:fillRect/>
          </a:stretch>
        </p:blipFill>
        <p:spPr>
          <a:xfrm>
            <a:off x="868680" y="3456432"/>
            <a:ext cx="2194560" cy="420624"/>
          </a:xfrm>
          <a:prstGeom prst="rect">
            <a:avLst/>
          </a:prstGeom>
        </p:spPr>
      </p:pic>
      <p:sp>
        <p:nvSpPr>
          <p:cNvPr id="10" name="TextBox 9"/>
          <p:cNvSpPr txBox="1"/>
          <p:nvPr/>
        </p:nvSpPr>
        <p:spPr>
          <a:xfrm>
            <a:off x="3200400" y="4343400"/>
            <a:ext cx="5394960" cy="384048"/>
          </a:xfrm>
          <a:prstGeom prst="rect">
            <a:avLst/>
          </a:prstGeom>
          <a:noFill/>
        </p:spPr>
        <p:txBody>
          <a:bodyPr wrap="square" lIns="0" rIns="0" tIns="0" bIns="0" anchor="ctr">
            <a:spAutoFit/>
          </a:bodyPr>
          <a:lstStyle/>
          <a:p>
            <a:pPr algn="r"/>
            <a:r>
              <a:rPr sz="950" b="0" i="0">
                <a:solidFill>
                  <a:srgbClr val="BFD2E4"/>
                </a:solidFill>
                <a:latin typeface="Arial"/>
                <a:ea typeface="Arial"/>
                <a:cs typeface="Arial"/>
              </a:rPr>
              <a:t>Fiabilisation et suivi de la qualité du référentiel client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50"/>
                                        <p:tgtEl>
                                          <p:spTgt spid="4"/>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par>
                                <p:cTn id="14" presetID="10" presetClass="entr" presetSubtype="0" fill="hold" grpId="0" nodeType="withEffect">
                                  <p:stCondLst>
                                    <p:cond delay="12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50"/>
                                        <p:tgtEl>
                                          <p:spTgt spid="7"/>
                                        </p:tgtEl>
                                      </p:cBhvr>
                                    </p:animEffect>
                                  </p:childTnLst>
                                </p:cTn>
                              </p:par>
                              <p:par>
                                <p:cTn id="22" presetID="10" presetClass="entr" presetSubtype="0" fill="hold" grpId="0" nodeType="withEffect">
                                  <p:stCondLst>
                                    <p:cond delay="12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50"/>
                                        <p:tgtEl>
                                          <p:spTgt spid="8"/>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50"/>
                                        <p:tgtEl>
                                          <p:spTgt spid="9"/>
                                        </p:tgtEl>
                                      </p:cBhvr>
                                    </p:animEffect>
                                  </p:childTnLst>
                                </p:cTn>
                              </p:par>
                              <p:par>
                                <p:cTn id="30" presetID="10" presetClass="entr" presetSubtype="0" fill="hold" grpId="0" nodeType="withEffect">
                                  <p:stCondLst>
                                    <p:cond delay="12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02</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INDEX</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8" name="Picture 7" descr="embleme.png"/>
          <p:cNvPicPr>
            <a:picLocks noChangeAspect="1"/>
          </p:cNvPicPr>
          <p:nvPr/>
        </p:nvPicPr>
        <p:blipFill>
          <a:blip r:embed="rId2"/>
          <a:stretch>
            <a:fillRect/>
          </a:stretch>
        </p:blipFill>
        <p:spPr>
          <a:xfrm>
            <a:off x="8503920" y="4581144"/>
            <a:ext cx="237744" cy="237744"/>
          </a:xfrm>
          <a:prstGeom prst="rect">
            <a:avLst/>
          </a:prstGeom>
        </p:spPr>
      </p:pic>
      <p:sp>
        <p:nvSpPr>
          <p:cNvPr id="9" name="Rectangle 8"/>
          <p:cNvSpPr/>
          <p:nvPr/>
        </p:nvSpPr>
        <p:spPr>
          <a:xfrm>
            <a:off x="384048" y="1261872"/>
            <a:ext cx="4096512" cy="658368"/>
          </a:xfrm>
          <a:prstGeom prst="rect">
            <a:avLst/>
          </a:prstGeom>
          <a:solidFill>
            <a:srgbClr val="E1E8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384048" y="1261872"/>
            <a:ext cx="457200" cy="658368"/>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84048" y="1261872"/>
            <a:ext cx="457200" cy="658368"/>
          </a:xfrm>
          <a:prstGeom prst="rect">
            <a:avLst/>
          </a:prstGeom>
          <a:noFill/>
        </p:spPr>
        <p:txBody>
          <a:bodyPr wrap="square" lIns="0" rIns="0" tIns="0" bIns="0" anchor="ctr">
            <a:spAutoFit/>
          </a:bodyPr>
          <a:lstStyle/>
          <a:p>
            <a:pPr algn="ctr"/>
            <a:r>
              <a:rPr sz="1100" b="1" i="0">
                <a:solidFill>
                  <a:srgbClr val="FFFFFF"/>
                </a:solidFill>
                <a:latin typeface="Arial"/>
                <a:ea typeface="Arial"/>
                <a:cs typeface="Arial"/>
              </a:rPr>
              <a:t>04</a:t>
            </a:r>
          </a:p>
        </p:txBody>
      </p:sp>
      <p:pic>
        <p:nvPicPr>
          <p:cNvPr id="12" name="Picture 11" descr="localisation_004181.png"/>
          <p:cNvPicPr>
            <a:picLocks noChangeAspect="1"/>
          </p:cNvPicPr>
          <p:nvPr/>
        </p:nvPicPr>
        <p:blipFill>
          <a:blip r:embed="rId3"/>
          <a:stretch>
            <a:fillRect/>
          </a:stretch>
        </p:blipFill>
        <p:spPr>
          <a:xfrm>
            <a:off x="985540" y="1433596"/>
            <a:ext cx="314919" cy="314919"/>
          </a:xfrm>
          <a:prstGeom prst="rect">
            <a:avLst/>
          </a:prstGeom>
        </p:spPr>
      </p:pic>
      <p:sp>
        <p:nvSpPr>
          <p:cNvPr id="13" name="TextBox 12"/>
          <p:cNvSpPr txBox="1"/>
          <p:nvPr/>
        </p:nvSpPr>
        <p:spPr>
          <a:xfrm>
            <a:off x="1444751" y="1261872"/>
            <a:ext cx="2926080" cy="658368"/>
          </a:xfrm>
          <a:prstGeom prst="rect">
            <a:avLst/>
          </a:prstGeom>
          <a:noFill/>
        </p:spPr>
        <p:txBody>
          <a:bodyPr wrap="square" lIns="0" rIns="0" tIns="0" bIns="0" anchor="ctr">
            <a:spAutoFit/>
          </a:bodyPr>
          <a:lstStyle/>
          <a:p>
            <a:pPr algn="l"/>
            <a:r>
              <a:rPr sz="1050" b="1" i="0">
                <a:solidFill>
                  <a:srgbClr val="3A3A3A"/>
                </a:solidFill>
                <a:latin typeface="Arial"/>
                <a:ea typeface="Arial"/>
                <a:cs typeface="Arial"/>
              </a:rPr>
              <a:t>I.  Contexte et objectifs de la plateforme</a:t>
            </a:r>
          </a:p>
        </p:txBody>
      </p:sp>
      <p:sp>
        <p:nvSpPr>
          <p:cNvPr id="14" name="Rectangle 13"/>
          <p:cNvSpPr/>
          <p:nvPr/>
        </p:nvSpPr>
        <p:spPr>
          <a:xfrm>
            <a:off x="4663440" y="1261872"/>
            <a:ext cx="4096512" cy="658368"/>
          </a:xfrm>
          <a:prstGeom prst="rect">
            <a:avLst/>
          </a:prstGeom>
          <a:solidFill>
            <a:srgbClr val="E4ED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663440" y="1261872"/>
            <a:ext cx="457200" cy="658368"/>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63440" y="1261872"/>
            <a:ext cx="457200" cy="658368"/>
          </a:xfrm>
          <a:prstGeom prst="rect">
            <a:avLst/>
          </a:prstGeom>
          <a:noFill/>
        </p:spPr>
        <p:txBody>
          <a:bodyPr wrap="square" lIns="0" rIns="0" tIns="0" bIns="0" anchor="ctr">
            <a:spAutoFit/>
          </a:bodyPr>
          <a:lstStyle/>
          <a:p>
            <a:pPr algn="ctr"/>
            <a:r>
              <a:rPr sz="1100" b="1" i="0">
                <a:solidFill>
                  <a:srgbClr val="FFFFFF"/>
                </a:solidFill>
                <a:latin typeface="Arial"/>
                <a:ea typeface="Arial"/>
                <a:cs typeface="Arial"/>
              </a:rPr>
              <a:t>06</a:t>
            </a:r>
          </a:p>
        </p:txBody>
      </p:sp>
      <p:pic>
        <p:nvPicPr>
          <p:cNvPr id="17" name="Picture 16" descr="verrouillage_009654.png"/>
          <p:cNvPicPr>
            <a:picLocks noChangeAspect="1"/>
          </p:cNvPicPr>
          <p:nvPr/>
        </p:nvPicPr>
        <p:blipFill>
          <a:blip r:embed="rId4"/>
          <a:stretch>
            <a:fillRect/>
          </a:stretch>
        </p:blipFill>
        <p:spPr>
          <a:xfrm>
            <a:off x="5264932" y="1433596"/>
            <a:ext cx="314919" cy="314919"/>
          </a:xfrm>
          <a:prstGeom prst="rect">
            <a:avLst/>
          </a:prstGeom>
        </p:spPr>
      </p:pic>
      <p:sp>
        <p:nvSpPr>
          <p:cNvPr id="18" name="TextBox 17"/>
          <p:cNvSpPr txBox="1"/>
          <p:nvPr/>
        </p:nvSpPr>
        <p:spPr>
          <a:xfrm>
            <a:off x="5724144" y="1261872"/>
            <a:ext cx="2926080" cy="658368"/>
          </a:xfrm>
          <a:prstGeom prst="rect">
            <a:avLst/>
          </a:prstGeom>
          <a:noFill/>
        </p:spPr>
        <p:txBody>
          <a:bodyPr wrap="square" lIns="0" rIns="0" tIns="0" bIns="0" anchor="ctr">
            <a:spAutoFit/>
          </a:bodyPr>
          <a:lstStyle/>
          <a:p>
            <a:pPr algn="l"/>
            <a:r>
              <a:rPr sz="1050" b="1" i="0">
                <a:solidFill>
                  <a:srgbClr val="3A3A3A"/>
                </a:solidFill>
                <a:latin typeface="Arial"/>
                <a:ea typeface="Arial"/>
                <a:cs typeface="Arial"/>
              </a:rPr>
              <a:t>II.  Accès, périmètre et habilitations</a:t>
            </a:r>
          </a:p>
        </p:txBody>
      </p:sp>
      <p:sp>
        <p:nvSpPr>
          <p:cNvPr id="19" name="Rectangle 18"/>
          <p:cNvSpPr/>
          <p:nvPr/>
        </p:nvSpPr>
        <p:spPr>
          <a:xfrm>
            <a:off x="384048" y="2395728"/>
            <a:ext cx="4096512" cy="658368"/>
          </a:xfrm>
          <a:prstGeom prst="rect">
            <a:avLst/>
          </a:prstGeom>
          <a:solidFill>
            <a:srgbClr val="E1E8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384048" y="2395728"/>
            <a:ext cx="457200" cy="658368"/>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84048" y="2395728"/>
            <a:ext cx="457200" cy="658368"/>
          </a:xfrm>
          <a:prstGeom prst="rect">
            <a:avLst/>
          </a:prstGeom>
          <a:noFill/>
        </p:spPr>
        <p:txBody>
          <a:bodyPr wrap="square" lIns="0" rIns="0" tIns="0" bIns="0" anchor="ctr">
            <a:spAutoFit/>
          </a:bodyPr>
          <a:lstStyle/>
          <a:p>
            <a:pPr algn="ctr"/>
            <a:r>
              <a:rPr sz="1100" b="1" i="0">
                <a:solidFill>
                  <a:srgbClr val="FFFFFF"/>
                </a:solidFill>
                <a:latin typeface="Arial"/>
                <a:ea typeface="Arial"/>
                <a:cs typeface="Arial"/>
              </a:rPr>
              <a:t>08</a:t>
            </a:r>
          </a:p>
        </p:txBody>
      </p:sp>
      <p:pic>
        <p:nvPicPr>
          <p:cNvPr id="22" name="Picture 21" descr="barres_004181.png"/>
          <p:cNvPicPr>
            <a:picLocks noChangeAspect="1"/>
          </p:cNvPicPr>
          <p:nvPr/>
        </p:nvPicPr>
        <p:blipFill>
          <a:blip r:embed="rId5"/>
          <a:stretch>
            <a:fillRect/>
          </a:stretch>
        </p:blipFill>
        <p:spPr>
          <a:xfrm>
            <a:off x="985540" y="2567452"/>
            <a:ext cx="314919" cy="314919"/>
          </a:xfrm>
          <a:prstGeom prst="rect">
            <a:avLst/>
          </a:prstGeom>
        </p:spPr>
      </p:pic>
      <p:sp>
        <p:nvSpPr>
          <p:cNvPr id="23" name="TextBox 22"/>
          <p:cNvSpPr txBox="1"/>
          <p:nvPr/>
        </p:nvSpPr>
        <p:spPr>
          <a:xfrm>
            <a:off x="1444751" y="2395728"/>
            <a:ext cx="2926080" cy="658368"/>
          </a:xfrm>
          <a:prstGeom prst="rect">
            <a:avLst/>
          </a:prstGeom>
          <a:noFill/>
        </p:spPr>
        <p:txBody>
          <a:bodyPr wrap="square" lIns="0" rIns="0" tIns="0" bIns="0" anchor="ctr">
            <a:spAutoFit/>
          </a:bodyPr>
          <a:lstStyle/>
          <a:p>
            <a:pPr algn="l"/>
            <a:r>
              <a:rPr sz="1050" b="1" i="0">
                <a:solidFill>
                  <a:srgbClr val="3A3A3A"/>
                </a:solidFill>
                <a:latin typeface="Arial"/>
                <a:ea typeface="Arial"/>
                <a:cs typeface="Arial"/>
              </a:rPr>
              <a:t>III.  Lire les indicateurs KYC</a:t>
            </a:r>
          </a:p>
        </p:txBody>
      </p:sp>
      <p:sp>
        <p:nvSpPr>
          <p:cNvPr id="24" name="Rectangle 23"/>
          <p:cNvSpPr/>
          <p:nvPr/>
        </p:nvSpPr>
        <p:spPr>
          <a:xfrm>
            <a:off x="4663440" y="2395728"/>
            <a:ext cx="4096512" cy="658368"/>
          </a:xfrm>
          <a:prstGeom prst="rect">
            <a:avLst/>
          </a:prstGeom>
          <a:solidFill>
            <a:srgbClr val="E4ED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663440" y="2395728"/>
            <a:ext cx="457200" cy="658368"/>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663440" y="2395728"/>
            <a:ext cx="457200" cy="658368"/>
          </a:xfrm>
          <a:prstGeom prst="rect">
            <a:avLst/>
          </a:prstGeom>
          <a:noFill/>
        </p:spPr>
        <p:txBody>
          <a:bodyPr wrap="square" lIns="0" rIns="0" tIns="0" bIns="0" anchor="ctr">
            <a:spAutoFit/>
          </a:bodyPr>
          <a:lstStyle/>
          <a:p>
            <a:pPr algn="ctr"/>
            <a:r>
              <a:rPr sz="1100" b="1" i="0">
                <a:solidFill>
                  <a:srgbClr val="FFFFFF"/>
                </a:solidFill>
                <a:latin typeface="Arial"/>
                <a:ea typeface="Arial"/>
                <a:cs typeface="Arial"/>
              </a:rPr>
              <a:t>11</a:t>
            </a:r>
          </a:p>
        </p:txBody>
      </p:sp>
      <p:pic>
        <p:nvPicPr>
          <p:cNvPr id="27" name="Picture 26" descr="algorithme_009654.png"/>
          <p:cNvPicPr>
            <a:picLocks noChangeAspect="1"/>
          </p:cNvPicPr>
          <p:nvPr/>
        </p:nvPicPr>
        <p:blipFill>
          <a:blip r:embed="rId6"/>
          <a:stretch>
            <a:fillRect/>
          </a:stretch>
        </p:blipFill>
        <p:spPr>
          <a:xfrm>
            <a:off x="5264932" y="2567452"/>
            <a:ext cx="314919" cy="314919"/>
          </a:xfrm>
          <a:prstGeom prst="rect">
            <a:avLst/>
          </a:prstGeom>
        </p:spPr>
      </p:pic>
      <p:sp>
        <p:nvSpPr>
          <p:cNvPr id="28" name="TextBox 27"/>
          <p:cNvSpPr txBox="1"/>
          <p:nvPr/>
        </p:nvSpPr>
        <p:spPr>
          <a:xfrm>
            <a:off x="5724144" y="2395728"/>
            <a:ext cx="2926080" cy="658368"/>
          </a:xfrm>
          <a:prstGeom prst="rect">
            <a:avLst/>
          </a:prstGeom>
          <a:noFill/>
        </p:spPr>
        <p:txBody>
          <a:bodyPr wrap="square" lIns="0" rIns="0" tIns="0" bIns="0" anchor="ctr">
            <a:spAutoFit/>
          </a:bodyPr>
          <a:lstStyle/>
          <a:p>
            <a:pPr algn="l"/>
            <a:r>
              <a:rPr sz="1050" b="1" i="0">
                <a:solidFill>
                  <a:srgbClr val="3A3A3A"/>
                </a:solidFill>
                <a:latin typeface="Arial"/>
                <a:ea typeface="Arial"/>
                <a:cs typeface="Arial"/>
              </a:rPr>
              <a:t>IV.  Règles qualité et plans de correction</a:t>
            </a:r>
          </a:p>
        </p:txBody>
      </p:sp>
      <p:sp>
        <p:nvSpPr>
          <p:cNvPr id="29" name="Rectangle 28"/>
          <p:cNvSpPr/>
          <p:nvPr/>
        </p:nvSpPr>
        <p:spPr>
          <a:xfrm>
            <a:off x="384048" y="3529584"/>
            <a:ext cx="4096512" cy="658368"/>
          </a:xfrm>
          <a:prstGeom prst="rect">
            <a:avLst/>
          </a:prstGeom>
          <a:solidFill>
            <a:srgbClr val="E1E8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84048" y="3529584"/>
            <a:ext cx="457200" cy="658368"/>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84048" y="3529584"/>
            <a:ext cx="457200" cy="658368"/>
          </a:xfrm>
          <a:prstGeom prst="rect">
            <a:avLst/>
          </a:prstGeom>
          <a:noFill/>
        </p:spPr>
        <p:txBody>
          <a:bodyPr wrap="square" lIns="0" rIns="0" tIns="0" bIns="0" anchor="ctr">
            <a:spAutoFit/>
          </a:bodyPr>
          <a:lstStyle/>
          <a:p>
            <a:pPr algn="ctr"/>
            <a:r>
              <a:rPr sz="1100" b="1" i="0">
                <a:solidFill>
                  <a:srgbClr val="FFFFFF"/>
                </a:solidFill>
                <a:latin typeface="Arial"/>
                <a:ea typeface="Arial"/>
                <a:cs typeface="Arial"/>
              </a:rPr>
              <a:t>13</a:t>
            </a:r>
          </a:p>
        </p:txBody>
      </p:sp>
      <p:pic>
        <p:nvPicPr>
          <p:cNvPr id="32" name="Picture 31" descr="carte-identite_004181.png"/>
          <p:cNvPicPr>
            <a:picLocks noChangeAspect="1"/>
          </p:cNvPicPr>
          <p:nvPr/>
        </p:nvPicPr>
        <p:blipFill>
          <a:blip r:embed="rId7"/>
          <a:stretch>
            <a:fillRect/>
          </a:stretch>
        </p:blipFill>
        <p:spPr>
          <a:xfrm>
            <a:off x="985540" y="3701308"/>
            <a:ext cx="314919" cy="314919"/>
          </a:xfrm>
          <a:prstGeom prst="rect">
            <a:avLst/>
          </a:prstGeom>
        </p:spPr>
      </p:pic>
      <p:sp>
        <p:nvSpPr>
          <p:cNvPr id="33" name="TextBox 32"/>
          <p:cNvSpPr txBox="1"/>
          <p:nvPr/>
        </p:nvSpPr>
        <p:spPr>
          <a:xfrm>
            <a:off x="1444751" y="3529584"/>
            <a:ext cx="2926080" cy="658368"/>
          </a:xfrm>
          <a:prstGeom prst="rect">
            <a:avLst/>
          </a:prstGeom>
          <a:noFill/>
        </p:spPr>
        <p:txBody>
          <a:bodyPr wrap="square" lIns="0" rIns="0" tIns="0" bIns="0" anchor="ctr">
            <a:spAutoFit/>
          </a:bodyPr>
          <a:lstStyle/>
          <a:p>
            <a:pPr algn="l"/>
            <a:r>
              <a:rPr sz="1050" b="1" i="0">
                <a:solidFill>
                  <a:srgbClr val="3A3A3A"/>
                </a:solidFill>
                <a:latin typeface="Arial"/>
                <a:ea typeface="Arial"/>
                <a:cs typeface="Arial"/>
              </a:rPr>
              <a:t>V.  Screening KYC ID : du document au dossier</a:t>
            </a:r>
          </a:p>
        </p:txBody>
      </p:sp>
      <p:sp>
        <p:nvSpPr>
          <p:cNvPr id="34" name="Rectangle 33"/>
          <p:cNvSpPr/>
          <p:nvPr/>
        </p:nvSpPr>
        <p:spPr>
          <a:xfrm>
            <a:off x="4663440" y="3529584"/>
            <a:ext cx="4096512" cy="658368"/>
          </a:xfrm>
          <a:prstGeom prst="rect">
            <a:avLst/>
          </a:prstGeom>
          <a:solidFill>
            <a:srgbClr val="E4ED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4663440" y="3529584"/>
            <a:ext cx="457200" cy="658368"/>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663440" y="3529584"/>
            <a:ext cx="457200" cy="658368"/>
          </a:xfrm>
          <a:prstGeom prst="rect">
            <a:avLst/>
          </a:prstGeom>
          <a:noFill/>
        </p:spPr>
        <p:txBody>
          <a:bodyPr wrap="square" lIns="0" rIns="0" tIns="0" bIns="0" anchor="ctr">
            <a:spAutoFit/>
          </a:bodyPr>
          <a:lstStyle/>
          <a:p>
            <a:pPr algn="ctr"/>
            <a:r>
              <a:rPr sz="1100" b="1" i="0">
                <a:solidFill>
                  <a:srgbClr val="FFFFFF"/>
                </a:solidFill>
                <a:latin typeface="Arial"/>
                <a:ea typeface="Arial"/>
                <a:cs typeface="Arial"/>
              </a:rPr>
              <a:t>16</a:t>
            </a:r>
          </a:p>
        </p:txBody>
      </p:sp>
      <p:pic>
        <p:nvPicPr>
          <p:cNvPr id="37" name="Picture 36" descr="calendrier_009654.png"/>
          <p:cNvPicPr>
            <a:picLocks noChangeAspect="1"/>
          </p:cNvPicPr>
          <p:nvPr/>
        </p:nvPicPr>
        <p:blipFill>
          <a:blip r:embed="rId8"/>
          <a:stretch>
            <a:fillRect/>
          </a:stretch>
        </p:blipFill>
        <p:spPr>
          <a:xfrm>
            <a:off x="5264932" y="3701308"/>
            <a:ext cx="314919" cy="314919"/>
          </a:xfrm>
          <a:prstGeom prst="rect">
            <a:avLst/>
          </a:prstGeom>
        </p:spPr>
      </p:pic>
      <p:sp>
        <p:nvSpPr>
          <p:cNvPr id="38" name="TextBox 37"/>
          <p:cNvSpPr txBox="1"/>
          <p:nvPr/>
        </p:nvSpPr>
        <p:spPr>
          <a:xfrm>
            <a:off x="5724144" y="3529584"/>
            <a:ext cx="2926080" cy="658368"/>
          </a:xfrm>
          <a:prstGeom prst="rect">
            <a:avLst/>
          </a:prstGeom>
          <a:noFill/>
        </p:spPr>
        <p:txBody>
          <a:bodyPr wrap="square" lIns="0" rIns="0" tIns="0" bIns="0" anchor="ctr">
            <a:spAutoFit/>
          </a:bodyPr>
          <a:lstStyle/>
          <a:p>
            <a:pPr algn="l"/>
            <a:r>
              <a:rPr sz="1050" b="1" i="0">
                <a:solidFill>
                  <a:srgbClr val="3A3A3A"/>
                </a:solidFill>
                <a:latin typeface="Arial"/>
                <a:ea typeface="Arial"/>
                <a:cs typeface="Arial"/>
              </a:rPr>
              <a:t>VI.  Rituels, bonnes pratiques et déploiement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50"/>
                                        <p:tgtEl>
                                          <p:spTgt spid="9"/>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50"/>
                                        <p:tgtEl>
                                          <p:spTgt spid="10"/>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50"/>
                                        <p:tgtEl>
                                          <p:spTgt spid="11"/>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50"/>
                                        <p:tgtEl>
                                          <p:spTgt spid="12"/>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50"/>
                                        <p:tgtEl>
                                          <p:spTgt spid="13"/>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50"/>
                                        <p:tgtEl>
                                          <p:spTgt spid="14"/>
                                        </p:tgtEl>
                                      </p:cBhvr>
                                    </p:animEffect>
                                  </p:childTnLst>
                                </p:cTn>
                              </p:par>
                              <p:par>
                                <p:cTn id="23" presetID="10" presetClass="entr" presetSubtype="0" fill="hold" grpId="0" nodeType="withEffect">
                                  <p:stCondLst>
                                    <p:cond delay="12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50"/>
                                        <p:tgtEl>
                                          <p:spTgt spid="15"/>
                                        </p:tgtEl>
                                      </p:cBhvr>
                                    </p:animEffect>
                                  </p:childTnLst>
                                </p:cTn>
                              </p:par>
                              <p:par>
                                <p:cTn id="26" presetID="10" presetClass="entr" presetSubtype="0" fill="hold" grpId="0" nodeType="withEffect">
                                  <p:stCondLst>
                                    <p:cond delay="24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50"/>
                                        <p:tgtEl>
                                          <p:spTgt spid="16"/>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50"/>
                                        <p:tgtEl>
                                          <p:spTgt spid="17"/>
                                        </p:tgtEl>
                                      </p:cBhvr>
                                    </p:animEffect>
                                  </p:childTnLst>
                                </p:cTn>
                              </p:par>
                              <p:par>
                                <p:cTn id="32" presetID="10" presetClass="entr" presetSubtype="0" fill="hold" grpId="0" nodeType="withEffect">
                                  <p:stCondLst>
                                    <p:cond delay="48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50"/>
                                        <p:tgtEl>
                                          <p:spTgt spid="18"/>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50"/>
                                        <p:tgtEl>
                                          <p:spTgt spid="19"/>
                                        </p:tgtEl>
                                      </p:cBhvr>
                                    </p:animEffect>
                                  </p:childTnLst>
                                </p:cTn>
                              </p:par>
                              <p:par>
                                <p:cTn id="40" presetID="10" presetClass="entr" presetSubtype="0" fill="hold" grpId="0" nodeType="withEffect">
                                  <p:stCondLst>
                                    <p:cond delay="12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50"/>
                                        <p:tgtEl>
                                          <p:spTgt spid="20"/>
                                        </p:tgtEl>
                                      </p:cBhvr>
                                    </p:animEffect>
                                  </p:childTnLst>
                                </p:cTn>
                              </p:par>
                              <p:par>
                                <p:cTn id="43" presetID="10" presetClass="entr" presetSubtype="0" fill="hold" grpId="0" nodeType="withEffect">
                                  <p:stCondLst>
                                    <p:cond delay="24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450"/>
                                        <p:tgtEl>
                                          <p:spTgt spid="21"/>
                                        </p:tgtEl>
                                      </p:cBhvr>
                                    </p:animEffect>
                                  </p:childTnLst>
                                </p:cTn>
                              </p:par>
                              <p:par>
                                <p:cTn id="46" presetID="10" presetClass="entr" presetSubtype="0" fill="hold" grpId="0" nodeType="withEffect">
                                  <p:stCondLst>
                                    <p:cond delay="36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450"/>
                                        <p:tgtEl>
                                          <p:spTgt spid="22"/>
                                        </p:tgtEl>
                                      </p:cBhvr>
                                    </p:animEffect>
                                  </p:childTnLst>
                                </p:cTn>
                              </p:par>
                              <p:par>
                                <p:cTn id="49" presetID="10" presetClass="entr" presetSubtype="0" fill="hold" grpId="0" nodeType="withEffect">
                                  <p:stCondLst>
                                    <p:cond delay="48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50"/>
                                        <p:tgtEl>
                                          <p:spTgt spid="24"/>
                                        </p:tgtEl>
                                      </p:cBhvr>
                                    </p:animEffect>
                                  </p:childTnLst>
                                </p:cTn>
                              </p:par>
                              <p:par>
                                <p:cTn id="57" presetID="10" presetClass="entr" presetSubtype="0" fill="hold" grpId="0" nodeType="withEffect">
                                  <p:stCondLst>
                                    <p:cond delay="12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450"/>
                                        <p:tgtEl>
                                          <p:spTgt spid="25"/>
                                        </p:tgtEl>
                                      </p:cBhvr>
                                    </p:animEffect>
                                  </p:childTnLst>
                                </p:cTn>
                              </p:par>
                              <p:par>
                                <p:cTn id="60" presetID="10" presetClass="entr" presetSubtype="0" fill="hold" grpId="0" nodeType="withEffect">
                                  <p:stCondLst>
                                    <p:cond delay="24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grpId="0" nodeType="withEffect">
                                  <p:stCondLst>
                                    <p:cond delay="36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par>
                                <p:cTn id="66" presetID="10" presetClass="entr" presetSubtype="0" fill="hold" grpId="0" nodeType="withEffect">
                                  <p:stCondLst>
                                    <p:cond delay="48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50"/>
                                        <p:tgtEl>
                                          <p:spTgt spid="28"/>
                                        </p:tgtEl>
                                      </p:cBhvr>
                                    </p:animEffect>
                                  </p:childTnLst>
                                </p:cTn>
                              </p:par>
                            </p:childTnLst>
                          </p:cTn>
                        </p:par>
                      </p:childTnLst>
                    </p:cTn>
                  </p:par>
                  <p:par>
                    <p:cTn id="86" fill="hold">
                      <p:stCondLst>
                        <p:cond delay="indefinite"/>
                      </p:stCondLst>
                      <p:childTnLst>
                        <p:par>
                          <p:cTn id="87"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50"/>
                                        <p:tgtEl>
                                          <p:spTgt spid="29"/>
                                        </p:tgtEl>
                                      </p:cBhvr>
                                    </p:animEffect>
                                  </p:childTnLst>
                                </p:cTn>
                              </p:par>
                              <p:par>
                                <p:cTn id="74" presetID="10" presetClass="entr" presetSubtype="0" fill="hold" grpId="0" nodeType="withEffect">
                                  <p:stCondLst>
                                    <p:cond delay="12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50"/>
                                        <p:tgtEl>
                                          <p:spTgt spid="30"/>
                                        </p:tgtEl>
                                      </p:cBhvr>
                                    </p:animEffect>
                                  </p:childTnLst>
                                </p:cTn>
                              </p:par>
                              <p:par>
                                <p:cTn id="77" presetID="10" presetClass="entr" presetSubtype="0" fill="hold" grpId="0" nodeType="withEffect">
                                  <p:stCondLst>
                                    <p:cond delay="24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50"/>
                                        <p:tgtEl>
                                          <p:spTgt spid="31"/>
                                        </p:tgtEl>
                                      </p:cBhvr>
                                    </p:animEffect>
                                  </p:childTnLst>
                                </p:cTn>
                              </p:par>
                              <p:par>
                                <p:cTn id="80" presetID="10" presetClass="entr" presetSubtype="0" fill="hold" grpId="0" nodeType="withEffect">
                                  <p:stCondLst>
                                    <p:cond delay="36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450"/>
                                        <p:tgtEl>
                                          <p:spTgt spid="32"/>
                                        </p:tgtEl>
                                      </p:cBhvr>
                                    </p:animEffect>
                                  </p:childTnLst>
                                </p:cTn>
                              </p:par>
                              <p:par>
                                <p:cTn id="83" presetID="10" presetClass="entr" presetSubtype="0" fill="hold" grpId="0" nodeType="withEffect">
                                  <p:stCondLst>
                                    <p:cond delay="48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450"/>
                                        <p:tgtEl>
                                          <p:spTgt spid="33"/>
                                        </p:tgtEl>
                                      </p:cBhvr>
                                    </p:animEffect>
                                  </p:childTnLst>
                                </p:cTn>
                              </p:par>
                            </p:childTnLst>
                          </p:cTn>
                        </p:par>
                      </p:childTnLst>
                    </p:cTn>
                  </p:par>
                  <p:par>
                    <p:cTn id="103" fill="hold">
                      <p:stCondLst>
                        <p:cond delay="indefinite"/>
                      </p:stCondLst>
                      <p:childTnLst>
                        <p:par>
                          <p:cTn id="104"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450"/>
                                        <p:tgtEl>
                                          <p:spTgt spid="34"/>
                                        </p:tgtEl>
                                      </p:cBhvr>
                                    </p:animEffect>
                                  </p:childTnLst>
                                </p:cTn>
                              </p:par>
                              <p:par>
                                <p:cTn id="91" presetID="10" presetClass="entr" presetSubtype="0" fill="hold" grpId="0" nodeType="withEffect">
                                  <p:stCondLst>
                                    <p:cond delay="120"/>
                                  </p:stCondLst>
                                  <p:childTnLst>
                                    <p:set>
                                      <p:cBhvr>
                                        <p:cTn id="92" dur="1" fill="hold">
                                          <p:stCondLst>
                                            <p:cond delay="0"/>
                                          </p:stCondLst>
                                        </p:cTn>
                                        <p:tgtEl>
                                          <p:spTgt spid="35"/>
                                        </p:tgtEl>
                                        <p:attrNameLst>
                                          <p:attrName>style.visibility</p:attrName>
                                        </p:attrNameLst>
                                      </p:cBhvr>
                                      <p:to>
                                        <p:strVal val="visible"/>
                                      </p:to>
                                    </p:set>
                                    <p:animEffect transition="in" filter="fade">
                                      <p:cBhvr>
                                        <p:cTn id="93" dur="450"/>
                                        <p:tgtEl>
                                          <p:spTgt spid="35"/>
                                        </p:tgtEl>
                                      </p:cBhvr>
                                    </p:animEffect>
                                  </p:childTnLst>
                                </p:cTn>
                              </p:par>
                              <p:par>
                                <p:cTn id="94" presetID="10" presetClass="entr" presetSubtype="0" fill="hold" grpId="0" nodeType="withEffect">
                                  <p:stCondLst>
                                    <p:cond delay="24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450"/>
                                        <p:tgtEl>
                                          <p:spTgt spid="36"/>
                                        </p:tgtEl>
                                      </p:cBhvr>
                                    </p:animEffect>
                                  </p:childTnLst>
                                </p:cTn>
                              </p:par>
                              <p:par>
                                <p:cTn id="97" presetID="10" presetClass="entr" presetSubtype="0" fill="hold" grpId="0" nodeType="withEffect">
                                  <p:stCondLst>
                                    <p:cond delay="36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450"/>
                                        <p:tgtEl>
                                          <p:spTgt spid="37"/>
                                        </p:tgtEl>
                                      </p:cBhvr>
                                    </p:animEffect>
                                  </p:childTnLst>
                                </p:cTn>
                              </p:par>
                              <p:par>
                                <p:cTn id="100" presetID="10" presetClass="entr" presetSubtype="0" fill="hold" grpId="0" nodeType="withEffect">
                                  <p:stCondLst>
                                    <p:cond delay="48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03</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OBJECTIFS ET DÉROULÉ DE LA SESSION</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recompense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CE QUE VOUS SAUREZ FAIRE À LA FIN DE LA JOURNÉE</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143000"/>
            <a:ext cx="4023360" cy="3429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65760" y="1143000"/>
            <a:ext cx="4023360" cy="274320"/>
          </a:xfrm>
          <a:prstGeom prst="rect">
            <a:avLst/>
          </a:prstGeom>
          <a:solidFill>
            <a:srgbClr val="DEF1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marque-page_009654.png"/>
          <p:cNvPicPr>
            <a:picLocks noChangeAspect="1"/>
          </p:cNvPicPr>
          <p:nvPr/>
        </p:nvPicPr>
        <p:blipFill>
          <a:blip r:embed="rId4"/>
          <a:stretch>
            <a:fillRect/>
          </a:stretch>
        </p:blipFill>
        <p:spPr>
          <a:xfrm>
            <a:off x="445312" y="1167688"/>
            <a:ext cx="224942" cy="224942"/>
          </a:xfrm>
          <a:prstGeom prst="rect">
            <a:avLst/>
          </a:prstGeom>
        </p:spPr>
      </p:pic>
      <p:sp>
        <p:nvSpPr>
          <p:cNvPr id="14" name="TextBox 13"/>
          <p:cNvSpPr txBox="1"/>
          <p:nvPr/>
        </p:nvSpPr>
        <p:spPr>
          <a:xfrm>
            <a:off x="786384" y="1143000"/>
            <a:ext cx="3493008" cy="274320"/>
          </a:xfrm>
          <a:prstGeom prst="rect">
            <a:avLst/>
          </a:prstGeom>
          <a:noFill/>
        </p:spPr>
        <p:txBody>
          <a:bodyPr wrap="square" lIns="0" rIns="0" tIns="0" bIns="0" anchor="ctr">
            <a:spAutoFit/>
          </a:bodyPr>
          <a:lstStyle/>
          <a:p>
            <a:pPr algn="l"/>
            <a:r>
              <a:rPr sz="1000" b="1" i="0" spc="40">
                <a:solidFill>
                  <a:srgbClr val="009654"/>
                </a:solidFill>
                <a:latin typeface="Arial"/>
                <a:ea typeface="Arial"/>
                <a:cs typeface="Arial"/>
              </a:rPr>
              <a:t>OBJECTIFS PÉDAGOGIQUES</a:t>
            </a:r>
          </a:p>
        </p:txBody>
      </p:sp>
      <p:sp>
        <p:nvSpPr>
          <p:cNvPr id="15" name="TextBox 14"/>
          <p:cNvSpPr txBox="1"/>
          <p:nvPr/>
        </p:nvSpPr>
        <p:spPr>
          <a:xfrm>
            <a:off x="530352" y="1563624"/>
            <a:ext cx="3694176" cy="2880360"/>
          </a:xfrm>
          <a:prstGeom prst="rect">
            <a:avLst/>
          </a:prstGeom>
          <a:noFill/>
        </p:spPr>
        <p:txBody>
          <a:bodyPr wrap="square" lIns="0" rIns="0" tIns="0" bIns="0" anchor="t">
            <a:spAutoFit/>
          </a:bodyPr>
          <a:lstStyle/>
          <a:p>
            <a:pPr algn="l" marL="152400" indent="-152400">
              <a:lnSpc>
                <a:spcPct val="105000"/>
              </a:lnSpc>
              <a:spcAft>
                <a:spcPts val="1700"/>
              </a:spcAft>
              <a:buClr>
                <a:srgbClr val="009654"/>
              </a:buClr>
              <a:buFont typeface="Arial" pitchFamily="34" charset="0"/>
              <a:buChar char="▪"/>
            </a:pPr>
            <a:r>
              <a:rPr sz="1050" b="0" i="0">
                <a:solidFill>
                  <a:srgbClr val="3A3A3A"/>
                </a:solidFill>
                <a:latin typeface="Arial"/>
                <a:ea typeface="Arial"/>
                <a:cs typeface="Arial"/>
              </a:rPr>
              <a:t>Me connecter et reconnaître le périmètre associé à mon profil</a:t>
            </a:r>
          </a:p>
          <a:p>
            <a:pPr algn="l" marL="152400" indent="-152400">
              <a:lnSpc>
                <a:spcPct val="105000"/>
              </a:lnSpc>
              <a:spcAft>
                <a:spcPts val="1700"/>
              </a:spcAft>
              <a:buClr>
                <a:srgbClr val="009654"/>
              </a:buClr>
              <a:buFont typeface="Arial" pitchFamily="34" charset="0"/>
              <a:buChar char="▪"/>
            </a:pPr>
            <a:r>
              <a:rPr sz="1050" b="0" i="0">
                <a:solidFill>
                  <a:srgbClr val="3A3A3A"/>
                </a:solidFill>
                <a:latin typeface="Arial"/>
                <a:ea typeface="Arial"/>
                <a:cs typeface="Arial"/>
              </a:rPr>
              <a:t>Lire un tableau de bord et interpréter les taux affichés</a:t>
            </a:r>
          </a:p>
          <a:p>
            <a:pPr algn="l" marL="152400" indent="-152400">
              <a:lnSpc>
                <a:spcPct val="105000"/>
              </a:lnSpc>
              <a:spcAft>
                <a:spcPts val="1700"/>
              </a:spcAft>
              <a:buClr>
                <a:srgbClr val="009654"/>
              </a:buClr>
              <a:buFont typeface="Arial" pitchFamily="34" charset="0"/>
              <a:buChar char="▪"/>
            </a:pPr>
            <a:r>
              <a:rPr sz="1050" b="0" i="0">
                <a:solidFill>
                  <a:srgbClr val="3A3A3A"/>
                </a:solidFill>
                <a:latin typeface="Arial"/>
                <a:ea typeface="Arial"/>
                <a:cs typeface="Arial"/>
              </a:rPr>
              <a:t>Distinguer complétude et qualité, stock et flux</a:t>
            </a:r>
          </a:p>
          <a:p>
            <a:pPr algn="l" marL="152400" indent="-152400">
              <a:lnSpc>
                <a:spcPct val="105000"/>
              </a:lnSpc>
              <a:spcAft>
                <a:spcPts val="1700"/>
              </a:spcAft>
              <a:buClr>
                <a:srgbClr val="009654"/>
              </a:buClr>
              <a:buFont typeface="Arial" pitchFamily="34" charset="0"/>
              <a:buChar char="▪"/>
            </a:pPr>
            <a:r>
              <a:rPr sz="1050" b="0" i="0">
                <a:solidFill>
                  <a:srgbClr val="3A3A3A"/>
                </a:solidFill>
                <a:latin typeface="Arial"/>
                <a:ea typeface="Arial"/>
                <a:cs typeface="Arial"/>
              </a:rPr>
              <a:t>Extraire la liste de mes dossiers à corriger et la traiter</a:t>
            </a:r>
          </a:p>
          <a:p>
            <a:pPr algn="l" marL="152400" indent="-152400">
              <a:lnSpc>
                <a:spcPct val="105000"/>
              </a:lnSpc>
              <a:spcAft>
                <a:spcPts val="1700"/>
              </a:spcAft>
              <a:buClr>
                <a:srgbClr val="009654"/>
              </a:buClr>
              <a:buFont typeface="Arial" pitchFamily="34" charset="0"/>
              <a:buChar char="▪"/>
            </a:pPr>
            <a:r>
              <a:rPr sz="1050" b="0" i="0">
                <a:solidFill>
                  <a:srgbClr val="3A3A3A"/>
                </a:solidFill>
                <a:latin typeface="Arial"/>
                <a:ea typeface="Arial"/>
                <a:cs typeface="Arial"/>
              </a:rPr>
              <a:t>Charger un lot de documents et valider un rapprochement</a:t>
            </a:r>
          </a:p>
          <a:p>
            <a:pPr algn="l" marL="152400" indent="-152400">
              <a:lnSpc>
                <a:spcPct val="105000"/>
              </a:lnSpc>
              <a:spcAft>
                <a:spcPts val="1700"/>
              </a:spcAft>
              <a:buClr>
                <a:srgbClr val="009654"/>
              </a:buClr>
              <a:buFont typeface="Arial" pitchFamily="34" charset="0"/>
              <a:buChar char="▪"/>
            </a:pPr>
            <a:r>
              <a:rPr sz="1050" b="0" i="0">
                <a:solidFill>
                  <a:srgbClr val="3A3A3A"/>
                </a:solidFill>
                <a:latin typeface="Arial"/>
                <a:ea typeface="Arial"/>
                <a:cs typeface="Arial"/>
              </a:rPr>
              <a:t>Inscrire la plateforme dans mon rituel de travail quotidien</a:t>
            </a:r>
          </a:p>
        </p:txBody>
      </p:sp>
      <p:sp>
        <p:nvSpPr>
          <p:cNvPr id="16" name="Rectangle 15"/>
          <p:cNvSpPr/>
          <p:nvPr/>
        </p:nvSpPr>
        <p:spPr>
          <a:xfrm>
            <a:off x="4754880" y="1143000"/>
            <a:ext cx="4023360" cy="3429000"/>
          </a:xfrm>
          <a:prstGeom prst="rect">
            <a:avLst/>
          </a:prstGeom>
          <a:solidFill>
            <a:srgbClr val="E4EDE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754880" y="1143000"/>
            <a:ext cx="4023360" cy="274320"/>
          </a:xfrm>
          <a:prstGeom prst="rect">
            <a:avLst/>
          </a:prstGeom>
          <a:solidFill>
            <a:srgbClr val="DEE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recharger_004181.png"/>
          <p:cNvPicPr>
            <a:picLocks noChangeAspect="1"/>
          </p:cNvPicPr>
          <p:nvPr/>
        </p:nvPicPr>
        <p:blipFill>
          <a:blip r:embed="rId5"/>
          <a:stretch>
            <a:fillRect/>
          </a:stretch>
        </p:blipFill>
        <p:spPr>
          <a:xfrm>
            <a:off x="4834432" y="1167688"/>
            <a:ext cx="224942" cy="224942"/>
          </a:xfrm>
          <a:prstGeom prst="rect">
            <a:avLst/>
          </a:prstGeom>
        </p:spPr>
      </p:pic>
      <p:sp>
        <p:nvSpPr>
          <p:cNvPr id="19" name="TextBox 18"/>
          <p:cNvSpPr txBox="1"/>
          <p:nvPr/>
        </p:nvSpPr>
        <p:spPr>
          <a:xfrm>
            <a:off x="5175504" y="1143000"/>
            <a:ext cx="3493008" cy="274320"/>
          </a:xfrm>
          <a:prstGeom prst="rect">
            <a:avLst/>
          </a:prstGeom>
          <a:noFill/>
        </p:spPr>
        <p:txBody>
          <a:bodyPr wrap="square" lIns="0" rIns="0" tIns="0" bIns="0" anchor="ctr">
            <a:spAutoFit/>
          </a:bodyPr>
          <a:lstStyle/>
          <a:p>
            <a:pPr algn="l"/>
            <a:r>
              <a:rPr sz="1000" b="1" i="0" spc="40">
                <a:solidFill>
                  <a:srgbClr val="004181"/>
                </a:solidFill>
                <a:latin typeface="Arial"/>
                <a:ea typeface="Arial"/>
                <a:cs typeface="Arial"/>
              </a:rPr>
              <a:t>DÉROULÉ DE LA SESSION</a:t>
            </a:r>
          </a:p>
        </p:txBody>
      </p:sp>
      <p:sp>
        <p:nvSpPr>
          <p:cNvPr id="20" name="TextBox 19"/>
          <p:cNvSpPr txBox="1"/>
          <p:nvPr/>
        </p:nvSpPr>
        <p:spPr>
          <a:xfrm>
            <a:off x="4919472" y="1664208"/>
            <a:ext cx="777240" cy="420624"/>
          </a:xfrm>
          <a:prstGeom prst="rect">
            <a:avLst/>
          </a:prstGeom>
          <a:noFill/>
        </p:spPr>
        <p:txBody>
          <a:bodyPr wrap="square" lIns="0" rIns="0" tIns="0" bIns="0" anchor="ctr">
            <a:spAutoFit/>
          </a:bodyPr>
          <a:lstStyle/>
          <a:p>
            <a:pPr algn="l"/>
            <a:r>
              <a:rPr sz="1050" b="1" i="0">
                <a:solidFill>
                  <a:srgbClr val="009654"/>
                </a:solidFill>
                <a:latin typeface="Arial"/>
                <a:ea typeface="Arial"/>
                <a:cs typeface="Arial"/>
              </a:rPr>
              <a:t>09h00</a:t>
            </a:r>
          </a:p>
        </p:txBody>
      </p:sp>
      <p:sp>
        <p:nvSpPr>
          <p:cNvPr id="21" name="TextBox 20"/>
          <p:cNvSpPr txBox="1"/>
          <p:nvPr/>
        </p:nvSpPr>
        <p:spPr>
          <a:xfrm>
            <a:off x="5715000" y="1664208"/>
            <a:ext cx="2926080" cy="420624"/>
          </a:xfrm>
          <a:prstGeom prst="rect">
            <a:avLst/>
          </a:prstGeom>
          <a:noFill/>
        </p:spPr>
        <p:txBody>
          <a:bodyPr wrap="square" lIns="0" rIns="0" tIns="0" bIns="0" anchor="ctr">
            <a:spAutoFit/>
          </a:bodyPr>
          <a:lstStyle/>
          <a:p>
            <a:pPr algn="l">
              <a:lnSpc>
                <a:spcPct val="100000"/>
              </a:lnSpc>
            </a:pPr>
            <a:r>
              <a:rPr sz="950" b="0" i="0">
                <a:solidFill>
                  <a:srgbClr val="3A3A3A"/>
                </a:solidFill>
                <a:latin typeface="Arial"/>
                <a:ea typeface="Arial"/>
                <a:cs typeface="Arial"/>
              </a:rPr>
              <a:t>Contexte, enjeux et tour de la plateforme</a:t>
            </a:r>
          </a:p>
        </p:txBody>
      </p:sp>
      <p:sp>
        <p:nvSpPr>
          <p:cNvPr id="22" name="Rectangle 21"/>
          <p:cNvSpPr/>
          <p:nvPr/>
        </p:nvSpPr>
        <p:spPr>
          <a:xfrm>
            <a:off x="4937760" y="2121408"/>
            <a:ext cx="365760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919472" y="2148840"/>
            <a:ext cx="777240" cy="420624"/>
          </a:xfrm>
          <a:prstGeom prst="rect">
            <a:avLst/>
          </a:prstGeom>
          <a:noFill/>
        </p:spPr>
        <p:txBody>
          <a:bodyPr wrap="square" lIns="0" rIns="0" tIns="0" bIns="0" anchor="ctr">
            <a:spAutoFit/>
          </a:bodyPr>
          <a:lstStyle/>
          <a:p>
            <a:pPr algn="l"/>
            <a:r>
              <a:rPr sz="1050" b="1" i="0">
                <a:solidFill>
                  <a:srgbClr val="009654"/>
                </a:solidFill>
                <a:latin typeface="Arial"/>
                <a:ea typeface="Arial"/>
                <a:cs typeface="Arial"/>
              </a:rPr>
              <a:t>10h00</a:t>
            </a:r>
          </a:p>
        </p:txBody>
      </p:sp>
      <p:sp>
        <p:nvSpPr>
          <p:cNvPr id="24" name="TextBox 23"/>
          <p:cNvSpPr txBox="1"/>
          <p:nvPr/>
        </p:nvSpPr>
        <p:spPr>
          <a:xfrm>
            <a:off x="5715000" y="2148840"/>
            <a:ext cx="2926080" cy="420624"/>
          </a:xfrm>
          <a:prstGeom prst="rect">
            <a:avLst/>
          </a:prstGeom>
          <a:noFill/>
        </p:spPr>
        <p:txBody>
          <a:bodyPr wrap="square" lIns="0" rIns="0" tIns="0" bIns="0" anchor="ctr">
            <a:spAutoFit/>
          </a:bodyPr>
          <a:lstStyle/>
          <a:p>
            <a:pPr algn="l">
              <a:lnSpc>
                <a:spcPct val="100000"/>
              </a:lnSpc>
            </a:pPr>
            <a:r>
              <a:rPr sz="950" b="0" i="0">
                <a:solidFill>
                  <a:srgbClr val="3A3A3A"/>
                </a:solidFill>
                <a:latin typeface="Arial"/>
                <a:ea typeface="Arial"/>
                <a:cs typeface="Arial"/>
              </a:rPr>
              <a:t>Accès, périmètre et habilitations</a:t>
            </a:r>
          </a:p>
        </p:txBody>
      </p:sp>
      <p:sp>
        <p:nvSpPr>
          <p:cNvPr id="25" name="Rectangle 24"/>
          <p:cNvSpPr/>
          <p:nvPr/>
        </p:nvSpPr>
        <p:spPr>
          <a:xfrm>
            <a:off x="4937760" y="2606040"/>
            <a:ext cx="365760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919472" y="2633472"/>
            <a:ext cx="777240" cy="420624"/>
          </a:xfrm>
          <a:prstGeom prst="rect">
            <a:avLst/>
          </a:prstGeom>
          <a:noFill/>
        </p:spPr>
        <p:txBody>
          <a:bodyPr wrap="square" lIns="0" rIns="0" tIns="0" bIns="0" anchor="ctr">
            <a:spAutoFit/>
          </a:bodyPr>
          <a:lstStyle/>
          <a:p>
            <a:pPr algn="l"/>
            <a:r>
              <a:rPr sz="1050" b="1" i="0">
                <a:solidFill>
                  <a:srgbClr val="009654"/>
                </a:solidFill>
                <a:latin typeface="Arial"/>
                <a:ea typeface="Arial"/>
                <a:cs typeface="Arial"/>
              </a:rPr>
              <a:t>11h00</a:t>
            </a:r>
          </a:p>
        </p:txBody>
      </p:sp>
      <p:sp>
        <p:nvSpPr>
          <p:cNvPr id="27" name="TextBox 26"/>
          <p:cNvSpPr txBox="1"/>
          <p:nvPr/>
        </p:nvSpPr>
        <p:spPr>
          <a:xfrm>
            <a:off x="5715000" y="2633472"/>
            <a:ext cx="2926080" cy="420624"/>
          </a:xfrm>
          <a:prstGeom prst="rect">
            <a:avLst/>
          </a:prstGeom>
          <a:noFill/>
        </p:spPr>
        <p:txBody>
          <a:bodyPr wrap="square" lIns="0" rIns="0" tIns="0" bIns="0" anchor="ctr">
            <a:spAutoFit/>
          </a:bodyPr>
          <a:lstStyle/>
          <a:p>
            <a:pPr algn="l">
              <a:lnSpc>
                <a:spcPct val="100000"/>
              </a:lnSpc>
            </a:pPr>
            <a:r>
              <a:rPr sz="950" b="0" i="0">
                <a:solidFill>
                  <a:srgbClr val="3A3A3A"/>
                </a:solidFill>
                <a:latin typeface="Arial"/>
                <a:ea typeface="Arial"/>
                <a:cs typeface="Arial"/>
              </a:rPr>
              <a:t>Indicateurs : complétude, qualité, stock et flux</a:t>
            </a:r>
          </a:p>
        </p:txBody>
      </p:sp>
      <p:sp>
        <p:nvSpPr>
          <p:cNvPr id="28" name="Rectangle 27"/>
          <p:cNvSpPr/>
          <p:nvPr/>
        </p:nvSpPr>
        <p:spPr>
          <a:xfrm>
            <a:off x="4937760" y="3090672"/>
            <a:ext cx="365760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919472" y="3118104"/>
            <a:ext cx="777240" cy="420624"/>
          </a:xfrm>
          <a:prstGeom prst="rect">
            <a:avLst/>
          </a:prstGeom>
          <a:noFill/>
        </p:spPr>
        <p:txBody>
          <a:bodyPr wrap="square" lIns="0" rIns="0" tIns="0" bIns="0" anchor="ctr">
            <a:spAutoFit/>
          </a:bodyPr>
          <a:lstStyle/>
          <a:p>
            <a:pPr algn="l"/>
            <a:r>
              <a:rPr sz="1050" b="1" i="0">
                <a:solidFill>
                  <a:srgbClr val="009654"/>
                </a:solidFill>
                <a:latin typeface="Arial"/>
                <a:ea typeface="Arial"/>
                <a:cs typeface="Arial"/>
              </a:rPr>
              <a:t>14h00</a:t>
            </a:r>
          </a:p>
        </p:txBody>
      </p:sp>
      <p:sp>
        <p:nvSpPr>
          <p:cNvPr id="30" name="TextBox 29"/>
          <p:cNvSpPr txBox="1"/>
          <p:nvPr/>
        </p:nvSpPr>
        <p:spPr>
          <a:xfrm>
            <a:off x="5715000" y="3118104"/>
            <a:ext cx="2926080" cy="420624"/>
          </a:xfrm>
          <a:prstGeom prst="rect">
            <a:avLst/>
          </a:prstGeom>
          <a:noFill/>
        </p:spPr>
        <p:txBody>
          <a:bodyPr wrap="square" lIns="0" rIns="0" tIns="0" bIns="0" anchor="ctr">
            <a:spAutoFit/>
          </a:bodyPr>
          <a:lstStyle/>
          <a:p>
            <a:pPr algn="l">
              <a:lnSpc>
                <a:spcPct val="100000"/>
              </a:lnSpc>
            </a:pPr>
            <a:r>
              <a:rPr sz="950" b="0" i="0">
                <a:solidFill>
                  <a:srgbClr val="3A3A3A"/>
                </a:solidFill>
                <a:latin typeface="Arial"/>
                <a:ea typeface="Arial"/>
                <a:cs typeface="Arial"/>
              </a:rPr>
              <a:t>Règles qualité et exploitation des listes</a:t>
            </a:r>
          </a:p>
        </p:txBody>
      </p:sp>
      <p:sp>
        <p:nvSpPr>
          <p:cNvPr id="31" name="Rectangle 30"/>
          <p:cNvSpPr/>
          <p:nvPr/>
        </p:nvSpPr>
        <p:spPr>
          <a:xfrm>
            <a:off x="4937760" y="3575304"/>
            <a:ext cx="365760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919472" y="3602736"/>
            <a:ext cx="777240" cy="420624"/>
          </a:xfrm>
          <a:prstGeom prst="rect">
            <a:avLst/>
          </a:prstGeom>
          <a:noFill/>
        </p:spPr>
        <p:txBody>
          <a:bodyPr wrap="square" lIns="0" rIns="0" tIns="0" bIns="0" anchor="ctr">
            <a:spAutoFit/>
          </a:bodyPr>
          <a:lstStyle/>
          <a:p>
            <a:pPr algn="l"/>
            <a:r>
              <a:rPr sz="1050" b="1" i="0">
                <a:solidFill>
                  <a:srgbClr val="009654"/>
                </a:solidFill>
                <a:latin typeface="Arial"/>
                <a:ea typeface="Arial"/>
                <a:cs typeface="Arial"/>
              </a:rPr>
              <a:t>15h00</a:t>
            </a:r>
          </a:p>
        </p:txBody>
      </p:sp>
      <p:sp>
        <p:nvSpPr>
          <p:cNvPr id="33" name="TextBox 32"/>
          <p:cNvSpPr txBox="1"/>
          <p:nvPr/>
        </p:nvSpPr>
        <p:spPr>
          <a:xfrm>
            <a:off x="5715000" y="3602736"/>
            <a:ext cx="2926080" cy="420624"/>
          </a:xfrm>
          <a:prstGeom prst="rect">
            <a:avLst/>
          </a:prstGeom>
          <a:noFill/>
        </p:spPr>
        <p:txBody>
          <a:bodyPr wrap="square" lIns="0" rIns="0" tIns="0" bIns="0" anchor="ctr">
            <a:spAutoFit/>
          </a:bodyPr>
          <a:lstStyle/>
          <a:p>
            <a:pPr algn="l">
              <a:lnSpc>
                <a:spcPct val="100000"/>
              </a:lnSpc>
            </a:pPr>
            <a:r>
              <a:rPr sz="950" b="0" i="0">
                <a:solidFill>
                  <a:srgbClr val="3A3A3A"/>
                </a:solidFill>
                <a:latin typeface="Arial"/>
                <a:ea typeface="Arial"/>
                <a:cs typeface="Arial"/>
              </a:rPr>
              <a:t>Screening KYC ID : atelier sur cas réels</a:t>
            </a:r>
          </a:p>
        </p:txBody>
      </p:sp>
      <p:sp>
        <p:nvSpPr>
          <p:cNvPr id="34" name="Rectangle 33"/>
          <p:cNvSpPr/>
          <p:nvPr/>
        </p:nvSpPr>
        <p:spPr>
          <a:xfrm>
            <a:off x="4937760" y="4059936"/>
            <a:ext cx="365760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919472" y="4087368"/>
            <a:ext cx="777240" cy="420624"/>
          </a:xfrm>
          <a:prstGeom prst="rect">
            <a:avLst/>
          </a:prstGeom>
          <a:noFill/>
        </p:spPr>
        <p:txBody>
          <a:bodyPr wrap="square" lIns="0" rIns="0" tIns="0" bIns="0" anchor="ctr">
            <a:spAutoFit/>
          </a:bodyPr>
          <a:lstStyle/>
          <a:p>
            <a:pPr algn="l"/>
            <a:r>
              <a:rPr sz="1050" b="1" i="0">
                <a:solidFill>
                  <a:srgbClr val="009654"/>
                </a:solidFill>
                <a:latin typeface="Arial"/>
                <a:ea typeface="Arial"/>
                <a:cs typeface="Arial"/>
              </a:rPr>
              <a:t>16h30</a:t>
            </a:r>
          </a:p>
        </p:txBody>
      </p:sp>
      <p:sp>
        <p:nvSpPr>
          <p:cNvPr id="36" name="TextBox 35"/>
          <p:cNvSpPr txBox="1"/>
          <p:nvPr/>
        </p:nvSpPr>
        <p:spPr>
          <a:xfrm>
            <a:off x="5715000" y="4087368"/>
            <a:ext cx="2926080" cy="420624"/>
          </a:xfrm>
          <a:prstGeom prst="rect">
            <a:avLst/>
          </a:prstGeom>
          <a:noFill/>
        </p:spPr>
        <p:txBody>
          <a:bodyPr wrap="square" lIns="0" rIns="0" tIns="0" bIns="0" anchor="ctr">
            <a:spAutoFit/>
          </a:bodyPr>
          <a:lstStyle/>
          <a:p>
            <a:pPr algn="l">
              <a:lnSpc>
                <a:spcPct val="100000"/>
              </a:lnSpc>
            </a:pPr>
            <a:r>
              <a:rPr sz="950" b="0" i="0">
                <a:solidFill>
                  <a:srgbClr val="3A3A3A"/>
                </a:solidFill>
                <a:latin typeface="Arial"/>
                <a:ea typeface="Arial"/>
                <a:cs typeface="Arial"/>
              </a:rPr>
              <a:t>Rituels, questions et évaluation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childTnLst>
                          </p:cTn>
                        </p:par>
                      </p:childTnLst>
                    </p:cTn>
                  </p:par>
                  <p:par>
                    <p:cTn id="32" fill="hold">
                      <p:stCondLst>
                        <p:cond delay="indefinite"/>
                      </p:stCondLst>
                      <p:childTnLst>
                        <p:par>
                          <p:cTn id="33"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50"/>
                                        <p:tgtEl>
                                          <p:spTgt spid="16"/>
                                        </p:tgtEl>
                                      </p:cBhvr>
                                    </p:animEffect>
                                  </p:childTnLst>
                                </p:cTn>
                              </p:par>
                              <p:par>
                                <p:cTn id="23" presetID="10" presetClass="entr" presetSubtype="0" fill="hold" grpId="0" nodeType="withEffect">
                                  <p:stCondLst>
                                    <p:cond delay="12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50"/>
                                        <p:tgtEl>
                                          <p:spTgt spid="17"/>
                                        </p:tgtEl>
                                      </p:cBhvr>
                                    </p:animEffect>
                                  </p:childTnLst>
                                </p:cTn>
                              </p:par>
                              <p:par>
                                <p:cTn id="26" presetID="10" presetClass="entr" presetSubtype="0" fill="hold" grpId="0" nodeType="withEffect">
                                  <p:stCondLst>
                                    <p:cond delay="24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50"/>
                                        <p:tgtEl>
                                          <p:spTgt spid="18"/>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04</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I.  CONTEXTE ET OBJECTIFS</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localisation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POURQUOI UNE PLATEFORME DE FIABILISATION KYC</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143000"/>
            <a:ext cx="4023360" cy="3429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65760" y="1143000"/>
            <a:ext cx="4023360" cy="274320"/>
          </a:xfrm>
          <a:prstGeom prst="rect">
            <a:avLst/>
          </a:prstGeom>
          <a:solidFill>
            <a:srgbClr val="DEE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avertissement_004181.png"/>
          <p:cNvPicPr>
            <a:picLocks noChangeAspect="1"/>
          </p:cNvPicPr>
          <p:nvPr/>
        </p:nvPicPr>
        <p:blipFill>
          <a:blip r:embed="rId4"/>
          <a:stretch>
            <a:fillRect/>
          </a:stretch>
        </p:blipFill>
        <p:spPr>
          <a:xfrm>
            <a:off x="445312" y="1167688"/>
            <a:ext cx="224942" cy="224942"/>
          </a:xfrm>
          <a:prstGeom prst="rect">
            <a:avLst/>
          </a:prstGeom>
        </p:spPr>
      </p:pic>
      <p:sp>
        <p:nvSpPr>
          <p:cNvPr id="14" name="TextBox 13"/>
          <p:cNvSpPr txBox="1"/>
          <p:nvPr/>
        </p:nvSpPr>
        <p:spPr>
          <a:xfrm>
            <a:off x="786384" y="1143000"/>
            <a:ext cx="3493008" cy="274320"/>
          </a:xfrm>
          <a:prstGeom prst="rect">
            <a:avLst/>
          </a:prstGeom>
          <a:noFill/>
        </p:spPr>
        <p:txBody>
          <a:bodyPr wrap="square" lIns="0" rIns="0" tIns="0" bIns="0" anchor="ctr">
            <a:spAutoFit/>
          </a:bodyPr>
          <a:lstStyle/>
          <a:p>
            <a:pPr algn="l"/>
            <a:r>
              <a:rPr sz="1000" b="1" i="0" spc="40">
                <a:solidFill>
                  <a:srgbClr val="004181"/>
                </a:solidFill>
                <a:latin typeface="Arial"/>
                <a:ea typeface="Arial"/>
                <a:cs typeface="Arial"/>
              </a:rPr>
              <a:t>LE CONSTAT</a:t>
            </a:r>
          </a:p>
        </p:txBody>
      </p:sp>
      <p:sp>
        <p:nvSpPr>
          <p:cNvPr id="15" name="TextBox 14"/>
          <p:cNvSpPr txBox="1"/>
          <p:nvPr/>
        </p:nvSpPr>
        <p:spPr>
          <a:xfrm>
            <a:off x="530352" y="1572768"/>
            <a:ext cx="3703320" cy="2834640"/>
          </a:xfrm>
          <a:prstGeom prst="rect">
            <a:avLst/>
          </a:prstGeom>
          <a:noFill/>
        </p:spPr>
        <p:txBody>
          <a:bodyPr wrap="square" lIns="0" rIns="0" tIns="0" bIns="0" anchor="t">
            <a:spAutoFit/>
          </a:bodyPr>
          <a:lstStyle/>
          <a:p>
            <a:pPr algn="l">
              <a:lnSpc>
                <a:spcPct val="105000"/>
              </a:lnSpc>
              <a:spcAft>
                <a:spcPts val="1700"/>
              </a:spcAft>
            </a:pPr>
            <a:r>
              <a:rPr sz="1050" b="0" i="0">
                <a:solidFill>
                  <a:srgbClr val="3A3A3A"/>
                </a:solidFill>
                <a:latin typeface="Arial"/>
                <a:ea typeface="Arial"/>
                <a:cs typeface="Arial"/>
              </a:rPr>
              <a:t>Les dossiers clients de la filiale comportent des champs manquants, obsolètes ou saisis dans des formats hétérogènes.</a:t>
            </a:r>
          </a:p>
          <a:p>
            <a:pPr algn="l">
              <a:lnSpc>
                <a:spcPct val="105000"/>
              </a:lnSpc>
              <a:spcAft>
                <a:spcPts val="1700"/>
              </a:spcAft>
            </a:pPr>
            <a:r>
              <a:rPr sz="1050" b="0" i="0">
                <a:solidFill>
                  <a:srgbClr val="3A3A3A"/>
                </a:solidFill>
                <a:latin typeface="Arial"/>
                <a:ea typeface="Arial"/>
                <a:cs typeface="Arial"/>
              </a:rPr>
              <a:t>Les pièces d'identité sont archivées sous forme d'images : l'information existe, mais elle n'est pas exploitable en masse.</a:t>
            </a:r>
          </a:p>
          <a:p>
            <a:pPr algn="l">
              <a:lnSpc>
                <a:spcPct val="105000"/>
              </a:lnSpc>
              <a:spcAft>
                <a:spcPts val="1700"/>
              </a:spcAft>
            </a:pPr>
            <a:r>
              <a:rPr sz="1050" b="0" i="0">
                <a:solidFill>
                  <a:srgbClr val="3A3A3A"/>
                </a:solidFill>
                <a:latin typeface="Arial"/>
                <a:ea typeface="Arial"/>
                <a:cs typeface="Arial"/>
              </a:rPr>
              <a:t>Les campagnes de mise à jour reposent sur des extractions manuelles, sans mesure fiable de la progression.</a:t>
            </a:r>
          </a:p>
          <a:p>
            <a:pPr algn="l">
              <a:lnSpc>
                <a:spcPct val="105000"/>
              </a:lnSpc>
              <a:spcAft>
                <a:spcPts val="1700"/>
              </a:spcAft>
            </a:pPr>
            <a:r>
              <a:rPr sz="1050" b="0" i="0">
                <a:solidFill>
                  <a:srgbClr val="3A3A3A"/>
                </a:solidFill>
                <a:latin typeface="Arial"/>
                <a:ea typeface="Arial"/>
                <a:cs typeface="Arial"/>
              </a:rPr>
              <a:t>Faute d'outil commun, chaque agence mesure sa qualité à sa manière : les comparaisons et les objectifs deviennent impossibles à tenir.</a:t>
            </a:r>
          </a:p>
        </p:txBody>
      </p:sp>
      <p:sp>
        <p:nvSpPr>
          <p:cNvPr id="16" name="Rectangle 15"/>
          <p:cNvSpPr/>
          <p:nvPr/>
        </p:nvSpPr>
        <p:spPr>
          <a:xfrm>
            <a:off x="4754880" y="1143000"/>
            <a:ext cx="4023360" cy="3429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754880" y="1143000"/>
            <a:ext cx="4023360" cy="274320"/>
          </a:xfrm>
          <a:prstGeom prst="rect">
            <a:avLst/>
          </a:prstGeom>
          <a:solidFill>
            <a:srgbClr val="DEF1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bouclier_009654.png"/>
          <p:cNvPicPr>
            <a:picLocks noChangeAspect="1"/>
          </p:cNvPicPr>
          <p:nvPr/>
        </p:nvPicPr>
        <p:blipFill>
          <a:blip r:embed="rId5"/>
          <a:stretch>
            <a:fillRect/>
          </a:stretch>
        </p:blipFill>
        <p:spPr>
          <a:xfrm>
            <a:off x="4834432" y="1167688"/>
            <a:ext cx="224942" cy="224942"/>
          </a:xfrm>
          <a:prstGeom prst="rect">
            <a:avLst/>
          </a:prstGeom>
        </p:spPr>
      </p:pic>
      <p:sp>
        <p:nvSpPr>
          <p:cNvPr id="19" name="TextBox 18"/>
          <p:cNvSpPr txBox="1"/>
          <p:nvPr/>
        </p:nvSpPr>
        <p:spPr>
          <a:xfrm>
            <a:off x="5175504" y="1143000"/>
            <a:ext cx="3493008" cy="274320"/>
          </a:xfrm>
          <a:prstGeom prst="rect">
            <a:avLst/>
          </a:prstGeom>
          <a:noFill/>
        </p:spPr>
        <p:txBody>
          <a:bodyPr wrap="square" lIns="0" rIns="0" tIns="0" bIns="0" anchor="ctr">
            <a:spAutoFit/>
          </a:bodyPr>
          <a:lstStyle/>
          <a:p>
            <a:pPr algn="l"/>
            <a:r>
              <a:rPr sz="1000" b="1" i="0" spc="40">
                <a:solidFill>
                  <a:srgbClr val="009654"/>
                </a:solidFill>
                <a:latin typeface="Arial"/>
                <a:ea typeface="Arial"/>
                <a:cs typeface="Arial"/>
              </a:rPr>
              <a:t>CE QUE LA PLATEFORME APPORTE</a:t>
            </a:r>
          </a:p>
        </p:txBody>
      </p:sp>
      <p:sp>
        <p:nvSpPr>
          <p:cNvPr id="20" name="TextBox 19"/>
          <p:cNvSpPr txBox="1"/>
          <p:nvPr/>
        </p:nvSpPr>
        <p:spPr>
          <a:xfrm>
            <a:off x="4919472" y="1572768"/>
            <a:ext cx="3703320" cy="457200"/>
          </a:xfrm>
          <a:prstGeom prst="rect">
            <a:avLst/>
          </a:prstGeom>
          <a:noFill/>
        </p:spPr>
        <p:txBody>
          <a:bodyPr wrap="square" lIns="0" rIns="0" tIns="0" bIns="0" anchor="t">
            <a:spAutoFit/>
          </a:bodyPr>
          <a:lstStyle/>
          <a:p>
            <a:pPr algn="l">
              <a:lnSpc>
                <a:spcPct val="105000"/>
              </a:lnSpc>
            </a:pPr>
            <a:r>
              <a:rPr sz="1050" b="1" i="0">
                <a:solidFill>
                  <a:srgbClr val="009654"/>
                </a:solidFill>
                <a:latin typeface="Arial"/>
                <a:ea typeface="Arial"/>
                <a:cs typeface="Arial"/>
              </a:rPr>
              <a:t>Une mesure partagée et quotidienne</a:t>
            </a:r>
            <a:r>
              <a:rPr sz="1050" b="0" i="0">
                <a:solidFill>
                  <a:srgbClr val="3A3A3A"/>
                </a:solidFill>
                <a:latin typeface="Arial"/>
                <a:ea typeface="Arial"/>
                <a:cs typeface="Arial"/>
              </a:rPr>
              <a:t> de la qualité du référentiel client, du Groupe jusqu'au chargé de clientèle.</a:t>
            </a:r>
          </a:p>
        </p:txBody>
      </p:sp>
      <p:sp>
        <p:nvSpPr>
          <p:cNvPr id="21" name="TextBox 20"/>
          <p:cNvSpPr txBox="1"/>
          <p:nvPr/>
        </p:nvSpPr>
        <p:spPr>
          <a:xfrm>
            <a:off x="4919472" y="2194560"/>
            <a:ext cx="3703320" cy="2194560"/>
          </a:xfrm>
          <a:prstGeom prst="rect">
            <a:avLst/>
          </a:prstGeom>
          <a:noFill/>
        </p:spPr>
        <p:txBody>
          <a:bodyPr wrap="square" lIns="0" rIns="0" tIns="0" bIns="0" anchor="t">
            <a:spAutoFit/>
          </a:bodyPr>
          <a:lstStyle/>
          <a:p>
            <a:pPr algn="l" marL="152400" indent="-152400">
              <a:lnSpc>
                <a:spcPct val="105000"/>
              </a:lnSpc>
              <a:spcAft>
                <a:spcPts val="1500"/>
              </a:spcAft>
              <a:buClr>
                <a:srgbClr val="009654"/>
              </a:buClr>
              <a:buFont typeface="Arial" pitchFamily="34" charset="0"/>
              <a:buChar char="▪"/>
            </a:pPr>
            <a:r>
              <a:rPr sz="1050" b="0" i="0">
                <a:solidFill>
                  <a:srgbClr val="3A3A3A"/>
                </a:solidFill>
                <a:latin typeface="Arial"/>
                <a:ea typeface="Arial"/>
                <a:cs typeface="Arial"/>
              </a:rPr>
              <a:t>Des taux de complétude et de qualité calculés chaque matin</a:t>
            </a:r>
          </a:p>
          <a:p>
            <a:pPr algn="l" marL="152400" indent="-152400">
              <a:lnSpc>
                <a:spcPct val="105000"/>
              </a:lnSpc>
              <a:spcAft>
                <a:spcPts val="1500"/>
              </a:spcAft>
              <a:buClr>
                <a:srgbClr val="009654"/>
              </a:buClr>
              <a:buFont typeface="Arial" pitchFamily="34" charset="0"/>
              <a:buChar char="▪"/>
            </a:pPr>
            <a:r>
              <a:rPr sz="1050" b="0" i="0">
                <a:solidFill>
                  <a:srgbClr val="3A3A3A"/>
                </a:solidFill>
                <a:latin typeface="Arial"/>
                <a:ea typeface="Arial"/>
                <a:cs typeface="Arial"/>
              </a:rPr>
              <a:t>Des listes nominatives de dossiers à corriger, par agence et par chargé</a:t>
            </a:r>
          </a:p>
          <a:p>
            <a:pPr algn="l" marL="152400" indent="-152400">
              <a:lnSpc>
                <a:spcPct val="105000"/>
              </a:lnSpc>
              <a:spcAft>
                <a:spcPts val="1500"/>
              </a:spcAft>
              <a:buClr>
                <a:srgbClr val="009654"/>
              </a:buClr>
              <a:buFont typeface="Arial" pitchFamily="34" charset="0"/>
              <a:buChar char="▪"/>
            </a:pPr>
            <a:r>
              <a:rPr sz="1050" b="0" i="0">
                <a:solidFill>
                  <a:srgbClr val="3A3A3A"/>
                </a:solidFill>
                <a:latin typeface="Arial"/>
                <a:ea typeface="Arial"/>
                <a:cs typeface="Arial"/>
              </a:rPr>
              <a:t>Des règles de contrôle paramétrables et tracées</a:t>
            </a:r>
          </a:p>
          <a:p>
            <a:pPr algn="l" marL="152400" indent="-152400">
              <a:lnSpc>
                <a:spcPct val="105000"/>
              </a:lnSpc>
              <a:spcAft>
                <a:spcPts val="1500"/>
              </a:spcAft>
              <a:buClr>
                <a:srgbClr val="009654"/>
              </a:buClr>
              <a:buFont typeface="Arial" pitchFamily="34" charset="0"/>
              <a:buChar char="▪"/>
            </a:pPr>
            <a:r>
              <a:rPr sz="1050" b="0" i="0">
                <a:solidFill>
                  <a:srgbClr val="3A3A3A"/>
                </a:solidFill>
                <a:latin typeface="Arial"/>
                <a:ea typeface="Arial"/>
                <a:cs typeface="Arial"/>
              </a:rPr>
              <a:t>L'extraction automatique des pièces d'identité scannées</a:t>
            </a:r>
          </a:p>
          <a:p>
            <a:pPr algn="l" marL="152400" indent="-152400">
              <a:lnSpc>
                <a:spcPct val="105000"/>
              </a:lnSpc>
              <a:spcAft>
                <a:spcPts val="1500"/>
              </a:spcAft>
              <a:buClr>
                <a:srgbClr val="009654"/>
              </a:buClr>
              <a:buFont typeface="Arial" pitchFamily="34" charset="0"/>
              <a:buChar char="▪"/>
            </a:pPr>
            <a:r>
              <a:rPr sz="1050" b="0" i="0">
                <a:solidFill>
                  <a:srgbClr val="3A3A3A"/>
                </a:solidFill>
                <a:latin typeface="Arial"/>
                <a:ea typeface="Arial"/>
                <a:cs typeface="Arial"/>
              </a:rPr>
              <a:t>Une validation humaine avant toute mise à jour du corebanking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childTnLst>
                          </p:cTn>
                        </p:par>
                      </p:childTnLst>
                    </p:cTn>
                  </p:par>
                  <p:par>
                    <p:cTn id="38" fill="hold">
                      <p:stCondLst>
                        <p:cond delay="indefinite"/>
                      </p:stCondLst>
                      <p:childTnLst>
                        <p:par>
                          <p:cTn id="3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50"/>
                                        <p:tgtEl>
                                          <p:spTgt spid="16"/>
                                        </p:tgtEl>
                                      </p:cBhvr>
                                    </p:animEffect>
                                  </p:childTnLst>
                                </p:cTn>
                              </p:par>
                              <p:par>
                                <p:cTn id="23" presetID="10" presetClass="entr" presetSubtype="0" fill="hold" grpId="0" nodeType="withEffect">
                                  <p:stCondLst>
                                    <p:cond delay="12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50"/>
                                        <p:tgtEl>
                                          <p:spTgt spid="17"/>
                                        </p:tgtEl>
                                      </p:cBhvr>
                                    </p:animEffect>
                                  </p:childTnLst>
                                </p:cTn>
                              </p:par>
                              <p:par>
                                <p:cTn id="26" presetID="10" presetClass="entr" presetSubtype="0" fill="hold" grpId="0" nodeType="withEffect">
                                  <p:stCondLst>
                                    <p:cond delay="24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50"/>
                                        <p:tgtEl>
                                          <p:spTgt spid="18"/>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50"/>
                                        <p:tgtEl>
                                          <p:spTgt spid="19"/>
                                        </p:tgtEl>
                                      </p:cBhvr>
                                    </p:animEffect>
                                  </p:childTnLst>
                                </p:cTn>
                              </p:par>
                              <p:par>
                                <p:cTn id="32" presetID="10" presetClass="entr" presetSubtype="0" fill="hold" grpId="0" nodeType="withEffect">
                                  <p:stCondLst>
                                    <p:cond delay="48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childTnLst>
                                </p:cTn>
                              </p:par>
                              <p:par>
                                <p:cTn id="35" presetID="10" presetClass="entr" presetSubtype="0" fill="hold" grpId="0" nodeType="withEffect">
                                  <p:stCondLst>
                                    <p:cond delay="60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05</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I.  CONTEXTE ET OBJECTIFS</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info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QUATRE REPÈRES À GARDER EN TÊTE</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188720"/>
            <a:ext cx="1965960" cy="1783080"/>
          </a:xfrm>
          <a:prstGeom prst="rect">
            <a:avLst/>
          </a:prstGeom>
          <a:solidFill>
            <a:srgbClr val="E4EDE4"/>
          </a:solidFill>
          <a:ln w="9525">
            <a:solidFill>
              <a:srgbClr val="ABD3B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eseau_009654.png"/>
          <p:cNvPicPr>
            <a:picLocks noChangeAspect="1"/>
          </p:cNvPicPr>
          <p:nvPr/>
        </p:nvPicPr>
        <p:blipFill>
          <a:blip r:embed="rId4"/>
          <a:stretch>
            <a:fillRect/>
          </a:stretch>
        </p:blipFill>
        <p:spPr>
          <a:xfrm>
            <a:off x="1228770" y="1251630"/>
            <a:ext cx="239938" cy="239938"/>
          </a:xfrm>
          <a:prstGeom prst="rect">
            <a:avLst/>
          </a:prstGeom>
        </p:spPr>
      </p:pic>
      <p:sp>
        <p:nvSpPr>
          <p:cNvPr id="13" name="TextBox 12"/>
          <p:cNvSpPr txBox="1"/>
          <p:nvPr/>
        </p:nvSpPr>
        <p:spPr>
          <a:xfrm>
            <a:off x="365760" y="1499616"/>
            <a:ext cx="1965960" cy="603504"/>
          </a:xfrm>
          <a:prstGeom prst="rect">
            <a:avLst/>
          </a:prstGeom>
          <a:noFill/>
        </p:spPr>
        <p:txBody>
          <a:bodyPr wrap="square" lIns="0" rIns="0" tIns="0" bIns="0" anchor="ctr">
            <a:spAutoFit/>
          </a:bodyPr>
          <a:lstStyle/>
          <a:p>
            <a:pPr algn="ctr"/>
            <a:r>
              <a:rPr sz="3400" b="1" i="0">
                <a:solidFill>
                  <a:srgbClr val="009654"/>
                </a:solidFill>
                <a:latin typeface="Arial"/>
                <a:ea typeface="Arial"/>
                <a:cs typeface="Arial"/>
              </a:rPr>
              <a:t>4</a:t>
            </a:r>
          </a:p>
        </p:txBody>
      </p:sp>
      <p:sp>
        <p:nvSpPr>
          <p:cNvPr id="14" name="TextBox 13"/>
          <p:cNvSpPr txBox="1"/>
          <p:nvPr/>
        </p:nvSpPr>
        <p:spPr>
          <a:xfrm>
            <a:off x="475488" y="2121408"/>
            <a:ext cx="1746504" cy="256032"/>
          </a:xfrm>
          <a:prstGeom prst="rect">
            <a:avLst/>
          </a:prstGeom>
          <a:noFill/>
        </p:spPr>
        <p:txBody>
          <a:bodyPr wrap="square" lIns="0" rIns="0" tIns="0" bIns="0" anchor="ctr">
            <a:spAutoFit/>
          </a:bodyPr>
          <a:lstStyle/>
          <a:p>
            <a:pPr algn="ctr"/>
            <a:r>
              <a:rPr sz="950" b="1" i="0">
                <a:solidFill>
                  <a:srgbClr val="004181"/>
                </a:solidFill>
                <a:latin typeface="Arial"/>
                <a:ea typeface="Arial"/>
                <a:cs typeface="Arial"/>
              </a:rPr>
              <a:t>NIVEAUX DE PILOTAGE</a:t>
            </a:r>
          </a:p>
        </p:txBody>
      </p:sp>
      <p:sp>
        <p:nvSpPr>
          <p:cNvPr id="15" name="TextBox 14"/>
          <p:cNvSpPr txBox="1"/>
          <p:nvPr/>
        </p:nvSpPr>
        <p:spPr>
          <a:xfrm>
            <a:off x="475488" y="2395728"/>
            <a:ext cx="1746504" cy="548640"/>
          </a:xfrm>
          <a:prstGeom prst="rect">
            <a:avLst/>
          </a:prstGeom>
          <a:noFill/>
        </p:spPr>
        <p:txBody>
          <a:bodyPr wrap="square" lIns="0" rIns="0" tIns="0" bIns="0" anchor="t">
            <a:spAutoFit/>
          </a:bodyPr>
          <a:lstStyle/>
          <a:p>
            <a:pPr algn="ctr">
              <a:lnSpc>
                <a:spcPct val="105000"/>
              </a:lnSpc>
            </a:pPr>
            <a:r>
              <a:rPr sz="850" b="0" i="0">
                <a:solidFill>
                  <a:srgbClr val="6E6E6E"/>
                </a:solidFill>
                <a:latin typeface="Arial"/>
                <a:ea typeface="Arial"/>
                <a:cs typeface="Arial"/>
              </a:rPr>
              <a:t>Groupe, filiale, agence et chargé de clientèle</a:t>
            </a:r>
          </a:p>
        </p:txBody>
      </p:sp>
      <p:sp>
        <p:nvSpPr>
          <p:cNvPr id="16" name="Rectangle 15"/>
          <p:cNvSpPr/>
          <p:nvPr/>
        </p:nvSpPr>
        <p:spPr>
          <a:xfrm>
            <a:off x="2514600" y="1188720"/>
            <a:ext cx="1965960" cy="1783080"/>
          </a:xfrm>
          <a:prstGeom prst="rect">
            <a:avLst/>
          </a:prstGeom>
          <a:solidFill>
            <a:srgbClr val="E4EDE4"/>
          </a:solidFill>
          <a:ln w="9525">
            <a:solidFill>
              <a:srgbClr val="ABD3B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barres_009654.png"/>
          <p:cNvPicPr>
            <a:picLocks noChangeAspect="1"/>
          </p:cNvPicPr>
          <p:nvPr/>
        </p:nvPicPr>
        <p:blipFill>
          <a:blip r:embed="rId5"/>
          <a:stretch>
            <a:fillRect/>
          </a:stretch>
        </p:blipFill>
        <p:spPr>
          <a:xfrm>
            <a:off x="3377610" y="1251630"/>
            <a:ext cx="239938" cy="239938"/>
          </a:xfrm>
          <a:prstGeom prst="rect">
            <a:avLst/>
          </a:prstGeom>
        </p:spPr>
      </p:pic>
      <p:sp>
        <p:nvSpPr>
          <p:cNvPr id="18" name="TextBox 17"/>
          <p:cNvSpPr txBox="1"/>
          <p:nvPr/>
        </p:nvSpPr>
        <p:spPr>
          <a:xfrm>
            <a:off x="2514600" y="1499616"/>
            <a:ext cx="1965960" cy="603504"/>
          </a:xfrm>
          <a:prstGeom prst="rect">
            <a:avLst/>
          </a:prstGeom>
          <a:noFill/>
        </p:spPr>
        <p:txBody>
          <a:bodyPr wrap="square" lIns="0" rIns="0" tIns="0" bIns="0" anchor="ctr">
            <a:spAutoFit/>
          </a:bodyPr>
          <a:lstStyle/>
          <a:p>
            <a:pPr algn="ctr"/>
            <a:r>
              <a:rPr sz="3400" b="1" i="0">
                <a:solidFill>
                  <a:srgbClr val="009654"/>
                </a:solidFill>
                <a:latin typeface="Arial"/>
                <a:ea typeface="Arial"/>
                <a:cs typeface="Arial"/>
              </a:rPr>
              <a:t>2</a:t>
            </a:r>
          </a:p>
        </p:txBody>
      </p:sp>
      <p:sp>
        <p:nvSpPr>
          <p:cNvPr id="19" name="TextBox 18"/>
          <p:cNvSpPr txBox="1"/>
          <p:nvPr/>
        </p:nvSpPr>
        <p:spPr>
          <a:xfrm>
            <a:off x="2624328" y="2121408"/>
            <a:ext cx="1746504" cy="256032"/>
          </a:xfrm>
          <a:prstGeom prst="rect">
            <a:avLst/>
          </a:prstGeom>
          <a:noFill/>
        </p:spPr>
        <p:txBody>
          <a:bodyPr wrap="square" lIns="0" rIns="0" tIns="0" bIns="0" anchor="ctr">
            <a:spAutoFit/>
          </a:bodyPr>
          <a:lstStyle/>
          <a:p>
            <a:pPr algn="ctr"/>
            <a:r>
              <a:rPr sz="950" b="1" i="0">
                <a:solidFill>
                  <a:srgbClr val="004181"/>
                </a:solidFill>
                <a:latin typeface="Arial"/>
                <a:ea typeface="Arial"/>
                <a:cs typeface="Arial"/>
              </a:rPr>
              <a:t>FAMILLES D'INDICATEURS</a:t>
            </a:r>
          </a:p>
        </p:txBody>
      </p:sp>
      <p:sp>
        <p:nvSpPr>
          <p:cNvPr id="20" name="TextBox 19"/>
          <p:cNvSpPr txBox="1"/>
          <p:nvPr/>
        </p:nvSpPr>
        <p:spPr>
          <a:xfrm>
            <a:off x="2624328" y="2395728"/>
            <a:ext cx="1746504" cy="548640"/>
          </a:xfrm>
          <a:prstGeom prst="rect">
            <a:avLst/>
          </a:prstGeom>
          <a:noFill/>
        </p:spPr>
        <p:txBody>
          <a:bodyPr wrap="square" lIns="0" rIns="0" tIns="0" bIns="0" anchor="t">
            <a:spAutoFit/>
          </a:bodyPr>
          <a:lstStyle/>
          <a:p>
            <a:pPr algn="ctr">
              <a:lnSpc>
                <a:spcPct val="105000"/>
              </a:lnSpc>
            </a:pPr>
            <a:r>
              <a:rPr sz="850" b="0" i="0">
                <a:solidFill>
                  <a:srgbClr val="6E6E6E"/>
                </a:solidFill>
                <a:latin typeface="Arial"/>
                <a:ea typeface="Arial"/>
                <a:cs typeface="Arial"/>
              </a:rPr>
              <a:t>La complétude des champs et la qualité des données</a:t>
            </a:r>
          </a:p>
        </p:txBody>
      </p:sp>
      <p:sp>
        <p:nvSpPr>
          <p:cNvPr id="21" name="Rectangle 20"/>
          <p:cNvSpPr/>
          <p:nvPr/>
        </p:nvSpPr>
        <p:spPr>
          <a:xfrm>
            <a:off x="4663440" y="1188720"/>
            <a:ext cx="1965960" cy="1783080"/>
          </a:xfrm>
          <a:prstGeom prst="rect">
            <a:avLst/>
          </a:prstGeom>
          <a:solidFill>
            <a:srgbClr val="E4EDE4"/>
          </a:solidFill>
          <a:ln w="9525">
            <a:solidFill>
              <a:srgbClr val="ABD3B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2" name="Picture 21" descr="recherche_009654.png"/>
          <p:cNvPicPr>
            <a:picLocks noChangeAspect="1"/>
          </p:cNvPicPr>
          <p:nvPr/>
        </p:nvPicPr>
        <p:blipFill>
          <a:blip r:embed="rId6"/>
          <a:stretch>
            <a:fillRect/>
          </a:stretch>
        </p:blipFill>
        <p:spPr>
          <a:xfrm>
            <a:off x="5526450" y="1251630"/>
            <a:ext cx="239938" cy="239938"/>
          </a:xfrm>
          <a:prstGeom prst="rect">
            <a:avLst/>
          </a:prstGeom>
        </p:spPr>
      </p:pic>
      <p:sp>
        <p:nvSpPr>
          <p:cNvPr id="23" name="TextBox 22"/>
          <p:cNvSpPr txBox="1"/>
          <p:nvPr/>
        </p:nvSpPr>
        <p:spPr>
          <a:xfrm>
            <a:off x="4663440" y="1499616"/>
            <a:ext cx="1965960" cy="603504"/>
          </a:xfrm>
          <a:prstGeom prst="rect">
            <a:avLst/>
          </a:prstGeom>
          <a:noFill/>
        </p:spPr>
        <p:txBody>
          <a:bodyPr wrap="square" lIns="0" rIns="0" tIns="0" bIns="0" anchor="ctr">
            <a:spAutoFit/>
          </a:bodyPr>
          <a:lstStyle/>
          <a:p>
            <a:pPr algn="ctr"/>
            <a:r>
              <a:rPr sz="3400" b="1" i="0">
                <a:solidFill>
                  <a:srgbClr val="009654"/>
                </a:solidFill>
                <a:latin typeface="Arial"/>
                <a:ea typeface="Arial"/>
                <a:cs typeface="Arial"/>
              </a:rPr>
              <a:t>2</a:t>
            </a:r>
          </a:p>
        </p:txBody>
      </p:sp>
      <p:sp>
        <p:nvSpPr>
          <p:cNvPr id="24" name="TextBox 23"/>
          <p:cNvSpPr txBox="1"/>
          <p:nvPr/>
        </p:nvSpPr>
        <p:spPr>
          <a:xfrm>
            <a:off x="4773168" y="2121408"/>
            <a:ext cx="1746504" cy="256032"/>
          </a:xfrm>
          <a:prstGeom prst="rect">
            <a:avLst/>
          </a:prstGeom>
          <a:noFill/>
        </p:spPr>
        <p:txBody>
          <a:bodyPr wrap="square" lIns="0" rIns="0" tIns="0" bIns="0" anchor="ctr">
            <a:spAutoFit/>
          </a:bodyPr>
          <a:lstStyle/>
          <a:p>
            <a:pPr algn="ctr"/>
            <a:r>
              <a:rPr sz="950" b="1" i="0">
                <a:solidFill>
                  <a:srgbClr val="004181"/>
                </a:solidFill>
                <a:latin typeface="Arial"/>
                <a:ea typeface="Arial"/>
                <a:cs typeface="Arial"/>
              </a:rPr>
              <a:t>PÉRIMÈTRES DE LECTURE</a:t>
            </a:r>
          </a:p>
        </p:txBody>
      </p:sp>
      <p:sp>
        <p:nvSpPr>
          <p:cNvPr id="25" name="TextBox 24"/>
          <p:cNvSpPr txBox="1"/>
          <p:nvPr/>
        </p:nvSpPr>
        <p:spPr>
          <a:xfrm>
            <a:off x="4773168" y="2395728"/>
            <a:ext cx="1746504" cy="548640"/>
          </a:xfrm>
          <a:prstGeom prst="rect">
            <a:avLst/>
          </a:prstGeom>
          <a:noFill/>
        </p:spPr>
        <p:txBody>
          <a:bodyPr wrap="square" lIns="0" rIns="0" tIns="0" bIns="0" anchor="t">
            <a:spAutoFit/>
          </a:bodyPr>
          <a:lstStyle/>
          <a:p>
            <a:pPr algn="ctr">
              <a:lnSpc>
                <a:spcPct val="105000"/>
              </a:lnSpc>
            </a:pPr>
            <a:r>
              <a:rPr sz="850" b="0" i="0">
                <a:solidFill>
                  <a:srgbClr val="6E6E6E"/>
                </a:solidFill>
                <a:latin typeface="Arial"/>
                <a:ea typeface="Arial"/>
                <a:cs typeface="Arial"/>
              </a:rPr>
              <a:t>Le stock du portefeuille et le flux du jour</a:t>
            </a:r>
          </a:p>
        </p:txBody>
      </p:sp>
      <p:sp>
        <p:nvSpPr>
          <p:cNvPr id="26" name="Rectangle 25"/>
          <p:cNvSpPr/>
          <p:nvPr/>
        </p:nvSpPr>
        <p:spPr>
          <a:xfrm>
            <a:off x="6812280" y="1188720"/>
            <a:ext cx="1965960" cy="1783080"/>
          </a:xfrm>
          <a:prstGeom prst="rect">
            <a:avLst/>
          </a:prstGeom>
          <a:solidFill>
            <a:srgbClr val="E4EDE4"/>
          </a:solidFill>
          <a:ln w="9525">
            <a:solidFill>
              <a:srgbClr val="ABD3B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boucle_009654.png"/>
          <p:cNvPicPr>
            <a:picLocks noChangeAspect="1"/>
          </p:cNvPicPr>
          <p:nvPr/>
        </p:nvPicPr>
        <p:blipFill>
          <a:blip r:embed="rId7"/>
          <a:stretch>
            <a:fillRect/>
          </a:stretch>
        </p:blipFill>
        <p:spPr>
          <a:xfrm>
            <a:off x="7675290" y="1251630"/>
            <a:ext cx="239938" cy="239938"/>
          </a:xfrm>
          <a:prstGeom prst="rect">
            <a:avLst/>
          </a:prstGeom>
        </p:spPr>
      </p:pic>
      <p:sp>
        <p:nvSpPr>
          <p:cNvPr id="28" name="TextBox 27"/>
          <p:cNvSpPr txBox="1"/>
          <p:nvPr/>
        </p:nvSpPr>
        <p:spPr>
          <a:xfrm>
            <a:off x="6812280" y="1499616"/>
            <a:ext cx="1965960" cy="603504"/>
          </a:xfrm>
          <a:prstGeom prst="rect">
            <a:avLst/>
          </a:prstGeom>
          <a:noFill/>
        </p:spPr>
        <p:txBody>
          <a:bodyPr wrap="square" lIns="0" rIns="0" tIns="0" bIns="0" anchor="ctr">
            <a:spAutoFit/>
          </a:bodyPr>
          <a:lstStyle/>
          <a:p>
            <a:pPr algn="ctr"/>
            <a:r>
              <a:rPr sz="3400" b="1" i="0">
                <a:solidFill>
                  <a:srgbClr val="009654"/>
                </a:solidFill>
                <a:latin typeface="Arial"/>
                <a:ea typeface="Arial"/>
                <a:cs typeface="Arial"/>
              </a:rPr>
              <a:t>J+1</a:t>
            </a:r>
          </a:p>
        </p:txBody>
      </p:sp>
      <p:sp>
        <p:nvSpPr>
          <p:cNvPr id="29" name="TextBox 28"/>
          <p:cNvSpPr txBox="1"/>
          <p:nvPr/>
        </p:nvSpPr>
        <p:spPr>
          <a:xfrm>
            <a:off x="6922008" y="2121408"/>
            <a:ext cx="1746504" cy="256032"/>
          </a:xfrm>
          <a:prstGeom prst="rect">
            <a:avLst/>
          </a:prstGeom>
          <a:noFill/>
        </p:spPr>
        <p:txBody>
          <a:bodyPr wrap="square" lIns="0" rIns="0" tIns="0" bIns="0" anchor="ctr">
            <a:spAutoFit/>
          </a:bodyPr>
          <a:lstStyle/>
          <a:p>
            <a:pPr algn="ctr"/>
            <a:r>
              <a:rPr sz="950" b="1" i="0">
                <a:solidFill>
                  <a:srgbClr val="004181"/>
                </a:solidFill>
                <a:latin typeface="Arial"/>
                <a:ea typeface="Arial"/>
                <a:cs typeface="Arial"/>
              </a:rPr>
              <a:t>FRAÎCHEUR DES DONNÉES</a:t>
            </a:r>
          </a:p>
        </p:txBody>
      </p:sp>
      <p:sp>
        <p:nvSpPr>
          <p:cNvPr id="30" name="TextBox 29"/>
          <p:cNvSpPr txBox="1"/>
          <p:nvPr/>
        </p:nvSpPr>
        <p:spPr>
          <a:xfrm>
            <a:off x="6922008" y="2395728"/>
            <a:ext cx="1746504" cy="548640"/>
          </a:xfrm>
          <a:prstGeom prst="rect">
            <a:avLst/>
          </a:prstGeom>
          <a:noFill/>
        </p:spPr>
        <p:txBody>
          <a:bodyPr wrap="square" lIns="0" rIns="0" tIns="0" bIns="0" anchor="t">
            <a:spAutoFit/>
          </a:bodyPr>
          <a:lstStyle/>
          <a:p>
            <a:pPr algn="ctr">
              <a:lnSpc>
                <a:spcPct val="105000"/>
              </a:lnSpc>
            </a:pPr>
            <a:r>
              <a:rPr sz="850" b="0" i="0">
                <a:solidFill>
                  <a:srgbClr val="6E6E6E"/>
                </a:solidFill>
                <a:latin typeface="Arial"/>
                <a:ea typeface="Arial"/>
                <a:cs typeface="Arial"/>
              </a:rPr>
              <a:t>Injection et recalcul automatiques chaque matin</a:t>
            </a:r>
          </a:p>
        </p:txBody>
      </p:sp>
      <p:sp>
        <p:nvSpPr>
          <p:cNvPr id="31" name="Rectangle 30"/>
          <p:cNvSpPr/>
          <p:nvPr/>
        </p:nvSpPr>
        <p:spPr>
          <a:xfrm>
            <a:off x="365760" y="3200400"/>
            <a:ext cx="8412480" cy="13716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65760" y="3200400"/>
            <a:ext cx="8412480" cy="274320"/>
          </a:xfrm>
          <a:prstGeom prst="rect">
            <a:avLst/>
          </a:prstGeom>
          <a:solidFill>
            <a:srgbClr val="DEF1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3" name="Picture 32" descr="marque-page_009654.png"/>
          <p:cNvPicPr>
            <a:picLocks noChangeAspect="1"/>
          </p:cNvPicPr>
          <p:nvPr/>
        </p:nvPicPr>
        <p:blipFill>
          <a:blip r:embed="rId8"/>
          <a:stretch>
            <a:fillRect/>
          </a:stretch>
        </p:blipFill>
        <p:spPr>
          <a:xfrm>
            <a:off x="445312" y="3225088"/>
            <a:ext cx="224942" cy="224942"/>
          </a:xfrm>
          <a:prstGeom prst="rect">
            <a:avLst/>
          </a:prstGeom>
        </p:spPr>
      </p:pic>
      <p:sp>
        <p:nvSpPr>
          <p:cNvPr id="34" name="TextBox 33"/>
          <p:cNvSpPr txBox="1"/>
          <p:nvPr/>
        </p:nvSpPr>
        <p:spPr>
          <a:xfrm>
            <a:off x="786384" y="3200400"/>
            <a:ext cx="7882127" cy="274320"/>
          </a:xfrm>
          <a:prstGeom prst="rect">
            <a:avLst/>
          </a:prstGeom>
          <a:noFill/>
        </p:spPr>
        <p:txBody>
          <a:bodyPr wrap="square" lIns="0" rIns="0" tIns="0" bIns="0" anchor="ctr">
            <a:spAutoFit/>
          </a:bodyPr>
          <a:lstStyle/>
          <a:p>
            <a:pPr algn="l"/>
            <a:r>
              <a:rPr sz="1000" b="1" i="0" spc="40">
                <a:solidFill>
                  <a:srgbClr val="009654"/>
                </a:solidFill>
                <a:latin typeface="Arial"/>
                <a:ea typeface="Arial"/>
                <a:cs typeface="Arial"/>
              </a:rPr>
              <a:t>À RETENIR AVANT D'ENTRER DANS L'OUTIL</a:t>
            </a:r>
          </a:p>
        </p:txBody>
      </p:sp>
      <p:sp>
        <p:nvSpPr>
          <p:cNvPr id="35" name="TextBox 34"/>
          <p:cNvSpPr txBox="1"/>
          <p:nvPr/>
        </p:nvSpPr>
        <p:spPr>
          <a:xfrm>
            <a:off x="548640" y="3639312"/>
            <a:ext cx="8046720" cy="868680"/>
          </a:xfrm>
          <a:prstGeom prst="rect">
            <a:avLst/>
          </a:prstGeom>
          <a:noFill/>
        </p:spPr>
        <p:txBody>
          <a:bodyPr wrap="square" lIns="0" rIns="0" tIns="0" bIns="0" anchor="t">
            <a:spAutoFit/>
          </a:bodyPr>
          <a:lstStyle/>
          <a:p>
            <a:pPr algn="l" marL="152400" indent="-152400">
              <a:lnSpc>
                <a:spcPct val="100000"/>
              </a:lnSpc>
              <a:spcAft>
                <a:spcPts val="900"/>
              </a:spcAft>
              <a:buClr>
                <a:srgbClr val="009654"/>
              </a:buClr>
              <a:buFont typeface="Arial" pitchFamily="34" charset="0"/>
              <a:buChar char="▪"/>
            </a:pPr>
            <a:r>
              <a:rPr sz="1000" b="0" i="0">
                <a:solidFill>
                  <a:srgbClr val="3A3A3A"/>
                </a:solidFill>
                <a:latin typeface="Arial"/>
                <a:ea typeface="Arial"/>
                <a:cs typeface="Arial"/>
              </a:rPr>
              <a:t>La plateforme ne corrige rien à votre place : elle désigne précisément ce qui doit être corrigé, et par qui.</a:t>
            </a:r>
          </a:p>
          <a:p>
            <a:pPr algn="l" marL="152400" indent="-152400">
              <a:lnSpc>
                <a:spcPct val="100000"/>
              </a:lnSpc>
              <a:spcAft>
                <a:spcPts val="900"/>
              </a:spcAft>
              <a:buClr>
                <a:srgbClr val="009654"/>
              </a:buClr>
              <a:buFont typeface="Arial" pitchFamily="34" charset="0"/>
              <a:buChar char="▪"/>
            </a:pPr>
            <a:r>
              <a:rPr sz="1000" b="0" i="0">
                <a:solidFill>
                  <a:srgbClr val="3A3A3A"/>
                </a:solidFill>
                <a:latin typeface="Arial"/>
                <a:ea typeface="Arial"/>
                <a:cs typeface="Arial"/>
              </a:rPr>
              <a:t>Chaque utilisateur ne voit que son périmètre. Les chiffres d'une agence sont la somme du travail de ses chargés.</a:t>
            </a:r>
          </a:p>
          <a:p>
            <a:pPr algn="l" marL="152400" indent="-152400">
              <a:lnSpc>
                <a:spcPct val="100000"/>
              </a:lnSpc>
              <a:spcAft>
                <a:spcPts val="900"/>
              </a:spcAft>
              <a:buClr>
                <a:srgbClr val="009654"/>
              </a:buClr>
              <a:buFont typeface="Arial" pitchFamily="34" charset="0"/>
              <a:buChar char="▪"/>
            </a:pPr>
            <a:r>
              <a:rPr sz="1000" b="0" i="0">
                <a:solidFill>
                  <a:srgbClr val="3A3A3A"/>
                </a:solidFill>
                <a:latin typeface="Arial"/>
                <a:ea typeface="Arial"/>
                <a:cs typeface="Arial"/>
              </a:rPr>
              <a:t>Les taux évoluent au rythme des corrections saisies dans le corebanking, reprises le lendemain matin.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50"/>
                                        <p:tgtEl>
                                          <p:spTgt spid="16"/>
                                        </p:tgtEl>
                                      </p:cBhvr>
                                    </p:animEffect>
                                  </p:childTnLst>
                                </p:cTn>
                              </p:par>
                              <p:par>
                                <p:cTn id="23" presetID="10" presetClass="entr" presetSubtype="0" fill="hold" grpId="0" nodeType="withEffect">
                                  <p:stCondLst>
                                    <p:cond delay="12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50"/>
                                        <p:tgtEl>
                                          <p:spTgt spid="17"/>
                                        </p:tgtEl>
                                      </p:cBhvr>
                                    </p:animEffect>
                                  </p:childTnLst>
                                </p:cTn>
                              </p:par>
                              <p:par>
                                <p:cTn id="26" presetID="10" presetClass="entr" presetSubtype="0" fill="hold" grpId="0" nodeType="withEffect">
                                  <p:stCondLst>
                                    <p:cond delay="24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50"/>
                                        <p:tgtEl>
                                          <p:spTgt spid="18"/>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50"/>
                                        <p:tgtEl>
                                          <p:spTgt spid="19"/>
                                        </p:tgtEl>
                                      </p:cBhvr>
                                    </p:animEffect>
                                  </p:childTnLst>
                                </p:cTn>
                              </p:par>
                              <p:par>
                                <p:cTn id="32" presetID="10" presetClass="entr" presetSubtype="0" fill="hold" grpId="0" nodeType="withEffect">
                                  <p:stCondLst>
                                    <p:cond delay="48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50"/>
                                        <p:tgtEl>
                                          <p:spTgt spid="21"/>
                                        </p:tgtEl>
                                      </p:cBhvr>
                                    </p:animEffect>
                                  </p:childTnLst>
                                </p:cTn>
                              </p:par>
                              <p:par>
                                <p:cTn id="40" presetID="10" presetClass="entr" presetSubtype="0" fill="hold" grpId="0" nodeType="withEffect">
                                  <p:stCondLst>
                                    <p:cond delay="12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50"/>
                                        <p:tgtEl>
                                          <p:spTgt spid="22"/>
                                        </p:tgtEl>
                                      </p:cBhvr>
                                    </p:animEffect>
                                  </p:childTnLst>
                                </p:cTn>
                              </p:par>
                              <p:par>
                                <p:cTn id="43" presetID="10" presetClass="entr" presetSubtype="0" fill="hold" grpId="0" nodeType="withEffect">
                                  <p:stCondLst>
                                    <p:cond delay="24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450"/>
                                        <p:tgtEl>
                                          <p:spTgt spid="23"/>
                                        </p:tgtEl>
                                      </p:cBhvr>
                                    </p:animEffect>
                                  </p:childTnLst>
                                </p:cTn>
                              </p:par>
                              <p:par>
                                <p:cTn id="46" presetID="10" presetClass="entr" presetSubtype="0" fill="hold" grpId="0" nodeType="withEffect">
                                  <p:stCondLst>
                                    <p:cond delay="36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50"/>
                                        <p:tgtEl>
                                          <p:spTgt spid="24"/>
                                        </p:tgtEl>
                                      </p:cBhvr>
                                    </p:animEffect>
                                  </p:childTnLst>
                                </p:cTn>
                              </p:par>
                              <p:par>
                                <p:cTn id="49" presetID="10" presetClass="entr" presetSubtype="0" fill="hold" grpId="0" nodeType="withEffect">
                                  <p:stCondLst>
                                    <p:cond delay="48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450"/>
                                        <p:tgtEl>
                                          <p:spTgt spid="25"/>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50"/>
                                        <p:tgtEl>
                                          <p:spTgt spid="26"/>
                                        </p:tgtEl>
                                      </p:cBhvr>
                                    </p:animEffect>
                                  </p:childTnLst>
                                </p:cTn>
                              </p:par>
                              <p:par>
                                <p:cTn id="57" presetID="10" presetClass="entr" presetSubtype="0" fill="hold" grpId="0" nodeType="withEffect">
                                  <p:stCondLst>
                                    <p:cond delay="12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50"/>
                                        <p:tgtEl>
                                          <p:spTgt spid="27"/>
                                        </p:tgtEl>
                                      </p:cBhvr>
                                    </p:animEffect>
                                  </p:childTnLst>
                                </p:cTn>
                              </p:par>
                              <p:par>
                                <p:cTn id="60" presetID="10" presetClass="entr" presetSubtype="0" fill="hold" grpId="0" nodeType="withEffect">
                                  <p:stCondLst>
                                    <p:cond delay="24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50"/>
                                        <p:tgtEl>
                                          <p:spTgt spid="28"/>
                                        </p:tgtEl>
                                      </p:cBhvr>
                                    </p:animEffect>
                                  </p:childTnLst>
                                </p:cTn>
                              </p:par>
                              <p:par>
                                <p:cTn id="63" presetID="10" presetClass="entr" presetSubtype="0" fill="hold" grpId="0" nodeType="withEffect">
                                  <p:stCondLst>
                                    <p:cond delay="36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450"/>
                                        <p:tgtEl>
                                          <p:spTgt spid="29"/>
                                        </p:tgtEl>
                                      </p:cBhvr>
                                    </p:animEffect>
                                  </p:childTnLst>
                                </p:cTn>
                              </p:par>
                              <p:par>
                                <p:cTn id="66" presetID="10" presetClass="entr" presetSubtype="0" fill="hold" grpId="0" nodeType="withEffect">
                                  <p:stCondLst>
                                    <p:cond delay="48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450"/>
                                        <p:tgtEl>
                                          <p:spTgt spid="30"/>
                                        </p:tgtEl>
                                      </p:cBhvr>
                                    </p:animEffect>
                                  </p:childTnLst>
                                </p:cTn>
                              </p:par>
                            </p:childTnLst>
                          </p:cTn>
                        </p:par>
                      </p:childTnLst>
                    </p:cTn>
                  </p:par>
                  <p:par>
                    <p:cTn id="86" fill="hold">
                      <p:stCondLst>
                        <p:cond delay="indefinite"/>
                      </p:stCondLst>
                      <p:childTnLst>
                        <p:par>
                          <p:cTn id="87"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50"/>
                                        <p:tgtEl>
                                          <p:spTgt spid="31"/>
                                        </p:tgtEl>
                                      </p:cBhvr>
                                    </p:animEffect>
                                  </p:childTnLst>
                                </p:cTn>
                              </p:par>
                              <p:par>
                                <p:cTn id="74" presetID="10" presetClass="entr" presetSubtype="0" fill="hold" grpId="0" nodeType="withEffect">
                                  <p:stCondLst>
                                    <p:cond delay="12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50"/>
                                        <p:tgtEl>
                                          <p:spTgt spid="32"/>
                                        </p:tgtEl>
                                      </p:cBhvr>
                                    </p:animEffect>
                                  </p:childTnLst>
                                </p:cTn>
                              </p:par>
                              <p:par>
                                <p:cTn id="77" presetID="10" presetClass="entr" presetSubtype="0" fill="hold" grpId="0" nodeType="withEffect">
                                  <p:stCondLst>
                                    <p:cond delay="24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50"/>
                                        <p:tgtEl>
                                          <p:spTgt spid="33"/>
                                        </p:tgtEl>
                                      </p:cBhvr>
                                    </p:animEffect>
                                  </p:childTnLst>
                                </p:cTn>
                              </p:par>
                              <p:par>
                                <p:cTn id="80" presetID="10" presetClass="entr" presetSubtype="0" fill="hold" grpId="0" nodeType="withEffect">
                                  <p:stCondLst>
                                    <p:cond delay="36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50"/>
                                        <p:tgtEl>
                                          <p:spTgt spid="34"/>
                                        </p:tgtEl>
                                      </p:cBhvr>
                                    </p:animEffect>
                                  </p:childTnLst>
                                </p:cTn>
                              </p:par>
                              <p:par>
                                <p:cTn id="83" presetID="10" presetClass="entr" presetSubtype="0" fill="hold" grpId="0" nodeType="withEffect">
                                  <p:stCondLst>
                                    <p:cond delay="48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06</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II.  ACCÈS, PÉRIMÈTRE ET HABILITATIONS</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utilisateur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SE CONNECTER À LA PLATEFORME</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188720"/>
            <a:ext cx="1965960" cy="1517904"/>
          </a:xfrm>
          <a:prstGeom prst="rect">
            <a:avLst/>
          </a:prstGeom>
          <a:solidFill>
            <a:srgbClr val="009654"/>
          </a:solidFill>
          <a:ln w="9525">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152144" y="1261872"/>
            <a:ext cx="402336" cy="402336"/>
          </a:xfrm>
          <a:prstGeom prst="ellipse">
            <a:avLst/>
          </a:prstGeom>
          <a:solidFill>
            <a:srgbClr val="FFFFFF">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ecran-courbe_FFFFFF.png"/>
          <p:cNvPicPr>
            <a:picLocks noChangeAspect="1"/>
          </p:cNvPicPr>
          <p:nvPr/>
        </p:nvPicPr>
        <p:blipFill>
          <a:blip r:embed="rId4"/>
          <a:stretch>
            <a:fillRect/>
          </a:stretch>
        </p:blipFill>
        <p:spPr>
          <a:xfrm>
            <a:off x="1216517" y="1326245"/>
            <a:ext cx="273588" cy="273588"/>
          </a:xfrm>
          <a:prstGeom prst="rect">
            <a:avLst/>
          </a:prstGeom>
        </p:spPr>
      </p:pic>
      <p:sp>
        <p:nvSpPr>
          <p:cNvPr id="14" name="TextBox 13"/>
          <p:cNvSpPr txBox="1"/>
          <p:nvPr/>
        </p:nvSpPr>
        <p:spPr>
          <a:xfrm>
            <a:off x="365760" y="1700784"/>
            <a:ext cx="1965960" cy="274320"/>
          </a:xfrm>
          <a:prstGeom prst="rect">
            <a:avLst/>
          </a:prstGeom>
          <a:noFill/>
        </p:spPr>
        <p:txBody>
          <a:bodyPr wrap="square" lIns="0" rIns="0" tIns="0" bIns="0" anchor="ctr">
            <a:spAutoFit/>
          </a:bodyPr>
          <a:lstStyle/>
          <a:p>
            <a:pPr algn="ctr"/>
            <a:r>
              <a:rPr sz="950" b="1" i="0" spc="40">
                <a:solidFill>
                  <a:srgbClr val="FFFFFF"/>
                </a:solidFill>
                <a:latin typeface="Arial"/>
                <a:ea typeface="Arial"/>
                <a:cs typeface="Arial"/>
              </a:rPr>
              <a:t>1.  ACCÈS</a:t>
            </a:r>
          </a:p>
        </p:txBody>
      </p:sp>
      <p:sp>
        <p:nvSpPr>
          <p:cNvPr id="15" name="TextBox 14"/>
          <p:cNvSpPr txBox="1"/>
          <p:nvPr/>
        </p:nvSpPr>
        <p:spPr>
          <a:xfrm>
            <a:off x="502920" y="2011680"/>
            <a:ext cx="1691640" cy="822960"/>
          </a:xfrm>
          <a:prstGeom prst="rect">
            <a:avLst/>
          </a:prstGeom>
          <a:noFill/>
        </p:spPr>
        <p:txBody>
          <a:bodyPr wrap="square" lIns="0" rIns="0" tIns="0" bIns="0" anchor="t">
            <a:spAutoFit/>
          </a:bodyPr>
          <a:lstStyle/>
          <a:p>
            <a:pPr algn="ctr">
              <a:lnSpc>
                <a:spcPct val="105000"/>
              </a:lnSpc>
            </a:pPr>
            <a:r>
              <a:rPr sz="850" b="0" i="0">
                <a:solidFill>
                  <a:srgbClr val="FFFFFF"/>
                </a:solidFill>
                <a:latin typeface="Arial"/>
                <a:ea typeface="Arial"/>
                <a:cs typeface="Arial"/>
              </a:rPr>
              <a:t>Ouvrir l'adresse interne de la plateforme depuis le poste bancaire</a:t>
            </a:r>
          </a:p>
        </p:txBody>
      </p:sp>
      <p:sp>
        <p:nvSpPr>
          <p:cNvPr id="16" name="Rectangle 15"/>
          <p:cNvSpPr/>
          <p:nvPr/>
        </p:nvSpPr>
        <p:spPr>
          <a:xfrm>
            <a:off x="2514600" y="1188720"/>
            <a:ext cx="1965960" cy="1517904"/>
          </a:xfrm>
          <a:prstGeom prst="rect">
            <a:avLst/>
          </a:prstGeom>
          <a:solidFill>
            <a:srgbClr val="009654"/>
          </a:solidFill>
          <a:ln w="9525">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3300984" y="1261872"/>
            <a:ext cx="402336" cy="402336"/>
          </a:xfrm>
          <a:prstGeom prst="ellipse">
            <a:avLst/>
          </a:prstGeom>
          <a:solidFill>
            <a:srgbClr val="FFFFFF">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carte-identite_FFFFFF.png"/>
          <p:cNvPicPr>
            <a:picLocks noChangeAspect="1"/>
          </p:cNvPicPr>
          <p:nvPr/>
        </p:nvPicPr>
        <p:blipFill>
          <a:blip r:embed="rId5"/>
          <a:stretch>
            <a:fillRect/>
          </a:stretch>
        </p:blipFill>
        <p:spPr>
          <a:xfrm>
            <a:off x="3365357" y="1326245"/>
            <a:ext cx="273588" cy="273588"/>
          </a:xfrm>
          <a:prstGeom prst="rect">
            <a:avLst/>
          </a:prstGeom>
        </p:spPr>
      </p:pic>
      <p:sp>
        <p:nvSpPr>
          <p:cNvPr id="19" name="TextBox 18"/>
          <p:cNvSpPr txBox="1"/>
          <p:nvPr/>
        </p:nvSpPr>
        <p:spPr>
          <a:xfrm>
            <a:off x="2514600" y="1700784"/>
            <a:ext cx="1965960" cy="274320"/>
          </a:xfrm>
          <a:prstGeom prst="rect">
            <a:avLst/>
          </a:prstGeom>
          <a:noFill/>
        </p:spPr>
        <p:txBody>
          <a:bodyPr wrap="square" lIns="0" rIns="0" tIns="0" bIns="0" anchor="ctr">
            <a:spAutoFit/>
          </a:bodyPr>
          <a:lstStyle/>
          <a:p>
            <a:pPr algn="ctr"/>
            <a:r>
              <a:rPr sz="950" b="1" i="0" spc="40">
                <a:solidFill>
                  <a:srgbClr val="FFFFFF"/>
                </a:solidFill>
                <a:latin typeface="Arial"/>
                <a:ea typeface="Arial"/>
                <a:cs typeface="Arial"/>
              </a:rPr>
              <a:t>2.  IDENTIFIANTS</a:t>
            </a:r>
          </a:p>
        </p:txBody>
      </p:sp>
      <p:sp>
        <p:nvSpPr>
          <p:cNvPr id="20" name="TextBox 19"/>
          <p:cNvSpPr txBox="1"/>
          <p:nvPr/>
        </p:nvSpPr>
        <p:spPr>
          <a:xfrm>
            <a:off x="2651760" y="2011680"/>
            <a:ext cx="1691640" cy="822960"/>
          </a:xfrm>
          <a:prstGeom prst="rect">
            <a:avLst/>
          </a:prstGeom>
          <a:noFill/>
        </p:spPr>
        <p:txBody>
          <a:bodyPr wrap="square" lIns="0" rIns="0" tIns="0" bIns="0" anchor="t">
            <a:spAutoFit/>
          </a:bodyPr>
          <a:lstStyle/>
          <a:p>
            <a:pPr algn="ctr">
              <a:lnSpc>
                <a:spcPct val="105000"/>
              </a:lnSpc>
            </a:pPr>
            <a:r>
              <a:rPr sz="850" b="0" i="0">
                <a:solidFill>
                  <a:srgbClr val="FFFFFF"/>
                </a:solidFill>
                <a:latin typeface="Arial"/>
                <a:ea typeface="Arial"/>
                <a:cs typeface="Arial"/>
              </a:rPr>
              <a:t>Saisir l'identifiant nominatif transmis par la DSI et le mot de passe initial</a:t>
            </a:r>
          </a:p>
        </p:txBody>
      </p:sp>
      <p:sp>
        <p:nvSpPr>
          <p:cNvPr id="21" name="Rectangle 20"/>
          <p:cNvSpPr/>
          <p:nvPr/>
        </p:nvSpPr>
        <p:spPr>
          <a:xfrm>
            <a:off x="4663440" y="1188720"/>
            <a:ext cx="1965960" cy="1517904"/>
          </a:xfrm>
          <a:prstGeom prst="rect">
            <a:avLst/>
          </a:prstGeom>
          <a:solidFill>
            <a:srgbClr val="009654"/>
          </a:solidFill>
          <a:ln w="9525">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5449824" y="1261872"/>
            <a:ext cx="402336" cy="402336"/>
          </a:xfrm>
          <a:prstGeom prst="ellipse">
            <a:avLst/>
          </a:prstGeom>
          <a:solidFill>
            <a:srgbClr val="FFFFFF">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acces-securite_FFFFFF.png"/>
          <p:cNvPicPr>
            <a:picLocks noChangeAspect="1"/>
          </p:cNvPicPr>
          <p:nvPr/>
        </p:nvPicPr>
        <p:blipFill>
          <a:blip r:embed="rId6"/>
          <a:stretch>
            <a:fillRect/>
          </a:stretch>
        </p:blipFill>
        <p:spPr>
          <a:xfrm>
            <a:off x="5514197" y="1326245"/>
            <a:ext cx="273588" cy="273588"/>
          </a:xfrm>
          <a:prstGeom prst="rect">
            <a:avLst/>
          </a:prstGeom>
        </p:spPr>
      </p:pic>
      <p:sp>
        <p:nvSpPr>
          <p:cNvPr id="24" name="TextBox 23"/>
          <p:cNvSpPr txBox="1"/>
          <p:nvPr/>
        </p:nvSpPr>
        <p:spPr>
          <a:xfrm>
            <a:off x="4663440" y="1700784"/>
            <a:ext cx="1965960" cy="274320"/>
          </a:xfrm>
          <a:prstGeom prst="rect">
            <a:avLst/>
          </a:prstGeom>
          <a:noFill/>
        </p:spPr>
        <p:txBody>
          <a:bodyPr wrap="square" lIns="0" rIns="0" tIns="0" bIns="0" anchor="ctr">
            <a:spAutoFit/>
          </a:bodyPr>
          <a:lstStyle/>
          <a:p>
            <a:pPr algn="ctr"/>
            <a:r>
              <a:rPr sz="950" b="1" i="0" spc="40">
                <a:solidFill>
                  <a:srgbClr val="FFFFFF"/>
                </a:solidFill>
                <a:latin typeface="Arial"/>
                <a:ea typeface="Arial"/>
                <a:cs typeface="Arial"/>
              </a:rPr>
              <a:t>3.  MOT DE PASSE</a:t>
            </a:r>
          </a:p>
        </p:txBody>
      </p:sp>
      <p:sp>
        <p:nvSpPr>
          <p:cNvPr id="25" name="TextBox 24"/>
          <p:cNvSpPr txBox="1"/>
          <p:nvPr/>
        </p:nvSpPr>
        <p:spPr>
          <a:xfrm>
            <a:off x="4800600" y="2011680"/>
            <a:ext cx="1691640" cy="822960"/>
          </a:xfrm>
          <a:prstGeom prst="rect">
            <a:avLst/>
          </a:prstGeom>
          <a:noFill/>
        </p:spPr>
        <p:txBody>
          <a:bodyPr wrap="square" lIns="0" rIns="0" tIns="0" bIns="0" anchor="t">
            <a:spAutoFit/>
          </a:bodyPr>
          <a:lstStyle/>
          <a:p>
            <a:pPr algn="ctr">
              <a:lnSpc>
                <a:spcPct val="105000"/>
              </a:lnSpc>
            </a:pPr>
            <a:r>
              <a:rPr sz="850" b="0" i="0">
                <a:solidFill>
                  <a:srgbClr val="FFFFFF"/>
                </a:solidFill>
                <a:latin typeface="Arial"/>
                <a:ea typeface="Arial"/>
                <a:cs typeface="Arial"/>
              </a:rPr>
              <a:t>Le changement du mot de passe est imposé à la première connexion</a:t>
            </a:r>
          </a:p>
        </p:txBody>
      </p:sp>
      <p:sp>
        <p:nvSpPr>
          <p:cNvPr id="26" name="Rectangle 25"/>
          <p:cNvSpPr/>
          <p:nvPr/>
        </p:nvSpPr>
        <p:spPr>
          <a:xfrm>
            <a:off x="6812280" y="1188720"/>
            <a:ext cx="1965960" cy="1517904"/>
          </a:xfrm>
          <a:prstGeom prst="rect">
            <a:avLst/>
          </a:prstGeom>
          <a:solidFill>
            <a:srgbClr val="009654"/>
          </a:solidFill>
          <a:ln w="9525">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7598664" y="1261872"/>
            <a:ext cx="402336" cy="402336"/>
          </a:xfrm>
          <a:prstGeom prst="ellipse">
            <a:avLst/>
          </a:prstGeom>
          <a:solidFill>
            <a:srgbClr val="FFFFFF">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localisation_FFFFFF.png"/>
          <p:cNvPicPr>
            <a:picLocks noChangeAspect="1"/>
          </p:cNvPicPr>
          <p:nvPr/>
        </p:nvPicPr>
        <p:blipFill>
          <a:blip r:embed="rId7"/>
          <a:stretch>
            <a:fillRect/>
          </a:stretch>
        </p:blipFill>
        <p:spPr>
          <a:xfrm>
            <a:off x="7663037" y="1326245"/>
            <a:ext cx="273588" cy="273588"/>
          </a:xfrm>
          <a:prstGeom prst="rect">
            <a:avLst/>
          </a:prstGeom>
        </p:spPr>
      </p:pic>
      <p:sp>
        <p:nvSpPr>
          <p:cNvPr id="29" name="TextBox 28"/>
          <p:cNvSpPr txBox="1"/>
          <p:nvPr/>
        </p:nvSpPr>
        <p:spPr>
          <a:xfrm>
            <a:off x="6812280" y="1700784"/>
            <a:ext cx="1965960" cy="274320"/>
          </a:xfrm>
          <a:prstGeom prst="rect">
            <a:avLst/>
          </a:prstGeom>
          <a:noFill/>
        </p:spPr>
        <p:txBody>
          <a:bodyPr wrap="square" lIns="0" rIns="0" tIns="0" bIns="0" anchor="ctr">
            <a:spAutoFit/>
          </a:bodyPr>
          <a:lstStyle/>
          <a:p>
            <a:pPr algn="ctr"/>
            <a:r>
              <a:rPr sz="950" b="1" i="0" spc="40">
                <a:solidFill>
                  <a:srgbClr val="FFFFFF"/>
                </a:solidFill>
                <a:latin typeface="Arial"/>
                <a:ea typeface="Arial"/>
                <a:cs typeface="Arial"/>
              </a:rPr>
              <a:t>4.  PÉRIMÈTRE</a:t>
            </a:r>
          </a:p>
        </p:txBody>
      </p:sp>
      <p:sp>
        <p:nvSpPr>
          <p:cNvPr id="30" name="TextBox 29"/>
          <p:cNvSpPr txBox="1"/>
          <p:nvPr/>
        </p:nvSpPr>
        <p:spPr>
          <a:xfrm>
            <a:off x="6949440" y="2011680"/>
            <a:ext cx="1691640" cy="822960"/>
          </a:xfrm>
          <a:prstGeom prst="rect">
            <a:avLst/>
          </a:prstGeom>
          <a:noFill/>
        </p:spPr>
        <p:txBody>
          <a:bodyPr wrap="square" lIns="0" rIns="0" tIns="0" bIns="0" anchor="t">
            <a:spAutoFit/>
          </a:bodyPr>
          <a:lstStyle/>
          <a:p>
            <a:pPr algn="ctr">
              <a:lnSpc>
                <a:spcPct val="105000"/>
              </a:lnSpc>
            </a:pPr>
            <a:r>
              <a:rPr sz="850" b="0" i="0">
                <a:solidFill>
                  <a:srgbClr val="FFFFFF"/>
                </a:solidFill>
                <a:latin typeface="Arial"/>
                <a:ea typeface="Arial"/>
                <a:cs typeface="Arial"/>
              </a:rPr>
              <a:t>Le tableau de bord s'ouvre déjà filtré sur votre périmètre</a:t>
            </a:r>
          </a:p>
        </p:txBody>
      </p:sp>
      <p:sp>
        <p:nvSpPr>
          <p:cNvPr id="31" name="Rectangle 30"/>
          <p:cNvSpPr/>
          <p:nvPr/>
        </p:nvSpPr>
        <p:spPr>
          <a:xfrm>
            <a:off x="365760" y="2962656"/>
            <a:ext cx="8412480" cy="1481328"/>
          </a:xfrm>
          <a:prstGeom prst="rect">
            <a:avLst/>
          </a:prstGeom>
          <a:solidFill>
            <a:srgbClr val="FFF8E7"/>
          </a:solidFill>
          <a:ln w="9525">
            <a:solidFill>
              <a:srgbClr val="FEEAB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65760" y="2962656"/>
            <a:ext cx="8412480" cy="274320"/>
          </a:xfrm>
          <a:prstGeom prst="rect">
            <a:avLst/>
          </a:prstGeom>
          <a:solidFill>
            <a:srgbClr val="FFF6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3" name="Picture 32" descr="verrouillage_9A6B00.png"/>
          <p:cNvPicPr>
            <a:picLocks noChangeAspect="1"/>
          </p:cNvPicPr>
          <p:nvPr/>
        </p:nvPicPr>
        <p:blipFill>
          <a:blip r:embed="rId8"/>
          <a:stretch>
            <a:fillRect/>
          </a:stretch>
        </p:blipFill>
        <p:spPr>
          <a:xfrm>
            <a:off x="445312" y="2987344"/>
            <a:ext cx="224942" cy="224942"/>
          </a:xfrm>
          <a:prstGeom prst="rect">
            <a:avLst/>
          </a:prstGeom>
        </p:spPr>
      </p:pic>
      <p:sp>
        <p:nvSpPr>
          <p:cNvPr id="34" name="TextBox 33"/>
          <p:cNvSpPr txBox="1"/>
          <p:nvPr/>
        </p:nvSpPr>
        <p:spPr>
          <a:xfrm>
            <a:off x="786384" y="2962656"/>
            <a:ext cx="7882127" cy="274320"/>
          </a:xfrm>
          <a:prstGeom prst="rect">
            <a:avLst/>
          </a:prstGeom>
          <a:noFill/>
        </p:spPr>
        <p:txBody>
          <a:bodyPr wrap="square" lIns="0" rIns="0" tIns="0" bIns="0" anchor="ctr">
            <a:spAutoFit/>
          </a:bodyPr>
          <a:lstStyle/>
          <a:p>
            <a:pPr algn="l"/>
            <a:r>
              <a:rPr sz="1000" b="1" i="0" spc="40">
                <a:solidFill>
                  <a:srgbClr val="9A6B00"/>
                </a:solidFill>
                <a:latin typeface="Arial"/>
                <a:ea typeface="Arial"/>
                <a:cs typeface="Arial"/>
              </a:rPr>
              <a:t>SÉCURITÉ  —  CE QUI EST NON NÉGOCIABLE</a:t>
            </a:r>
          </a:p>
        </p:txBody>
      </p:sp>
      <p:sp>
        <p:nvSpPr>
          <p:cNvPr id="35" name="TextBox 34"/>
          <p:cNvSpPr txBox="1"/>
          <p:nvPr/>
        </p:nvSpPr>
        <p:spPr>
          <a:xfrm>
            <a:off x="548640" y="3429000"/>
            <a:ext cx="8046720" cy="868680"/>
          </a:xfrm>
          <a:prstGeom prst="rect">
            <a:avLst/>
          </a:prstGeom>
          <a:noFill/>
        </p:spPr>
        <p:txBody>
          <a:bodyPr wrap="square" lIns="0" rIns="0" tIns="0" bIns="0" anchor="t">
            <a:spAutoFit/>
          </a:bodyPr>
          <a:lstStyle/>
          <a:p>
            <a:pPr algn="l" marL="152400" indent="-152400">
              <a:lnSpc>
                <a:spcPct val="100000"/>
              </a:lnSpc>
              <a:spcAft>
                <a:spcPts val="400"/>
              </a:spcAft>
              <a:buClr>
                <a:srgbClr val="FDB813"/>
              </a:buClr>
              <a:buFont typeface="Arial" pitchFamily="34" charset="0"/>
              <a:buChar char="▪"/>
            </a:pPr>
            <a:r>
              <a:rPr sz="1000" b="0" i="0">
                <a:solidFill>
                  <a:srgbClr val="3A3A3A"/>
                </a:solidFill>
                <a:latin typeface="Arial"/>
                <a:ea typeface="Arial"/>
                <a:cs typeface="Arial"/>
              </a:rPr>
              <a:t>Le compte est strictement nominatif : aucun partage d'identifiant, même entre collègues d'une même agence.</a:t>
            </a:r>
          </a:p>
          <a:p>
            <a:pPr algn="l" marL="152400" indent="-152400">
              <a:lnSpc>
                <a:spcPct val="100000"/>
              </a:lnSpc>
              <a:spcAft>
                <a:spcPts val="400"/>
              </a:spcAft>
              <a:buClr>
                <a:srgbClr val="FDB813"/>
              </a:buClr>
              <a:buFont typeface="Arial" pitchFamily="34" charset="0"/>
              <a:buChar char="▪"/>
            </a:pPr>
            <a:r>
              <a:rPr sz="1000" b="0" i="0">
                <a:solidFill>
                  <a:srgbClr val="3A3A3A"/>
                </a:solidFill>
                <a:latin typeface="Arial"/>
                <a:ea typeface="Arial"/>
                <a:cs typeface="Arial"/>
              </a:rPr>
              <a:t>Après plusieurs échecs de connexion, le compte est verrouillé automatiquement ; la réouverture passe par la DSI.</a:t>
            </a:r>
          </a:p>
          <a:p>
            <a:pPr algn="l" marL="152400" indent="-152400">
              <a:lnSpc>
                <a:spcPct val="100000"/>
              </a:lnSpc>
              <a:spcAft>
                <a:spcPts val="400"/>
              </a:spcAft>
              <a:buClr>
                <a:srgbClr val="FDB813"/>
              </a:buClr>
              <a:buFont typeface="Arial" pitchFamily="34" charset="0"/>
              <a:buChar char="▪"/>
            </a:pPr>
            <a:r>
              <a:rPr sz="1000" b="0" i="0">
                <a:solidFill>
                  <a:srgbClr val="3A3A3A"/>
                </a:solidFill>
                <a:latin typeface="Arial"/>
                <a:ea typeface="Arial"/>
                <a:cs typeface="Arial"/>
              </a:rPr>
              <a:t>Les connexions et les actions sensibles sont journalisées et consultables lors des contrôles.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50"/>
                                        <p:tgtEl>
                                          <p:spTgt spid="16"/>
                                        </p:tgtEl>
                                      </p:cBhvr>
                                    </p:animEffect>
                                  </p:childTnLst>
                                </p:cTn>
                              </p:par>
                              <p:par>
                                <p:cTn id="23" presetID="10" presetClass="entr" presetSubtype="0" fill="hold" grpId="0" nodeType="withEffect">
                                  <p:stCondLst>
                                    <p:cond delay="12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50"/>
                                        <p:tgtEl>
                                          <p:spTgt spid="17"/>
                                        </p:tgtEl>
                                      </p:cBhvr>
                                    </p:animEffect>
                                  </p:childTnLst>
                                </p:cTn>
                              </p:par>
                              <p:par>
                                <p:cTn id="26" presetID="10" presetClass="entr" presetSubtype="0" fill="hold" grpId="0" nodeType="withEffect">
                                  <p:stCondLst>
                                    <p:cond delay="24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50"/>
                                        <p:tgtEl>
                                          <p:spTgt spid="18"/>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50"/>
                                        <p:tgtEl>
                                          <p:spTgt spid="19"/>
                                        </p:tgtEl>
                                      </p:cBhvr>
                                    </p:animEffect>
                                  </p:childTnLst>
                                </p:cTn>
                              </p:par>
                              <p:par>
                                <p:cTn id="32" presetID="10" presetClass="entr" presetSubtype="0" fill="hold" grpId="0" nodeType="withEffect">
                                  <p:stCondLst>
                                    <p:cond delay="48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50"/>
                                        <p:tgtEl>
                                          <p:spTgt spid="21"/>
                                        </p:tgtEl>
                                      </p:cBhvr>
                                    </p:animEffect>
                                  </p:childTnLst>
                                </p:cTn>
                              </p:par>
                              <p:par>
                                <p:cTn id="40" presetID="10" presetClass="entr" presetSubtype="0" fill="hold" grpId="0" nodeType="withEffect">
                                  <p:stCondLst>
                                    <p:cond delay="12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50"/>
                                        <p:tgtEl>
                                          <p:spTgt spid="22"/>
                                        </p:tgtEl>
                                      </p:cBhvr>
                                    </p:animEffect>
                                  </p:childTnLst>
                                </p:cTn>
                              </p:par>
                              <p:par>
                                <p:cTn id="43" presetID="10" presetClass="entr" presetSubtype="0" fill="hold" grpId="0" nodeType="withEffect">
                                  <p:stCondLst>
                                    <p:cond delay="24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450"/>
                                        <p:tgtEl>
                                          <p:spTgt spid="23"/>
                                        </p:tgtEl>
                                      </p:cBhvr>
                                    </p:animEffect>
                                  </p:childTnLst>
                                </p:cTn>
                              </p:par>
                              <p:par>
                                <p:cTn id="46" presetID="10" presetClass="entr" presetSubtype="0" fill="hold" grpId="0" nodeType="withEffect">
                                  <p:stCondLst>
                                    <p:cond delay="36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50"/>
                                        <p:tgtEl>
                                          <p:spTgt spid="24"/>
                                        </p:tgtEl>
                                      </p:cBhvr>
                                    </p:animEffect>
                                  </p:childTnLst>
                                </p:cTn>
                              </p:par>
                              <p:par>
                                <p:cTn id="49" presetID="10" presetClass="entr" presetSubtype="0" fill="hold" grpId="0" nodeType="withEffect">
                                  <p:stCondLst>
                                    <p:cond delay="48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450"/>
                                        <p:tgtEl>
                                          <p:spTgt spid="25"/>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50"/>
                                        <p:tgtEl>
                                          <p:spTgt spid="26"/>
                                        </p:tgtEl>
                                      </p:cBhvr>
                                    </p:animEffect>
                                  </p:childTnLst>
                                </p:cTn>
                              </p:par>
                              <p:par>
                                <p:cTn id="57" presetID="10" presetClass="entr" presetSubtype="0" fill="hold" grpId="0" nodeType="withEffect">
                                  <p:stCondLst>
                                    <p:cond delay="12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50"/>
                                        <p:tgtEl>
                                          <p:spTgt spid="27"/>
                                        </p:tgtEl>
                                      </p:cBhvr>
                                    </p:animEffect>
                                  </p:childTnLst>
                                </p:cTn>
                              </p:par>
                              <p:par>
                                <p:cTn id="60" presetID="10" presetClass="entr" presetSubtype="0" fill="hold" grpId="0" nodeType="withEffect">
                                  <p:stCondLst>
                                    <p:cond delay="24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50"/>
                                        <p:tgtEl>
                                          <p:spTgt spid="28"/>
                                        </p:tgtEl>
                                      </p:cBhvr>
                                    </p:animEffect>
                                  </p:childTnLst>
                                </p:cTn>
                              </p:par>
                              <p:par>
                                <p:cTn id="63" presetID="10" presetClass="entr" presetSubtype="0" fill="hold" grpId="0" nodeType="withEffect">
                                  <p:stCondLst>
                                    <p:cond delay="36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450"/>
                                        <p:tgtEl>
                                          <p:spTgt spid="29"/>
                                        </p:tgtEl>
                                      </p:cBhvr>
                                    </p:animEffect>
                                  </p:childTnLst>
                                </p:cTn>
                              </p:par>
                              <p:par>
                                <p:cTn id="66" presetID="10" presetClass="entr" presetSubtype="0" fill="hold" grpId="0" nodeType="withEffect">
                                  <p:stCondLst>
                                    <p:cond delay="48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450"/>
                                        <p:tgtEl>
                                          <p:spTgt spid="30"/>
                                        </p:tgtEl>
                                      </p:cBhvr>
                                    </p:animEffect>
                                  </p:childTnLst>
                                </p:cTn>
                              </p:par>
                            </p:childTnLst>
                          </p:cTn>
                        </p:par>
                      </p:childTnLst>
                    </p:cTn>
                  </p:par>
                  <p:par>
                    <p:cTn id="86" fill="hold">
                      <p:stCondLst>
                        <p:cond delay="indefinite"/>
                      </p:stCondLst>
                      <p:childTnLst>
                        <p:par>
                          <p:cTn id="87"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50"/>
                                        <p:tgtEl>
                                          <p:spTgt spid="31"/>
                                        </p:tgtEl>
                                      </p:cBhvr>
                                    </p:animEffect>
                                  </p:childTnLst>
                                </p:cTn>
                              </p:par>
                              <p:par>
                                <p:cTn id="74" presetID="10" presetClass="entr" presetSubtype="0" fill="hold" grpId="0" nodeType="withEffect">
                                  <p:stCondLst>
                                    <p:cond delay="12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50"/>
                                        <p:tgtEl>
                                          <p:spTgt spid="32"/>
                                        </p:tgtEl>
                                      </p:cBhvr>
                                    </p:animEffect>
                                  </p:childTnLst>
                                </p:cTn>
                              </p:par>
                              <p:par>
                                <p:cTn id="77" presetID="10" presetClass="entr" presetSubtype="0" fill="hold" grpId="0" nodeType="withEffect">
                                  <p:stCondLst>
                                    <p:cond delay="24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50"/>
                                        <p:tgtEl>
                                          <p:spTgt spid="33"/>
                                        </p:tgtEl>
                                      </p:cBhvr>
                                    </p:animEffect>
                                  </p:childTnLst>
                                </p:cTn>
                              </p:par>
                              <p:par>
                                <p:cTn id="80" presetID="10" presetClass="entr" presetSubtype="0" fill="hold" grpId="0" nodeType="withEffect">
                                  <p:stCondLst>
                                    <p:cond delay="36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50"/>
                                        <p:tgtEl>
                                          <p:spTgt spid="34"/>
                                        </p:tgtEl>
                                      </p:cBhvr>
                                    </p:animEffect>
                                  </p:childTnLst>
                                </p:cTn>
                              </p:par>
                              <p:par>
                                <p:cTn id="83" presetID="10" presetClass="entr" presetSubtype="0" fill="hold" grpId="0" nodeType="withEffect">
                                  <p:stCondLst>
                                    <p:cond delay="48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07</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II.  ACCÈS, PÉRIMÈTRE ET HABILITATIONS</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bouclier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QUI VOIT QUOI : LE PÉRIMÈTRE EFFECTIF</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188720"/>
            <a:ext cx="2148840" cy="347472"/>
          </a:xfrm>
          <a:prstGeom prst="rect">
            <a:avLst/>
          </a:prstGeom>
          <a:solidFill>
            <a:srgbClr val="0041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75488" y="1188720"/>
            <a:ext cx="1929384" cy="347472"/>
          </a:xfrm>
          <a:prstGeom prst="rect">
            <a:avLst/>
          </a:prstGeom>
          <a:noFill/>
        </p:spPr>
        <p:txBody>
          <a:bodyPr wrap="square" lIns="0" rIns="0" tIns="0" bIns="0" anchor="ctr">
            <a:spAutoFit/>
          </a:bodyPr>
          <a:lstStyle/>
          <a:p>
            <a:pPr algn="l"/>
            <a:r>
              <a:rPr sz="950" b="1" i="0" spc="40">
                <a:solidFill>
                  <a:srgbClr val="FFFFFF"/>
                </a:solidFill>
                <a:latin typeface="Arial"/>
                <a:ea typeface="Arial"/>
                <a:cs typeface="Arial"/>
              </a:rPr>
              <a:t>PROFIL</a:t>
            </a:r>
          </a:p>
        </p:txBody>
      </p:sp>
      <p:sp>
        <p:nvSpPr>
          <p:cNvPr id="13" name="Rectangle 12"/>
          <p:cNvSpPr/>
          <p:nvPr/>
        </p:nvSpPr>
        <p:spPr>
          <a:xfrm>
            <a:off x="2514600" y="1188720"/>
            <a:ext cx="2606040" cy="347472"/>
          </a:xfrm>
          <a:prstGeom prst="rect">
            <a:avLst/>
          </a:prstGeom>
          <a:solidFill>
            <a:srgbClr val="0041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624328" y="1188720"/>
            <a:ext cx="2386584" cy="347472"/>
          </a:xfrm>
          <a:prstGeom prst="rect">
            <a:avLst/>
          </a:prstGeom>
          <a:noFill/>
        </p:spPr>
        <p:txBody>
          <a:bodyPr wrap="square" lIns="0" rIns="0" tIns="0" bIns="0" anchor="ctr">
            <a:spAutoFit/>
          </a:bodyPr>
          <a:lstStyle/>
          <a:p>
            <a:pPr algn="l"/>
            <a:r>
              <a:rPr sz="950" b="1" i="0" spc="40">
                <a:solidFill>
                  <a:srgbClr val="FFFFFF"/>
                </a:solidFill>
                <a:latin typeface="Arial"/>
                <a:ea typeface="Arial"/>
                <a:cs typeface="Arial"/>
              </a:rPr>
              <a:t>PÉRIMÈTRE VISIBLE</a:t>
            </a:r>
          </a:p>
        </p:txBody>
      </p:sp>
      <p:sp>
        <p:nvSpPr>
          <p:cNvPr id="15" name="Rectangle 14"/>
          <p:cNvSpPr/>
          <p:nvPr/>
        </p:nvSpPr>
        <p:spPr>
          <a:xfrm>
            <a:off x="5120640" y="1188720"/>
            <a:ext cx="3657600" cy="347472"/>
          </a:xfrm>
          <a:prstGeom prst="rect">
            <a:avLst/>
          </a:prstGeom>
          <a:solidFill>
            <a:srgbClr val="0041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230368" y="1188720"/>
            <a:ext cx="3438144" cy="347472"/>
          </a:xfrm>
          <a:prstGeom prst="rect">
            <a:avLst/>
          </a:prstGeom>
          <a:noFill/>
        </p:spPr>
        <p:txBody>
          <a:bodyPr wrap="square" lIns="0" rIns="0" tIns="0" bIns="0" anchor="ctr">
            <a:spAutoFit/>
          </a:bodyPr>
          <a:lstStyle/>
          <a:p>
            <a:pPr algn="l"/>
            <a:r>
              <a:rPr sz="950" b="1" i="0" spc="40">
                <a:solidFill>
                  <a:srgbClr val="FFFFFF"/>
                </a:solidFill>
                <a:latin typeface="Arial"/>
                <a:ea typeface="Arial"/>
                <a:cs typeface="Arial"/>
              </a:rPr>
              <a:t>ACTIONS PRINCIPALES</a:t>
            </a:r>
          </a:p>
        </p:txBody>
      </p:sp>
      <p:sp>
        <p:nvSpPr>
          <p:cNvPr id="17" name="Rectangle 16"/>
          <p:cNvSpPr/>
          <p:nvPr/>
        </p:nvSpPr>
        <p:spPr>
          <a:xfrm>
            <a:off x="365760" y="1536192"/>
            <a:ext cx="2148840" cy="6217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04672" y="1536192"/>
            <a:ext cx="1581912" cy="621792"/>
          </a:xfrm>
          <a:prstGeom prst="rect">
            <a:avLst/>
          </a:prstGeom>
          <a:noFill/>
        </p:spPr>
        <p:txBody>
          <a:bodyPr wrap="square" lIns="0" rIns="0" tIns="0" bIns="0" anchor="ctr">
            <a:spAutoFit/>
          </a:bodyPr>
          <a:lstStyle/>
          <a:p>
            <a:pPr algn="l">
              <a:lnSpc>
                <a:spcPct val="100000"/>
              </a:lnSpc>
            </a:pPr>
            <a:r>
              <a:rPr sz="950" b="1" i="0">
                <a:solidFill>
                  <a:srgbClr val="004181"/>
                </a:solidFill>
                <a:latin typeface="Arial"/>
                <a:ea typeface="Arial"/>
                <a:cs typeface="Arial"/>
              </a:rPr>
              <a:t>Conformité Groupe / Zone</a:t>
            </a:r>
          </a:p>
        </p:txBody>
      </p:sp>
      <p:sp>
        <p:nvSpPr>
          <p:cNvPr id="19" name="Rectangle 18"/>
          <p:cNvSpPr/>
          <p:nvPr/>
        </p:nvSpPr>
        <p:spPr>
          <a:xfrm>
            <a:off x="2514600" y="1536192"/>
            <a:ext cx="2606040" cy="6217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642616" y="1536192"/>
            <a:ext cx="2350008" cy="621792"/>
          </a:xfrm>
          <a:prstGeom prst="rect">
            <a:avLst/>
          </a:prstGeom>
          <a:noFill/>
        </p:spPr>
        <p:txBody>
          <a:bodyPr wrap="square" lIns="0" rIns="0" tIns="0" bIns="0" anchor="ctr">
            <a:spAutoFit/>
          </a:bodyPr>
          <a:lstStyle/>
          <a:p>
            <a:pPr algn="l">
              <a:lnSpc>
                <a:spcPct val="100000"/>
              </a:lnSpc>
            </a:pPr>
            <a:r>
              <a:rPr sz="950" b="0" i="0">
                <a:solidFill>
                  <a:srgbClr val="3A3A3A"/>
                </a:solidFill>
                <a:latin typeface="Arial"/>
                <a:ea typeface="Arial"/>
                <a:cs typeface="Arial"/>
              </a:rPr>
              <a:t>Toutes les filiales du Groupe</a:t>
            </a:r>
          </a:p>
        </p:txBody>
      </p:sp>
      <p:sp>
        <p:nvSpPr>
          <p:cNvPr id="21" name="Rectangle 20"/>
          <p:cNvSpPr/>
          <p:nvPr/>
        </p:nvSpPr>
        <p:spPr>
          <a:xfrm>
            <a:off x="5120640" y="1536192"/>
            <a:ext cx="3657600" cy="6217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248655" y="1536192"/>
            <a:ext cx="3401568" cy="621792"/>
          </a:xfrm>
          <a:prstGeom prst="rect">
            <a:avLst/>
          </a:prstGeom>
          <a:noFill/>
        </p:spPr>
        <p:txBody>
          <a:bodyPr wrap="square" lIns="0" rIns="0" tIns="0" bIns="0" anchor="ctr">
            <a:spAutoFit/>
          </a:bodyPr>
          <a:lstStyle/>
          <a:p>
            <a:pPr algn="l">
              <a:lnSpc>
                <a:spcPct val="100000"/>
              </a:lnSpc>
            </a:pPr>
            <a:r>
              <a:rPr sz="950" b="0" i="0">
                <a:solidFill>
                  <a:srgbClr val="3A3A3A"/>
                </a:solidFill>
                <a:latin typeface="Arial"/>
                <a:ea typeface="Arial"/>
                <a:cs typeface="Arial"/>
              </a:rPr>
              <a:t>Comparer les filiales, paramétrer les règles et les modules</a:t>
            </a:r>
          </a:p>
        </p:txBody>
      </p:sp>
      <p:pic>
        <p:nvPicPr>
          <p:cNvPr id="23" name="Picture 22" descr="international_009654.png"/>
          <p:cNvPicPr>
            <a:picLocks noChangeAspect="1"/>
          </p:cNvPicPr>
          <p:nvPr/>
        </p:nvPicPr>
        <p:blipFill>
          <a:blip r:embed="rId4"/>
          <a:stretch>
            <a:fillRect/>
          </a:stretch>
        </p:blipFill>
        <p:spPr>
          <a:xfrm>
            <a:off x="483534" y="1727118"/>
            <a:ext cx="239938" cy="239938"/>
          </a:xfrm>
          <a:prstGeom prst="rect">
            <a:avLst/>
          </a:prstGeom>
        </p:spPr>
      </p:pic>
      <p:sp>
        <p:nvSpPr>
          <p:cNvPr id="24" name="Rectangle 23"/>
          <p:cNvSpPr/>
          <p:nvPr/>
        </p:nvSpPr>
        <p:spPr>
          <a:xfrm>
            <a:off x="365760" y="2157984"/>
            <a:ext cx="2148840" cy="621792"/>
          </a:xfrm>
          <a:prstGeom prst="rect">
            <a:avLst/>
          </a:prstGeom>
          <a:solidFill>
            <a:srgbClr val="E4EDE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04672" y="2157984"/>
            <a:ext cx="1581912" cy="621792"/>
          </a:xfrm>
          <a:prstGeom prst="rect">
            <a:avLst/>
          </a:prstGeom>
          <a:noFill/>
        </p:spPr>
        <p:txBody>
          <a:bodyPr wrap="square" lIns="0" rIns="0" tIns="0" bIns="0" anchor="ctr">
            <a:spAutoFit/>
          </a:bodyPr>
          <a:lstStyle/>
          <a:p>
            <a:pPr algn="l">
              <a:lnSpc>
                <a:spcPct val="100000"/>
              </a:lnSpc>
            </a:pPr>
            <a:r>
              <a:rPr sz="950" b="1" i="0">
                <a:solidFill>
                  <a:srgbClr val="004181"/>
                </a:solidFill>
                <a:latin typeface="Arial"/>
                <a:ea typeface="Arial"/>
                <a:cs typeface="Arial"/>
              </a:rPr>
              <a:t>Correspondant KYC filiale RDC</a:t>
            </a:r>
          </a:p>
        </p:txBody>
      </p:sp>
      <p:sp>
        <p:nvSpPr>
          <p:cNvPr id="26" name="Rectangle 25"/>
          <p:cNvSpPr/>
          <p:nvPr/>
        </p:nvSpPr>
        <p:spPr>
          <a:xfrm>
            <a:off x="2514600" y="2157984"/>
            <a:ext cx="2606040" cy="621792"/>
          </a:xfrm>
          <a:prstGeom prst="rect">
            <a:avLst/>
          </a:prstGeom>
          <a:solidFill>
            <a:srgbClr val="E4EDE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642616" y="2157984"/>
            <a:ext cx="2350008" cy="621792"/>
          </a:xfrm>
          <a:prstGeom prst="rect">
            <a:avLst/>
          </a:prstGeom>
          <a:noFill/>
        </p:spPr>
        <p:txBody>
          <a:bodyPr wrap="square" lIns="0" rIns="0" tIns="0" bIns="0" anchor="ctr">
            <a:spAutoFit/>
          </a:bodyPr>
          <a:lstStyle/>
          <a:p>
            <a:pPr algn="l">
              <a:lnSpc>
                <a:spcPct val="100000"/>
              </a:lnSpc>
            </a:pPr>
            <a:r>
              <a:rPr sz="950" b="0" i="0">
                <a:solidFill>
                  <a:srgbClr val="3A3A3A"/>
                </a:solidFill>
                <a:latin typeface="Arial"/>
                <a:ea typeface="Arial"/>
                <a:cs typeface="Arial"/>
              </a:rPr>
              <a:t>L'ensemble de la filiale RDC</a:t>
            </a:r>
          </a:p>
        </p:txBody>
      </p:sp>
      <p:sp>
        <p:nvSpPr>
          <p:cNvPr id="28" name="Rectangle 27"/>
          <p:cNvSpPr/>
          <p:nvPr/>
        </p:nvSpPr>
        <p:spPr>
          <a:xfrm>
            <a:off x="5120640" y="2157984"/>
            <a:ext cx="3657600" cy="621792"/>
          </a:xfrm>
          <a:prstGeom prst="rect">
            <a:avLst/>
          </a:prstGeom>
          <a:solidFill>
            <a:srgbClr val="E4EDE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248655" y="2157984"/>
            <a:ext cx="3401568" cy="621792"/>
          </a:xfrm>
          <a:prstGeom prst="rect">
            <a:avLst/>
          </a:prstGeom>
          <a:noFill/>
        </p:spPr>
        <p:txBody>
          <a:bodyPr wrap="square" lIns="0" rIns="0" tIns="0" bIns="0" anchor="ctr">
            <a:spAutoFit/>
          </a:bodyPr>
          <a:lstStyle/>
          <a:p>
            <a:pPr algn="l">
              <a:lnSpc>
                <a:spcPct val="100000"/>
              </a:lnSpc>
            </a:pPr>
            <a:r>
              <a:rPr sz="950" b="0" i="0">
                <a:solidFill>
                  <a:srgbClr val="3A3A3A"/>
                </a:solidFill>
                <a:latin typeface="Arial"/>
                <a:ea typeface="Arial"/>
                <a:cs typeface="Arial"/>
              </a:rPr>
              <a:t>Piloter les agences, animer les campagnes, charger les lots de documents</a:t>
            </a:r>
          </a:p>
        </p:txBody>
      </p:sp>
      <p:pic>
        <p:nvPicPr>
          <p:cNvPr id="30" name="Picture 29" descr="banque_009654.png"/>
          <p:cNvPicPr>
            <a:picLocks noChangeAspect="1"/>
          </p:cNvPicPr>
          <p:nvPr/>
        </p:nvPicPr>
        <p:blipFill>
          <a:blip r:embed="rId5"/>
          <a:stretch>
            <a:fillRect/>
          </a:stretch>
        </p:blipFill>
        <p:spPr>
          <a:xfrm>
            <a:off x="483534" y="2348910"/>
            <a:ext cx="239938" cy="239938"/>
          </a:xfrm>
          <a:prstGeom prst="rect">
            <a:avLst/>
          </a:prstGeom>
        </p:spPr>
      </p:pic>
      <p:sp>
        <p:nvSpPr>
          <p:cNvPr id="31" name="Rectangle 30"/>
          <p:cNvSpPr/>
          <p:nvPr/>
        </p:nvSpPr>
        <p:spPr>
          <a:xfrm>
            <a:off x="365760" y="2779776"/>
            <a:ext cx="2148840" cy="6217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04672" y="2779776"/>
            <a:ext cx="1581912" cy="621792"/>
          </a:xfrm>
          <a:prstGeom prst="rect">
            <a:avLst/>
          </a:prstGeom>
          <a:noFill/>
        </p:spPr>
        <p:txBody>
          <a:bodyPr wrap="square" lIns="0" rIns="0" tIns="0" bIns="0" anchor="ctr">
            <a:spAutoFit/>
          </a:bodyPr>
          <a:lstStyle/>
          <a:p>
            <a:pPr algn="l">
              <a:lnSpc>
                <a:spcPct val="100000"/>
              </a:lnSpc>
            </a:pPr>
            <a:r>
              <a:rPr sz="950" b="1" i="0">
                <a:solidFill>
                  <a:srgbClr val="004181"/>
                </a:solidFill>
                <a:latin typeface="Arial"/>
                <a:ea typeface="Arial"/>
                <a:cs typeface="Arial"/>
              </a:rPr>
              <a:t>Directeur d'agence</a:t>
            </a:r>
          </a:p>
        </p:txBody>
      </p:sp>
      <p:sp>
        <p:nvSpPr>
          <p:cNvPr id="33" name="Rectangle 32"/>
          <p:cNvSpPr/>
          <p:nvPr/>
        </p:nvSpPr>
        <p:spPr>
          <a:xfrm>
            <a:off x="2514600" y="2779776"/>
            <a:ext cx="2606040" cy="6217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2642616" y="2779776"/>
            <a:ext cx="2350008" cy="621792"/>
          </a:xfrm>
          <a:prstGeom prst="rect">
            <a:avLst/>
          </a:prstGeom>
          <a:noFill/>
        </p:spPr>
        <p:txBody>
          <a:bodyPr wrap="square" lIns="0" rIns="0" tIns="0" bIns="0" anchor="ctr">
            <a:spAutoFit/>
          </a:bodyPr>
          <a:lstStyle/>
          <a:p>
            <a:pPr algn="l">
              <a:lnSpc>
                <a:spcPct val="100000"/>
              </a:lnSpc>
            </a:pPr>
            <a:r>
              <a:rPr sz="950" b="0" i="0">
                <a:solidFill>
                  <a:srgbClr val="3A3A3A"/>
                </a:solidFill>
                <a:latin typeface="Arial"/>
                <a:ea typeface="Arial"/>
                <a:cs typeface="Arial"/>
              </a:rPr>
              <a:t>Son agence et ses chargés</a:t>
            </a:r>
          </a:p>
        </p:txBody>
      </p:sp>
      <p:sp>
        <p:nvSpPr>
          <p:cNvPr id="35" name="Rectangle 34"/>
          <p:cNvSpPr/>
          <p:nvPr/>
        </p:nvSpPr>
        <p:spPr>
          <a:xfrm>
            <a:off x="5120640" y="2779776"/>
            <a:ext cx="3657600" cy="6217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5248655" y="2779776"/>
            <a:ext cx="3401568" cy="621792"/>
          </a:xfrm>
          <a:prstGeom prst="rect">
            <a:avLst/>
          </a:prstGeom>
          <a:noFill/>
        </p:spPr>
        <p:txBody>
          <a:bodyPr wrap="square" lIns="0" rIns="0" tIns="0" bIns="0" anchor="ctr">
            <a:spAutoFit/>
          </a:bodyPr>
          <a:lstStyle/>
          <a:p>
            <a:pPr algn="l">
              <a:lnSpc>
                <a:spcPct val="100000"/>
              </a:lnSpc>
            </a:pPr>
            <a:r>
              <a:rPr sz="950" b="0" i="0">
                <a:solidFill>
                  <a:srgbClr val="3A3A3A"/>
                </a:solidFill>
                <a:latin typeface="Arial"/>
                <a:ea typeface="Arial"/>
                <a:cs typeface="Arial"/>
              </a:rPr>
              <a:t>Suivre ses chargés, répartir les dossiers à corriger, contrôler l'avancement</a:t>
            </a:r>
          </a:p>
        </p:txBody>
      </p:sp>
      <p:pic>
        <p:nvPicPr>
          <p:cNvPr id="37" name="Picture 36" descr="accueil_009654.png"/>
          <p:cNvPicPr>
            <a:picLocks noChangeAspect="1"/>
          </p:cNvPicPr>
          <p:nvPr/>
        </p:nvPicPr>
        <p:blipFill>
          <a:blip r:embed="rId6"/>
          <a:stretch>
            <a:fillRect/>
          </a:stretch>
        </p:blipFill>
        <p:spPr>
          <a:xfrm>
            <a:off x="483534" y="2970702"/>
            <a:ext cx="239938" cy="239938"/>
          </a:xfrm>
          <a:prstGeom prst="rect">
            <a:avLst/>
          </a:prstGeom>
        </p:spPr>
      </p:pic>
      <p:sp>
        <p:nvSpPr>
          <p:cNvPr id="38" name="Rectangle 37"/>
          <p:cNvSpPr/>
          <p:nvPr/>
        </p:nvSpPr>
        <p:spPr>
          <a:xfrm>
            <a:off x="365760" y="3401568"/>
            <a:ext cx="2148840" cy="621792"/>
          </a:xfrm>
          <a:prstGeom prst="rect">
            <a:avLst/>
          </a:prstGeom>
          <a:solidFill>
            <a:srgbClr val="E4EDE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04672" y="3401568"/>
            <a:ext cx="1581912" cy="621792"/>
          </a:xfrm>
          <a:prstGeom prst="rect">
            <a:avLst/>
          </a:prstGeom>
          <a:noFill/>
        </p:spPr>
        <p:txBody>
          <a:bodyPr wrap="square" lIns="0" rIns="0" tIns="0" bIns="0" anchor="ctr">
            <a:spAutoFit/>
          </a:bodyPr>
          <a:lstStyle/>
          <a:p>
            <a:pPr algn="l">
              <a:lnSpc>
                <a:spcPct val="100000"/>
              </a:lnSpc>
            </a:pPr>
            <a:r>
              <a:rPr sz="950" b="1" i="0">
                <a:solidFill>
                  <a:srgbClr val="004181"/>
                </a:solidFill>
                <a:latin typeface="Arial"/>
                <a:ea typeface="Arial"/>
                <a:cs typeface="Arial"/>
              </a:rPr>
              <a:t>Chargé de clientèle</a:t>
            </a:r>
          </a:p>
        </p:txBody>
      </p:sp>
      <p:sp>
        <p:nvSpPr>
          <p:cNvPr id="40" name="Rectangle 39"/>
          <p:cNvSpPr/>
          <p:nvPr/>
        </p:nvSpPr>
        <p:spPr>
          <a:xfrm>
            <a:off x="2514600" y="3401568"/>
            <a:ext cx="2606040" cy="621792"/>
          </a:xfrm>
          <a:prstGeom prst="rect">
            <a:avLst/>
          </a:prstGeom>
          <a:solidFill>
            <a:srgbClr val="E4EDE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642616" y="3401568"/>
            <a:ext cx="2350008" cy="621792"/>
          </a:xfrm>
          <a:prstGeom prst="rect">
            <a:avLst/>
          </a:prstGeom>
          <a:noFill/>
        </p:spPr>
        <p:txBody>
          <a:bodyPr wrap="square" lIns="0" rIns="0" tIns="0" bIns="0" anchor="ctr">
            <a:spAutoFit/>
          </a:bodyPr>
          <a:lstStyle/>
          <a:p>
            <a:pPr algn="l">
              <a:lnSpc>
                <a:spcPct val="100000"/>
              </a:lnSpc>
            </a:pPr>
            <a:r>
              <a:rPr sz="950" b="0" i="0">
                <a:solidFill>
                  <a:srgbClr val="3A3A3A"/>
                </a:solidFill>
                <a:latin typeface="Arial"/>
                <a:ea typeface="Arial"/>
                <a:cs typeface="Arial"/>
              </a:rPr>
              <a:t>Son portefeuille (code exploitant)</a:t>
            </a:r>
          </a:p>
        </p:txBody>
      </p:sp>
      <p:sp>
        <p:nvSpPr>
          <p:cNvPr id="42" name="Rectangle 41"/>
          <p:cNvSpPr/>
          <p:nvPr/>
        </p:nvSpPr>
        <p:spPr>
          <a:xfrm>
            <a:off x="5120640" y="3401568"/>
            <a:ext cx="3657600" cy="621792"/>
          </a:xfrm>
          <a:prstGeom prst="rect">
            <a:avLst/>
          </a:prstGeom>
          <a:solidFill>
            <a:srgbClr val="E4EDE4"/>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5248655" y="3401568"/>
            <a:ext cx="3401568" cy="621792"/>
          </a:xfrm>
          <a:prstGeom prst="rect">
            <a:avLst/>
          </a:prstGeom>
          <a:noFill/>
        </p:spPr>
        <p:txBody>
          <a:bodyPr wrap="square" lIns="0" rIns="0" tIns="0" bIns="0" anchor="ctr">
            <a:spAutoFit/>
          </a:bodyPr>
          <a:lstStyle/>
          <a:p>
            <a:pPr algn="l">
              <a:lnSpc>
                <a:spcPct val="100000"/>
              </a:lnSpc>
            </a:pPr>
            <a:r>
              <a:rPr sz="950" b="0" i="0">
                <a:solidFill>
                  <a:srgbClr val="3A3A3A"/>
                </a:solidFill>
                <a:latin typeface="Arial"/>
                <a:ea typeface="Arial"/>
                <a:cs typeface="Arial"/>
              </a:rPr>
              <a:t>Corriger ses dossiers, déposer les pièces, suivre son taux</a:t>
            </a:r>
          </a:p>
        </p:txBody>
      </p:sp>
      <p:pic>
        <p:nvPicPr>
          <p:cNvPr id="44" name="Picture 43" descr="utilisateur_009654.png"/>
          <p:cNvPicPr>
            <a:picLocks noChangeAspect="1"/>
          </p:cNvPicPr>
          <p:nvPr/>
        </p:nvPicPr>
        <p:blipFill>
          <a:blip r:embed="rId7"/>
          <a:stretch>
            <a:fillRect/>
          </a:stretch>
        </p:blipFill>
        <p:spPr>
          <a:xfrm>
            <a:off x="483534" y="3592494"/>
            <a:ext cx="239938" cy="239938"/>
          </a:xfrm>
          <a:prstGeom prst="rect">
            <a:avLst/>
          </a:prstGeom>
        </p:spPr>
      </p:pic>
      <p:sp>
        <p:nvSpPr>
          <p:cNvPr id="45" name="Rectangle 44"/>
          <p:cNvSpPr/>
          <p:nvPr/>
        </p:nvSpPr>
        <p:spPr>
          <a:xfrm>
            <a:off x="365760" y="4096512"/>
            <a:ext cx="8412480" cy="457200"/>
          </a:xfrm>
          <a:prstGeom prst="rect">
            <a:avLst/>
          </a:prstGeom>
          <a:solidFill>
            <a:srgbClr val="E4EDE4"/>
          </a:solidFill>
          <a:ln w="9525">
            <a:solidFill>
              <a:srgbClr val="ABD3B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548640" y="4096512"/>
            <a:ext cx="8046720" cy="457200"/>
          </a:xfrm>
          <a:prstGeom prst="rect">
            <a:avLst/>
          </a:prstGeom>
          <a:noFill/>
        </p:spPr>
        <p:txBody>
          <a:bodyPr wrap="square" lIns="0" rIns="0" tIns="0" bIns="0" anchor="ctr">
            <a:spAutoFit/>
          </a:bodyPr>
          <a:lstStyle/>
          <a:p>
            <a:pPr algn="l">
              <a:lnSpc>
                <a:spcPct val="100000"/>
              </a:lnSpc>
            </a:pPr>
            <a:r>
              <a:rPr sz="950" b="1" i="0">
                <a:solidFill>
                  <a:srgbClr val="009654"/>
                </a:solidFill>
                <a:latin typeface="Arial"/>
                <a:ea typeface="Arial"/>
                <a:cs typeface="Arial"/>
              </a:rPr>
              <a:t>Deux réglages complètent ce périmètre : </a:t>
            </a:r>
            <a:r>
              <a:rPr sz="950" b="0" i="0">
                <a:solidFill>
                  <a:srgbClr val="3A3A3A"/>
                </a:solidFill>
                <a:latin typeface="Arial"/>
                <a:ea typeface="Arial"/>
                <a:cs typeface="Arial"/>
              </a:rPr>
              <a:t>les entrées de menu visibles dépendent de votre organe de rattachement, et les champs KYC suivis sont activés filiale par filiale.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par>
                                <p:cTn id="18" presetID="10" presetClass="entr" presetSubtype="0" fill="hold" grpId="0" nodeType="withEffect">
                                  <p:stCondLst>
                                    <p:cond delay="60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50"/>
                                        <p:tgtEl>
                                          <p:spTgt spid="16"/>
                                        </p:tgtEl>
                                      </p:cBhvr>
                                    </p:animEffect>
                                  </p:childTnLst>
                                </p:cTn>
                              </p:par>
                            </p:childTnLst>
                          </p:cTn>
                        </p:par>
                      </p:childTnLst>
                    </p:cTn>
                  </p:par>
                  <p:par>
                    <p:cTn id="44" fill="hold">
                      <p:stCondLst>
                        <p:cond delay="indefinite"/>
                      </p:stCondLst>
                      <p:childTnLst>
                        <p:par>
                          <p:cTn id="45"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50"/>
                                        <p:tgtEl>
                                          <p:spTgt spid="17"/>
                                        </p:tgtEl>
                                      </p:cBhvr>
                                    </p:animEffect>
                                  </p:childTnLst>
                                </p:cTn>
                              </p:par>
                              <p:par>
                                <p:cTn id="26" presetID="10" presetClass="entr" presetSubtype="0" fill="hold" grpId="0" nodeType="withEffect">
                                  <p:stCondLst>
                                    <p:cond delay="12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50"/>
                                        <p:tgtEl>
                                          <p:spTgt spid="18"/>
                                        </p:tgtEl>
                                      </p:cBhvr>
                                    </p:animEffect>
                                  </p:childTnLst>
                                </p:cTn>
                              </p:par>
                              <p:par>
                                <p:cTn id="29" presetID="10" presetClass="entr" presetSubtype="0" fill="hold" grpId="0" nodeType="withEffect">
                                  <p:stCondLst>
                                    <p:cond delay="24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50"/>
                                        <p:tgtEl>
                                          <p:spTgt spid="19"/>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childTnLst>
                                </p:cTn>
                              </p:par>
                              <p:par>
                                <p:cTn id="35" presetID="10" presetClass="entr" presetSubtype="0" fill="hold" grpId="0" nodeType="withEffect">
                                  <p:stCondLst>
                                    <p:cond delay="48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50"/>
                                        <p:tgtEl>
                                          <p:spTgt spid="21"/>
                                        </p:tgtEl>
                                      </p:cBhvr>
                                    </p:animEffect>
                                  </p:childTnLst>
                                </p:cTn>
                              </p:par>
                              <p:par>
                                <p:cTn id="38" presetID="10" presetClass="entr" presetSubtype="0" fill="hold" grpId="0" nodeType="withEffect">
                                  <p:stCondLst>
                                    <p:cond delay="60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450"/>
                                        <p:tgtEl>
                                          <p:spTgt spid="22"/>
                                        </p:tgtEl>
                                      </p:cBhvr>
                                    </p:animEffect>
                                  </p:childTnLst>
                                </p:cTn>
                              </p:par>
                              <p:par>
                                <p:cTn id="41" presetID="10" presetClass="entr" presetSubtype="0" fill="hold" grpId="0" nodeType="withEffect">
                                  <p:stCondLst>
                                    <p:cond delay="72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50"/>
                                        <p:tgtEl>
                                          <p:spTgt spid="23"/>
                                        </p:tgtEl>
                                      </p:cBhvr>
                                    </p:animEffect>
                                  </p:childTnLst>
                                </p:cTn>
                              </p:par>
                            </p:childTnLst>
                          </p:cTn>
                        </p:par>
                      </p:childTnLst>
                    </p:cTn>
                  </p:par>
                  <p:par>
                    <p:cTn id="67" fill="hold">
                      <p:stCondLst>
                        <p:cond delay="indefinite"/>
                      </p:stCondLst>
                      <p:childTnLst>
                        <p:par>
                          <p:cTn id="68"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50"/>
                                        <p:tgtEl>
                                          <p:spTgt spid="24"/>
                                        </p:tgtEl>
                                      </p:cBhvr>
                                    </p:animEffect>
                                  </p:childTnLst>
                                </p:cTn>
                              </p:par>
                              <p:par>
                                <p:cTn id="49" presetID="10" presetClass="entr" presetSubtype="0" fill="hold" grpId="0" nodeType="withEffect">
                                  <p:stCondLst>
                                    <p:cond delay="12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450"/>
                                        <p:tgtEl>
                                          <p:spTgt spid="25"/>
                                        </p:tgtEl>
                                      </p:cBhvr>
                                    </p:animEffect>
                                  </p:childTnLst>
                                </p:cTn>
                              </p:par>
                              <p:par>
                                <p:cTn id="52" presetID="10" presetClass="entr" presetSubtype="0" fill="hold" grpId="0" nodeType="withEffect">
                                  <p:stCondLst>
                                    <p:cond delay="24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450"/>
                                        <p:tgtEl>
                                          <p:spTgt spid="26"/>
                                        </p:tgtEl>
                                      </p:cBhvr>
                                    </p:animEffect>
                                  </p:childTnLst>
                                </p:cTn>
                              </p:par>
                              <p:par>
                                <p:cTn id="55" presetID="10" presetClass="entr" presetSubtype="0" fill="hold" grpId="0" nodeType="withEffect">
                                  <p:stCondLst>
                                    <p:cond delay="36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450"/>
                                        <p:tgtEl>
                                          <p:spTgt spid="27"/>
                                        </p:tgtEl>
                                      </p:cBhvr>
                                    </p:animEffect>
                                  </p:childTnLst>
                                </p:cTn>
                              </p:par>
                              <p:par>
                                <p:cTn id="58" presetID="10" presetClass="entr" presetSubtype="0" fill="hold" grpId="0" nodeType="withEffect">
                                  <p:stCondLst>
                                    <p:cond delay="48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450"/>
                                        <p:tgtEl>
                                          <p:spTgt spid="28"/>
                                        </p:tgtEl>
                                      </p:cBhvr>
                                    </p:animEffect>
                                  </p:childTnLst>
                                </p:cTn>
                              </p:par>
                              <p:par>
                                <p:cTn id="61" presetID="10" presetClass="entr" presetSubtype="0" fill="hold" grpId="0" nodeType="withEffect">
                                  <p:stCondLst>
                                    <p:cond delay="60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450"/>
                                        <p:tgtEl>
                                          <p:spTgt spid="29"/>
                                        </p:tgtEl>
                                      </p:cBhvr>
                                    </p:animEffect>
                                  </p:childTnLst>
                                </p:cTn>
                              </p:par>
                              <p:par>
                                <p:cTn id="64" presetID="10" presetClass="entr" presetSubtype="0" fill="hold" grpId="0" nodeType="withEffect">
                                  <p:stCondLst>
                                    <p:cond delay="72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450"/>
                                        <p:tgtEl>
                                          <p:spTgt spid="30"/>
                                        </p:tgtEl>
                                      </p:cBhvr>
                                    </p:animEffect>
                                  </p:childTnLst>
                                </p:cTn>
                              </p:par>
                            </p:childTnLst>
                          </p:cTn>
                        </p:par>
                      </p:childTnLst>
                    </p:cTn>
                  </p:par>
                  <p:par>
                    <p:cTn id="90" fill="hold">
                      <p:stCondLst>
                        <p:cond delay="indefinite"/>
                      </p:stCondLst>
                      <p:childTnLst>
                        <p:par>
                          <p:cTn id="91"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450"/>
                                        <p:tgtEl>
                                          <p:spTgt spid="31"/>
                                        </p:tgtEl>
                                      </p:cBhvr>
                                    </p:animEffect>
                                  </p:childTnLst>
                                </p:cTn>
                              </p:par>
                              <p:par>
                                <p:cTn id="72" presetID="10" presetClass="entr" presetSubtype="0" fill="hold" grpId="0" nodeType="withEffect">
                                  <p:stCondLst>
                                    <p:cond delay="12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450"/>
                                        <p:tgtEl>
                                          <p:spTgt spid="32"/>
                                        </p:tgtEl>
                                      </p:cBhvr>
                                    </p:animEffect>
                                  </p:childTnLst>
                                </p:cTn>
                              </p:par>
                              <p:par>
                                <p:cTn id="75" presetID="10" presetClass="entr" presetSubtype="0" fill="hold" grpId="0" nodeType="withEffect">
                                  <p:stCondLst>
                                    <p:cond delay="240"/>
                                  </p:stCondLst>
                                  <p:childTnLst>
                                    <p:set>
                                      <p:cBhvr>
                                        <p:cTn id="76" dur="1" fill="hold">
                                          <p:stCondLst>
                                            <p:cond delay="0"/>
                                          </p:stCondLst>
                                        </p:cTn>
                                        <p:tgtEl>
                                          <p:spTgt spid="33"/>
                                        </p:tgtEl>
                                        <p:attrNameLst>
                                          <p:attrName>style.visibility</p:attrName>
                                        </p:attrNameLst>
                                      </p:cBhvr>
                                      <p:to>
                                        <p:strVal val="visible"/>
                                      </p:to>
                                    </p:set>
                                    <p:animEffect transition="in" filter="fade">
                                      <p:cBhvr>
                                        <p:cTn id="77" dur="450"/>
                                        <p:tgtEl>
                                          <p:spTgt spid="33"/>
                                        </p:tgtEl>
                                      </p:cBhvr>
                                    </p:animEffect>
                                  </p:childTnLst>
                                </p:cTn>
                              </p:par>
                              <p:par>
                                <p:cTn id="78" presetID="10" presetClass="entr" presetSubtype="0" fill="hold" grpId="0" nodeType="withEffect">
                                  <p:stCondLst>
                                    <p:cond delay="360"/>
                                  </p:stCondLst>
                                  <p:childTnLst>
                                    <p:set>
                                      <p:cBhvr>
                                        <p:cTn id="79" dur="1" fill="hold">
                                          <p:stCondLst>
                                            <p:cond delay="0"/>
                                          </p:stCondLst>
                                        </p:cTn>
                                        <p:tgtEl>
                                          <p:spTgt spid="34"/>
                                        </p:tgtEl>
                                        <p:attrNameLst>
                                          <p:attrName>style.visibility</p:attrName>
                                        </p:attrNameLst>
                                      </p:cBhvr>
                                      <p:to>
                                        <p:strVal val="visible"/>
                                      </p:to>
                                    </p:set>
                                    <p:animEffect transition="in" filter="fade">
                                      <p:cBhvr>
                                        <p:cTn id="80" dur="450"/>
                                        <p:tgtEl>
                                          <p:spTgt spid="34"/>
                                        </p:tgtEl>
                                      </p:cBhvr>
                                    </p:animEffect>
                                  </p:childTnLst>
                                </p:cTn>
                              </p:par>
                              <p:par>
                                <p:cTn id="81" presetID="10" presetClass="entr" presetSubtype="0" fill="hold" grpId="0" nodeType="withEffect">
                                  <p:stCondLst>
                                    <p:cond delay="48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450"/>
                                        <p:tgtEl>
                                          <p:spTgt spid="35"/>
                                        </p:tgtEl>
                                      </p:cBhvr>
                                    </p:animEffect>
                                  </p:childTnLst>
                                </p:cTn>
                              </p:par>
                              <p:par>
                                <p:cTn id="84" presetID="10" presetClass="entr" presetSubtype="0" fill="hold" grpId="0" nodeType="withEffect">
                                  <p:stCondLst>
                                    <p:cond delay="600"/>
                                  </p:stCondLst>
                                  <p:childTnLst>
                                    <p:set>
                                      <p:cBhvr>
                                        <p:cTn id="85" dur="1" fill="hold">
                                          <p:stCondLst>
                                            <p:cond delay="0"/>
                                          </p:stCondLst>
                                        </p:cTn>
                                        <p:tgtEl>
                                          <p:spTgt spid="36"/>
                                        </p:tgtEl>
                                        <p:attrNameLst>
                                          <p:attrName>style.visibility</p:attrName>
                                        </p:attrNameLst>
                                      </p:cBhvr>
                                      <p:to>
                                        <p:strVal val="visible"/>
                                      </p:to>
                                    </p:set>
                                    <p:animEffect transition="in" filter="fade">
                                      <p:cBhvr>
                                        <p:cTn id="86" dur="450"/>
                                        <p:tgtEl>
                                          <p:spTgt spid="36"/>
                                        </p:tgtEl>
                                      </p:cBhvr>
                                    </p:animEffect>
                                  </p:childTnLst>
                                </p:cTn>
                              </p:par>
                              <p:par>
                                <p:cTn id="87" presetID="10" presetClass="entr" presetSubtype="0" fill="hold" grpId="0" nodeType="withEffect">
                                  <p:stCondLst>
                                    <p:cond delay="720"/>
                                  </p:stCondLst>
                                  <p:childTnLst>
                                    <p:set>
                                      <p:cBhvr>
                                        <p:cTn id="88" dur="1" fill="hold">
                                          <p:stCondLst>
                                            <p:cond delay="0"/>
                                          </p:stCondLst>
                                        </p:cTn>
                                        <p:tgtEl>
                                          <p:spTgt spid="37"/>
                                        </p:tgtEl>
                                        <p:attrNameLst>
                                          <p:attrName>style.visibility</p:attrName>
                                        </p:attrNameLst>
                                      </p:cBhvr>
                                      <p:to>
                                        <p:strVal val="visible"/>
                                      </p:to>
                                    </p:set>
                                    <p:animEffect transition="in" filter="fade">
                                      <p:cBhvr>
                                        <p:cTn id="89" dur="450"/>
                                        <p:tgtEl>
                                          <p:spTgt spid="37"/>
                                        </p:tgtEl>
                                      </p:cBhvr>
                                    </p:animEffect>
                                  </p:childTnLst>
                                </p:cTn>
                              </p:par>
                            </p:childTnLst>
                          </p:cTn>
                        </p:par>
                      </p:childTnLst>
                    </p:cTn>
                  </p:par>
                  <p:par>
                    <p:cTn id="113" fill="hold">
                      <p:stCondLst>
                        <p:cond delay="indefinite"/>
                      </p:stCondLst>
                      <p:childTnLst>
                        <p:par>
                          <p:cTn id="114"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fade">
                                      <p:cBhvr>
                                        <p:cTn id="94" dur="450"/>
                                        <p:tgtEl>
                                          <p:spTgt spid="38"/>
                                        </p:tgtEl>
                                      </p:cBhvr>
                                    </p:animEffect>
                                  </p:childTnLst>
                                </p:cTn>
                              </p:par>
                              <p:par>
                                <p:cTn id="95" presetID="10" presetClass="entr" presetSubtype="0" fill="hold" grpId="0" nodeType="withEffect">
                                  <p:stCondLst>
                                    <p:cond delay="120"/>
                                  </p:stCondLst>
                                  <p:childTnLst>
                                    <p:set>
                                      <p:cBhvr>
                                        <p:cTn id="96" dur="1" fill="hold">
                                          <p:stCondLst>
                                            <p:cond delay="0"/>
                                          </p:stCondLst>
                                        </p:cTn>
                                        <p:tgtEl>
                                          <p:spTgt spid="39"/>
                                        </p:tgtEl>
                                        <p:attrNameLst>
                                          <p:attrName>style.visibility</p:attrName>
                                        </p:attrNameLst>
                                      </p:cBhvr>
                                      <p:to>
                                        <p:strVal val="visible"/>
                                      </p:to>
                                    </p:set>
                                    <p:animEffect transition="in" filter="fade">
                                      <p:cBhvr>
                                        <p:cTn id="97" dur="450"/>
                                        <p:tgtEl>
                                          <p:spTgt spid="39"/>
                                        </p:tgtEl>
                                      </p:cBhvr>
                                    </p:animEffect>
                                  </p:childTnLst>
                                </p:cTn>
                              </p:par>
                              <p:par>
                                <p:cTn id="98" presetID="10" presetClass="entr" presetSubtype="0" fill="hold" grpId="0" nodeType="withEffect">
                                  <p:stCondLst>
                                    <p:cond delay="240"/>
                                  </p:stCondLst>
                                  <p:childTnLst>
                                    <p:set>
                                      <p:cBhvr>
                                        <p:cTn id="99" dur="1" fill="hold">
                                          <p:stCondLst>
                                            <p:cond delay="0"/>
                                          </p:stCondLst>
                                        </p:cTn>
                                        <p:tgtEl>
                                          <p:spTgt spid="40"/>
                                        </p:tgtEl>
                                        <p:attrNameLst>
                                          <p:attrName>style.visibility</p:attrName>
                                        </p:attrNameLst>
                                      </p:cBhvr>
                                      <p:to>
                                        <p:strVal val="visible"/>
                                      </p:to>
                                    </p:set>
                                    <p:animEffect transition="in" filter="fade">
                                      <p:cBhvr>
                                        <p:cTn id="100" dur="450"/>
                                        <p:tgtEl>
                                          <p:spTgt spid="40"/>
                                        </p:tgtEl>
                                      </p:cBhvr>
                                    </p:animEffect>
                                  </p:childTnLst>
                                </p:cTn>
                              </p:par>
                              <p:par>
                                <p:cTn id="101" presetID="10" presetClass="entr" presetSubtype="0" fill="hold" grpId="0" nodeType="withEffect">
                                  <p:stCondLst>
                                    <p:cond delay="36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3" dur="450"/>
                                        <p:tgtEl>
                                          <p:spTgt spid="41"/>
                                        </p:tgtEl>
                                      </p:cBhvr>
                                    </p:animEffect>
                                  </p:childTnLst>
                                </p:cTn>
                              </p:par>
                              <p:par>
                                <p:cTn id="104" presetID="10" presetClass="entr" presetSubtype="0" fill="hold" grpId="0" nodeType="withEffect">
                                  <p:stCondLst>
                                    <p:cond delay="480"/>
                                  </p:stCondLst>
                                  <p:childTnLst>
                                    <p:set>
                                      <p:cBhvr>
                                        <p:cTn id="105" dur="1" fill="hold">
                                          <p:stCondLst>
                                            <p:cond delay="0"/>
                                          </p:stCondLst>
                                        </p:cTn>
                                        <p:tgtEl>
                                          <p:spTgt spid="42"/>
                                        </p:tgtEl>
                                        <p:attrNameLst>
                                          <p:attrName>style.visibility</p:attrName>
                                        </p:attrNameLst>
                                      </p:cBhvr>
                                      <p:to>
                                        <p:strVal val="visible"/>
                                      </p:to>
                                    </p:set>
                                    <p:animEffect transition="in" filter="fade">
                                      <p:cBhvr>
                                        <p:cTn id="106" dur="450"/>
                                        <p:tgtEl>
                                          <p:spTgt spid="42"/>
                                        </p:tgtEl>
                                      </p:cBhvr>
                                    </p:animEffect>
                                  </p:childTnLst>
                                </p:cTn>
                              </p:par>
                              <p:par>
                                <p:cTn id="107" presetID="10" presetClass="entr" presetSubtype="0" fill="hold" grpId="0" nodeType="withEffect">
                                  <p:stCondLst>
                                    <p:cond delay="600"/>
                                  </p:stCondLst>
                                  <p:childTnLst>
                                    <p:set>
                                      <p:cBhvr>
                                        <p:cTn id="108" dur="1" fill="hold">
                                          <p:stCondLst>
                                            <p:cond delay="0"/>
                                          </p:stCondLst>
                                        </p:cTn>
                                        <p:tgtEl>
                                          <p:spTgt spid="43"/>
                                        </p:tgtEl>
                                        <p:attrNameLst>
                                          <p:attrName>style.visibility</p:attrName>
                                        </p:attrNameLst>
                                      </p:cBhvr>
                                      <p:to>
                                        <p:strVal val="visible"/>
                                      </p:to>
                                    </p:set>
                                    <p:animEffect transition="in" filter="fade">
                                      <p:cBhvr>
                                        <p:cTn id="109" dur="450"/>
                                        <p:tgtEl>
                                          <p:spTgt spid="43"/>
                                        </p:tgtEl>
                                      </p:cBhvr>
                                    </p:animEffect>
                                  </p:childTnLst>
                                </p:cTn>
                              </p:par>
                              <p:par>
                                <p:cTn id="110" presetID="10" presetClass="entr" presetSubtype="0" fill="hold" grpId="0" nodeType="withEffect">
                                  <p:stCondLst>
                                    <p:cond delay="720"/>
                                  </p:stCondLst>
                                  <p:childTnLst>
                                    <p:set>
                                      <p:cBhvr>
                                        <p:cTn id="111" dur="1" fill="hold">
                                          <p:stCondLst>
                                            <p:cond delay="0"/>
                                          </p:stCondLst>
                                        </p:cTn>
                                        <p:tgtEl>
                                          <p:spTgt spid="44"/>
                                        </p:tgtEl>
                                        <p:attrNameLst>
                                          <p:attrName>style.visibility</p:attrName>
                                        </p:attrNameLst>
                                      </p:cBhvr>
                                      <p:to>
                                        <p:strVal val="visible"/>
                                      </p:to>
                                    </p:set>
                                    <p:animEffect transition="in" filter="fade">
                                      <p:cBhvr>
                                        <p:cTn id="112" dur="450"/>
                                        <p:tgtEl>
                                          <p:spTgt spid="44"/>
                                        </p:tgtEl>
                                      </p:cBhvr>
                                    </p:animEffect>
                                  </p:childTnLst>
                                </p:cTn>
                              </p:par>
                            </p:childTnLst>
                          </p:cTn>
                        </p:par>
                      </p:childTnLst>
                    </p:cTn>
                  </p:par>
                  <p:par>
                    <p:cTn id="121" fill="hold">
                      <p:stCondLst>
                        <p:cond delay="indefinite"/>
                      </p:stCondLst>
                      <p:childTnLst>
                        <p:par>
                          <p:cTn id="122"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45"/>
                                        </p:tgtEl>
                                        <p:attrNameLst>
                                          <p:attrName>style.visibility</p:attrName>
                                        </p:attrNameLst>
                                      </p:cBhvr>
                                      <p:to>
                                        <p:strVal val="visible"/>
                                      </p:to>
                                    </p:set>
                                    <p:animEffect transition="in" filter="fade">
                                      <p:cBhvr>
                                        <p:cTn id="117" dur="450"/>
                                        <p:tgtEl>
                                          <p:spTgt spid="45"/>
                                        </p:tgtEl>
                                      </p:cBhvr>
                                    </p:animEffect>
                                  </p:childTnLst>
                                </p:cTn>
                              </p:par>
                              <p:par>
                                <p:cTn id="118" presetID="10" presetClass="entr" presetSubtype="0" fill="hold" grpId="0" nodeType="withEffect">
                                  <p:stCondLst>
                                    <p:cond delay="120"/>
                                  </p:stCondLst>
                                  <p:childTnLst>
                                    <p:set>
                                      <p:cBhvr>
                                        <p:cTn id="119" dur="1" fill="hold">
                                          <p:stCondLst>
                                            <p:cond delay="0"/>
                                          </p:stCondLst>
                                        </p:cTn>
                                        <p:tgtEl>
                                          <p:spTgt spid="46"/>
                                        </p:tgtEl>
                                        <p:attrNameLst>
                                          <p:attrName>style.visibility</p:attrName>
                                        </p:attrNameLst>
                                      </p:cBhvr>
                                      <p:to>
                                        <p:strVal val="visible"/>
                                      </p:to>
                                    </p:set>
                                    <p:animEffect transition="in" filter="fade">
                                      <p:cBhvr>
                                        <p:cTn id="120" dur="4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08</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III.  LIRE LES INDICATEURS KYC</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ecran-courbe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ANATOMIE D'UN TABLEAU DE BORD</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170432"/>
            <a:ext cx="4754880" cy="3383280"/>
          </a:xfrm>
          <a:prstGeom prst="rect">
            <a:avLst/>
          </a:prstGeom>
          <a:solidFill>
            <a:srgbClr val="F7F7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02920" y="1307592"/>
            <a:ext cx="914400" cy="3108960"/>
          </a:xfrm>
          <a:prstGeom prst="rect">
            <a:avLst/>
          </a:prstGeom>
          <a:solidFill>
            <a:srgbClr val="0041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536192" y="1307592"/>
            <a:ext cx="3447288" cy="3840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536192" y="1810512"/>
            <a:ext cx="1088136" cy="777240"/>
          </a:xfrm>
          <a:prstGeom prst="rect">
            <a:avLst/>
          </a:prstGeom>
          <a:solidFill>
            <a:srgbClr val="009654"/>
          </a:solidFill>
          <a:ln w="12700">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2715768" y="1810512"/>
            <a:ext cx="1088136" cy="777240"/>
          </a:xfrm>
          <a:prstGeom prst="rect">
            <a:avLst/>
          </a:prstGeom>
          <a:solidFill>
            <a:srgbClr val="009654"/>
          </a:solidFill>
          <a:ln w="12700">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3895344" y="1810512"/>
            <a:ext cx="1088136" cy="777240"/>
          </a:xfrm>
          <a:prstGeom prst="rect">
            <a:avLst/>
          </a:prstGeom>
          <a:solidFill>
            <a:srgbClr val="009654"/>
          </a:solidFill>
          <a:ln w="12700">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536192" y="2706624"/>
            <a:ext cx="3447288" cy="13716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645920" y="2834640"/>
            <a:ext cx="3227832"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645920" y="3154680"/>
            <a:ext cx="3227832"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645920" y="3474720"/>
            <a:ext cx="3227832"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45920" y="3794760"/>
            <a:ext cx="3227832"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069080" y="4178808"/>
            <a:ext cx="914400" cy="237744"/>
          </a:xfrm>
          <a:prstGeom prst="rect">
            <a:avLst/>
          </a:prstGeom>
          <a:solidFill>
            <a:srgbClr val="0041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566928" y="1371600"/>
            <a:ext cx="256032" cy="256032"/>
          </a:xfrm>
          <a:prstGeom prst="ellipse">
            <a:avLst/>
          </a:prstGeom>
          <a:solidFill>
            <a:srgbClr val="FFFFFF"/>
          </a:solidFill>
          <a:ln w="15875">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66928" y="1371600"/>
            <a:ext cx="256032" cy="256032"/>
          </a:xfrm>
          <a:prstGeom prst="rect">
            <a:avLst/>
          </a:prstGeom>
          <a:noFill/>
        </p:spPr>
        <p:txBody>
          <a:bodyPr wrap="square" lIns="0" rIns="0" tIns="0" bIns="0" anchor="ctr">
            <a:spAutoFit/>
          </a:bodyPr>
          <a:lstStyle/>
          <a:p>
            <a:pPr algn="ctr"/>
            <a:r>
              <a:rPr sz="900" b="1" i="0">
                <a:solidFill>
                  <a:srgbClr val="009654"/>
                </a:solidFill>
                <a:latin typeface="Arial"/>
                <a:ea typeface="Arial"/>
                <a:cs typeface="Arial"/>
              </a:rPr>
              <a:t>1</a:t>
            </a:r>
          </a:p>
        </p:txBody>
      </p:sp>
      <p:sp>
        <p:nvSpPr>
          <p:cNvPr id="25" name="Oval 24"/>
          <p:cNvSpPr/>
          <p:nvPr/>
        </p:nvSpPr>
        <p:spPr>
          <a:xfrm>
            <a:off x="1600200" y="1371600"/>
            <a:ext cx="256032" cy="256032"/>
          </a:xfrm>
          <a:prstGeom prst="ellipse">
            <a:avLst/>
          </a:prstGeom>
          <a:solidFill>
            <a:srgbClr val="FFFFFF"/>
          </a:solidFill>
          <a:ln w="15875">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600200" y="1371600"/>
            <a:ext cx="256032" cy="256032"/>
          </a:xfrm>
          <a:prstGeom prst="rect">
            <a:avLst/>
          </a:prstGeom>
          <a:noFill/>
        </p:spPr>
        <p:txBody>
          <a:bodyPr wrap="square" lIns="0" rIns="0" tIns="0" bIns="0" anchor="ctr">
            <a:spAutoFit/>
          </a:bodyPr>
          <a:lstStyle/>
          <a:p>
            <a:pPr algn="ctr"/>
            <a:r>
              <a:rPr sz="900" b="1" i="0">
                <a:solidFill>
                  <a:srgbClr val="009654"/>
                </a:solidFill>
                <a:latin typeface="Arial"/>
                <a:ea typeface="Arial"/>
                <a:cs typeface="Arial"/>
              </a:rPr>
              <a:t>2</a:t>
            </a:r>
          </a:p>
        </p:txBody>
      </p:sp>
      <p:sp>
        <p:nvSpPr>
          <p:cNvPr id="27" name="Oval 26"/>
          <p:cNvSpPr/>
          <p:nvPr/>
        </p:nvSpPr>
        <p:spPr>
          <a:xfrm>
            <a:off x="1600200" y="1874519"/>
            <a:ext cx="256032" cy="256032"/>
          </a:xfrm>
          <a:prstGeom prst="ellipse">
            <a:avLst/>
          </a:prstGeom>
          <a:solidFill>
            <a:srgbClr val="FFFFFF"/>
          </a:solidFill>
          <a:ln w="15875">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600200" y="1874519"/>
            <a:ext cx="256032" cy="256032"/>
          </a:xfrm>
          <a:prstGeom prst="rect">
            <a:avLst/>
          </a:prstGeom>
          <a:noFill/>
        </p:spPr>
        <p:txBody>
          <a:bodyPr wrap="square" lIns="0" rIns="0" tIns="0" bIns="0" anchor="ctr">
            <a:spAutoFit/>
          </a:bodyPr>
          <a:lstStyle/>
          <a:p>
            <a:pPr algn="ctr"/>
            <a:r>
              <a:rPr sz="900" b="1" i="0">
                <a:solidFill>
                  <a:srgbClr val="009654"/>
                </a:solidFill>
                <a:latin typeface="Arial"/>
                <a:ea typeface="Arial"/>
                <a:cs typeface="Arial"/>
              </a:rPr>
              <a:t>3</a:t>
            </a:r>
          </a:p>
        </p:txBody>
      </p:sp>
      <p:sp>
        <p:nvSpPr>
          <p:cNvPr id="29" name="Oval 28"/>
          <p:cNvSpPr/>
          <p:nvPr/>
        </p:nvSpPr>
        <p:spPr>
          <a:xfrm>
            <a:off x="1600200" y="2770632"/>
            <a:ext cx="256032" cy="256032"/>
          </a:xfrm>
          <a:prstGeom prst="ellipse">
            <a:avLst/>
          </a:prstGeom>
          <a:solidFill>
            <a:srgbClr val="FFFFFF"/>
          </a:solidFill>
          <a:ln w="15875">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600200" y="2770632"/>
            <a:ext cx="256032" cy="256032"/>
          </a:xfrm>
          <a:prstGeom prst="rect">
            <a:avLst/>
          </a:prstGeom>
          <a:noFill/>
        </p:spPr>
        <p:txBody>
          <a:bodyPr wrap="square" lIns="0" rIns="0" tIns="0" bIns="0" anchor="ctr">
            <a:spAutoFit/>
          </a:bodyPr>
          <a:lstStyle/>
          <a:p>
            <a:pPr algn="ctr"/>
            <a:r>
              <a:rPr sz="900" b="1" i="0">
                <a:solidFill>
                  <a:srgbClr val="009654"/>
                </a:solidFill>
                <a:latin typeface="Arial"/>
                <a:ea typeface="Arial"/>
                <a:cs typeface="Arial"/>
              </a:rPr>
              <a:t>4</a:t>
            </a:r>
          </a:p>
        </p:txBody>
      </p:sp>
      <p:sp>
        <p:nvSpPr>
          <p:cNvPr id="31" name="Oval 30"/>
          <p:cNvSpPr/>
          <p:nvPr/>
        </p:nvSpPr>
        <p:spPr>
          <a:xfrm>
            <a:off x="4133087" y="4242816"/>
            <a:ext cx="256032" cy="256032"/>
          </a:xfrm>
          <a:prstGeom prst="ellipse">
            <a:avLst/>
          </a:prstGeom>
          <a:solidFill>
            <a:srgbClr val="FFFFFF"/>
          </a:solidFill>
          <a:ln w="15875">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133087" y="4242816"/>
            <a:ext cx="256032" cy="256032"/>
          </a:xfrm>
          <a:prstGeom prst="rect">
            <a:avLst/>
          </a:prstGeom>
          <a:noFill/>
        </p:spPr>
        <p:txBody>
          <a:bodyPr wrap="square" lIns="0" rIns="0" tIns="0" bIns="0" anchor="ctr">
            <a:spAutoFit/>
          </a:bodyPr>
          <a:lstStyle/>
          <a:p>
            <a:pPr algn="ctr"/>
            <a:r>
              <a:rPr sz="900" b="1" i="0">
                <a:solidFill>
                  <a:srgbClr val="009654"/>
                </a:solidFill>
                <a:latin typeface="Arial"/>
                <a:ea typeface="Arial"/>
                <a:cs typeface="Arial"/>
              </a:rPr>
              <a:t>5</a:t>
            </a:r>
          </a:p>
        </p:txBody>
      </p:sp>
      <p:sp>
        <p:nvSpPr>
          <p:cNvPr id="33" name="Oval 32"/>
          <p:cNvSpPr/>
          <p:nvPr/>
        </p:nvSpPr>
        <p:spPr>
          <a:xfrm>
            <a:off x="5349240" y="1252728"/>
            <a:ext cx="274320" cy="274320"/>
          </a:xfrm>
          <a:prstGeom prst="ellipse">
            <a:avLst/>
          </a:prstGeom>
          <a:solidFill>
            <a:srgbClr val="0096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349240" y="1252728"/>
            <a:ext cx="274320" cy="274320"/>
          </a:xfrm>
          <a:prstGeom prst="rect">
            <a:avLst/>
          </a:prstGeom>
          <a:noFill/>
        </p:spPr>
        <p:txBody>
          <a:bodyPr wrap="square" lIns="0" rIns="0" tIns="0" bIns="0" anchor="ctr">
            <a:spAutoFit/>
          </a:bodyPr>
          <a:lstStyle/>
          <a:p>
            <a:pPr algn="ctr"/>
            <a:r>
              <a:rPr sz="1000" b="1" i="0">
                <a:solidFill>
                  <a:srgbClr val="FFFFFF"/>
                </a:solidFill>
                <a:latin typeface="Arial"/>
                <a:ea typeface="Arial"/>
                <a:cs typeface="Arial"/>
              </a:rPr>
              <a:t>1</a:t>
            </a:r>
          </a:p>
        </p:txBody>
      </p:sp>
      <p:sp>
        <p:nvSpPr>
          <p:cNvPr id="35" name="TextBox 34"/>
          <p:cNvSpPr txBox="1"/>
          <p:nvPr/>
        </p:nvSpPr>
        <p:spPr>
          <a:xfrm>
            <a:off x="5742432" y="1207008"/>
            <a:ext cx="3035808" cy="256032"/>
          </a:xfrm>
          <a:prstGeom prst="rect">
            <a:avLst/>
          </a:prstGeom>
          <a:noFill/>
        </p:spPr>
        <p:txBody>
          <a:bodyPr wrap="square" lIns="0" rIns="0" tIns="0" bIns="0" anchor="ctr">
            <a:spAutoFit/>
          </a:bodyPr>
          <a:lstStyle/>
          <a:p>
            <a:pPr algn="l"/>
            <a:r>
              <a:rPr sz="1050" b="1" i="0">
                <a:solidFill>
                  <a:srgbClr val="004181"/>
                </a:solidFill>
                <a:latin typeface="Arial"/>
                <a:ea typeface="Arial"/>
                <a:cs typeface="Arial"/>
              </a:rPr>
              <a:t>Menu latéral</a:t>
            </a:r>
          </a:p>
        </p:txBody>
      </p:sp>
      <p:sp>
        <p:nvSpPr>
          <p:cNvPr id="36" name="TextBox 35"/>
          <p:cNvSpPr txBox="1"/>
          <p:nvPr/>
        </p:nvSpPr>
        <p:spPr>
          <a:xfrm>
            <a:off x="5742432" y="1463040"/>
            <a:ext cx="3035808" cy="411480"/>
          </a:xfrm>
          <a:prstGeom prst="rect">
            <a:avLst/>
          </a:prstGeom>
          <a:noFill/>
        </p:spPr>
        <p:txBody>
          <a:bodyPr wrap="square" lIns="0" rIns="0" tIns="0" bIns="0" anchor="t">
            <a:spAutoFit/>
          </a:bodyPr>
          <a:lstStyle/>
          <a:p>
            <a:pPr algn="l">
              <a:lnSpc>
                <a:spcPct val="100000"/>
              </a:lnSpc>
            </a:pPr>
            <a:r>
              <a:rPr sz="900" b="0" i="0">
                <a:solidFill>
                  <a:srgbClr val="6E6E6E"/>
                </a:solidFill>
                <a:latin typeface="Arial"/>
                <a:ea typeface="Arial"/>
                <a:cs typeface="Arial"/>
              </a:rPr>
              <a:t>Les entrées affichées dépendent de votre organe de rattachement.</a:t>
            </a:r>
          </a:p>
        </p:txBody>
      </p:sp>
      <p:sp>
        <p:nvSpPr>
          <p:cNvPr id="37" name="Oval 36"/>
          <p:cNvSpPr/>
          <p:nvPr/>
        </p:nvSpPr>
        <p:spPr>
          <a:xfrm>
            <a:off x="5349240" y="1938528"/>
            <a:ext cx="274320" cy="274320"/>
          </a:xfrm>
          <a:prstGeom prst="ellipse">
            <a:avLst/>
          </a:prstGeom>
          <a:solidFill>
            <a:srgbClr val="0096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349240" y="1938528"/>
            <a:ext cx="274320" cy="274320"/>
          </a:xfrm>
          <a:prstGeom prst="rect">
            <a:avLst/>
          </a:prstGeom>
          <a:noFill/>
        </p:spPr>
        <p:txBody>
          <a:bodyPr wrap="square" lIns="0" rIns="0" tIns="0" bIns="0" anchor="ctr">
            <a:spAutoFit/>
          </a:bodyPr>
          <a:lstStyle/>
          <a:p>
            <a:pPr algn="ctr"/>
            <a:r>
              <a:rPr sz="1000" b="1" i="0">
                <a:solidFill>
                  <a:srgbClr val="FFFFFF"/>
                </a:solidFill>
                <a:latin typeface="Arial"/>
                <a:ea typeface="Arial"/>
                <a:cs typeface="Arial"/>
              </a:rPr>
              <a:t>2</a:t>
            </a:r>
          </a:p>
        </p:txBody>
      </p:sp>
      <p:sp>
        <p:nvSpPr>
          <p:cNvPr id="39" name="TextBox 38"/>
          <p:cNvSpPr txBox="1"/>
          <p:nvPr/>
        </p:nvSpPr>
        <p:spPr>
          <a:xfrm>
            <a:off x="5742432" y="1892808"/>
            <a:ext cx="3035808" cy="256032"/>
          </a:xfrm>
          <a:prstGeom prst="rect">
            <a:avLst/>
          </a:prstGeom>
          <a:noFill/>
        </p:spPr>
        <p:txBody>
          <a:bodyPr wrap="square" lIns="0" rIns="0" tIns="0" bIns="0" anchor="ctr">
            <a:spAutoFit/>
          </a:bodyPr>
          <a:lstStyle/>
          <a:p>
            <a:pPr algn="l"/>
            <a:r>
              <a:rPr sz="1050" b="1" i="0">
                <a:solidFill>
                  <a:srgbClr val="004181"/>
                </a:solidFill>
                <a:latin typeface="Arial"/>
                <a:ea typeface="Arial"/>
                <a:cs typeface="Arial"/>
              </a:rPr>
              <a:t>Barre de filtres</a:t>
            </a:r>
          </a:p>
        </p:txBody>
      </p:sp>
      <p:sp>
        <p:nvSpPr>
          <p:cNvPr id="40" name="TextBox 39"/>
          <p:cNvSpPr txBox="1"/>
          <p:nvPr/>
        </p:nvSpPr>
        <p:spPr>
          <a:xfrm>
            <a:off x="5742432" y="2148840"/>
            <a:ext cx="3035808" cy="411480"/>
          </a:xfrm>
          <a:prstGeom prst="rect">
            <a:avLst/>
          </a:prstGeom>
          <a:noFill/>
        </p:spPr>
        <p:txBody>
          <a:bodyPr wrap="square" lIns="0" rIns="0" tIns="0" bIns="0" anchor="t">
            <a:spAutoFit/>
          </a:bodyPr>
          <a:lstStyle/>
          <a:p>
            <a:pPr algn="l">
              <a:lnSpc>
                <a:spcPct val="100000"/>
              </a:lnSpc>
            </a:pPr>
            <a:r>
              <a:rPr sz="900" b="0" i="0">
                <a:solidFill>
                  <a:srgbClr val="6E6E6E"/>
                </a:solidFill>
                <a:latin typeface="Arial"/>
                <a:ea typeface="Arial"/>
                <a:cs typeface="Arial"/>
              </a:rPr>
              <a:t>Période, filiale, agence, chargé : le filtre conditionne tout l'écran.</a:t>
            </a:r>
          </a:p>
        </p:txBody>
      </p:sp>
      <p:sp>
        <p:nvSpPr>
          <p:cNvPr id="41" name="Oval 40"/>
          <p:cNvSpPr/>
          <p:nvPr/>
        </p:nvSpPr>
        <p:spPr>
          <a:xfrm>
            <a:off x="5349240" y="2624328"/>
            <a:ext cx="274320" cy="274320"/>
          </a:xfrm>
          <a:prstGeom prst="ellipse">
            <a:avLst/>
          </a:prstGeom>
          <a:solidFill>
            <a:srgbClr val="0096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349240" y="2624328"/>
            <a:ext cx="274320" cy="274320"/>
          </a:xfrm>
          <a:prstGeom prst="rect">
            <a:avLst/>
          </a:prstGeom>
          <a:noFill/>
        </p:spPr>
        <p:txBody>
          <a:bodyPr wrap="square" lIns="0" rIns="0" tIns="0" bIns="0" anchor="ctr">
            <a:spAutoFit/>
          </a:bodyPr>
          <a:lstStyle/>
          <a:p>
            <a:pPr algn="ctr"/>
            <a:r>
              <a:rPr sz="1000" b="1" i="0">
                <a:solidFill>
                  <a:srgbClr val="FFFFFF"/>
                </a:solidFill>
                <a:latin typeface="Arial"/>
                <a:ea typeface="Arial"/>
                <a:cs typeface="Arial"/>
              </a:rPr>
              <a:t>3</a:t>
            </a:r>
          </a:p>
        </p:txBody>
      </p:sp>
      <p:sp>
        <p:nvSpPr>
          <p:cNvPr id="43" name="TextBox 42"/>
          <p:cNvSpPr txBox="1"/>
          <p:nvPr/>
        </p:nvSpPr>
        <p:spPr>
          <a:xfrm>
            <a:off x="5742432" y="2578608"/>
            <a:ext cx="3035808" cy="256032"/>
          </a:xfrm>
          <a:prstGeom prst="rect">
            <a:avLst/>
          </a:prstGeom>
          <a:noFill/>
        </p:spPr>
        <p:txBody>
          <a:bodyPr wrap="square" lIns="0" rIns="0" tIns="0" bIns="0" anchor="ctr">
            <a:spAutoFit/>
          </a:bodyPr>
          <a:lstStyle/>
          <a:p>
            <a:pPr algn="l"/>
            <a:r>
              <a:rPr sz="1050" b="1" i="0">
                <a:solidFill>
                  <a:srgbClr val="004181"/>
                </a:solidFill>
                <a:latin typeface="Arial"/>
                <a:ea typeface="Arial"/>
                <a:cs typeface="Arial"/>
              </a:rPr>
              <a:t>Cartouches d'indicateurs</a:t>
            </a:r>
          </a:p>
        </p:txBody>
      </p:sp>
      <p:sp>
        <p:nvSpPr>
          <p:cNvPr id="44" name="TextBox 43"/>
          <p:cNvSpPr txBox="1"/>
          <p:nvPr/>
        </p:nvSpPr>
        <p:spPr>
          <a:xfrm>
            <a:off x="5742432" y="2834640"/>
            <a:ext cx="3035808" cy="411480"/>
          </a:xfrm>
          <a:prstGeom prst="rect">
            <a:avLst/>
          </a:prstGeom>
          <a:noFill/>
        </p:spPr>
        <p:txBody>
          <a:bodyPr wrap="square" lIns="0" rIns="0" tIns="0" bIns="0" anchor="t">
            <a:spAutoFit/>
          </a:bodyPr>
          <a:lstStyle/>
          <a:p>
            <a:pPr algn="l">
              <a:lnSpc>
                <a:spcPct val="100000"/>
              </a:lnSpc>
            </a:pPr>
            <a:r>
              <a:rPr sz="900" b="0" i="0">
                <a:solidFill>
                  <a:srgbClr val="6E6E6E"/>
                </a:solidFill>
                <a:latin typeface="Arial"/>
                <a:ea typeface="Arial"/>
                <a:cs typeface="Arial"/>
              </a:rPr>
              <a:t>Taux de complétude et de qualité, en stock et en flux.</a:t>
            </a:r>
          </a:p>
        </p:txBody>
      </p:sp>
      <p:sp>
        <p:nvSpPr>
          <p:cNvPr id="45" name="Oval 44"/>
          <p:cNvSpPr/>
          <p:nvPr/>
        </p:nvSpPr>
        <p:spPr>
          <a:xfrm>
            <a:off x="5349240" y="3310128"/>
            <a:ext cx="274320" cy="274320"/>
          </a:xfrm>
          <a:prstGeom prst="ellipse">
            <a:avLst/>
          </a:prstGeom>
          <a:solidFill>
            <a:srgbClr val="0096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5349240" y="3310128"/>
            <a:ext cx="274320" cy="274320"/>
          </a:xfrm>
          <a:prstGeom prst="rect">
            <a:avLst/>
          </a:prstGeom>
          <a:noFill/>
        </p:spPr>
        <p:txBody>
          <a:bodyPr wrap="square" lIns="0" rIns="0" tIns="0" bIns="0" anchor="ctr">
            <a:spAutoFit/>
          </a:bodyPr>
          <a:lstStyle/>
          <a:p>
            <a:pPr algn="ctr"/>
            <a:r>
              <a:rPr sz="1000" b="1" i="0">
                <a:solidFill>
                  <a:srgbClr val="FFFFFF"/>
                </a:solidFill>
                <a:latin typeface="Arial"/>
                <a:ea typeface="Arial"/>
                <a:cs typeface="Arial"/>
              </a:rPr>
              <a:t>4</a:t>
            </a:r>
          </a:p>
        </p:txBody>
      </p:sp>
      <p:sp>
        <p:nvSpPr>
          <p:cNvPr id="47" name="TextBox 46"/>
          <p:cNvSpPr txBox="1"/>
          <p:nvPr/>
        </p:nvSpPr>
        <p:spPr>
          <a:xfrm>
            <a:off x="5742432" y="3264408"/>
            <a:ext cx="3035808" cy="256032"/>
          </a:xfrm>
          <a:prstGeom prst="rect">
            <a:avLst/>
          </a:prstGeom>
          <a:noFill/>
        </p:spPr>
        <p:txBody>
          <a:bodyPr wrap="square" lIns="0" rIns="0" tIns="0" bIns="0" anchor="ctr">
            <a:spAutoFit/>
          </a:bodyPr>
          <a:lstStyle/>
          <a:p>
            <a:pPr algn="l"/>
            <a:r>
              <a:rPr sz="1050" b="1" i="0">
                <a:solidFill>
                  <a:srgbClr val="004181"/>
                </a:solidFill>
                <a:latin typeface="Arial"/>
                <a:ea typeface="Arial"/>
                <a:cs typeface="Arial"/>
              </a:rPr>
              <a:t>Tableau détaillé</a:t>
            </a:r>
          </a:p>
        </p:txBody>
      </p:sp>
      <p:sp>
        <p:nvSpPr>
          <p:cNvPr id="48" name="TextBox 47"/>
          <p:cNvSpPr txBox="1"/>
          <p:nvPr/>
        </p:nvSpPr>
        <p:spPr>
          <a:xfrm>
            <a:off x="5742432" y="3520440"/>
            <a:ext cx="3035808" cy="411480"/>
          </a:xfrm>
          <a:prstGeom prst="rect">
            <a:avLst/>
          </a:prstGeom>
          <a:noFill/>
        </p:spPr>
        <p:txBody>
          <a:bodyPr wrap="square" lIns="0" rIns="0" tIns="0" bIns="0" anchor="t">
            <a:spAutoFit/>
          </a:bodyPr>
          <a:lstStyle/>
          <a:p>
            <a:pPr algn="l">
              <a:lnSpc>
                <a:spcPct val="100000"/>
              </a:lnSpc>
            </a:pPr>
            <a:r>
              <a:rPr sz="900" b="0" i="0">
                <a:solidFill>
                  <a:srgbClr val="6E6E6E"/>
                </a:solidFill>
                <a:latin typeface="Arial"/>
                <a:ea typeface="Arial"/>
                <a:cs typeface="Arial"/>
              </a:rPr>
              <a:t>Le classement par agence ou par chargé, avec l'écart au mois précédent.</a:t>
            </a:r>
          </a:p>
        </p:txBody>
      </p:sp>
      <p:sp>
        <p:nvSpPr>
          <p:cNvPr id="49" name="Oval 48"/>
          <p:cNvSpPr/>
          <p:nvPr/>
        </p:nvSpPr>
        <p:spPr>
          <a:xfrm>
            <a:off x="5349240" y="3995928"/>
            <a:ext cx="274320" cy="274320"/>
          </a:xfrm>
          <a:prstGeom prst="ellipse">
            <a:avLst/>
          </a:prstGeom>
          <a:solidFill>
            <a:srgbClr val="0096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349240" y="3995928"/>
            <a:ext cx="274320" cy="274320"/>
          </a:xfrm>
          <a:prstGeom prst="rect">
            <a:avLst/>
          </a:prstGeom>
          <a:noFill/>
        </p:spPr>
        <p:txBody>
          <a:bodyPr wrap="square" lIns="0" rIns="0" tIns="0" bIns="0" anchor="ctr">
            <a:spAutoFit/>
          </a:bodyPr>
          <a:lstStyle/>
          <a:p>
            <a:pPr algn="ctr"/>
            <a:r>
              <a:rPr sz="1000" b="1" i="0">
                <a:solidFill>
                  <a:srgbClr val="FFFFFF"/>
                </a:solidFill>
                <a:latin typeface="Arial"/>
                <a:ea typeface="Arial"/>
                <a:cs typeface="Arial"/>
              </a:rPr>
              <a:t>5</a:t>
            </a:r>
          </a:p>
        </p:txBody>
      </p:sp>
      <p:sp>
        <p:nvSpPr>
          <p:cNvPr id="51" name="TextBox 50"/>
          <p:cNvSpPr txBox="1"/>
          <p:nvPr/>
        </p:nvSpPr>
        <p:spPr>
          <a:xfrm>
            <a:off x="5742432" y="3950208"/>
            <a:ext cx="3035808" cy="256032"/>
          </a:xfrm>
          <a:prstGeom prst="rect">
            <a:avLst/>
          </a:prstGeom>
          <a:noFill/>
        </p:spPr>
        <p:txBody>
          <a:bodyPr wrap="square" lIns="0" rIns="0" tIns="0" bIns="0" anchor="ctr">
            <a:spAutoFit/>
          </a:bodyPr>
          <a:lstStyle/>
          <a:p>
            <a:pPr algn="l"/>
            <a:r>
              <a:rPr sz="1050" b="1" i="0">
                <a:solidFill>
                  <a:srgbClr val="004181"/>
                </a:solidFill>
                <a:latin typeface="Arial"/>
                <a:ea typeface="Arial"/>
                <a:cs typeface="Arial"/>
              </a:rPr>
              <a:t>Exports</a:t>
            </a:r>
          </a:p>
        </p:txBody>
      </p:sp>
      <p:sp>
        <p:nvSpPr>
          <p:cNvPr id="52" name="TextBox 51"/>
          <p:cNvSpPr txBox="1"/>
          <p:nvPr/>
        </p:nvSpPr>
        <p:spPr>
          <a:xfrm>
            <a:off x="5742432" y="4206240"/>
            <a:ext cx="3035808" cy="411480"/>
          </a:xfrm>
          <a:prstGeom prst="rect">
            <a:avLst/>
          </a:prstGeom>
          <a:noFill/>
        </p:spPr>
        <p:txBody>
          <a:bodyPr wrap="square" lIns="0" rIns="0" tIns="0" bIns="0" anchor="t">
            <a:spAutoFit/>
          </a:bodyPr>
          <a:lstStyle/>
          <a:p>
            <a:pPr algn="l">
              <a:lnSpc>
                <a:spcPct val="100000"/>
              </a:lnSpc>
            </a:pPr>
            <a:r>
              <a:rPr sz="900" b="0" i="0">
                <a:solidFill>
                  <a:srgbClr val="6E6E6E"/>
                </a:solidFill>
                <a:latin typeface="Arial"/>
                <a:ea typeface="Arial"/>
                <a:cs typeface="Arial"/>
              </a:rPr>
              <a:t>La liste nominative des dossiers concernés, au format tableur.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9" fill="hold">
                      <p:stCondLst>
                        <p:cond delay="indefinite"/>
                      </p:stCondLst>
                      <p:childTnLst>
                        <p:par>
                          <p:cTn id="7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par>
                                <p:cTn id="18" presetID="10" presetClass="entr" presetSubtype="0" fill="hold" grpId="0" nodeType="withEffect">
                                  <p:stCondLst>
                                    <p:cond delay="60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50"/>
                                        <p:tgtEl>
                                          <p:spTgt spid="16"/>
                                        </p:tgtEl>
                                      </p:cBhvr>
                                    </p:animEffect>
                                  </p:childTnLst>
                                </p:cTn>
                              </p:par>
                              <p:par>
                                <p:cTn id="21" presetID="10" presetClass="entr" presetSubtype="0" fill="hold" grpId="0" nodeType="withEffect">
                                  <p:stCondLst>
                                    <p:cond delay="72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50"/>
                                        <p:tgtEl>
                                          <p:spTgt spid="17"/>
                                        </p:tgtEl>
                                      </p:cBhvr>
                                    </p:animEffect>
                                  </p:childTnLst>
                                </p:cTn>
                              </p:par>
                              <p:par>
                                <p:cTn id="24" presetID="10" presetClass="entr" presetSubtype="0" fill="hold" grpId="0" nodeType="withEffect">
                                  <p:stCondLst>
                                    <p:cond delay="84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50"/>
                                        <p:tgtEl>
                                          <p:spTgt spid="18"/>
                                        </p:tgtEl>
                                      </p:cBhvr>
                                    </p:animEffect>
                                  </p:childTnLst>
                                </p:cTn>
                              </p:par>
                              <p:par>
                                <p:cTn id="27" presetID="10" presetClass="entr" presetSubtype="0" fill="hold" grpId="0" nodeType="withEffect">
                                  <p:stCondLst>
                                    <p:cond delay="96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50"/>
                                        <p:tgtEl>
                                          <p:spTgt spid="19"/>
                                        </p:tgtEl>
                                      </p:cBhvr>
                                    </p:animEffect>
                                  </p:childTnLst>
                                </p:cTn>
                              </p:par>
                              <p:par>
                                <p:cTn id="30" presetID="10" presetClass="entr" presetSubtype="0" fill="hold" grpId="0" nodeType="withEffect">
                                  <p:stCondLst>
                                    <p:cond delay="108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50"/>
                                        <p:tgtEl>
                                          <p:spTgt spid="20"/>
                                        </p:tgtEl>
                                      </p:cBhvr>
                                    </p:animEffect>
                                  </p:childTnLst>
                                </p:cTn>
                              </p:par>
                              <p:par>
                                <p:cTn id="33" presetID="10" presetClass="entr" presetSubtype="0" fill="hold" grpId="0" nodeType="withEffect">
                                  <p:stCondLst>
                                    <p:cond delay="120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50"/>
                                        <p:tgtEl>
                                          <p:spTgt spid="21"/>
                                        </p:tgtEl>
                                      </p:cBhvr>
                                    </p:animEffect>
                                  </p:childTnLst>
                                </p:cTn>
                              </p:par>
                              <p:par>
                                <p:cTn id="36" presetID="10" presetClass="entr" presetSubtype="0" fill="hold" grpId="0" nodeType="withEffect">
                                  <p:stCondLst>
                                    <p:cond delay="132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childTnLst>
                                </p:cTn>
                              </p:par>
                              <p:par>
                                <p:cTn id="39" presetID="10" presetClass="entr" presetSubtype="0" fill="hold" grpId="0" nodeType="withEffect">
                                  <p:stCondLst>
                                    <p:cond delay="144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50"/>
                                        <p:tgtEl>
                                          <p:spTgt spid="23"/>
                                        </p:tgtEl>
                                      </p:cBhvr>
                                    </p:animEffect>
                                  </p:childTnLst>
                                </p:cTn>
                              </p:par>
                              <p:par>
                                <p:cTn id="42" presetID="10" presetClass="entr" presetSubtype="0" fill="hold" grpId="0" nodeType="withEffect">
                                  <p:stCondLst>
                                    <p:cond delay="156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450"/>
                                        <p:tgtEl>
                                          <p:spTgt spid="24"/>
                                        </p:tgtEl>
                                      </p:cBhvr>
                                    </p:animEffect>
                                  </p:childTnLst>
                                </p:cTn>
                              </p:par>
                              <p:par>
                                <p:cTn id="45" presetID="10" presetClass="entr" presetSubtype="0" fill="hold" grpId="0" nodeType="withEffect">
                                  <p:stCondLst>
                                    <p:cond delay="168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par>
                                <p:cTn id="48" presetID="10" presetClass="entr" presetSubtype="0" fill="hold" grpId="0" nodeType="withEffect">
                                  <p:stCondLst>
                                    <p:cond delay="180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450"/>
                                        <p:tgtEl>
                                          <p:spTgt spid="26"/>
                                        </p:tgtEl>
                                      </p:cBhvr>
                                    </p:animEffect>
                                  </p:childTnLst>
                                </p:cTn>
                              </p:par>
                              <p:par>
                                <p:cTn id="51" presetID="10" presetClass="entr" presetSubtype="0" fill="hold" grpId="0" nodeType="withEffect">
                                  <p:stCondLst>
                                    <p:cond delay="192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450"/>
                                        <p:tgtEl>
                                          <p:spTgt spid="27"/>
                                        </p:tgtEl>
                                      </p:cBhvr>
                                    </p:animEffect>
                                  </p:childTnLst>
                                </p:cTn>
                              </p:par>
                              <p:par>
                                <p:cTn id="54" presetID="10" presetClass="entr" presetSubtype="0" fill="hold" grpId="0" nodeType="withEffect">
                                  <p:stCondLst>
                                    <p:cond delay="204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450"/>
                                        <p:tgtEl>
                                          <p:spTgt spid="28"/>
                                        </p:tgtEl>
                                      </p:cBhvr>
                                    </p:animEffect>
                                  </p:childTnLst>
                                </p:cTn>
                              </p:par>
                              <p:par>
                                <p:cTn id="57" presetID="10" presetClass="entr" presetSubtype="0" fill="hold" grpId="0" nodeType="withEffect">
                                  <p:stCondLst>
                                    <p:cond delay="216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450"/>
                                        <p:tgtEl>
                                          <p:spTgt spid="29"/>
                                        </p:tgtEl>
                                      </p:cBhvr>
                                    </p:animEffect>
                                  </p:childTnLst>
                                </p:cTn>
                              </p:par>
                              <p:par>
                                <p:cTn id="60" presetID="10" presetClass="entr" presetSubtype="0" fill="hold" grpId="0" nodeType="withEffect">
                                  <p:stCondLst>
                                    <p:cond delay="228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50"/>
                                        <p:tgtEl>
                                          <p:spTgt spid="30"/>
                                        </p:tgtEl>
                                      </p:cBhvr>
                                    </p:animEffect>
                                  </p:childTnLst>
                                </p:cTn>
                              </p:par>
                              <p:par>
                                <p:cTn id="63" presetID="10" presetClass="entr" presetSubtype="0" fill="hold" grpId="0" nodeType="withEffect">
                                  <p:stCondLst>
                                    <p:cond delay="240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50"/>
                                        <p:tgtEl>
                                          <p:spTgt spid="31"/>
                                        </p:tgtEl>
                                      </p:cBhvr>
                                    </p:animEffect>
                                  </p:childTnLst>
                                </p:cTn>
                              </p:par>
                              <p:par>
                                <p:cTn id="66" presetID="10" presetClass="entr" presetSubtype="0" fill="hold" grpId="0" nodeType="withEffect">
                                  <p:stCondLst>
                                    <p:cond delay="252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50"/>
                                        <p:tgtEl>
                                          <p:spTgt spid="32"/>
                                        </p:tgtEl>
                                      </p:cBhvr>
                                    </p:animEffect>
                                  </p:childTnLst>
                                </p:cTn>
                              </p:par>
                            </p:childTnLst>
                          </p:cTn>
                        </p:par>
                      </p:childTnLst>
                    </p:cTn>
                  </p:par>
                  <p:par>
                    <p:cTn id="83" fill="hold">
                      <p:stCondLst>
                        <p:cond delay="indefinite"/>
                      </p:stCondLst>
                      <p:childTnLst>
                        <p:par>
                          <p:cTn id="84"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450"/>
                                        <p:tgtEl>
                                          <p:spTgt spid="33"/>
                                        </p:tgtEl>
                                      </p:cBhvr>
                                    </p:animEffect>
                                  </p:childTnLst>
                                </p:cTn>
                              </p:par>
                              <p:par>
                                <p:cTn id="74" presetID="10" presetClass="entr" presetSubtype="0" fill="hold" grpId="0" nodeType="withEffect">
                                  <p:stCondLst>
                                    <p:cond delay="12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450"/>
                                        <p:tgtEl>
                                          <p:spTgt spid="34"/>
                                        </p:tgtEl>
                                      </p:cBhvr>
                                    </p:animEffect>
                                  </p:childTnLst>
                                </p:cTn>
                              </p:par>
                              <p:par>
                                <p:cTn id="77" presetID="10" presetClass="entr" presetSubtype="0" fill="hold" grpId="0" nodeType="withEffect">
                                  <p:stCondLst>
                                    <p:cond delay="240"/>
                                  </p:stCondLst>
                                  <p:childTnLst>
                                    <p:set>
                                      <p:cBhvr>
                                        <p:cTn id="78" dur="1" fill="hold">
                                          <p:stCondLst>
                                            <p:cond delay="0"/>
                                          </p:stCondLst>
                                        </p:cTn>
                                        <p:tgtEl>
                                          <p:spTgt spid="35"/>
                                        </p:tgtEl>
                                        <p:attrNameLst>
                                          <p:attrName>style.visibility</p:attrName>
                                        </p:attrNameLst>
                                      </p:cBhvr>
                                      <p:to>
                                        <p:strVal val="visible"/>
                                      </p:to>
                                    </p:set>
                                    <p:animEffect transition="in" filter="fade">
                                      <p:cBhvr>
                                        <p:cTn id="79" dur="450"/>
                                        <p:tgtEl>
                                          <p:spTgt spid="35"/>
                                        </p:tgtEl>
                                      </p:cBhvr>
                                    </p:animEffect>
                                  </p:childTnLst>
                                </p:cTn>
                              </p:par>
                              <p:par>
                                <p:cTn id="80" presetID="10" presetClass="entr" presetSubtype="0" fill="hold" grpId="0" nodeType="withEffect">
                                  <p:stCondLst>
                                    <p:cond delay="360"/>
                                  </p:stCondLst>
                                  <p:childTnLst>
                                    <p:set>
                                      <p:cBhvr>
                                        <p:cTn id="81" dur="1" fill="hold">
                                          <p:stCondLst>
                                            <p:cond delay="0"/>
                                          </p:stCondLst>
                                        </p:cTn>
                                        <p:tgtEl>
                                          <p:spTgt spid="36"/>
                                        </p:tgtEl>
                                        <p:attrNameLst>
                                          <p:attrName>style.visibility</p:attrName>
                                        </p:attrNameLst>
                                      </p:cBhvr>
                                      <p:to>
                                        <p:strVal val="visible"/>
                                      </p:to>
                                    </p:set>
                                    <p:animEffect transition="in" filter="fade">
                                      <p:cBhvr>
                                        <p:cTn id="82" dur="450"/>
                                        <p:tgtEl>
                                          <p:spTgt spid="36"/>
                                        </p:tgtEl>
                                      </p:cBhvr>
                                    </p:animEffect>
                                  </p:childTnLst>
                                </p:cTn>
                              </p:par>
                            </p:childTnLst>
                          </p:cTn>
                        </p:par>
                      </p:childTnLst>
                    </p:cTn>
                  </p:par>
                  <p:par>
                    <p:cTn id="97" fill="hold">
                      <p:stCondLst>
                        <p:cond delay="indefinite"/>
                      </p:stCondLst>
                      <p:childTnLst>
                        <p:par>
                          <p:cTn id="98"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450"/>
                                        <p:tgtEl>
                                          <p:spTgt spid="37"/>
                                        </p:tgtEl>
                                      </p:cBhvr>
                                    </p:animEffect>
                                  </p:childTnLst>
                                </p:cTn>
                              </p:par>
                              <p:par>
                                <p:cTn id="88" presetID="10" presetClass="entr" presetSubtype="0" fill="hold" grpId="0" nodeType="withEffect">
                                  <p:stCondLst>
                                    <p:cond delay="12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450"/>
                                        <p:tgtEl>
                                          <p:spTgt spid="38"/>
                                        </p:tgtEl>
                                      </p:cBhvr>
                                    </p:animEffect>
                                  </p:childTnLst>
                                </p:cTn>
                              </p:par>
                              <p:par>
                                <p:cTn id="91" presetID="10" presetClass="entr" presetSubtype="0" fill="hold" grpId="0" nodeType="withEffect">
                                  <p:stCondLst>
                                    <p:cond delay="24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450"/>
                                        <p:tgtEl>
                                          <p:spTgt spid="39"/>
                                        </p:tgtEl>
                                      </p:cBhvr>
                                    </p:animEffect>
                                  </p:childTnLst>
                                </p:cTn>
                              </p:par>
                              <p:par>
                                <p:cTn id="94" presetID="10" presetClass="entr" presetSubtype="0" fill="hold" grpId="0" nodeType="withEffect">
                                  <p:stCondLst>
                                    <p:cond delay="360"/>
                                  </p:stCondLst>
                                  <p:childTnLst>
                                    <p:set>
                                      <p:cBhvr>
                                        <p:cTn id="95" dur="1" fill="hold">
                                          <p:stCondLst>
                                            <p:cond delay="0"/>
                                          </p:stCondLst>
                                        </p:cTn>
                                        <p:tgtEl>
                                          <p:spTgt spid="40"/>
                                        </p:tgtEl>
                                        <p:attrNameLst>
                                          <p:attrName>style.visibility</p:attrName>
                                        </p:attrNameLst>
                                      </p:cBhvr>
                                      <p:to>
                                        <p:strVal val="visible"/>
                                      </p:to>
                                    </p:set>
                                    <p:animEffect transition="in" filter="fade">
                                      <p:cBhvr>
                                        <p:cTn id="96" dur="450"/>
                                        <p:tgtEl>
                                          <p:spTgt spid="40"/>
                                        </p:tgtEl>
                                      </p:cBhvr>
                                    </p:animEffect>
                                  </p:childTnLst>
                                </p:cTn>
                              </p:par>
                            </p:childTnLst>
                          </p:cTn>
                        </p:par>
                      </p:childTnLst>
                    </p:cTn>
                  </p:par>
                  <p:par>
                    <p:cTn id="111" fill="hold">
                      <p:stCondLst>
                        <p:cond delay="indefinite"/>
                      </p:stCondLst>
                      <p:childTnLst>
                        <p:par>
                          <p:cTn id="112"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41"/>
                                        </p:tgtEl>
                                        <p:attrNameLst>
                                          <p:attrName>style.visibility</p:attrName>
                                        </p:attrNameLst>
                                      </p:cBhvr>
                                      <p:to>
                                        <p:strVal val="visible"/>
                                      </p:to>
                                    </p:set>
                                    <p:animEffect transition="in" filter="fade">
                                      <p:cBhvr>
                                        <p:cTn id="101" dur="450"/>
                                        <p:tgtEl>
                                          <p:spTgt spid="41"/>
                                        </p:tgtEl>
                                      </p:cBhvr>
                                    </p:animEffect>
                                  </p:childTnLst>
                                </p:cTn>
                              </p:par>
                              <p:par>
                                <p:cTn id="102" presetID="10" presetClass="entr" presetSubtype="0" fill="hold" grpId="0" nodeType="withEffect">
                                  <p:stCondLst>
                                    <p:cond delay="120"/>
                                  </p:stCondLst>
                                  <p:childTnLst>
                                    <p:set>
                                      <p:cBhvr>
                                        <p:cTn id="103" dur="1" fill="hold">
                                          <p:stCondLst>
                                            <p:cond delay="0"/>
                                          </p:stCondLst>
                                        </p:cTn>
                                        <p:tgtEl>
                                          <p:spTgt spid="42"/>
                                        </p:tgtEl>
                                        <p:attrNameLst>
                                          <p:attrName>style.visibility</p:attrName>
                                        </p:attrNameLst>
                                      </p:cBhvr>
                                      <p:to>
                                        <p:strVal val="visible"/>
                                      </p:to>
                                    </p:set>
                                    <p:animEffect transition="in" filter="fade">
                                      <p:cBhvr>
                                        <p:cTn id="104" dur="450"/>
                                        <p:tgtEl>
                                          <p:spTgt spid="42"/>
                                        </p:tgtEl>
                                      </p:cBhvr>
                                    </p:animEffect>
                                  </p:childTnLst>
                                </p:cTn>
                              </p:par>
                              <p:par>
                                <p:cTn id="105" presetID="10" presetClass="entr" presetSubtype="0" fill="hold" grpId="0" nodeType="withEffect">
                                  <p:stCondLst>
                                    <p:cond delay="240"/>
                                  </p:stCondLst>
                                  <p:childTnLst>
                                    <p:set>
                                      <p:cBhvr>
                                        <p:cTn id="106" dur="1" fill="hold">
                                          <p:stCondLst>
                                            <p:cond delay="0"/>
                                          </p:stCondLst>
                                        </p:cTn>
                                        <p:tgtEl>
                                          <p:spTgt spid="43"/>
                                        </p:tgtEl>
                                        <p:attrNameLst>
                                          <p:attrName>style.visibility</p:attrName>
                                        </p:attrNameLst>
                                      </p:cBhvr>
                                      <p:to>
                                        <p:strVal val="visible"/>
                                      </p:to>
                                    </p:set>
                                    <p:animEffect transition="in" filter="fade">
                                      <p:cBhvr>
                                        <p:cTn id="107" dur="450"/>
                                        <p:tgtEl>
                                          <p:spTgt spid="43"/>
                                        </p:tgtEl>
                                      </p:cBhvr>
                                    </p:animEffect>
                                  </p:childTnLst>
                                </p:cTn>
                              </p:par>
                              <p:par>
                                <p:cTn id="108" presetID="10" presetClass="entr" presetSubtype="0" fill="hold" grpId="0" nodeType="withEffect">
                                  <p:stCondLst>
                                    <p:cond delay="360"/>
                                  </p:stCondLst>
                                  <p:childTnLst>
                                    <p:set>
                                      <p:cBhvr>
                                        <p:cTn id="109" dur="1" fill="hold">
                                          <p:stCondLst>
                                            <p:cond delay="0"/>
                                          </p:stCondLst>
                                        </p:cTn>
                                        <p:tgtEl>
                                          <p:spTgt spid="44"/>
                                        </p:tgtEl>
                                        <p:attrNameLst>
                                          <p:attrName>style.visibility</p:attrName>
                                        </p:attrNameLst>
                                      </p:cBhvr>
                                      <p:to>
                                        <p:strVal val="visible"/>
                                      </p:to>
                                    </p:set>
                                    <p:animEffect transition="in" filter="fade">
                                      <p:cBhvr>
                                        <p:cTn id="110" dur="450"/>
                                        <p:tgtEl>
                                          <p:spTgt spid="44"/>
                                        </p:tgtEl>
                                      </p:cBhvr>
                                    </p:animEffect>
                                  </p:childTnLst>
                                </p:cTn>
                              </p:par>
                            </p:childTnLst>
                          </p:cTn>
                        </p:par>
                      </p:childTnLst>
                    </p:cTn>
                  </p:par>
                  <p:par>
                    <p:cTn id="125" fill="hold">
                      <p:stCondLst>
                        <p:cond delay="indefinite"/>
                      </p:stCondLst>
                      <p:childTnLst>
                        <p:par>
                          <p:cTn id="126"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45"/>
                                        </p:tgtEl>
                                        <p:attrNameLst>
                                          <p:attrName>style.visibility</p:attrName>
                                        </p:attrNameLst>
                                      </p:cBhvr>
                                      <p:to>
                                        <p:strVal val="visible"/>
                                      </p:to>
                                    </p:set>
                                    <p:animEffect transition="in" filter="fade">
                                      <p:cBhvr>
                                        <p:cTn id="115" dur="450"/>
                                        <p:tgtEl>
                                          <p:spTgt spid="45"/>
                                        </p:tgtEl>
                                      </p:cBhvr>
                                    </p:animEffect>
                                  </p:childTnLst>
                                </p:cTn>
                              </p:par>
                              <p:par>
                                <p:cTn id="116" presetID="10" presetClass="entr" presetSubtype="0" fill="hold" grpId="0" nodeType="withEffect">
                                  <p:stCondLst>
                                    <p:cond delay="120"/>
                                  </p:stCondLst>
                                  <p:childTnLst>
                                    <p:set>
                                      <p:cBhvr>
                                        <p:cTn id="117" dur="1" fill="hold">
                                          <p:stCondLst>
                                            <p:cond delay="0"/>
                                          </p:stCondLst>
                                        </p:cTn>
                                        <p:tgtEl>
                                          <p:spTgt spid="46"/>
                                        </p:tgtEl>
                                        <p:attrNameLst>
                                          <p:attrName>style.visibility</p:attrName>
                                        </p:attrNameLst>
                                      </p:cBhvr>
                                      <p:to>
                                        <p:strVal val="visible"/>
                                      </p:to>
                                    </p:set>
                                    <p:animEffect transition="in" filter="fade">
                                      <p:cBhvr>
                                        <p:cTn id="118" dur="450"/>
                                        <p:tgtEl>
                                          <p:spTgt spid="46"/>
                                        </p:tgtEl>
                                      </p:cBhvr>
                                    </p:animEffect>
                                  </p:childTnLst>
                                </p:cTn>
                              </p:par>
                              <p:par>
                                <p:cTn id="119" presetID="10" presetClass="entr" presetSubtype="0" fill="hold" grpId="0" nodeType="withEffect">
                                  <p:stCondLst>
                                    <p:cond delay="240"/>
                                  </p:stCondLst>
                                  <p:childTnLst>
                                    <p:set>
                                      <p:cBhvr>
                                        <p:cTn id="120" dur="1" fill="hold">
                                          <p:stCondLst>
                                            <p:cond delay="0"/>
                                          </p:stCondLst>
                                        </p:cTn>
                                        <p:tgtEl>
                                          <p:spTgt spid="47"/>
                                        </p:tgtEl>
                                        <p:attrNameLst>
                                          <p:attrName>style.visibility</p:attrName>
                                        </p:attrNameLst>
                                      </p:cBhvr>
                                      <p:to>
                                        <p:strVal val="visible"/>
                                      </p:to>
                                    </p:set>
                                    <p:animEffect transition="in" filter="fade">
                                      <p:cBhvr>
                                        <p:cTn id="121" dur="450"/>
                                        <p:tgtEl>
                                          <p:spTgt spid="47"/>
                                        </p:tgtEl>
                                      </p:cBhvr>
                                    </p:animEffect>
                                  </p:childTnLst>
                                </p:cTn>
                              </p:par>
                              <p:par>
                                <p:cTn id="122" presetID="10" presetClass="entr" presetSubtype="0" fill="hold" grpId="0" nodeType="withEffect">
                                  <p:stCondLst>
                                    <p:cond delay="360"/>
                                  </p:stCondLst>
                                  <p:childTnLst>
                                    <p:set>
                                      <p:cBhvr>
                                        <p:cTn id="123" dur="1" fill="hold">
                                          <p:stCondLst>
                                            <p:cond delay="0"/>
                                          </p:stCondLst>
                                        </p:cTn>
                                        <p:tgtEl>
                                          <p:spTgt spid="48"/>
                                        </p:tgtEl>
                                        <p:attrNameLst>
                                          <p:attrName>style.visibility</p:attrName>
                                        </p:attrNameLst>
                                      </p:cBhvr>
                                      <p:to>
                                        <p:strVal val="visible"/>
                                      </p:to>
                                    </p:set>
                                    <p:animEffect transition="in" filter="fade">
                                      <p:cBhvr>
                                        <p:cTn id="124" dur="450"/>
                                        <p:tgtEl>
                                          <p:spTgt spid="48"/>
                                        </p:tgtEl>
                                      </p:cBhvr>
                                    </p:animEffect>
                                  </p:childTnLst>
                                </p:cTn>
                              </p:par>
                            </p:childTnLst>
                          </p:cTn>
                        </p:par>
                      </p:childTnLst>
                    </p:cTn>
                  </p:par>
                  <p:par>
                    <p:cTn id="139" fill="hold">
                      <p:stCondLst>
                        <p:cond delay="indefinite"/>
                      </p:stCondLst>
                      <p:childTnLst>
                        <p:par>
                          <p:cTn id="140"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49"/>
                                        </p:tgtEl>
                                        <p:attrNameLst>
                                          <p:attrName>style.visibility</p:attrName>
                                        </p:attrNameLst>
                                      </p:cBhvr>
                                      <p:to>
                                        <p:strVal val="visible"/>
                                      </p:to>
                                    </p:set>
                                    <p:animEffect transition="in" filter="fade">
                                      <p:cBhvr>
                                        <p:cTn id="129" dur="450"/>
                                        <p:tgtEl>
                                          <p:spTgt spid="49"/>
                                        </p:tgtEl>
                                      </p:cBhvr>
                                    </p:animEffect>
                                  </p:childTnLst>
                                </p:cTn>
                              </p:par>
                              <p:par>
                                <p:cTn id="130" presetID="10" presetClass="entr" presetSubtype="0" fill="hold" grpId="0" nodeType="withEffect">
                                  <p:stCondLst>
                                    <p:cond delay="120"/>
                                  </p:stCondLst>
                                  <p:childTnLst>
                                    <p:set>
                                      <p:cBhvr>
                                        <p:cTn id="131" dur="1" fill="hold">
                                          <p:stCondLst>
                                            <p:cond delay="0"/>
                                          </p:stCondLst>
                                        </p:cTn>
                                        <p:tgtEl>
                                          <p:spTgt spid="50"/>
                                        </p:tgtEl>
                                        <p:attrNameLst>
                                          <p:attrName>style.visibility</p:attrName>
                                        </p:attrNameLst>
                                      </p:cBhvr>
                                      <p:to>
                                        <p:strVal val="visible"/>
                                      </p:to>
                                    </p:set>
                                    <p:animEffect transition="in" filter="fade">
                                      <p:cBhvr>
                                        <p:cTn id="132" dur="450"/>
                                        <p:tgtEl>
                                          <p:spTgt spid="50"/>
                                        </p:tgtEl>
                                      </p:cBhvr>
                                    </p:animEffect>
                                  </p:childTnLst>
                                </p:cTn>
                              </p:par>
                              <p:par>
                                <p:cTn id="133" presetID="10" presetClass="entr" presetSubtype="0" fill="hold" grpId="0" nodeType="withEffect">
                                  <p:stCondLst>
                                    <p:cond delay="240"/>
                                  </p:stCondLst>
                                  <p:childTnLst>
                                    <p:set>
                                      <p:cBhvr>
                                        <p:cTn id="134" dur="1" fill="hold">
                                          <p:stCondLst>
                                            <p:cond delay="0"/>
                                          </p:stCondLst>
                                        </p:cTn>
                                        <p:tgtEl>
                                          <p:spTgt spid="51"/>
                                        </p:tgtEl>
                                        <p:attrNameLst>
                                          <p:attrName>style.visibility</p:attrName>
                                        </p:attrNameLst>
                                      </p:cBhvr>
                                      <p:to>
                                        <p:strVal val="visible"/>
                                      </p:to>
                                    </p:set>
                                    <p:animEffect transition="in" filter="fade">
                                      <p:cBhvr>
                                        <p:cTn id="135" dur="450"/>
                                        <p:tgtEl>
                                          <p:spTgt spid="51"/>
                                        </p:tgtEl>
                                      </p:cBhvr>
                                    </p:animEffect>
                                  </p:childTnLst>
                                </p:cTn>
                              </p:par>
                              <p:par>
                                <p:cTn id="136" presetID="10" presetClass="entr" presetSubtype="0" fill="hold" grpId="0" nodeType="withEffect">
                                  <p:stCondLst>
                                    <p:cond delay="360"/>
                                  </p:stCondLst>
                                  <p:childTnLst>
                                    <p:set>
                                      <p:cBhvr>
                                        <p:cTn id="137" dur="1" fill="hold">
                                          <p:stCondLst>
                                            <p:cond delay="0"/>
                                          </p:stCondLst>
                                        </p:cTn>
                                        <p:tgtEl>
                                          <p:spTgt spid="52"/>
                                        </p:tgtEl>
                                        <p:attrNameLst>
                                          <p:attrName>style.visibility</p:attrName>
                                        </p:attrNameLst>
                                      </p:cBhvr>
                                      <p:to>
                                        <p:strVal val="visible"/>
                                      </p:to>
                                    </p:set>
                                    <p:animEffect transition="in" filter="fade">
                                      <p:cBhvr>
                                        <p:cTn id="138" dur="45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09</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III.  LIRE LES INDICATEURS KYC</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barres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COMPLÉTUDE ET QUALITÉ : DEUX QUESTIONS DIFFÉRENTES</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143000"/>
            <a:ext cx="4023360" cy="2743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65760" y="1143000"/>
            <a:ext cx="4023360" cy="274320"/>
          </a:xfrm>
          <a:prstGeom prst="rect">
            <a:avLst/>
          </a:prstGeom>
          <a:solidFill>
            <a:srgbClr val="DEE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contacts_004181.png"/>
          <p:cNvPicPr>
            <a:picLocks noChangeAspect="1"/>
          </p:cNvPicPr>
          <p:nvPr/>
        </p:nvPicPr>
        <p:blipFill>
          <a:blip r:embed="rId4"/>
          <a:stretch>
            <a:fillRect/>
          </a:stretch>
        </p:blipFill>
        <p:spPr>
          <a:xfrm>
            <a:off x="445312" y="1167688"/>
            <a:ext cx="224942" cy="224942"/>
          </a:xfrm>
          <a:prstGeom prst="rect">
            <a:avLst/>
          </a:prstGeom>
        </p:spPr>
      </p:pic>
      <p:sp>
        <p:nvSpPr>
          <p:cNvPr id="14" name="TextBox 13"/>
          <p:cNvSpPr txBox="1"/>
          <p:nvPr/>
        </p:nvSpPr>
        <p:spPr>
          <a:xfrm>
            <a:off x="786384" y="1143000"/>
            <a:ext cx="3493008" cy="274320"/>
          </a:xfrm>
          <a:prstGeom prst="rect">
            <a:avLst/>
          </a:prstGeom>
          <a:noFill/>
        </p:spPr>
        <p:txBody>
          <a:bodyPr wrap="square" lIns="0" rIns="0" tIns="0" bIns="0" anchor="ctr">
            <a:spAutoFit/>
          </a:bodyPr>
          <a:lstStyle/>
          <a:p>
            <a:pPr algn="l"/>
            <a:r>
              <a:rPr sz="1000" b="1" i="0" spc="40">
                <a:solidFill>
                  <a:srgbClr val="004181"/>
                </a:solidFill>
                <a:latin typeface="Arial"/>
                <a:ea typeface="Arial"/>
                <a:cs typeface="Arial"/>
              </a:rPr>
              <a:t>COMPLÉTUDE  —  « EST-CE RENSEIGNÉ ? »</a:t>
            </a:r>
          </a:p>
        </p:txBody>
      </p:sp>
      <p:sp>
        <p:nvSpPr>
          <p:cNvPr id="15" name="TextBox 14"/>
          <p:cNvSpPr txBox="1"/>
          <p:nvPr/>
        </p:nvSpPr>
        <p:spPr>
          <a:xfrm>
            <a:off x="530352" y="1572768"/>
            <a:ext cx="3703320" cy="411480"/>
          </a:xfrm>
          <a:prstGeom prst="rect">
            <a:avLst/>
          </a:prstGeom>
          <a:noFill/>
        </p:spPr>
        <p:txBody>
          <a:bodyPr wrap="square" lIns="0" rIns="0" tIns="0" bIns="0" anchor="t">
            <a:spAutoFit/>
          </a:bodyPr>
          <a:lstStyle/>
          <a:p>
            <a:pPr algn="l">
              <a:lnSpc>
                <a:spcPct val="105000"/>
              </a:lnSpc>
            </a:pPr>
            <a:r>
              <a:rPr sz="1000" b="0" i="0">
                <a:solidFill>
                  <a:srgbClr val="3A3A3A"/>
                </a:solidFill>
                <a:latin typeface="Arial"/>
                <a:ea typeface="Arial"/>
                <a:cs typeface="Arial"/>
              </a:rPr>
              <a:t>Part des champs KYC obligatoires effectivement remplis dans le dossier, rapportée au nombre de champs attendus.</a:t>
            </a:r>
          </a:p>
        </p:txBody>
      </p:sp>
      <p:sp>
        <p:nvSpPr>
          <p:cNvPr id="16" name="TextBox 15"/>
          <p:cNvSpPr txBox="1"/>
          <p:nvPr/>
        </p:nvSpPr>
        <p:spPr>
          <a:xfrm>
            <a:off x="530352" y="2103120"/>
            <a:ext cx="3703320" cy="1554480"/>
          </a:xfrm>
          <a:prstGeom prst="rect">
            <a:avLst/>
          </a:prstGeom>
          <a:noFill/>
        </p:spPr>
        <p:txBody>
          <a:bodyPr wrap="square" lIns="0" rIns="0" tIns="0" bIns="0" anchor="t">
            <a:spAutoFit/>
          </a:bodyPr>
          <a:lstStyle/>
          <a:p>
            <a:pPr algn="l" marL="152400" indent="-152400">
              <a:lnSpc>
                <a:spcPct val="105000"/>
              </a:lnSpc>
              <a:spcAft>
                <a:spcPts val="700"/>
              </a:spcAft>
              <a:buClr>
                <a:srgbClr val="009654"/>
              </a:buClr>
              <a:buFont typeface="Arial" pitchFamily="34" charset="0"/>
              <a:buChar char="▪"/>
            </a:pPr>
            <a:r>
              <a:rPr sz="1000" b="0" i="0">
                <a:solidFill>
                  <a:srgbClr val="3A3A3A"/>
                </a:solidFill>
                <a:latin typeface="Arial"/>
                <a:ea typeface="Arial"/>
                <a:cs typeface="Arial"/>
              </a:rPr>
              <a:t>Se calcule dossier par dossier, puis s'agrège par chargé et par agence</a:t>
            </a:r>
          </a:p>
          <a:p>
            <a:pPr algn="l" marL="152400" indent="-152400">
              <a:lnSpc>
                <a:spcPct val="105000"/>
              </a:lnSpc>
              <a:spcAft>
                <a:spcPts val="700"/>
              </a:spcAft>
              <a:buClr>
                <a:srgbClr val="009654"/>
              </a:buClr>
              <a:buFont typeface="Arial" pitchFamily="34" charset="0"/>
              <a:buChar char="▪"/>
            </a:pPr>
            <a:r>
              <a:rPr sz="1000" b="0" i="0">
                <a:solidFill>
                  <a:srgbClr val="3A3A3A"/>
                </a:solidFill>
                <a:latin typeface="Arial"/>
                <a:ea typeface="Arial"/>
                <a:cs typeface="Arial"/>
              </a:rPr>
              <a:t>Un champ vide, un tiret ou une valeur par défaut comptent comme absents</a:t>
            </a:r>
          </a:p>
          <a:p>
            <a:pPr algn="l" marL="152400" indent="-152400">
              <a:lnSpc>
                <a:spcPct val="105000"/>
              </a:lnSpc>
              <a:spcAft>
                <a:spcPts val="700"/>
              </a:spcAft>
              <a:buClr>
                <a:srgbClr val="009654"/>
              </a:buClr>
              <a:buFont typeface="Arial" pitchFamily="34" charset="0"/>
              <a:buChar char="▪"/>
            </a:pPr>
            <a:r>
              <a:rPr sz="1000" b="0" i="0">
                <a:solidFill>
                  <a:srgbClr val="3A3A3A"/>
                </a:solidFill>
                <a:latin typeface="Arial"/>
                <a:ea typeface="Arial"/>
                <a:cs typeface="Arial"/>
              </a:rPr>
              <a:t>Les champs suivis sont ceux activés pour la filiale RDC</a:t>
            </a:r>
          </a:p>
          <a:p>
            <a:pPr algn="l" marL="152400" indent="-152400">
              <a:lnSpc>
                <a:spcPct val="105000"/>
              </a:lnSpc>
              <a:spcAft>
                <a:spcPts val="700"/>
              </a:spcAft>
              <a:buClr>
                <a:srgbClr val="009654"/>
              </a:buClr>
              <a:buFont typeface="Arial" pitchFamily="34" charset="0"/>
              <a:buChar char="▪"/>
            </a:pPr>
            <a:r>
              <a:rPr sz="1000" b="0" i="0">
                <a:solidFill>
                  <a:srgbClr val="3A3A3A"/>
                </a:solidFill>
                <a:latin typeface="Arial"/>
                <a:ea typeface="Arial"/>
                <a:cs typeface="Arial"/>
              </a:rPr>
              <a:t>Le taux affiché est celui du périmètre sélectionné, jamais une moyenne du réseau</a:t>
            </a:r>
          </a:p>
        </p:txBody>
      </p:sp>
      <p:sp>
        <p:nvSpPr>
          <p:cNvPr id="17" name="Rectangle 16"/>
          <p:cNvSpPr/>
          <p:nvPr/>
        </p:nvSpPr>
        <p:spPr>
          <a:xfrm>
            <a:off x="4754880" y="1143000"/>
            <a:ext cx="4023360" cy="2743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754880" y="1143000"/>
            <a:ext cx="4023360" cy="274320"/>
          </a:xfrm>
          <a:prstGeom prst="rect">
            <a:avLst/>
          </a:prstGeom>
          <a:solidFill>
            <a:srgbClr val="DEF1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recherche_009654.png"/>
          <p:cNvPicPr>
            <a:picLocks noChangeAspect="1"/>
          </p:cNvPicPr>
          <p:nvPr/>
        </p:nvPicPr>
        <p:blipFill>
          <a:blip r:embed="rId5"/>
          <a:stretch>
            <a:fillRect/>
          </a:stretch>
        </p:blipFill>
        <p:spPr>
          <a:xfrm>
            <a:off x="4834432" y="1167688"/>
            <a:ext cx="224942" cy="224942"/>
          </a:xfrm>
          <a:prstGeom prst="rect">
            <a:avLst/>
          </a:prstGeom>
        </p:spPr>
      </p:pic>
      <p:sp>
        <p:nvSpPr>
          <p:cNvPr id="20" name="TextBox 19"/>
          <p:cNvSpPr txBox="1"/>
          <p:nvPr/>
        </p:nvSpPr>
        <p:spPr>
          <a:xfrm>
            <a:off x="5175504" y="1143000"/>
            <a:ext cx="3493008" cy="274320"/>
          </a:xfrm>
          <a:prstGeom prst="rect">
            <a:avLst/>
          </a:prstGeom>
          <a:noFill/>
        </p:spPr>
        <p:txBody>
          <a:bodyPr wrap="square" lIns="0" rIns="0" tIns="0" bIns="0" anchor="ctr">
            <a:spAutoFit/>
          </a:bodyPr>
          <a:lstStyle/>
          <a:p>
            <a:pPr algn="l"/>
            <a:r>
              <a:rPr sz="1000" b="1" i="0" spc="40">
                <a:solidFill>
                  <a:srgbClr val="009654"/>
                </a:solidFill>
                <a:latin typeface="Arial"/>
                <a:ea typeface="Arial"/>
                <a:cs typeface="Arial"/>
              </a:rPr>
              <a:t>QUALITÉ  —  « EST-CE EXPLOITABLE ? »</a:t>
            </a:r>
          </a:p>
        </p:txBody>
      </p:sp>
      <p:sp>
        <p:nvSpPr>
          <p:cNvPr id="21" name="TextBox 20"/>
          <p:cNvSpPr txBox="1"/>
          <p:nvPr/>
        </p:nvSpPr>
        <p:spPr>
          <a:xfrm>
            <a:off x="4919472" y="1572768"/>
            <a:ext cx="3703320" cy="411480"/>
          </a:xfrm>
          <a:prstGeom prst="rect">
            <a:avLst/>
          </a:prstGeom>
          <a:noFill/>
        </p:spPr>
        <p:txBody>
          <a:bodyPr wrap="square" lIns="0" rIns="0" tIns="0" bIns="0" anchor="t">
            <a:spAutoFit/>
          </a:bodyPr>
          <a:lstStyle/>
          <a:p>
            <a:pPr algn="l">
              <a:lnSpc>
                <a:spcPct val="105000"/>
              </a:lnSpc>
            </a:pPr>
            <a:r>
              <a:rPr sz="1000" b="0" i="0">
                <a:solidFill>
                  <a:srgbClr val="3A3A3A"/>
                </a:solidFill>
                <a:latin typeface="Arial"/>
                <a:ea typeface="Arial"/>
                <a:cs typeface="Arial"/>
              </a:rPr>
              <a:t>Part des dossiers conformes aux règles de contrôle : format, cohérence, validité dans le temps.</a:t>
            </a:r>
          </a:p>
        </p:txBody>
      </p:sp>
      <p:sp>
        <p:nvSpPr>
          <p:cNvPr id="22" name="TextBox 21"/>
          <p:cNvSpPr txBox="1"/>
          <p:nvPr/>
        </p:nvSpPr>
        <p:spPr>
          <a:xfrm>
            <a:off x="4919472" y="2103120"/>
            <a:ext cx="3703320" cy="1554480"/>
          </a:xfrm>
          <a:prstGeom prst="rect">
            <a:avLst/>
          </a:prstGeom>
          <a:noFill/>
        </p:spPr>
        <p:txBody>
          <a:bodyPr wrap="square" lIns="0" rIns="0" tIns="0" bIns="0" anchor="t">
            <a:spAutoFit/>
          </a:bodyPr>
          <a:lstStyle/>
          <a:p>
            <a:pPr algn="l" marL="152400" indent="-152400">
              <a:lnSpc>
                <a:spcPct val="105000"/>
              </a:lnSpc>
              <a:spcAft>
                <a:spcPts val="700"/>
              </a:spcAft>
              <a:buClr>
                <a:srgbClr val="009654"/>
              </a:buClr>
              <a:buFont typeface="Arial" pitchFamily="34" charset="0"/>
              <a:buChar char="▪"/>
            </a:pPr>
            <a:r>
              <a:rPr sz="1000" b="0" i="0">
                <a:solidFill>
                  <a:srgbClr val="3A3A3A"/>
                </a:solidFill>
                <a:latin typeface="Arial"/>
                <a:ea typeface="Arial"/>
                <a:cs typeface="Arial"/>
              </a:rPr>
              <a:t>S'appuie sur les règles paramétrées et versionnées dans la plateforme</a:t>
            </a:r>
          </a:p>
          <a:p>
            <a:pPr algn="l" marL="152400" indent="-152400">
              <a:lnSpc>
                <a:spcPct val="105000"/>
              </a:lnSpc>
              <a:spcAft>
                <a:spcPts val="700"/>
              </a:spcAft>
              <a:buClr>
                <a:srgbClr val="009654"/>
              </a:buClr>
              <a:buFont typeface="Arial" pitchFamily="34" charset="0"/>
              <a:buChar char="▪"/>
            </a:pPr>
            <a:r>
              <a:rPr sz="1000" b="0" i="0">
                <a:solidFill>
                  <a:srgbClr val="3A3A3A"/>
                </a:solidFill>
                <a:latin typeface="Arial"/>
                <a:ea typeface="Arial"/>
                <a:cs typeface="Arial"/>
              </a:rPr>
              <a:t>Une pièce d'identité expirée fait chuter la qualité, pas la complétude</a:t>
            </a:r>
          </a:p>
          <a:p>
            <a:pPr algn="l" marL="152400" indent="-152400">
              <a:lnSpc>
                <a:spcPct val="105000"/>
              </a:lnSpc>
              <a:spcAft>
                <a:spcPts val="700"/>
              </a:spcAft>
              <a:buClr>
                <a:srgbClr val="009654"/>
              </a:buClr>
              <a:buFont typeface="Arial" pitchFamily="34" charset="0"/>
              <a:buChar char="▪"/>
            </a:pPr>
            <a:r>
              <a:rPr sz="1000" b="0" i="0">
                <a:solidFill>
                  <a:srgbClr val="3A3A3A"/>
                </a:solidFill>
                <a:latin typeface="Arial"/>
                <a:ea typeface="Arial"/>
                <a:cs typeface="Arial"/>
              </a:rPr>
              <a:t>Chaque évaluation est tracée et peut être rejouée lors d'un contrôle</a:t>
            </a:r>
          </a:p>
          <a:p>
            <a:pPr algn="l" marL="152400" indent="-152400">
              <a:lnSpc>
                <a:spcPct val="105000"/>
              </a:lnSpc>
              <a:spcAft>
                <a:spcPts val="700"/>
              </a:spcAft>
              <a:buClr>
                <a:srgbClr val="009654"/>
              </a:buClr>
              <a:buFont typeface="Arial" pitchFamily="34" charset="0"/>
              <a:buChar char="▪"/>
            </a:pPr>
            <a:r>
              <a:rPr sz="1000" b="0" i="0">
                <a:solidFill>
                  <a:srgbClr val="3A3A3A"/>
                </a:solidFill>
                <a:latin typeface="Arial"/>
                <a:ea typeface="Arial"/>
                <a:cs typeface="Arial"/>
              </a:rPr>
              <a:t>Une règle peut évoluer : sa version est conservée pour expliquer un écart</a:t>
            </a:r>
          </a:p>
        </p:txBody>
      </p:sp>
      <p:sp>
        <p:nvSpPr>
          <p:cNvPr id="23" name="Rectangle 22"/>
          <p:cNvSpPr/>
          <p:nvPr/>
        </p:nvSpPr>
        <p:spPr>
          <a:xfrm>
            <a:off x="365760" y="3950208"/>
            <a:ext cx="8412480" cy="658368"/>
          </a:xfrm>
          <a:prstGeom prst="rect">
            <a:avLst/>
          </a:prstGeom>
          <a:solidFill>
            <a:srgbClr val="FDF6E7"/>
          </a:solidFill>
          <a:ln w="9525">
            <a:solidFill>
              <a:srgbClr val="F3D9A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66928" y="3950208"/>
            <a:ext cx="8046720" cy="658368"/>
          </a:xfrm>
          <a:prstGeom prst="rect">
            <a:avLst/>
          </a:prstGeom>
          <a:noFill/>
        </p:spPr>
        <p:txBody>
          <a:bodyPr wrap="square" lIns="0" rIns="0" tIns="0" bIns="0" anchor="ctr">
            <a:spAutoFit/>
          </a:bodyPr>
          <a:lstStyle/>
          <a:p>
            <a:pPr algn="l">
              <a:lnSpc>
                <a:spcPct val="105000"/>
              </a:lnSpc>
            </a:pPr>
            <a:r>
              <a:rPr sz="1000" b="1" i="0">
                <a:solidFill>
                  <a:srgbClr val="FDB813"/>
                </a:solidFill>
                <a:latin typeface="Arial"/>
                <a:ea typeface="Arial"/>
                <a:cs typeface="Arial"/>
              </a:rPr>
              <a:t>Le piège classique : </a:t>
            </a:r>
            <a:r>
              <a:rPr sz="1000" b="0" i="0">
                <a:solidFill>
                  <a:srgbClr val="3A3A3A"/>
                </a:solidFill>
                <a:latin typeface="Arial"/>
                <a:ea typeface="Arial"/>
                <a:cs typeface="Arial"/>
              </a:rPr>
              <a:t>un dossier peut être complet à 100 % et non conforme. Une adresse saisie « RAS », une date de revue dépassée ou une pièce périmée remplissent la case sans rien fiabiliser.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par>
                                <p:cTn id="18" presetID="10" presetClass="entr" presetSubtype="0" fill="hold" grpId="0" nodeType="withEffect">
                                  <p:stCondLst>
                                    <p:cond delay="60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50"/>
                                        <p:tgtEl>
                                          <p:spTgt spid="16"/>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50"/>
                                        <p:tgtEl>
                                          <p:spTgt spid="17"/>
                                        </p:tgtEl>
                                      </p:cBhvr>
                                    </p:animEffect>
                                  </p:childTnLst>
                                </p:cTn>
                              </p:par>
                              <p:par>
                                <p:cTn id="26" presetID="10" presetClass="entr" presetSubtype="0" fill="hold" grpId="0" nodeType="withEffect">
                                  <p:stCondLst>
                                    <p:cond delay="12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50"/>
                                        <p:tgtEl>
                                          <p:spTgt spid="18"/>
                                        </p:tgtEl>
                                      </p:cBhvr>
                                    </p:animEffect>
                                  </p:childTnLst>
                                </p:cTn>
                              </p:par>
                              <p:par>
                                <p:cTn id="29" presetID="10" presetClass="entr" presetSubtype="0" fill="hold" grpId="0" nodeType="withEffect">
                                  <p:stCondLst>
                                    <p:cond delay="24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50"/>
                                        <p:tgtEl>
                                          <p:spTgt spid="19"/>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childTnLst>
                                </p:cTn>
                              </p:par>
                              <p:par>
                                <p:cTn id="35" presetID="10" presetClass="entr" presetSubtype="0" fill="hold" grpId="0" nodeType="withEffect">
                                  <p:stCondLst>
                                    <p:cond delay="48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50"/>
                                        <p:tgtEl>
                                          <p:spTgt spid="21"/>
                                        </p:tgtEl>
                                      </p:cBhvr>
                                    </p:animEffect>
                                  </p:childTnLst>
                                </p:cTn>
                              </p:par>
                              <p:par>
                                <p:cTn id="38" presetID="10" presetClass="entr" presetSubtype="0" fill="hold" grpId="0" nodeType="withEffect">
                                  <p:stCondLst>
                                    <p:cond delay="60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450"/>
                                        <p:tgtEl>
                                          <p:spTgt spid="22"/>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450"/>
                                        <p:tgtEl>
                                          <p:spTgt spid="23"/>
                                        </p:tgtEl>
                                      </p:cBhvr>
                                    </p:animEffect>
                                  </p:childTnLst>
                                </p:cTn>
                              </p:par>
                              <p:par>
                                <p:cTn id="46" presetID="10" presetClass="entr" presetSubtype="0" fill="hold" grpId="0" nodeType="withEffect">
                                  <p:stCondLst>
                                    <p:cond delay="12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10</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III.  LIRE LES INDICATEURS KYC</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recharger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STOCK ET FLUX : DEUX LECTURES COMPLÉMENTAIRES</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143000"/>
            <a:ext cx="4023360" cy="1097280"/>
          </a:xfrm>
          <a:prstGeom prst="rect">
            <a:avLst/>
          </a:prstGeom>
          <a:solidFill>
            <a:srgbClr val="E4EDE4"/>
          </a:solidFill>
          <a:ln w="9525">
            <a:solidFill>
              <a:srgbClr val="ABD3B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or-actifs_009654.png"/>
          <p:cNvPicPr>
            <a:picLocks noChangeAspect="1"/>
          </p:cNvPicPr>
          <p:nvPr/>
        </p:nvPicPr>
        <p:blipFill>
          <a:blip r:embed="rId4"/>
          <a:stretch>
            <a:fillRect/>
          </a:stretch>
        </p:blipFill>
        <p:spPr>
          <a:xfrm>
            <a:off x="559978" y="1254922"/>
            <a:ext cx="269930" cy="269930"/>
          </a:xfrm>
          <a:prstGeom prst="rect">
            <a:avLst/>
          </a:prstGeom>
        </p:spPr>
      </p:pic>
      <p:sp>
        <p:nvSpPr>
          <p:cNvPr id="13" name="TextBox 12"/>
          <p:cNvSpPr txBox="1"/>
          <p:nvPr/>
        </p:nvSpPr>
        <p:spPr>
          <a:xfrm>
            <a:off x="896112" y="1261872"/>
            <a:ext cx="3383280" cy="274320"/>
          </a:xfrm>
          <a:prstGeom prst="rect">
            <a:avLst/>
          </a:prstGeom>
          <a:noFill/>
        </p:spPr>
        <p:txBody>
          <a:bodyPr wrap="square" lIns="0" rIns="0" tIns="0" bIns="0" anchor="t">
            <a:spAutoFit/>
          </a:bodyPr>
          <a:lstStyle/>
          <a:p>
            <a:pPr algn="l"/>
            <a:r>
              <a:rPr sz="1300" b="1" i="0" spc="100">
                <a:solidFill>
                  <a:srgbClr val="009654"/>
                </a:solidFill>
                <a:latin typeface="Arial"/>
                <a:ea typeface="Arial"/>
                <a:cs typeface="Arial"/>
              </a:rPr>
              <a:t>STOCK</a:t>
            </a:r>
          </a:p>
        </p:txBody>
      </p:sp>
      <p:sp>
        <p:nvSpPr>
          <p:cNvPr id="14" name="TextBox 13"/>
          <p:cNvSpPr txBox="1"/>
          <p:nvPr/>
        </p:nvSpPr>
        <p:spPr>
          <a:xfrm>
            <a:off x="548640" y="1572768"/>
            <a:ext cx="3703320" cy="566928"/>
          </a:xfrm>
          <a:prstGeom prst="rect">
            <a:avLst/>
          </a:prstGeom>
          <a:noFill/>
        </p:spPr>
        <p:txBody>
          <a:bodyPr wrap="square" lIns="0" rIns="0" tIns="0" bIns="0" anchor="t">
            <a:spAutoFit/>
          </a:bodyPr>
          <a:lstStyle/>
          <a:p>
            <a:pPr algn="l">
              <a:lnSpc>
                <a:spcPct val="105000"/>
              </a:lnSpc>
            </a:pPr>
            <a:r>
              <a:rPr sz="1000" b="0" i="0">
                <a:solidFill>
                  <a:srgbClr val="3A3A3A"/>
                </a:solidFill>
                <a:latin typeface="Arial"/>
                <a:ea typeface="Arial"/>
                <a:cs typeface="Arial"/>
              </a:rPr>
              <a:t>L'ensemble du portefeuille détenu à la date d'observation. C'est la photographie de fond, celle qui se redresse lentement.</a:t>
            </a:r>
          </a:p>
        </p:txBody>
      </p:sp>
      <p:sp>
        <p:nvSpPr>
          <p:cNvPr id="15" name="Rectangle 14"/>
          <p:cNvSpPr/>
          <p:nvPr/>
        </p:nvSpPr>
        <p:spPr>
          <a:xfrm>
            <a:off x="4754880" y="1143000"/>
            <a:ext cx="4023360" cy="1097280"/>
          </a:xfrm>
          <a:prstGeom prst="rect">
            <a:avLst/>
          </a:prstGeom>
          <a:solidFill>
            <a:srgbClr val="E4EDE4"/>
          </a:solidFill>
          <a:ln w="9525">
            <a:solidFill>
              <a:srgbClr val="ABD3B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tendance_009654.png"/>
          <p:cNvPicPr>
            <a:picLocks noChangeAspect="1"/>
          </p:cNvPicPr>
          <p:nvPr/>
        </p:nvPicPr>
        <p:blipFill>
          <a:blip r:embed="rId5"/>
          <a:stretch>
            <a:fillRect/>
          </a:stretch>
        </p:blipFill>
        <p:spPr>
          <a:xfrm>
            <a:off x="4949098" y="1254922"/>
            <a:ext cx="269930" cy="269930"/>
          </a:xfrm>
          <a:prstGeom prst="rect">
            <a:avLst/>
          </a:prstGeom>
        </p:spPr>
      </p:pic>
      <p:sp>
        <p:nvSpPr>
          <p:cNvPr id="17" name="TextBox 16"/>
          <p:cNvSpPr txBox="1"/>
          <p:nvPr/>
        </p:nvSpPr>
        <p:spPr>
          <a:xfrm>
            <a:off x="5285232" y="1261872"/>
            <a:ext cx="3383280" cy="274320"/>
          </a:xfrm>
          <a:prstGeom prst="rect">
            <a:avLst/>
          </a:prstGeom>
          <a:noFill/>
        </p:spPr>
        <p:txBody>
          <a:bodyPr wrap="square" lIns="0" rIns="0" tIns="0" bIns="0" anchor="t">
            <a:spAutoFit/>
          </a:bodyPr>
          <a:lstStyle/>
          <a:p>
            <a:pPr algn="l"/>
            <a:r>
              <a:rPr sz="1300" b="1" i="0" spc="100">
                <a:solidFill>
                  <a:srgbClr val="009654"/>
                </a:solidFill>
                <a:latin typeface="Arial"/>
                <a:ea typeface="Arial"/>
                <a:cs typeface="Arial"/>
              </a:rPr>
              <a:t>FLUX</a:t>
            </a:r>
          </a:p>
        </p:txBody>
      </p:sp>
      <p:sp>
        <p:nvSpPr>
          <p:cNvPr id="18" name="TextBox 17"/>
          <p:cNvSpPr txBox="1"/>
          <p:nvPr/>
        </p:nvSpPr>
        <p:spPr>
          <a:xfrm>
            <a:off x="4937760" y="1572768"/>
            <a:ext cx="3703320" cy="566928"/>
          </a:xfrm>
          <a:prstGeom prst="rect">
            <a:avLst/>
          </a:prstGeom>
          <a:noFill/>
        </p:spPr>
        <p:txBody>
          <a:bodyPr wrap="square" lIns="0" rIns="0" tIns="0" bIns="0" anchor="t">
            <a:spAutoFit/>
          </a:bodyPr>
          <a:lstStyle/>
          <a:p>
            <a:pPr algn="l">
              <a:lnSpc>
                <a:spcPct val="105000"/>
              </a:lnSpc>
            </a:pPr>
            <a:r>
              <a:rPr sz="1000" b="0" i="0">
                <a:solidFill>
                  <a:srgbClr val="3A3A3A"/>
                </a:solidFill>
                <a:latin typeface="Arial"/>
                <a:ea typeface="Arial"/>
                <a:cs typeface="Arial"/>
              </a:rPr>
              <a:t>Les clients ouverts lors de la dernière journée d'ouverture enregistrée. C'est le contrôle immédiat de la saisie à l'entrée.</a:t>
            </a:r>
          </a:p>
        </p:txBody>
      </p:sp>
      <p:sp>
        <p:nvSpPr>
          <p:cNvPr id="19" name="TextBox 18"/>
          <p:cNvSpPr txBox="1"/>
          <p:nvPr/>
        </p:nvSpPr>
        <p:spPr>
          <a:xfrm>
            <a:off x="365760" y="2395728"/>
            <a:ext cx="8412480" cy="274320"/>
          </a:xfrm>
          <a:prstGeom prst="rect">
            <a:avLst/>
          </a:prstGeom>
          <a:noFill/>
        </p:spPr>
        <p:txBody>
          <a:bodyPr wrap="square" lIns="0" rIns="0" tIns="0" bIns="0" anchor="ctr">
            <a:spAutoFit/>
          </a:bodyPr>
          <a:lstStyle/>
          <a:p>
            <a:pPr algn="l"/>
            <a:r>
              <a:rPr sz="1050" b="1" i="0" spc="50">
                <a:solidFill>
                  <a:srgbClr val="004181"/>
                </a:solidFill>
                <a:latin typeface="Arial"/>
                <a:ea typeface="Arial"/>
                <a:cs typeface="Arial"/>
              </a:rPr>
              <a:t>CHAQUE NIVEAU PREND SA PROPRE DERNIÈRE JOURNÉE D'OUVERTURE</a:t>
            </a:r>
          </a:p>
        </p:txBody>
      </p:sp>
      <p:sp>
        <p:nvSpPr>
          <p:cNvPr id="20" name="Rectangle 19"/>
          <p:cNvSpPr/>
          <p:nvPr/>
        </p:nvSpPr>
        <p:spPr>
          <a:xfrm>
            <a:off x="365760" y="2743200"/>
            <a:ext cx="2679192" cy="9144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65760" y="2743200"/>
            <a:ext cx="2679192" cy="274320"/>
          </a:xfrm>
          <a:prstGeom prst="rect">
            <a:avLst/>
          </a:prstGeom>
          <a:solidFill>
            <a:srgbClr val="DEF1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2" name="Picture 21" descr="banque_009654.png"/>
          <p:cNvPicPr>
            <a:picLocks noChangeAspect="1"/>
          </p:cNvPicPr>
          <p:nvPr/>
        </p:nvPicPr>
        <p:blipFill>
          <a:blip r:embed="rId6"/>
          <a:stretch>
            <a:fillRect/>
          </a:stretch>
        </p:blipFill>
        <p:spPr>
          <a:xfrm>
            <a:off x="445312" y="2767888"/>
            <a:ext cx="224942" cy="224942"/>
          </a:xfrm>
          <a:prstGeom prst="rect">
            <a:avLst/>
          </a:prstGeom>
        </p:spPr>
      </p:pic>
      <p:sp>
        <p:nvSpPr>
          <p:cNvPr id="23" name="TextBox 22"/>
          <p:cNvSpPr txBox="1"/>
          <p:nvPr/>
        </p:nvSpPr>
        <p:spPr>
          <a:xfrm>
            <a:off x="786384" y="2743200"/>
            <a:ext cx="2148840" cy="274320"/>
          </a:xfrm>
          <a:prstGeom prst="rect">
            <a:avLst/>
          </a:prstGeom>
          <a:noFill/>
        </p:spPr>
        <p:txBody>
          <a:bodyPr wrap="square" lIns="0" rIns="0" tIns="0" bIns="0" anchor="ctr">
            <a:spAutoFit/>
          </a:bodyPr>
          <a:lstStyle/>
          <a:p>
            <a:pPr algn="l"/>
            <a:r>
              <a:rPr sz="950" b="1" i="0" spc="40">
                <a:solidFill>
                  <a:srgbClr val="009654"/>
                </a:solidFill>
                <a:latin typeface="Arial"/>
                <a:ea typeface="Arial"/>
                <a:cs typeface="Arial"/>
              </a:rPr>
              <a:t>FILIALE RDC</a:t>
            </a:r>
          </a:p>
        </p:txBody>
      </p:sp>
      <p:sp>
        <p:nvSpPr>
          <p:cNvPr id="24" name="TextBox 23"/>
          <p:cNvSpPr txBox="1"/>
          <p:nvPr/>
        </p:nvSpPr>
        <p:spPr>
          <a:xfrm>
            <a:off x="502920" y="3090672"/>
            <a:ext cx="2404872" cy="502920"/>
          </a:xfrm>
          <a:prstGeom prst="rect">
            <a:avLst/>
          </a:prstGeom>
          <a:noFill/>
        </p:spPr>
        <p:txBody>
          <a:bodyPr wrap="square" lIns="0" rIns="0" tIns="0" bIns="0" anchor="t">
            <a:spAutoFit/>
          </a:bodyPr>
          <a:lstStyle/>
          <a:p>
            <a:pPr algn="l">
              <a:lnSpc>
                <a:spcPct val="105000"/>
              </a:lnSpc>
            </a:pPr>
            <a:r>
              <a:rPr sz="900" b="0" i="0">
                <a:solidFill>
                  <a:srgbClr val="3A3A3A"/>
                </a:solidFill>
                <a:latin typeface="Arial"/>
                <a:ea typeface="Arial"/>
                <a:cs typeface="Arial"/>
              </a:rPr>
              <a:t>Dernier jour où la filiale a ouvert au moins un compte</a:t>
            </a:r>
          </a:p>
        </p:txBody>
      </p:sp>
      <p:sp>
        <p:nvSpPr>
          <p:cNvPr id="25" name="Rectangle 24"/>
          <p:cNvSpPr/>
          <p:nvPr/>
        </p:nvSpPr>
        <p:spPr>
          <a:xfrm>
            <a:off x="3227832" y="2743200"/>
            <a:ext cx="2679192" cy="9144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3227832" y="2743200"/>
            <a:ext cx="2679192" cy="274320"/>
          </a:xfrm>
          <a:prstGeom prst="rect">
            <a:avLst/>
          </a:prstGeom>
          <a:solidFill>
            <a:srgbClr val="DEF1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accueil_009654.png"/>
          <p:cNvPicPr>
            <a:picLocks noChangeAspect="1"/>
          </p:cNvPicPr>
          <p:nvPr/>
        </p:nvPicPr>
        <p:blipFill>
          <a:blip r:embed="rId7"/>
          <a:stretch>
            <a:fillRect/>
          </a:stretch>
        </p:blipFill>
        <p:spPr>
          <a:xfrm>
            <a:off x="3307384" y="2767888"/>
            <a:ext cx="224942" cy="224942"/>
          </a:xfrm>
          <a:prstGeom prst="rect">
            <a:avLst/>
          </a:prstGeom>
        </p:spPr>
      </p:pic>
      <p:sp>
        <p:nvSpPr>
          <p:cNvPr id="28" name="TextBox 27"/>
          <p:cNvSpPr txBox="1"/>
          <p:nvPr/>
        </p:nvSpPr>
        <p:spPr>
          <a:xfrm>
            <a:off x="3648456" y="2743200"/>
            <a:ext cx="2148840" cy="274320"/>
          </a:xfrm>
          <a:prstGeom prst="rect">
            <a:avLst/>
          </a:prstGeom>
          <a:noFill/>
        </p:spPr>
        <p:txBody>
          <a:bodyPr wrap="square" lIns="0" rIns="0" tIns="0" bIns="0" anchor="ctr">
            <a:spAutoFit/>
          </a:bodyPr>
          <a:lstStyle/>
          <a:p>
            <a:pPr algn="l"/>
            <a:r>
              <a:rPr sz="950" b="1" i="0" spc="40">
                <a:solidFill>
                  <a:srgbClr val="009654"/>
                </a:solidFill>
                <a:latin typeface="Arial"/>
                <a:ea typeface="Arial"/>
                <a:cs typeface="Arial"/>
              </a:rPr>
              <a:t>AGENCE</a:t>
            </a:r>
          </a:p>
        </p:txBody>
      </p:sp>
      <p:sp>
        <p:nvSpPr>
          <p:cNvPr id="29" name="TextBox 28"/>
          <p:cNvSpPr txBox="1"/>
          <p:nvPr/>
        </p:nvSpPr>
        <p:spPr>
          <a:xfrm>
            <a:off x="3364991" y="3090672"/>
            <a:ext cx="2404872" cy="502920"/>
          </a:xfrm>
          <a:prstGeom prst="rect">
            <a:avLst/>
          </a:prstGeom>
          <a:noFill/>
        </p:spPr>
        <p:txBody>
          <a:bodyPr wrap="square" lIns="0" rIns="0" tIns="0" bIns="0" anchor="t">
            <a:spAutoFit/>
          </a:bodyPr>
          <a:lstStyle/>
          <a:p>
            <a:pPr algn="l">
              <a:lnSpc>
                <a:spcPct val="105000"/>
              </a:lnSpc>
            </a:pPr>
            <a:r>
              <a:rPr sz="900" b="0" i="0">
                <a:solidFill>
                  <a:srgbClr val="3A3A3A"/>
                </a:solidFill>
                <a:latin typeface="Arial"/>
                <a:ea typeface="Arial"/>
                <a:cs typeface="Arial"/>
              </a:rPr>
              <a:t>Dernier jour d'ouverture propre à l'agence observée</a:t>
            </a:r>
          </a:p>
        </p:txBody>
      </p:sp>
      <p:sp>
        <p:nvSpPr>
          <p:cNvPr id="30" name="Rectangle 29"/>
          <p:cNvSpPr/>
          <p:nvPr/>
        </p:nvSpPr>
        <p:spPr>
          <a:xfrm>
            <a:off x="6089904" y="2743200"/>
            <a:ext cx="2679192" cy="9144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089904" y="2743200"/>
            <a:ext cx="2679192" cy="274320"/>
          </a:xfrm>
          <a:prstGeom prst="rect">
            <a:avLst/>
          </a:prstGeom>
          <a:solidFill>
            <a:srgbClr val="DEF1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2" name="Picture 31" descr="utilisateur_009654.png"/>
          <p:cNvPicPr>
            <a:picLocks noChangeAspect="1"/>
          </p:cNvPicPr>
          <p:nvPr/>
        </p:nvPicPr>
        <p:blipFill>
          <a:blip r:embed="rId8"/>
          <a:stretch>
            <a:fillRect/>
          </a:stretch>
        </p:blipFill>
        <p:spPr>
          <a:xfrm>
            <a:off x="6169456" y="2767888"/>
            <a:ext cx="224942" cy="224942"/>
          </a:xfrm>
          <a:prstGeom prst="rect">
            <a:avLst/>
          </a:prstGeom>
        </p:spPr>
      </p:pic>
      <p:sp>
        <p:nvSpPr>
          <p:cNvPr id="33" name="TextBox 32"/>
          <p:cNvSpPr txBox="1"/>
          <p:nvPr/>
        </p:nvSpPr>
        <p:spPr>
          <a:xfrm>
            <a:off x="6510528" y="2743200"/>
            <a:ext cx="2148840" cy="274320"/>
          </a:xfrm>
          <a:prstGeom prst="rect">
            <a:avLst/>
          </a:prstGeom>
          <a:noFill/>
        </p:spPr>
        <p:txBody>
          <a:bodyPr wrap="square" lIns="0" rIns="0" tIns="0" bIns="0" anchor="ctr">
            <a:spAutoFit/>
          </a:bodyPr>
          <a:lstStyle/>
          <a:p>
            <a:pPr algn="l"/>
            <a:r>
              <a:rPr sz="950" b="1" i="0" spc="40">
                <a:solidFill>
                  <a:srgbClr val="009654"/>
                </a:solidFill>
                <a:latin typeface="Arial"/>
                <a:ea typeface="Arial"/>
                <a:cs typeface="Arial"/>
              </a:rPr>
              <a:t>CHARGÉ DE CLIENTÈLE</a:t>
            </a:r>
          </a:p>
        </p:txBody>
      </p:sp>
      <p:sp>
        <p:nvSpPr>
          <p:cNvPr id="34" name="TextBox 33"/>
          <p:cNvSpPr txBox="1"/>
          <p:nvPr/>
        </p:nvSpPr>
        <p:spPr>
          <a:xfrm>
            <a:off x="6227064" y="3090672"/>
            <a:ext cx="2404872" cy="502920"/>
          </a:xfrm>
          <a:prstGeom prst="rect">
            <a:avLst/>
          </a:prstGeom>
          <a:noFill/>
        </p:spPr>
        <p:txBody>
          <a:bodyPr wrap="square" lIns="0" rIns="0" tIns="0" bIns="0" anchor="t">
            <a:spAutoFit/>
          </a:bodyPr>
          <a:lstStyle/>
          <a:p>
            <a:pPr algn="l">
              <a:lnSpc>
                <a:spcPct val="105000"/>
              </a:lnSpc>
            </a:pPr>
            <a:r>
              <a:rPr sz="900" b="0" i="0">
                <a:solidFill>
                  <a:srgbClr val="3A3A3A"/>
                </a:solidFill>
                <a:latin typeface="Arial"/>
                <a:ea typeface="Arial"/>
                <a:cs typeface="Arial"/>
              </a:rPr>
              <a:t>Dernier jour d'ouverture propre à ce chargé</a:t>
            </a:r>
          </a:p>
        </p:txBody>
      </p:sp>
      <p:sp>
        <p:nvSpPr>
          <p:cNvPr id="35" name="TextBox 34"/>
          <p:cNvSpPr txBox="1"/>
          <p:nvPr/>
        </p:nvSpPr>
        <p:spPr>
          <a:xfrm>
            <a:off x="3044952" y="3063240"/>
            <a:ext cx="182880" cy="274320"/>
          </a:xfrm>
          <a:prstGeom prst="rect">
            <a:avLst/>
          </a:prstGeom>
          <a:noFill/>
        </p:spPr>
        <p:txBody>
          <a:bodyPr wrap="square" lIns="0" rIns="0" tIns="0" bIns="0" anchor="ctr">
            <a:spAutoFit/>
          </a:bodyPr>
          <a:lstStyle/>
          <a:p>
            <a:pPr algn="ctr"/>
            <a:r>
              <a:rPr sz="1600" b="1" i="0">
                <a:solidFill>
                  <a:srgbClr val="009654"/>
                </a:solidFill>
                <a:latin typeface="Arial"/>
                <a:ea typeface="Arial"/>
                <a:cs typeface="Arial"/>
              </a:rPr>
              <a:t>›</a:t>
            </a:r>
          </a:p>
        </p:txBody>
      </p:sp>
      <p:sp>
        <p:nvSpPr>
          <p:cNvPr id="36" name="TextBox 35"/>
          <p:cNvSpPr txBox="1"/>
          <p:nvPr/>
        </p:nvSpPr>
        <p:spPr>
          <a:xfrm>
            <a:off x="5907024" y="3063240"/>
            <a:ext cx="182880" cy="274320"/>
          </a:xfrm>
          <a:prstGeom prst="rect">
            <a:avLst/>
          </a:prstGeom>
          <a:noFill/>
        </p:spPr>
        <p:txBody>
          <a:bodyPr wrap="square" lIns="0" rIns="0" tIns="0" bIns="0" anchor="ctr">
            <a:spAutoFit/>
          </a:bodyPr>
          <a:lstStyle/>
          <a:p>
            <a:pPr algn="ctr"/>
            <a:r>
              <a:rPr sz="1600" b="1" i="0">
                <a:solidFill>
                  <a:srgbClr val="009654"/>
                </a:solidFill>
                <a:latin typeface="Arial"/>
                <a:ea typeface="Arial"/>
                <a:cs typeface="Arial"/>
              </a:rPr>
              <a:t>›</a:t>
            </a:r>
          </a:p>
        </p:txBody>
      </p:sp>
      <p:sp>
        <p:nvSpPr>
          <p:cNvPr id="37" name="Rectangle 36"/>
          <p:cNvSpPr/>
          <p:nvPr/>
        </p:nvSpPr>
        <p:spPr>
          <a:xfrm>
            <a:off x="365760" y="3840480"/>
            <a:ext cx="8412480" cy="749808"/>
          </a:xfrm>
          <a:prstGeom prst="rect">
            <a:avLst/>
          </a:prstGeom>
          <a:solidFill>
            <a:srgbClr val="FDF6E7"/>
          </a:solidFill>
          <a:ln w="9525">
            <a:solidFill>
              <a:srgbClr val="F3D9A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66928" y="3840480"/>
            <a:ext cx="8046720" cy="749808"/>
          </a:xfrm>
          <a:prstGeom prst="rect">
            <a:avLst/>
          </a:prstGeom>
          <a:noFill/>
        </p:spPr>
        <p:txBody>
          <a:bodyPr wrap="square" lIns="0" rIns="0" tIns="0" bIns="0" anchor="ctr">
            <a:spAutoFit/>
          </a:bodyPr>
          <a:lstStyle/>
          <a:p>
            <a:pPr algn="l">
              <a:lnSpc>
                <a:spcPct val="105000"/>
              </a:lnSpc>
            </a:pPr>
            <a:r>
              <a:rPr sz="1000" b="1" i="0">
                <a:solidFill>
                  <a:srgbClr val="FDB813"/>
                </a:solidFill>
                <a:latin typeface="Arial"/>
                <a:ea typeface="Arial"/>
                <a:cs typeface="Arial"/>
              </a:rPr>
              <a:t>Conséquence pratique : </a:t>
            </a:r>
            <a:r>
              <a:rPr sz="1000" b="0" i="0">
                <a:solidFill>
                  <a:srgbClr val="3A3A3A"/>
                </a:solidFill>
                <a:latin typeface="Arial"/>
                <a:ea typeface="Arial"/>
                <a:cs typeface="Arial"/>
              </a:rPr>
              <a:t>un chargé qui n'a rien ouvert le dernier jour de sa filiale garde tout de même un flux, celui de sa propre dernière journée. Et si aucune date d'ouverture n'est exploitable, le flux reste vide : il ne bascule jamais silencieusement sur le stock.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50"/>
                                        <p:tgtEl>
                                          <p:spTgt spid="15"/>
                                        </p:tgtEl>
                                      </p:cBhvr>
                                    </p:animEffect>
                                  </p:childTnLst>
                                </p:cTn>
                              </p:par>
                              <p:par>
                                <p:cTn id="20" presetID="10" presetClass="entr" presetSubtype="0" fill="hold" grpId="0" nodeType="withEffect">
                                  <p:stCondLst>
                                    <p:cond delay="12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50"/>
                                        <p:tgtEl>
                                          <p:spTgt spid="16"/>
                                        </p:tgtEl>
                                      </p:cBhvr>
                                    </p:animEffect>
                                  </p:childTnLst>
                                </p:cTn>
                              </p:par>
                              <p:par>
                                <p:cTn id="23" presetID="10" presetClass="entr" presetSubtype="0" fill="hold" grpId="0" nodeType="withEffect">
                                  <p:stCondLst>
                                    <p:cond delay="24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50"/>
                                        <p:tgtEl>
                                          <p:spTgt spid="17"/>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50"/>
                                        <p:tgtEl>
                                          <p:spTgt spid="18"/>
                                        </p:tgtEl>
                                      </p:cBhvr>
                                    </p:animEffect>
                                  </p:childTnLst>
                                </p:cTn>
                              </p:par>
                            </p:childTnLst>
                          </p:cTn>
                        </p:par>
                      </p:childTnLst>
                    </p:cTn>
                  </p:par>
                  <p:par>
                    <p:cTn id="46" fill="hold">
                      <p:stCondLst>
                        <p:cond delay="indefinite"/>
                      </p:stCondLst>
                      <p:childTnLst>
                        <p:par>
                          <p:cTn id="47"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grpId="0" nodeType="withEffect">
                                  <p:stCondLst>
                                    <p:cond delay="12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par>
                                <p:cTn id="37" presetID="10" presetClass="entr" presetSubtype="0" fill="hold" grpId="0" nodeType="withEffect">
                                  <p:stCondLst>
                                    <p:cond delay="24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50"/>
                                        <p:tgtEl>
                                          <p:spTgt spid="22"/>
                                        </p:tgtEl>
                                      </p:cBhvr>
                                    </p:animEffect>
                                  </p:childTnLst>
                                </p:cTn>
                              </p:par>
                              <p:par>
                                <p:cTn id="40" presetID="10" presetClass="entr" presetSubtype="0" fill="hold" grpId="0" nodeType="withEffect">
                                  <p:stCondLst>
                                    <p:cond delay="36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50"/>
                                        <p:tgtEl>
                                          <p:spTgt spid="23"/>
                                        </p:tgtEl>
                                      </p:cBhvr>
                                    </p:animEffect>
                                  </p:childTnLst>
                                </p:cTn>
                              </p:par>
                              <p:par>
                                <p:cTn id="43" presetID="10" presetClass="entr" presetSubtype="0" fill="hold" grpId="0" nodeType="withEffect">
                                  <p:stCondLst>
                                    <p:cond delay="48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450"/>
                                        <p:tgtEl>
                                          <p:spTgt spid="24"/>
                                        </p:tgtEl>
                                      </p:cBhvr>
                                    </p:animEffect>
                                  </p:childTnLst>
                                </p:cTn>
                              </p:par>
                            </p:childTnLst>
                          </p:cTn>
                        </p:par>
                      </p:childTnLst>
                    </p:cTn>
                  </p:par>
                  <p:par>
                    <p:cTn id="63" fill="hold">
                      <p:stCondLst>
                        <p:cond delay="indefinite"/>
                      </p:stCondLst>
                      <p:childTnLst>
                        <p:par>
                          <p:cTn id="64"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50"/>
                                        <p:tgtEl>
                                          <p:spTgt spid="25"/>
                                        </p:tgtEl>
                                      </p:cBhvr>
                                    </p:animEffect>
                                  </p:childTnLst>
                                </p:cTn>
                              </p:par>
                              <p:par>
                                <p:cTn id="51" presetID="10" presetClass="entr" presetSubtype="0" fill="hold" grpId="0" nodeType="withEffect">
                                  <p:stCondLst>
                                    <p:cond delay="12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450"/>
                                        <p:tgtEl>
                                          <p:spTgt spid="26"/>
                                        </p:tgtEl>
                                      </p:cBhvr>
                                    </p:animEffect>
                                  </p:childTnLst>
                                </p:cTn>
                              </p:par>
                              <p:par>
                                <p:cTn id="54" presetID="10" presetClass="entr" presetSubtype="0" fill="hold" grpId="0" nodeType="withEffect">
                                  <p:stCondLst>
                                    <p:cond delay="24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450"/>
                                        <p:tgtEl>
                                          <p:spTgt spid="27"/>
                                        </p:tgtEl>
                                      </p:cBhvr>
                                    </p:animEffect>
                                  </p:childTnLst>
                                </p:cTn>
                              </p:par>
                              <p:par>
                                <p:cTn id="57" presetID="10" presetClass="entr" presetSubtype="0" fill="hold" grpId="0" nodeType="withEffect">
                                  <p:stCondLst>
                                    <p:cond delay="36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450"/>
                                        <p:tgtEl>
                                          <p:spTgt spid="28"/>
                                        </p:tgtEl>
                                      </p:cBhvr>
                                    </p:animEffect>
                                  </p:childTnLst>
                                </p:cTn>
                              </p:par>
                              <p:par>
                                <p:cTn id="60" presetID="10" presetClass="entr" presetSubtype="0" fill="hold" grpId="0" nodeType="withEffect">
                                  <p:stCondLst>
                                    <p:cond delay="48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450"/>
                                        <p:tgtEl>
                                          <p:spTgt spid="29"/>
                                        </p:tgtEl>
                                      </p:cBhvr>
                                    </p:animEffect>
                                  </p:childTnLst>
                                </p:cTn>
                              </p:par>
                            </p:childTnLst>
                          </p:cTn>
                        </p:par>
                      </p:childTnLst>
                    </p:cTn>
                  </p:par>
                  <p:par>
                    <p:cTn id="80" fill="hold">
                      <p:stCondLst>
                        <p:cond delay="indefinite"/>
                      </p:stCondLst>
                      <p:childTnLst>
                        <p:par>
                          <p:cTn id="81"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50"/>
                                        <p:tgtEl>
                                          <p:spTgt spid="30"/>
                                        </p:tgtEl>
                                      </p:cBhvr>
                                    </p:animEffect>
                                  </p:childTnLst>
                                </p:cTn>
                              </p:par>
                              <p:par>
                                <p:cTn id="68" presetID="10" presetClass="entr" presetSubtype="0" fill="hold" grpId="0" nodeType="withEffect">
                                  <p:stCondLst>
                                    <p:cond delay="12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50"/>
                                        <p:tgtEl>
                                          <p:spTgt spid="31"/>
                                        </p:tgtEl>
                                      </p:cBhvr>
                                    </p:animEffect>
                                  </p:childTnLst>
                                </p:cTn>
                              </p:par>
                              <p:par>
                                <p:cTn id="71" presetID="10" presetClass="entr" presetSubtype="0" fill="hold" grpId="0" nodeType="withEffect">
                                  <p:stCondLst>
                                    <p:cond delay="24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50"/>
                                        <p:tgtEl>
                                          <p:spTgt spid="32"/>
                                        </p:tgtEl>
                                      </p:cBhvr>
                                    </p:animEffect>
                                  </p:childTnLst>
                                </p:cTn>
                              </p:par>
                              <p:par>
                                <p:cTn id="74" presetID="10" presetClass="entr" presetSubtype="0" fill="hold" grpId="0" nodeType="withEffect">
                                  <p:stCondLst>
                                    <p:cond delay="36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50"/>
                                        <p:tgtEl>
                                          <p:spTgt spid="33"/>
                                        </p:tgtEl>
                                      </p:cBhvr>
                                    </p:animEffect>
                                  </p:childTnLst>
                                </p:cTn>
                              </p:par>
                              <p:par>
                                <p:cTn id="77" presetID="10" presetClass="entr" presetSubtype="0" fill="hold" grpId="0" nodeType="withEffect">
                                  <p:stCondLst>
                                    <p:cond delay="48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450"/>
                                        <p:tgtEl>
                                          <p:spTgt spid="34"/>
                                        </p:tgtEl>
                                      </p:cBhvr>
                                    </p:animEffect>
                                  </p:childTnLst>
                                </p:cTn>
                              </p:par>
                            </p:childTnLst>
                          </p:cTn>
                        </p:par>
                      </p:childTnLst>
                    </p:cTn>
                  </p:par>
                  <p:par>
                    <p:cTn id="88" fill="hold">
                      <p:stCondLst>
                        <p:cond delay="indefinite"/>
                      </p:stCondLst>
                      <p:childTnLst>
                        <p:par>
                          <p:cTn id="89"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fade">
                                      <p:cBhvr>
                                        <p:cTn id="84" dur="450"/>
                                        <p:tgtEl>
                                          <p:spTgt spid="37"/>
                                        </p:tgtEl>
                                      </p:cBhvr>
                                    </p:animEffect>
                                  </p:childTnLst>
                                </p:cTn>
                              </p:par>
                              <p:par>
                                <p:cTn id="85" presetID="10" presetClass="entr" presetSubtype="0" fill="hold" grpId="0" nodeType="withEffect">
                                  <p:stCondLst>
                                    <p:cond delay="12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11</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IV.  RÈGLES QUALITÉ ET PLANS DE CORRECTION</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algorithme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COMMENT UNE RÈGLE DE CONTRÔLE EST CONSTRUITE</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143000"/>
            <a:ext cx="4023360" cy="3429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65760" y="1143000"/>
            <a:ext cx="4023360" cy="274320"/>
          </a:xfrm>
          <a:prstGeom prst="rect">
            <a:avLst/>
          </a:prstGeom>
          <a:solidFill>
            <a:srgbClr val="DEE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parametres_004181.png"/>
          <p:cNvPicPr>
            <a:picLocks noChangeAspect="1"/>
          </p:cNvPicPr>
          <p:nvPr/>
        </p:nvPicPr>
        <p:blipFill>
          <a:blip r:embed="rId4"/>
          <a:stretch>
            <a:fillRect/>
          </a:stretch>
        </p:blipFill>
        <p:spPr>
          <a:xfrm>
            <a:off x="445312" y="1167688"/>
            <a:ext cx="224942" cy="224942"/>
          </a:xfrm>
          <a:prstGeom prst="rect">
            <a:avLst/>
          </a:prstGeom>
        </p:spPr>
      </p:pic>
      <p:sp>
        <p:nvSpPr>
          <p:cNvPr id="14" name="TextBox 13"/>
          <p:cNvSpPr txBox="1"/>
          <p:nvPr/>
        </p:nvSpPr>
        <p:spPr>
          <a:xfrm>
            <a:off x="786384" y="1143000"/>
            <a:ext cx="3493008" cy="274320"/>
          </a:xfrm>
          <a:prstGeom prst="rect">
            <a:avLst/>
          </a:prstGeom>
          <a:noFill/>
        </p:spPr>
        <p:txBody>
          <a:bodyPr wrap="square" lIns="0" rIns="0" tIns="0" bIns="0" anchor="ctr">
            <a:spAutoFit/>
          </a:bodyPr>
          <a:lstStyle/>
          <a:p>
            <a:pPr algn="l"/>
            <a:r>
              <a:rPr sz="1000" b="1" i="0" spc="40">
                <a:solidFill>
                  <a:srgbClr val="004181"/>
                </a:solidFill>
                <a:latin typeface="Arial"/>
                <a:ea typeface="Arial"/>
                <a:cs typeface="Arial"/>
              </a:rPr>
              <a:t>ANATOMIE D'UNE RÈGLE</a:t>
            </a:r>
          </a:p>
        </p:txBody>
      </p:sp>
      <p:sp>
        <p:nvSpPr>
          <p:cNvPr id="15" name="Rectangle 14"/>
          <p:cNvSpPr/>
          <p:nvPr/>
        </p:nvSpPr>
        <p:spPr>
          <a:xfrm>
            <a:off x="548640" y="1627632"/>
            <a:ext cx="3657600" cy="658368"/>
          </a:xfrm>
          <a:prstGeom prst="rect">
            <a:avLst/>
          </a:prstGeom>
          <a:solidFill>
            <a:srgbClr val="E4EDE4"/>
          </a:solidFill>
          <a:ln w="9525">
            <a:solidFill>
              <a:srgbClr val="ABD3B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85800" y="1682496"/>
            <a:ext cx="3383280" cy="237744"/>
          </a:xfrm>
          <a:prstGeom prst="rect">
            <a:avLst/>
          </a:prstGeom>
          <a:noFill/>
        </p:spPr>
        <p:txBody>
          <a:bodyPr wrap="square" lIns="0" rIns="0" tIns="0" bIns="0" anchor="ctr">
            <a:spAutoFit/>
          </a:bodyPr>
          <a:lstStyle/>
          <a:p>
            <a:pPr algn="l"/>
            <a:r>
              <a:rPr sz="950" b="1" i="0" spc="40">
                <a:solidFill>
                  <a:srgbClr val="009654"/>
                </a:solidFill>
                <a:latin typeface="Arial"/>
                <a:ea typeface="Arial"/>
                <a:cs typeface="Arial"/>
              </a:rPr>
              <a:t>CHAMP CONTRÔLÉ</a:t>
            </a:r>
          </a:p>
        </p:txBody>
      </p:sp>
      <p:sp>
        <p:nvSpPr>
          <p:cNvPr id="17" name="TextBox 16"/>
          <p:cNvSpPr txBox="1"/>
          <p:nvPr/>
        </p:nvSpPr>
        <p:spPr>
          <a:xfrm>
            <a:off x="685800" y="1938528"/>
            <a:ext cx="3383280" cy="292608"/>
          </a:xfrm>
          <a:prstGeom prst="rect">
            <a:avLst/>
          </a:prstGeom>
          <a:noFill/>
        </p:spPr>
        <p:txBody>
          <a:bodyPr wrap="square" lIns="0" rIns="0" tIns="0" bIns="0" anchor="t">
            <a:spAutoFit/>
          </a:bodyPr>
          <a:lstStyle/>
          <a:p>
            <a:pPr algn="l">
              <a:lnSpc>
                <a:spcPct val="100000"/>
              </a:lnSpc>
            </a:pPr>
            <a:r>
              <a:rPr sz="900" b="0" i="0">
                <a:solidFill>
                  <a:srgbClr val="3A3A3A"/>
                </a:solidFill>
                <a:latin typeface="Arial"/>
                <a:ea typeface="Arial"/>
                <a:cs typeface="Arial"/>
              </a:rPr>
              <a:t>Le champ KYC visé, par exemple la date de revue</a:t>
            </a:r>
          </a:p>
        </p:txBody>
      </p:sp>
      <p:sp>
        <p:nvSpPr>
          <p:cNvPr id="18" name="Rectangle 17"/>
          <p:cNvSpPr/>
          <p:nvPr/>
        </p:nvSpPr>
        <p:spPr>
          <a:xfrm>
            <a:off x="548640" y="2377440"/>
            <a:ext cx="3657600" cy="658368"/>
          </a:xfrm>
          <a:prstGeom prst="rect">
            <a:avLst/>
          </a:prstGeom>
          <a:solidFill>
            <a:srgbClr val="E4EDE4"/>
          </a:solidFill>
          <a:ln w="9525">
            <a:solidFill>
              <a:srgbClr val="ABD3B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85800" y="2432304"/>
            <a:ext cx="3383280" cy="237744"/>
          </a:xfrm>
          <a:prstGeom prst="rect">
            <a:avLst/>
          </a:prstGeom>
          <a:noFill/>
        </p:spPr>
        <p:txBody>
          <a:bodyPr wrap="square" lIns="0" rIns="0" tIns="0" bIns="0" anchor="ctr">
            <a:spAutoFit/>
          </a:bodyPr>
          <a:lstStyle/>
          <a:p>
            <a:pPr algn="l"/>
            <a:r>
              <a:rPr sz="950" b="1" i="0" spc="40">
                <a:solidFill>
                  <a:srgbClr val="009654"/>
                </a:solidFill>
                <a:latin typeface="Arial"/>
                <a:ea typeface="Arial"/>
                <a:cs typeface="Arial"/>
              </a:rPr>
              <a:t>OPÉRATEUR</a:t>
            </a:r>
          </a:p>
        </p:txBody>
      </p:sp>
      <p:sp>
        <p:nvSpPr>
          <p:cNvPr id="20" name="TextBox 19"/>
          <p:cNvSpPr txBox="1"/>
          <p:nvPr/>
        </p:nvSpPr>
        <p:spPr>
          <a:xfrm>
            <a:off x="685800" y="2688336"/>
            <a:ext cx="3383280" cy="292608"/>
          </a:xfrm>
          <a:prstGeom prst="rect">
            <a:avLst/>
          </a:prstGeom>
          <a:noFill/>
        </p:spPr>
        <p:txBody>
          <a:bodyPr wrap="square" lIns="0" rIns="0" tIns="0" bIns="0" anchor="t">
            <a:spAutoFit/>
          </a:bodyPr>
          <a:lstStyle/>
          <a:p>
            <a:pPr algn="l">
              <a:lnSpc>
                <a:spcPct val="100000"/>
              </a:lnSpc>
            </a:pPr>
            <a:r>
              <a:rPr sz="900" b="0" i="0">
                <a:solidFill>
                  <a:srgbClr val="3A3A3A"/>
                </a:solidFill>
                <a:latin typeface="Arial"/>
                <a:ea typeface="Arial"/>
                <a:cs typeface="Arial"/>
              </a:rPr>
              <a:t>Est vide, est antérieur à, ne respecte pas le format</a:t>
            </a:r>
          </a:p>
        </p:txBody>
      </p:sp>
      <p:sp>
        <p:nvSpPr>
          <p:cNvPr id="21" name="Rectangle 20"/>
          <p:cNvSpPr/>
          <p:nvPr/>
        </p:nvSpPr>
        <p:spPr>
          <a:xfrm>
            <a:off x="548640" y="3127248"/>
            <a:ext cx="3657600" cy="658368"/>
          </a:xfrm>
          <a:prstGeom prst="rect">
            <a:avLst/>
          </a:prstGeom>
          <a:solidFill>
            <a:srgbClr val="E4EDE4"/>
          </a:solidFill>
          <a:ln w="9525">
            <a:solidFill>
              <a:srgbClr val="ABD3B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85800" y="3182112"/>
            <a:ext cx="3383280" cy="237744"/>
          </a:xfrm>
          <a:prstGeom prst="rect">
            <a:avLst/>
          </a:prstGeom>
          <a:noFill/>
        </p:spPr>
        <p:txBody>
          <a:bodyPr wrap="square" lIns="0" rIns="0" tIns="0" bIns="0" anchor="ctr">
            <a:spAutoFit/>
          </a:bodyPr>
          <a:lstStyle/>
          <a:p>
            <a:pPr algn="l"/>
            <a:r>
              <a:rPr sz="950" b="1" i="0" spc="40">
                <a:solidFill>
                  <a:srgbClr val="009654"/>
                </a:solidFill>
                <a:latin typeface="Arial"/>
                <a:ea typeface="Arial"/>
                <a:cs typeface="Arial"/>
              </a:rPr>
              <a:t>VALEUR ATTENDUE</a:t>
            </a:r>
          </a:p>
        </p:txBody>
      </p:sp>
      <p:sp>
        <p:nvSpPr>
          <p:cNvPr id="23" name="TextBox 22"/>
          <p:cNvSpPr txBox="1"/>
          <p:nvPr/>
        </p:nvSpPr>
        <p:spPr>
          <a:xfrm>
            <a:off x="685800" y="3438144"/>
            <a:ext cx="3383280" cy="292608"/>
          </a:xfrm>
          <a:prstGeom prst="rect">
            <a:avLst/>
          </a:prstGeom>
          <a:noFill/>
        </p:spPr>
        <p:txBody>
          <a:bodyPr wrap="square" lIns="0" rIns="0" tIns="0" bIns="0" anchor="t">
            <a:spAutoFit/>
          </a:bodyPr>
          <a:lstStyle/>
          <a:p>
            <a:pPr algn="l">
              <a:lnSpc>
                <a:spcPct val="100000"/>
              </a:lnSpc>
            </a:pPr>
            <a:r>
              <a:rPr sz="900" b="0" i="0">
                <a:solidFill>
                  <a:srgbClr val="3A3A3A"/>
                </a:solidFill>
                <a:latin typeface="Arial"/>
                <a:ea typeface="Arial"/>
                <a:cs typeface="Arial"/>
              </a:rPr>
              <a:t>La référence de comparaison : une date, un format, une liste</a:t>
            </a:r>
          </a:p>
        </p:txBody>
      </p:sp>
      <p:sp>
        <p:nvSpPr>
          <p:cNvPr id="24" name="TextBox 23"/>
          <p:cNvSpPr txBox="1"/>
          <p:nvPr/>
        </p:nvSpPr>
        <p:spPr>
          <a:xfrm>
            <a:off x="548640" y="3913632"/>
            <a:ext cx="3657600" cy="566928"/>
          </a:xfrm>
          <a:prstGeom prst="rect">
            <a:avLst/>
          </a:prstGeom>
          <a:noFill/>
        </p:spPr>
        <p:txBody>
          <a:bodyPr wrap="square" lIns="0" rIns="0" tIns="0" bIns="0" anchor="t">
            <a:spAutoFit/>
          </a:bodyPr>
          <a:lstStyle/>
          <a:p>
            <a:pPr algn="l">
              <a:lnSpc>
                <a:spcPct val="105000"/>
              </a:lnSpc>
            </a:pPr>
            <a:r>
              <a:rPr sz="950" b="1" i="0">
                <a:solidFill>
                  <a:srgbClr val="004181"/>
                </a:solidFill>
                <a:latin typeface="Arial"/>
                <a:ea typeface="Arial"/>
                <a:cs typeface="Arial"/>
              </a:rPr>
              <a:t>Plusieurs conditions se combinent en ET / OU. </a:t>
            </a:r>
            <a:r>
              <a:rPr sz="950" b="0" i="0">
                <a:solidFill>
                  <a:srgbClr val="3A3A3A"/>
                </a:solidFill>
                <a:latin typeface="Arial"/>
                <a:ea typeface="Arial"/>
                <a:cs typeface="Arial"/>
              </a:rPr>
              <a:t>Chaque évaluation est datée, tracée et rattachée à une version de la règle.</a:t>
            </a:r>
          </a:p>
        </p:txBody>
      </p:sp>
      <p:sp>
        <p:nvSpPr>
          <p:cNvPr id="25" name="Rectangle 24"/>
          <p:cNvSpPr/>
          <p:nvPr/>
        </p:nvSpPr>
        <p:spPr>
          <a:xfrm>
            <a:off x="4754880" y="1143000"/>
            <a:ext cx="4023360" cy="3429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754880" y="1143000"/>
            <a:ext cx="4023360" cy="274320"/>
          </a:xfrm>
          <a:prstGeom prst="rect">
            <a:avLst/>
          </a:prstGeom>
          <a:solidFill>
            <a:srgbClr val="DEF1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marque-page_009654.png"/>
          <p:cNvPicPr>
            <a:picLocks noChangeAspect="1"/>
          </p:cNvPicPr>
          <p:nvPr/>
        </p:nvPicPr>
        <p:blipFill>
          <a:blip r:embed="rId5"/>
          <a:stretch>
            <a:fillRect/>
          </a:stretch>
        </p:blipFill>
        <p:spPr>
          <a:xfrm>
            <a:off x="4834432" y="1167688"/>
            <a:ext cx="224942" cy="224942"/>
          </a:xfrm>
          <a:prstGeom prst="rect">
            <a:avLst/>
          </a:prstGeom>
        </p:spPr>
      </p:pic>
      <p:sp>
        <p:nvSpPr>
          <p:cNvPr id="28" name="TextBox 27"/>
          <p:cNvSpPr txBox="1"/>
          <p:nvPr/>
        </p:nvSpPr>
        <p:spPr>
          <a:xfrm>
            <a:off x="5175504" y="1143000"/>
            <a:ext cx="3493008" cy="274320"/>
          </a:xfrm>
          <a:prstGeom prst="rect">
            <a:avLst/>
          </a:prstGeom>
          <a:noFill/>
        </p:spPr>
        <p:txBody>
          <a:bodyPr wrap="square" lIns="0" rIns="0" tIns="0" bIns="0" anchor="ctr">
            <a:spAutoFit/>
          </a:bodyPr>
          <a:lstStyle/>
          <a:p>
            <a:pPr algn="l"/>
            <a:r>
              <a:rPr sz="1000" b="1" i="0" spc="40">
                <a:solidFill>
                  <a:srgbClr val="009654"/>
                </a:solidFill>
                <a:latin typeface="Arial"/>
                <a:ea typeface="Arial"/>
                <a:cs typeface="Arial"/>
              </a:rPr>
              <a:t>EXEMPLES APPLIQUÉS À BOA RDC</a:t>
            </a:r>
          </a:p>
        </p:txBody>
      </p:sp>
      <p:sp>
        <p:nvSpPr>
          <p:cNvPr id="29" name="TextBox 28"/>
          <p:cNvSpPr txBox="1"/>
          <p:nvPr/>
        </p:nvSpPr>
        <p:spPr>
          <a:xfrm>
            <a:off x="4919472" y="1563624"/>
            <a:ext cx="3694176" cy="2880360"/>
          </a:xfrm>
          <a:prstGeom prst="rect">
            <a:avLst/>
          </a:prstGeom>
          <a:noFill/>
        </p:spPr>
        <p:txBody>
          <a:bodyPr wrap="square" lIns="0" rIns="0" tIns="0" bIns="0" anchor="t">
            <a:spAutoFit/>
          </a:bodyPr>
          <a:lstStyle/>
          <a:p>
            <a:pPr algn="l" marL="152400" indent="-152400">
              <a:lnSpc>
                <a:spcPct val="105000"/>
              </a:lnSpc>
              <a:spcAft>
                <a:spcPts val="1400"/>
              </a:spcAft>
              <a:buClr>
                <a:srgbClr val="009654"/>
              </a:buClr>
              <a:buFont typeface="Arial" pitchFamily="34" charset="0"/>
              <a:buChar char="▪"/>
            </a:pPr>
            <a:r>
              <a:rPr sz="1000" b="0" i="0">
                <a:solidFill>
                  <a:srgbClr val="3A3A3A"/>
                </a:solidFill>
                <a:latin typeface="Arial"/>
                <a:ea typeface="Arial"/>
                <a:cs typeface="Arial"/>
              </a:rPr>
              <a:t>Date de revue dépassée : le dossier est échu et doit être revu en priorité</a:t>
            </a:r>
          </a:p>
          <a:p>
            <a:pPr algn="l" marL="152400" indent="-152400">
              <a:lnSpc>
                <a:spcPct val="105000"/>
              </a:lnSpc>
              <a:spcAft>
                <a:spcPts val="1400"/>
              </a:spcAft>
              <a:buClr>
                <a:srgbClr val="009654"/>
              </a:buClr>
              <a:buFont typeface="Arial" pitchFamily="34" charset="0"/>
              <a:buChar char="▪"/>
            </a:pPr>
            <a:r>
              <a:rPr sz="1000" b="0" i="0">
                <a:solidFill>
                  <a:srgbClr val="3A3A3A"/>
                </a:solidFill>
                <a:latin typeface="Arial"/>
                <a:ea typeface="Arial"/>
                <a:cs typeface="Arial"/>
              </a:rPr>
              <a:t>Pièce d'identité arrivant à échéance dans les trois mois : anticipation du renouvellement</a:t>
            </a:r>
          </a:p>
          <a:p>
            <a:pPr algn="l" marL="152400" indent="-152400">
              <a:lnSpc>
                <a:spcPct val="105000"/>
              </a:lnSpc>
              <a:spcAft>
                <a:spcPts val="1400"/>
              </a:spcAft>
              <a:buClr>
                <a:srgbClr val="009654"/>
              </a:buClr>
              <a:buFont typeface="Arial" pitchFamily="34" charset="0"/>
              <a:buChar char="▪"/>
            </a:pPr>
            <a:r>
              <a:rPr sz="1000" b="0" i="0">
                <a:solidFill>
                  <a:srgbClr val="3A3A3A"/>
                </a:solidFill>
                <a:latin typeface="Arial"/>
                <a:ea typeface="Arial"/>
                <a:cs typeface="Arial"/>
              </a:rPr>
              <a:t>Profession ou activité non renseignée sur un compte particulier</a:t>
            </a:r>
          </a:p>
          <a:p>
            <a:pPr algn="l" marL="152400" indent="-152400">
              <a:lnSpc>
                <a:spcPct val="105000"/>
              </a:lnSpc>
              <a:spcAft>
                <a:spcPts val="1400"/>
              </a:spcAft>
              <a:buClr>
                <a:srgbClr val="009654"/>
              </a:buClr>
              <a:buFont typeface="Arial" pitchFamily="34" charset="0"/>
              <a:buChar char="▪"/>
            </a:pPr>
            <a:r>
              <a:rPr sz="1000" b="0" i="0">
                <a:solidFill>
                  <a:srgbClr val="3A3A3A"/>
                </a:solidFill>
                <a:latin typeface="Arial"/>
                <a:ea typeface="Arial"/>
                <a:cs typeface="Arial"/>
              </a:rPr>
              <a:t>Adresse réduite à une mention générique, sans commune ni référence</a:t>
            </a:r>
          </a:p>
          <a:p>
            <a:pPr algn="l" marL="152400" indent="-152400">
              <a:lnSpc>
                <a:spcPct val="105000"/>
              </a:lnSpc>
              <a:spcAft>
                <a:spcPts val="1400"/>
              </a:spcAft>
              <a:buClr>
                <a:srgbClr val="009654"/>
              </a:buClr>
              <a:buFont typeface="Arial" pitchFamily="34" charset="0"/>
              <a:buChar char="▪"/>
            </a:pPr>
            <a:r>
              <a:rPr sz="1000" b="0" i="0">
                <a:solidFill>
                  <a:srgbClr val="3A3A3A"/>
                </a:solidFill>
                <a:latin typeface="Arial"/>
                <a:ea typeface="Arial"/>
                <a:cs typeface="Arial"/>
              </a:rPr>
              <a:t>Personne morale sans numéro d'identification fiscale renseigné</a:t>
            </a:r>
          </a:p>
          <a:p>
            <a:pPr algn="l" marL="152400" indent="-152400">
              <a:lnSpc>
                <a:spcPct val="105000"/>
              </a:lnSpc>
              <a:spcAft>
                <a:spcPts val="1400"/>
              </a:spcAft>
              <a:buClr>
                <a:srgbClr val="009654"/>
              </a:buClr>
              <a:buFont typeface="Arial" pitchFamily="34" charset="0"/>
              <a:buChar char="▪"/>
            </a:pPr>
            <a:r>
              <a:rPr sz="1000" b="0" i="0">
                <a:solidFill>
                  <a:srgbClr val="3A3A3A"/>
                </a:solidFill>
                <a:latin typeface="Arial"/>
                <a:ea typeface="Arial"/>
                <a:cs typeface="Arial"/>
              </a:rPr>
              <a:t>Coordonnées de contact absentes, rendant la relance impossible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5" fill="hold">
                      <p:stCondLst>
                        <p:cond delay="indefinite"/>
                      </p:stCondLst>
                      <p:childTnLst>
                        <p:par>
                          <p:cTn id="4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par>
                                <p:cTn id="18" presetID="10" presetClass="entr" presetSubtype="0" fill="hold" grpId="0" nodeType="withEffect">
                                  <p:stCondLst>
                                    <p:cond delay="60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50"/>
                                        <p:tgtEl>
                                          <p:spTgt spid="16"/>
                                        </p:tgtEl>
                                      </p:cBhvr>
                                    </p:animEffect>
                                  </p:childTnLst>
                                </p:cTn>
                              </p:par>
                              <p:par>
                                <p:cTn id="21" presetID="10" presetClass="entr" presetSubtype="0" fill="hold" grpId="0" nodeType="withEffect">
                                  <p:stCondLst>
                                    <p:cond delay="72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50"/>
                                        <p:tgtEl>
                                          <p:spTgt spid="17"/>
                                        </p:tgtEl>
                                      </p:cBhvr>
                                    </p:animEffect>
                                  </p:childTnLst>
                                </p:cTn>
                              </p:par>
                              <p:par>
                                <p:cTn id="24" presetID="10" presetClass="entr" presetSubtype="0" fill="hold" grpId="0" nodeType="withEffect">
                                  <p:stCondLst>
                                    <p:cond delay="84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50"/>
                                        <p:tgtEl>
                                          <p:spTgt spid="18"/>
                                        </p:tgtEl>
                                      </p:cBhvr>
                                    </p:animEffect>
                                  </p:childTnLst>
                                </p:cTn>
                              </p:par>
                              <p:par>
                                <p:cTn id="27" presetID="10" presetClass="entr" presetSubtype="0" fill="hold" grpId="0" nodeType="withEffect">
                                  <p:stCondLst>
                                    <p:cond delay="96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50"/>
                                        <p:tgtEl>
                                          <p:spTgt spid="19"/>
                                        </p:tgtEl>
                                      </p:cBhvr>
                                    </p:animEffect>
                                  </p:childTnLst>
                                </p:cTn>
                              </p:par>
                              <p:par>
                                <p:cTn id="30" presetID="10" presetClass="entr" presetSubtype="0" fill="hold" grpId="0" nodeType="withEffect">
                                  <p:stCondLst>
                                    <p:cond delay="108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50"/>
                                        <p:tgtEl>
                                          <p:spTgt spid="20"/>
                                        </p:tgtEl>
                                      </p:cBhvr>
                                    </p:animEffect>
                                  </p:childTnLst>
                                </p:cTn>
                              </p:par>
                              <p:par>
                                <p:cTn id="33" presetID="10" presetClass="entr" presetSubtype="0" fill="hold" grpId="0" nodeType="withEffect">
                                  <p:stCondLst>
                                    <p:cond delay="120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50"/>
                                        <p:tgtEl>
                                          <p:spTgt spid="21"/>
                                        </p:tgtEl>
                                      </p:cBhvr>
                                    </p:animEffect>
                                  </p:childTnLst>
                                </p:cTn>
                              </p:par>
                              <p:par>
                                <p:cTn id="36" presetID="10" presetClass="entr" presetSubtype="0" fill="hold" grpId="0" nodeType="withEffect">
                                  <p:stCondLst>
                                    <p:cond delay="132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childTnLst>
                                </p:cTn>
                              </p:par>
                              <p:par>
                                <p:cTn id="39" presetID="10" presetClass="entr" presetSubtype="0" fill="hold" grpId="0" nodeType="withEffect">
                                  <p:stCondLst>
                                    <p:cond delay="144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50"/>
                                        <p:tgtEl>
                                          <p:spTgt spid="23"/>
                                        </p:tgtEl>
                                      </p:cBhvr>
                                    </p:animEffect>
                                  </p:childTnLst>
                                </p:cTn>
                              </p:par>
                              <p:par>
                                <p:cTn id="42" presetID="10" presetClass="entr" presetSubtype="0" fill="hold" grpId="0" nodeType="withEffect">
                                  <p:stCondLst>
                                    <p:cond delay="156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450"/>
                                        <p:tgtEl>
                                          <p:spTgt spid="24"/>
                                        </p:tgtEl>
                                      </p:cBhvr>
                                    </p:animEffect>
                                  </p:childTnLst>
                                </p:cTn>
                              </p:par>
                            </p:childTnLst>
                          </p:cTn>
                        </p:par>
                      </p:childTnLst>
                    </p:cTn>
                  </p:par>
                  <p:par>
                    <p:cTn id="62" fill="hold">
                      <p:stCondLst>
                        <p:cond delay="indefinite"/>
                      </p:stCondLst>
                      <p:childTnLst>
                        <p:par>
                          <p:cTn id="63"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450"/>
                                        <p:tgtEl>
                                          <p:spTgt spid="25"/>
                                        </p:tgtEl>
                                      </p:cBhvr>
                                    </p:animEffect>
                                  </p:childTnLst>
                                </p:cTn>
                              </p:par>
                              <p:par>
                                <p:cTn id="50" presetID="10" presetClass="entr" presetSubtype="0" fill="hold" grpId="0" nodeType="withEffect">
                                  <p:stCondLst>
                                    <p:cond delay="12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50"/>
                                        <p:tgtEl>
                                          <p:spTgt spid="26"/>
                                        </p:tgtEl>
                                      </p:cBhvr>
                                    </p:animEffect>
                                  </p:childTnLst>
                                </p:cTn>
                              </p:par>
                              <p:par>
                                <p:cTn id="53" presetID="10" presetClass="entr" presetSubtype="0" fill="hold" grpId="0" nodeType="withEffect">
                                  <p:stCondLst>
                                    <p:cond delay="24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50"/>
                                        <p:tgtEl>
                                          <p:spTgt spid="27"/>
                                        </p:tgtEl>
                                      </p:cBhvr>
                                    </p:animEffect>
                                  </p:childTnLst>
                                </p:cTn>
                              </p:par>
                              <p:par>
                                <p:cTn id="56" presetID="10" presetClass="entr" presetSubtype="0" fill="hold" grpId="0" nodeType="withEffect">
                                  <p:stCondLst>
                                    <p:cond delay="36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50"/>
                                        <p:tgtEl>
                                          <p:spTgt spid="28"/>
                                        </p:tgtEl>
                                      </p:cBhvr>
                                    </p:animEffect>
                                  </p:childTnLst>
                                </p:cTn>
                              </p:par>
                              <p:par>
                                <p:cTn id="59" presetID="10" presetClass="entr" presetSubtype="0" fill="hold" grpId="0" nodeType="withEffect">
                                  <p:stCondLst>
                                    <p:cond delay="48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12</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IV.  RÈGLES QUALITÉ ET PLANS DE CORRECTION</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parametres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DE L'INDICATEUR AU DOSSIER CORRIGÉ</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188720"/>
            <a:ext cx="8412480" cy="5303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502920" y="1289304"/>
            <a:ext cx="347472" cy="347472"/>
          </a:xfrm>
          <a:prstGeom prst="ellipse">
            <a:avLst/>
          </a:prstGeom>
          <a:solidFill>
            <a:srgbClr val="0096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02920" y="1289304"/>
            <a:ext cx="347472" cy="347472"/>
          </a:xfrm>
          <a:prstGeom prst="rect">
            <a:avLst/>
          </a:prstGeom>
          <a:noFill/>
        </p:spPr>
        <p:txBody>
          <a:bodyPr wrap="square" lIns="0" rIns="0" tIns="0" bIns="0" anchor="ctr">
            <a:spAutoFit/>
          </a:bodyPr>
          <a:lstStyle/>
          <a:p>
            <a:pPr algn="ctr"/>
            <a:r>
              <a:rPr sz="1200" b="1" i="0">
                <a:solidFill>
                  <a:srgbClr val="FFFFFF"/>
                </a:solidFill>
                <a:latin typeface="Arial"/>
                <a:ea typeface="Arial"/>
                <a:cs typeface="Arial"/>
              </a:rPr>
              <a:t>1</a:t>
            </a:r>
          </a:p>
        </p:txBody>
      </p:sp>
      <p:sp>
        <p:nvSpPr>
          <p:cNvPr id="14" name="TextBox 13"/>
          <p:cNvSpPr txBox="1"/>
          <p:nvPr/>
        </p:nvSpPr>
        <p:spPr>
          <a:xfrm>
            <a:off x="987552" y="1188720"/>
            <a:ext cx="1554480" cy="530352"/>
          </a:xfrm>
          <a:prstGeom prst="rect">
            <a:avLst/>
          </a:prstGeom>
          <a:noFill/>
        </p:spPr>
        <p:txBody>
          <a:bodyPr wrap="square" lIns="0" rIns="0" tIns="0" bIns="0" anchor="ctr">
            <a:spAutoFit/>
          </a:bodyPr>
          <a:lstStyle/>
          <a:p>
            <a:pPr algn="l"/>
            <a:r>
              <a:rPr sz="1100" b="1" i="0" spc="50">
                <a:solidFill>
                  <a:srgbClr val="004181"/>
                </a:solidFill>
                <a:latin typeface="Arial"/>
                <a:ea typeface="Arial"/>
                <a:cs typeface="Arial"/>
              </a:rPr>
              <a:t>FILTRER</a:t>
            </a:r>
          </a:p>
        </p:txBody>
      </p:sp>
      <p:sp>
        <p:nvSpPr>
          <p:cNvPr id="15" name="TextBox 14"/>
          <p:cNvSpPr txBox="1"/>
          <p:nvPr/>
        </p:nvSpPr>
        <p:spPr>
          <a:xfrm>
            <a:off x="2542032" y="1188720"/>
            <a:ext cx="6035040" cy="530352"/>
          </a:xfrm>
          <a:prstGeom prst="rect">
            <a:avLst/>
          </a:prstGeom>
          <a:noFill/>
        </p:spPr>
        <p:txBody>
          <a:bodyPr wrap="square" lIns="0" rIns="0" tIns="0" bIns="0" anchor="ctr">
            <a:spAutoFit/>
          </a:bodyPr>
          <a:lstStyle/>
          <a:p>
            <a:pPr algn="l">
              <a:lnSpc>
                <a:spcPct val="100000"/>
              </a:lnSpc>
            </a:pPr>
            <a:r>
              <a:rPr sz="1000" b="0" i="0">
                <a:solidFill>
                  <a:srgbClr val="3A3A3A"/>
                </a:solidFill>
                <a:latin typeface="Arial"/>
                <a:ea typeface="Arial"/>
                <a:cs typeface="Arial"/>
              </a:rPr>
              <a:t>Choisir la règle et le périmètre : agence, chargé, stock ou flux.</a:t>
            </a:r>
          </a:p>
        </p:txBody>
      </p:sp>
      <p:sp>
        <p:nvSpPr>
          <p:cNvPr id="16" name="Rectangle 15"/>
          <p:cNvSpPr/>
          <p:nvPr/>
        </p:nvSpPr>
        <p:spPr>
          <a:xfrm>
            <a:off x="365760" y="1792224"/>
            <a:ext cx="8412480" cy="5303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502920" y="1892807"/>
            <a:ext cx="347472" cy="347472"/>
          </a:xfrm>
          <a:prstGeom prst="ellipse">
            <a:avLst/>
          </a:prstGeom>
          <a:solidFill>
            <a:srgbClr val="0096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02920" y="1892807"/>
            <a:ext cx="347472" cy="347472"/>
          </a:xfrm>
          <a:prstGeom prst="rect">
            <a:avLst/>
          </a:prstGeom>
          <a:noFill/>
        </p:spPr>
        <p:txBody>
          <a:bodyPr wrap="square" lIns="0" rIns="0" tIns="0" bIns="0" anchor="ctr">
            <a:spAutoFit/>
          </a:bodyPr>
          <a:lstStyle/>
          <a:p>
            <a:pPr algn="ctr"/>
            <a:r>
              <a:rPr sz="1200" b="1" i="0">
                <a:solidFill>
                  <a:srgbClr val="FFFFFF"/>
                </a:solidFill>
                <a:latin typeface="Arial"/>
                <a:ea typeface="Arial"/>
                <a:cs typeface="Arial"/>
              </a:rPr>
              <a:t>2</a:t>
            </a:r>
          </a:p>
        </p:txBody>
      </p:sp>
      <p:sp>
        <p:nvSpPr>
          <p:cNvPr id="19" name="TextBox 18"/>
          <p:cNvSpPr txBox="1"/>
          <p:nvPr/>
        </p:nvSpPr>
        <p:spPr>
          <a:xfrm>
            <a:off x="987552" y="1792224"/>
            <a:ext cx="1554480" cy="530352"/>
          </a:xfrm>
          <a:prstGeom prst="rect">
            <a:avLst/>
          </a:prstGeom>
          <a:noFill/>
        </p:spPr>
        <p:txBody>
          <a:bodyPr wrap="square" lIns="0" rIns="0" tIns="0" bIns="0" anchor="ctr">
            <a:spAutoFit/>
          </a:bodyPr>
          <a:lstStyle/>
          <a:p>
            <a:pPr algn="l"/>
            <a:r>
              <a:rPr sz="1100" b="1" i="0" spc="50">
                <a:solidFill>
                  <a:srgbClr val="004181"/>
                </a:solidFill>
                <a:latin typeface="Arial"/>
                <a:ea typeface="Arial"/>
                <a:cs typeface="Arial"/>
              </a:rPr>
              <a:t>EXTRAIRE</a:t>
            </a:r>
          </a:p>
        </p:txBody>
      </p:sp>
      <p:sp>
        <p:nvSpPr>
          <p:cNvPr id="20" name="TextBox 19"/>
          <p:cNvSpPr txBox="1"/>
          <p:nvPr/>
        </p:nvSpPr>
        <p:spPr>
          <a:xfrm>
            <a:off x="2542032" y="1792224"/>
            <a:ext cx="6035040" cy="530352"/>
          </a:xfrm>
          <a:prstGeom prst="rect">
            <a:avLst/>
          </a:prstGeom>
          <a:noFill/>
        </p:spPr>
        <p:txBody>
          <a:bodyPr wrap="square" lIns="0" rIns="0" tIns="0" bIns="0" anchor="ctr">
            <a:spAutoFit/>
          </a:bodyPr>
          <a:lstStyle/>
          <a:p>
            <a:pPr algn="l">
              <a:lnSpc>
                <a:spcPct val="100000"/>
              </a:lnSpc>
            </a:pPr>
            <a:r>
              <a:rPr sz="1000" b="0" i="0">
                <a:solidFill>
                  <a:srgbClr val="3A3A3A"/>
                </a:solidFill>
                <a:latin typeface="Arial"/>
                <a:ea typeface="Arial"/>
                <a:cs typeface="Arial"/>
              </a:rPr>
              <a:t>Exporter la liste nominative des dossiers en écart, au format tableur.</a:t>
            </a:r>
          </a:p>
        </p:txBody>
      </p:sp>
      <p:sp>
        <p:nvSpPr>
          <p:cNvPr id="21" name="Rectangle 20"/>
          <p:cNvSpPr/>
          <p:nvPr/>
        </p:nvSpPr>
        <p:spPr>
          <a:xfrm>
            <a:off x="365760" y="2395728"/>
            <a:ext cx="8412480" cy="5303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502920" y="2496312"/>
            <a:ext cx="347472" cy="347472"/>
          </a:xfrm>
          <a:prstGeom prst="ellipse">
            <a:avLst/>
          </a:prstGeom>
          <a:solidFill>
            <a:srgbClr val="0096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02920" y="2496312"/>
            <a:ext cx="347472" cy="347472"/>
          </a:xfrm>
          <a:prstGeom prst="rect">
            <a:avLst/>
          </a:prstGeom>
          <a:noFill/>
        </p:spPr>
        <p:txBody>
          <a:bodyPr wrap="square" lIns="0" rIns="0" tIns="0" bIns="0" anchor="ctr">
            <a:spAutoFit/>
          </a:bodyPr>
          <a:lstStyle/>
          <a:p>
            <a:pPr algn="ctr"/>
            <a:r>
              <a:rPr sz="1200" b="1" i="0">
                <a:solidFill>
                  <a:srgbClr val="FFFFFF"/>
                </a:solidFill>
                <a:latin typeface="Arial"/>
                <a:ea typeface="Arial"/>
                <a:cs typeface="Arial"/>
              </a:rPr>
              <a:t>3</a:t>
            </a:r>
          </a:p>
        </p:txBody>
      </p:sp>
      <p:sp>
        <p:nvSpPr>
          <p:cNvPr id="24" name="TextBox 23"/>
          <p:cNvSpPr txBox="1"/>
          <p:nvPr/>
        </p:nvSpPr>
        <p:spPr>
          <a:xfrm>
            <a:off x="987552" y="2395728"/>
            <a:ext cx="1554480" cy="530352"/>
          </a:xfrm>
          <a:prstGeom prst="rect">
            <a:avLst/>
          </a:prstGeom>
          <a:noFill/>
        </p:spPr>
        <p:txBody>
          <a:bodyPr wrap="square" lIns="0" rIns="0" tIns="0" bIns="0" anchor="ctr">
            <a:spAutoFit/>
          </a:bodyPr>
          <a:lstStyle/>
          <a:p>
            <a:pPr algn="l"/>
            <a:r>
              <a:rPr sz="1100" b="1" i="0" spc="50">
                <a:solidFill>
                  <a:srgbClr val="004181"/>
                </a:solidFill>
                <a:latin typeface="Arial"/>
                <a:ea typeface="Arial"/>
                <a:cs typeface="Arial"/>
              </a:rPr>
              <a:t>RÉPARTIR</a:t>
            </a:r>
          </a:p>
        </p:txBody>
      </p:sp>
      <p:sp>
        <p:nvSpPr>
          <p:cNvPr id="25" name="TextBox 24"/>
          <p:cNvSpPr txBox="1"/>
          <p:nvPr/>
        </p:nvSpPr>
        <p:spPr>
          <a:xfrm>
            <a:off x="2542032" y="2395728"/>
            <a:ext cx="6035040" cy="530352"/>
          </a:xfrm>
          <a:prstGeom prst="rect">
            <a:avLst/>
          </a:prstGeom>
          <a:noFill/>
        </p:spPr>
        <p:txBody>
          <a:bodyPr wrap="square" lIns="0" rIns="0" tIns="0" bIns="0" anchor="ctr">
            <a:spAutoFit/>
          </a:bodyPr>
          <a:lstStyle/>
          <a:p>
            <a:pPr algn="l">
              <a:lnSpc>
                <a:spcPct val="100000"/>
              </a:lnSpc>
            </a:pPr>
            <a:r>
              <a:rPr sz="1000" b="0" i="0">
                <a:solidFill>
                  <a:srgbClr val="3A3A3A"/>
                </a:solidFill>
                <a:latin typeface="Arial"/>
                <a:ea typeface="Arial"/>
                <a:cs typeface="Arial"/>
              </a:rPr>
              <a:t>Le directeur d'agence attribue les dossiers et fixe une échéance de traitement.</a:t>
            </a:r>
          </a:p>
        </p:txBody>
      </p:sp>
      <p:sp>
        <p:nvSpPr>
          <p:cNvPr id="26" name="Rectangle 25"/>
          <p:cNvSpPr/>
          <p:nvPr/>
        </p:nvSpPr>
        <p:spPr>
          <a:xfrm>
            <a:off x="365760" y="2999232"/>
            <a:ext cx="8412480" cy="5303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502920" y="3099816"/>
            <a:ext cx="347472" cy="347472"/>
          </a:xfrm>
          <a:prstGeom prst="ellipse">
            <a:avLst/>
          </a:prstGeom>
          <a:solidFill>
            <a:srgbClr val="0096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02920" y="3099816"/>
            <a:ext cx="347472" cy="347472"/>
          </a:xfrm>
          <a:prstGeom prst="rect">
            <a:avLst/>
          </a:prstGeom>
          <a:noFill/>
        </p:spPr>
        <p:txBody>
          <a:bodyPr wrap="square" lIns="0" rIns="0" tIns="0" bIns="0" anchor="ctr">
            <a:spAutoFit/>
          </a:bodyPr>
          <a:lstStyle/>
          <a:p>
            <a:pPr algn="ctr"/>
            <a:r>
              <a:rPr sz="1200" b="1" i="0">
                <a:solidFill>
                  <a:srgbClr val="FFFFFF"/>
                </a:solidFill>
                <a:latin typeface="Arial"/>
                <a:ea typeface="Arial"/>
                <a:cs typeface="Arial"/>
              </a:rPr>
              <a:t>4</a:t>
            </a:r>
          </a:p>
        </p:txBody>
      </p:sp>
      <p:sp>
        <p:nvSpPr>
          <p:cNvPr id="29" name="TextBox 28"/>
          <p:cNvSpPr txBox="1"/>
          <p:nvPr/>
        </p:nvSpPr>
        <p:spPr>
          <a:xfrm>
            <a:off x="987552" y="2999232"/>
            <a:ext cx="1554480" cy="530352"/>
          </a:xfrm>
          <a:prstGeom prst="rect">
            <a:avLst/>
          </a:prstGeom>
          <a:noFill/>
        </p:spPr>
        <p:txBody>
          <a:bodyPr wrap="square" lIns="0" rIns="0" tIns="0" bIns="0" anchor="ctr">
            <a:spAutoFit/>
          </a:bodyPr>
          <a:lstStyle/>
          <a:p>
            <a:pPr algn="l"/>
            <a:r>
              <a:rPr sz="1100" b="1" i="0" spc="50">
                <a:solidFill>
                  <a:srgbClr val="004181"/>
                </a:solidFill>
                <a:latin typeface="Arial"/>
                <a:ea typeface="Arial"/>
                <a:cs typeface="Arial"/>
              </a:rPr>
              <a:t>CORRIGER</a:t>
            </a:r>
          </a:p>
        </p:txBody>
      </p:sp>
      <p:sp>
        <p:nvSpPr>
          <p:cNvPr id="30" name="TextBox 29"/>
          <p:cNvSpPr txBox="1"/>
          <p:nvPr/>
        </p:nvSpPr>
        <p:spPr>
          <a:xfrm>
            <a:off x="2542032" y="2999232"/>
            <a:ext cx="6035040" cy="530352"/>
          </a:xfrm>
          <a:prstGeom prst="rect">
            <a:avLst/>
          </a:prstGeom>
          <a:noFill/>
        </p:spPr>
        <p:txBody>
          <a:bodyPr wrap="square" lIns="0" rIns="0" tIns="0" bIns="0" anchor="ctr">
            <a:spAutoFit/>
          </a:bodyPr>
          <a:lstStyle/>
          <a:p>
            <a:pPr algn="l">
              <a:lnSpc>
                <a:spcPct val="100000"/>
              </a:lnSpc>
            </a:pPr>
            <a:r>
              <a:rPr sz="1000" b="0" i="0">
                <a:solidFill>
                  <a:srgbClr val="3A3A3A"/>
                </a:solidFill>
                <a:latin typeface="Arial"/>
                <a:ea typeface="Arial"/>
                <a:cs typeface="Arial"/>
              </a:rPr>
              <a:t>Le chargé met à jour le dossier dans le corebanking et dépose la pièce justificative.</a:t>
            </a:r>
          </a:p>
        </p:txBody>
      </p:sp>
      <p:sp>
        <p:nvSpPr>
          <p:cNvPr id="31" name="Rectangle 30"/>
          <p:cNvSpPr/>
          <p:nvPr/>
        </p:nvSpPr>
        <p:spPr>
          <a:xfrm>
            <a:off x="365760" y="3602736"/>
            <a:ext cx="8412480" cy="53035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502920" y="3703320"/>
            <a:ext cx="347472" cy="347472"/>
          </a:xfrm>
          <a:prstGeom prst="ellipse">
            <a:avLst/>
          </a:prstGeom>
          <a:solidFill>
            <a:srgbClr val="0096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02920" y="3703320"/>
            <a:ext cx="347472" cy="347472"/>
          </a:xfrm>
          <a:prstGeom prst="rect">
            <a:avLst/>
          </a:prstGeom>
          <a:noFill/>
        </p:spPr>
        <p:txBody>
          <a:bodyPr wrap="square" lIns="0" rIns="0" tIns="0" bIns="0" anchor="ctr">
            <a:spAutoFit/>
          </a:bodyPr>
          <a:lstStyle/>
          <a:p>
            <a:pPr algn="ctr"/>
            <a:r>
              <a:rPr sz="1200" b="1" i="0">
                <a:solidFill>
                  <a:srgbClr val="FFFFFF"/>
                </a:solidFill>
                <a:latin typeface="Arial"/>
                <a:ea typeface="Arial"/>
                <a:cs typeface="Arial"/>
              </a:rPr>
              <a:t>5</a:t>
            </a:r>
          </a:p>
        </p:txBody>
      </p:sp>
      <p:sp>
        <p:nvSpPr>
          <p:cNvPr id="34" name="TextBox 33"/>
          <p:cNvSpPr txBox="1"/>
          <p:nvPr/>
        </p:nvSpPr>
        <p:spPr>
          <a:xfrm>
            <a:off x="987552" y="3602736"/>
            <a:ext cx="1554480" cy="530352"/>
          </a:xfrm>
          <a:prstGeom prst="rect">
            <a:avLst/>
          </a:prstGeom>
          <a:noFill/>
        </p:spPr>
        <p:txBody>
          <a:bodyPr wrap="square" lIns="0" rIns="0" tIns="0" bIns="0" anchor="ctr">
            <a:spAutoFit/>
          </a:bodyPr>
          <a:lstStyle/>
          <a:p>
            <a:pPr algn="l"/>
            <a:r>
              <a:rPr sz="1100" b="1" i="0" spc="50">
                <a:solidFill>
                  <a:srgbClr val="004181"/>
                </a:solidFill>
                <a:latin typeface="Arial"/>
                <a:ea typeface="Arial"/>
                <a:cs typeface="Arial"/>
              </a:rPr>
              <a:t>CONTRÔLER</a:t>
            </a:r>
          </a:p>
        </p:txBody>
      </p:sp>
      <p:sp>
        <p:nvSpPr>
          <p:cNvPr id="35" name="TextBox 34"/>
          <p:cNvSpPr txBox="1"/>
          <p:nvPr/>
        </p:nvSpPr>
        <p:spPr>
          <a:xfrm>
            <a:off x="2542032" y="3602736"/>
            <a:ext cx="6035040" cy="530352"/>
          </a:xfrm>
          <a:prstGeom prst="rect">
            <a:avLst/>
          </a:prstGeom>
          <a:noFill/>
        </p:spPr>
        <p:txBody>
          <a:bodyPr wrap="square" lIns="0" rIns="0" tIns="0" bIns="0" anchor="ctr">
            <a:spAutoFit/>
          </a:bodyPr>
          <a:lstStyle/>
          <a:p>
            <a:pPr algn="l">
              <a:lnSpc>
                <a:spcPct val="100000"/>
              </a:lnSpc>
            </a:pPr>
            <a:r>
              <a:rPr sz="1000" b="0" i="0">
                <a:solidFill>
                  <a:srgbClr val="3A3A3A"/>
                </a:solidFill>
                <a:latin typeface="Arial"/>
                <a:ea typeface="Arial"/>
                <a:cs typeface="Arial"/>
              </a:rPr>
              <a:t>Le lendemain matin, le recalcul confirme la sortie du dossier de la liste.</a:t>
            </a:r>
          </a:p>
        </p:txBody>
      </p:sp>
      <p:sp>
        <p:nvSpPr>
          <p:cNvPr id="36" name="Rectangle 35"/>
          <p:cNvSpPr/>
          <p:nvPr/>
        </p:nvSpPr>
        <p:spPr>
          <a:xfrm>
            <a:off x="365760" y="4160520"/>
            <a:ext cx="8412480" cy="384048"/>
          </a:xfrm>
          <a:prstGeom prst="rect">
            <a:avLst/>
          </a:prstGeom>
          <a:solidFill>
            <a:srgbClr val="E4EDE4"/>
          </a:solidFill>
          <a:ln w="9525">
            <a:solidFill>
              <a:srgbClr val="ABD3B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66928" y="4160520"/>
            <a:ext cx="8046720" cy="384048"/>
          </a:xfrm>
          <a:prstGeom prst="rect">
            <a:avLst/>
          </a:prstGeom>
          <a:noFill/>
        </p:spPr>
        <p:txBody>
          <a:bodyPr wrap="square" lIns="0" rIns="0" tIns="0" bIns="0" anchor="ctr">
            <a:spAutoFit/>
          </a:bodyPr>
          <a:lstStyle/>
          <a:p>
            <a:pPr algn="l">
              <a:lnSpc>
                <a:spcPct val="100000"/>
              </a:lnSpc>
            </a:pPr>
            <a:r>
              <a:rPr sz="950" b="1" i="0">
                <a:solidFill>
                  <a:srgbClr val="009654"/>
                </a:solidFill>
                <a:latin typeface="Arial"/>
                <a:ea typeface="Arial"/>
                <a:cs typeface="Arial"/>
              </a:rPr>
              <a:t>Règle d'or : </a:t>
            </a:r>
            <a:r>
              <a:rPr sz="950" b="0" i="0">
                <a:solidFill>
                  <a:srgbClr val="3A3A3A"/>
                </a:solidFill>
                <a:latin typeface="Arial"/>
                <a:ea typeface="Arial"/>
                <a:cs typeface="Arial"/>
              </a:rPr>
              <a:t>un taux ne se discute pas, il se corrige. Toute contestation d'un chiffre doit s'appuyer sur un dossier précis extrait de la liste.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50"/>
                                        <p:tgtEl>
                                          <p:spTgt spid="16"/>
                                        </p:tgtEl>
                                      </p:cBhvr>
                                    </p:animEffect>
                                  </p:childTnLst>
                                </p:cTn>
                              </p:par>
                              <p:par>
                                <p:cTn id="23" presetID="10" presetClass="entr" presetSubtype="0" fill="hold" grpId="0" nodeType="withEffect">
                                  <p:stCondLst>
                                    <p:cond delay="12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50"/>
                                        <p:tgtEl>
                                          <p:spTgt spid="17"/>
                                        </p:tgtEl>
                                      </p:cBhvr>
                                    </p:animEffect>
                                  </p:childTnLst>
                                </p:cTn>
                              </p:par>
                              <p:par>
                                <p:cTn id="26" presetID="10" presetClass="entr" presetSubtype="0" fill="hold" grpId="0" nodeType="withEffect">
                                  <p:stCondLst>
                                    <p:cond delay="24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50"/>
                                        <p:tgtEl>
                                          <p:spTgt spid="18"/>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50"/>
                                        <p:tgtEl>
                                          <p:spTgt spid="19"/>
                                        </p:tgtEl>
                                      </p:cBhvr>
                                    </p:animEffect>
                                  </p:childTnLst>
                                </p:cTn>
                              </p:par>
                              <p:par>
                                <p:cTn id="32" presetID="10" presetClass="entr" presetSubtype="0" fill="hold" grpId="0" nodeType="withEffect">
                                  <p:stCondLst>
                                    <p:cond delay="48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50"/>
                                        <p:tgtEl>
                                          <p:spTgt spid="21"/>
                                        </p:tgtEl>
                                      </p:cBhvr>
                                    </p:animEffect>
                                  </p:childTnLst>
                                </p:cTn>
                              </p:par>
                              <p:par>
                                <p:cTn id="40" presetID="10" presetClass="entr" presetSubtype="0" fill="hold" grpId="0" nodeType="withEffect">
                                  <p:stCondLst>
                                    <p:cond delay="12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50"/>
                                        <p:tgtEl>
                                          <p:spTgt spid="22"/>
                                        </p:tgtEl>
                                      </p:cBhvr>
                                    </p:animEffect>
                                  </p:childTnLst>
                                </p:cTn>
                              </p:par>
                              <p:par>
                                <p:cTn id="43" presetID="10" presetClass="entr" presetSubtype="0" fill="hold" grpId="0" nodeType="withEffect">
                                  <p:stCondLst>
                                    <p:cond delay="24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450"/>
                                        <p:tgtEl>
                                          <p:spTgt spid="23"/>
                                        </p:tgtEl>
                                      </p:cBhvr>
                                    </p:animEffect>
                                  </p:childTnLst>
                                </p:cTn>
                              </p:par>
                              <p:par>
                                <p:cTn id="46" presetID="10" presetClass="entr" presetSubtype="0" fill="hold" grpId="0" nodeType="withEffect">
                                  <p:stCondLst>
                                    <p:cond delay="36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50"/>
                                        <p:tgtEl>
                                          <p:spTgt spid="24"/>
                                        </p:tgtEl>
                                      </p:cBhvr>
                                    </p:animEffect>
                                  </p:childTnLst>
                                </p:cTn>
                              </p:par>
                              <p:par>
                                <p:cTn id="49" presetID="10" presetClass="entr" presetSubtype="0" fill="hold" grpId="0" nodeType="withEffect">
                                  <p:stCondLst>
                                    <p:cond delay="48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450"/>
                                        <p:tgtEl>
                                          <p:spTgt spid="25"/>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50"/>
                                        <p:tgtEl>
                                          <p:spTgt spid="26"/>
                                        </p:tgtEl>
                                      </p:cBhvr>
                                    </p:animEffect>
                                  </p:childTnLst>
                                </p:cTn>
                              </p:par>
                              <p:par>
                                <p:cTn id="57" presetID="10" presetClass="entr" presetSubtype="0" fill="hold" grpId="0" nodeType="withEffect">
                                  <p:stCondLst>
                                    <p:cond delay="12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50"/>
                                        <p:tgtEl>
                                          <p:spTgt spid="27"/>
                                        </p:tgtEl>
                                      </p:cBhvr>
                                    </p:animEffect>
                                  </p:childTnLst>
                                </p:cTn>
                              </p:par>
                              <p:par>
                                <p:cTn id="60" presetID="10" presetClass="entr" presetSubtype="0" fill="hold" grpId="0" nodeType="withEffect">
                                  <p:stCondLst>
                                    <p:cond delay="24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50"/>
                                        <p:tgtEl>
                                          <p:spTgt spid="28"/>
                                        </p:tgtEl>
                                      </p:cBhvr>
                                    </p:animEffect>
                                  </p:childTnLst>
                                </p:cTn>
                              </p:par>
                              <p:par>
                                <p:cTn id="63" presetID="10" presetClass="entr" presetSubtype="0" fill="hold" grpId="0" nodeType="withEffect">
                                  <p:stCondLst>
                                    <p:cond delay="36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450"/>
                                        <p:tgtEl>
                                          <p:spTgt spid="29"/>
                                        </p:tgtEl>
                                      </p:cBhvr>
                                    </p:animEffect>
                                  </p:childTnLst>
                                </p:cTn>
                              </p:par>
                              <p:par>
                                <p:cTn id="66" presetID="10" presetClass="entr" presetSubtype="0" fill="hold" grpId="0" nodeType="withEffect">
                                  <p:stCondLst>
                                    <p:cond delay="48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450"/>
                                        <p:tgtEl>
                                          <p:spTgt spid="30"/>
                                        </p:tgtEl>
                                      </p:cBhvr>
                                    </p:animEffect>
                                  </p:childTnLst>
                                </p:cTn>
                              </p:par>
                            </p:childTnLst>
                          </p:cTn>
                        </p:par>
                      </p:childTnLst>
                    </p:cTn>
                  </p:par>
                  <p:par>
                    <p:cTn id="86" fill="hold">
                      <p:stCondLst>
                        <p:cond delay="indefinite"/>
                      </p:stCondLst>
                      <p:childTnLst>
                        <p:par>
                          <p:cTn id="87"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50"/>
                                        <p:tgtEl>
                                          <p:spTgt spid="31"/>
                                        </p:tgtEl>
                                      </p:cBhvr>
                                    </p:animEffect>
                                  </p:childTnLst>
                                </p:cTn>
                              </p:par>
                              <p:par>
                                <p:cTn id="74" presetID="10" presetClass="entr" presetSubtype="0" fill="hold" grpId="0" nodeType="withEffect">
                                  <p:stCondLst>
                                    <p:cond delay="12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50"/>
                                        <p:tgtEl>
                                          <p:spTgt spid="32"/>
                                        </p:tgtEl>
                                      </p:cBhvr>
                                    </p:animEffect>
                                  </p:childTnLst>
                                </p:cTn>
                              </p:par>
                              <p:par>
                                <p:cTn id="77" presetID="10" presetClass="entr" presetSubtype="0" fill="hold" grpId="0" nodeType="withEffect">
                                  <p:stCondLst>
                                    <p:cond delay="24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50"/>
                                        <p:tgtEl>
                                          <p:spTgt spid="33"/>
                                        </p:tgtEl>
                                      </p:cBhvr>
                                    </p:animEffect>
                                  </p:childTnLst>
                                </p:cTn>
                              </p:par>
                              <p:par>
                                <p:cTn id="80" presetID="10" presetClass="entr" presetSubtype="0" fill="hold" grpId="0" nodeType="withEffect">
                                  <p:stCondLst>
                                    <p:cond delay="36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50"/>
                                        <p:tgtEl>
                                          <p:spTgt spid="34"/>
                                        </p:tgtEl>
                                      </p:cBhvr>
                                    </p:animEffect>
                                  </p:childTnLst>
                                </p:cTn>
                              </p:par>
                              <p:par>
                                <p:cTn id="83" presetID="10" presetClass="entr" presetSubtype="0" fill="hold" grpId="0" nodeType="withEffect">
                                  <p:stCondLst>
                                    <p:cond delay="48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450"/>
                                        <p:tgtEl>
                                          <p:spTgt spid="35"/>
                                        </p:tgtEl>
                                      </p:cBhvr>
                                    </p:animEffect>
                                  </p:childTnLst>
                                </p:cTn>
                              </p:par>
                            </p:childTnLst>
                          </p:cTn>
                        </p:par>
                      </p:childTnLst>
                    </p:cTn>
                  </p:par>
                  <p:par>
                    <p:cTn id="94" fill="hold">
                      <p:stCondLst>
                        <p:cond delay="indefinite"/>
                      </p:stCondLst>
                      <p:childTnLst>
                        <p:par>
                          <p:cTn id="95"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fade">
                                      <p:cBhvr>
                                        <p:cTn id="90" dur="450"/>
                                        <p:tgtEl>
                                          <p:spTgt spid="36"/>
                                        </p:tgtEl>
                                      </p:cBhvr>
                                    </p:animEffect>
                                  </p:childTnLst>
                                </p:cTn>
                              </p:par>
                              <p:par>
                                <p:cTn id="91" presetID="10" presetClass="entr" presetSubtype="0" fill="hold" grpId="0" nodeType="withEffect">
                                  <p:stCondLst>
                                    <p:cond delay="120"/>
                                  </p:stCondLst>
                                  <p:childTnLst>
                                    <p:set>
                                      <p:cBhvr>
                                        <p:cTn id="92" dur="1" fill="hold">
                                          <p:stCondLst>
                                            <p:cond delay="0"/>
                                          </p:stCondLst>
                                        </p:cTn>
                                        <p:tgtEl>
                                          <p:spTgt spid="37"/>
                                        </p:tgtEl>
                                        <p:attrNameLst>
                                          <p:attrName>style.visibility</p:attrName>
                                        </p:attrNameLst>
                                      </p:cBhvr>
                                      <p:to>
                                        <p:strVal val="visible"/>
                                      </p:to>
                                    </p:set>
                                    <p:animEffect transition="in" filter="fade">
                                      <p:cBhvr>
                                        <p:cTn id="93"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13</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V.  SCREENING KYC ID</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carte-identite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DU DOCUMENT SCANNÉ AU DOSSIER MIS À JOUR</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20040" y="1188720"/>
            <a:ext cx="1234440" cy="1417320"/>
          </a:xfrm>
          <a:prstGeom prst="rect">
            <a:avLst/>
          </a:prstGeom>
          <a:solidFill>
            <a:srgbClr val="009654"/>
          </a:solidFill>
          <a:ln w="9525">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20040" y="1225296"/>
            <a:ext cx="1234440" cy="384048"/>
          </a:xfrm>
          <a:prstGeom prst="rect">
            <a:avLst/>
          </a:prstGeom>
          <a:noFill/>
        </p:spPr>
        <p:txBody>
          <a:bodyPr wrap="square" lIns="0" rIns="0" tIns="0" bIns="0" anchor="ctr">
            <a:spAutoFit/>
          </a:bodyPr>
          <a:lstStyle/>
          <a:p>
            <a:pPr algn="ctr"/>
            <a:r>
              <a:rPr sz="2000" b="1" i="0">
                <a:solidFill>
                  <a:srgbClr val="FFFFFF"/>
                </a:solidFill>
                <a:latin typeface="Arial"/>
                <a:ea typeface="Arial"/>
                <a:cs typeface="Arial"/>
              </a:rPr>
              <a:t>1</a:t>
            </a:r>
          </a:p>
        </p:txBody>
      </p:sp>
      <p:sp>
        <p:nvSpPr>
          <p:cNvPr id="13" name="TextBox 12"/>
          <p:cNvSpPr txBox="1"/>
          <p:nvPr/>
        </p:nvSpPr>
        <p:spPr>
          <a:xfrm>
            <a:off x="365759" y="1609344"/>
            <a:ext cx="1143000" cy="256032"/>
          </a:xfrm>
          <a:prstGeom prst="rect">
            <a:avLst/>
          </a:prstGeom>
          <a:noFill/>
        </p:spPr>
        <p:txBody>
          <a:bodyPr wrap="square" lIns="0" rIns="0" tIns="0" bIns="0" anchor="ctr">
            <a:spAutoFit/>
          </a:bodyPr>
          <a:lstStyle/>
          <a:p>
            <a:pPr algn="ctr"/>
            <a:r>
              <a:rPr sz="850" b="1" i="0">
                <a:solidFill>
                  <a:srgbClr val="FFFFFF"/>
                </a:solidFill>
                <a:latin typeface="Arial"/>
                <a:ea typeface="Arial"/>
                <a:cs typeface="Arial"/>
              </a:rPr>
              <a:t>CHARGEMENT</a:t>
            </a:r>
          </a:p>
        </p:txBody>
      </p:sp>
      <p:sp>
        <p:nvSpPr>
          <p:cNvPr id="14" name="TextBox 13"/>
          <p:cNvSpPr txBox="1"/>
          <p:nvPr/>
        </p:nvSpPr>
        <p:spPr>
          <a:xfrm>
            <a:off x="393192" y="1901952"/>
            <a:ext cx="1088136" cy="640080"/>
          </a:xfrm>
          <a:prstGeom prst="rect">
            <a:avLst/>
          </a:prstGeom>
          <a:noFill/>
        </p:spPr>
        <p:txBody>
          <a:bodyPr wrap="square" lIns="0" rIns="0" tIns="0" bIns="0" anchor="t">
            <a:spAutoFit/>
          </a:bodyPr>
          <a:lstStyle/>
          <a:p>
            <a:pPr algn="ctr">
              <a:lnSpc>
                <a:spcPct val="100000"/>
              </a:lnSpc>
            </a:pPr>
            <a:r>
              <a:rPr sz="800" b="0" i="0">
                <a:solidFill>
                  <a:srgbClr val="FFFFFF"/>
                </a:solidFill>
                <a:latin typeface="Arial"/>
                <a:ea typeface="Arial"/>
                <a:cs typeface="Arial"/>
              </a:rPr>
              <a:t>Dépôt des documents, images ou archives</a:t>
            </a:r>
          </a:p>
        </p:txBody>
      </p:sp>
      <p:sp>
        <p:nvSpPr>
          <p:cNvPr id="15" name="Rectangle 14"/>
          <p:cNvSpPr/>
          <p:nvPr/>
        </p:nvSpPr>
        <p:spPr>
          <a:xfrm>
            <a:off x="1600200" y="1874519"/>
            <a:ext cx="109728" cy="36576"/>
          </a:xfrm>
          <a:prstGeom prst="rect">
            <a:avLst/>
          </a:prstGeom>
          <a:solidFill>
            <a:srgbClr val="ABD3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1755648" y="1188720"/>
            <a:ext cx="1234440" cy="1417320"/>
          </a:xfrm>
          <a:prstGeom prst="rect">
            <a:avLst/>
          </a:prstGeom>
          <a:solidFill>
            <a:srgbClr val="009654"/>
          </a:solidFill>
          <a:ln w="9525">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755648" y="1225296"/>
            <a:ext cx="1234440" cy="384048"/>
          </a:xfrm>
          <a:prstGeom prst="rect">
            <a:avLst/>
          </a:prstGeom>
          <a:noFill/>
        </p:spPr>
        <p:txBody>
          <a:bodyPr wrap="square" lIns="0" rIns="0" tIns="0" bIns="0" anchor="ctr">
            <a:spAutoFit/>
          </a:bodyPr>
          <a:lstStyle/>
          <a:p>
            <a:pPr algn="ctr"/>
            <a:r>
              <a:rPr sz="2000" b="1" i="0">
                <a:solidFill>
                  <a:srgbClr val="FFFFFF"/>
                </a:solidFill>
                <a:latin typeface="Arial"/>
                <a:ea typeface="Arial"/>
                <a:cs typeface="Arial"/>
              </a:rPr>
              <a:t>2</a:t>
            </a:r>
          </a:p>
        </p:txBody>
      </p:sp>
      <p:sp>
        <p:nvSpPr>
          <p:cNvPr id="18" name="TextBox 17"/>
          <p:cNvSpPr txBox="1"/>
          <p:nvPr/>
        </p:nvSpPr>
        <p:spPr>
          <a:xfrm>
            <a:off x="1801368" y="1609344"/>
            <a:ext cx="1143000" cy="256032"/>
          </a:xfrm>
          <a:prstGeom prst="rect">
            <a:avLst/>
          </a:prstGeom>
          <a:noFill/>
        </p:spPr>
        <p:txBody>
          <a:bodyPr wrap="square" lIns="0" rIns="0" tIns="0" bIns="0" anchor="ctr">
            <a:spAutoFit/>
          </a:bodyPr>
          <a:lstStyle/>
          <a:p>
            <a:pPr algn="ctr"/>
            <a:r>
              <a:rPr sz="850" b="1" i="0">
                <a:solidFill>
                  <a:srgbClr val="FFFFFF"/>
                </a:solidFill>
                <a:latin typeface="Arial"/>
                <a:ea typeface="Arial"/>
                <a:cs typeface="Arial"/>
              </a:rPr>
              <a:t>EXTRACTION</a:t>
            </a:r>
          </a:p>
        </p:txBody>
      </p:sp>
      <p:sp>
        <p:nvSpPr>
          <p:cNvPr id="19" name="TextBox 18"/>
          <p:cNvSpPr txBox="1"/>
          <p:nvPr/>
        </p:nvSpPr>
        <p:spPr>
          <a:xfrm>
            <a:off x="1828800" y="1901952"/>
            <a:ext cx="1088136" cy="640080"/>
          </a:xfrm>
          <a:prstGeom prst="rect">
            <a:avLst/>
          </a:prstGeom>
          <a:noFill/>
        </p:spPr>
        <p:txBody>
          <a:bodyPr wrap="square" lIns="0" rIns="0" tIns="0" bIns="0" anchor="t">
            <a:spAutoFit/>
          </a:bodyPr>
          <a:lstStyle/>
          <a:p>
            <a:pPr algn="ctr">
              <a:lnSpc>
                <a:spcPct val="100000"/>
              </a:lnSpc>
            </a:pPr>
            <a:r>
              <a:rPr sz="800" b="0" i="0">
                <a:solidFill>
                  <a:srgbClr val="FFFFFF"/>
                </a:solidFill>
                <a:latin typeface="Arial"/>
                <a:ea typeface="Arial"/>
                <a:cs typeface="Arial"/>
              </a:rPr>
              <a:t>Lecture automatique des champs d'identité</a:t>
            </a:r>
          </a:p>
        </p:txBody>
      </p:sp>
      <p:sp>
        <p:nvSpPr>
          <p:cNvPr id="20" name="Rectangle 19"/>
          <p:cNvSpPr/>
          <p:nvPr/>
        </p:nvSpPr>
        <p:spPr>
          <a:xfrm>
            <a:off x="3035808" y="1874519"/>
            <a:ext cx="109728" cy="36576"/>
          </a:xfrm>
          <a:prstGeom prst="rect">
            <a:avLst/>
          </a:prstGeom>
          <a:solidFill>
            <a:srgbClr val="ABD3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191256" y="1188720"/>
            <a:ext cx="1234440" cy="1417320"/>
          </a:xfrm>
          <a:prstGeom prst="rect">
            <a:avLst/>
          </a:prstGeom>
          <a:solidFill>
            <a:srgbClr val="009654"/>
          </a:solidFill>
          <a:ln w="9525">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191256" y="1225296"/>
            <a:ext cx="1234440" cy="384048"/>
          </a:xfrm>
          <a:prstGeom prst="rect">
            <a:avLst/>
          </a:prstGeom>
          <a:noFill/>
        </p:spPr>
        <p:txBody>
          <a:bodyPr wrap="square" lIns="0" rIns="0" tIns="0" bIns="0" anchor="ctr">
            <a:spAutoFit/>
          </a:bodyPr>
          <a:lstStyle/>
          <a:p>
            <a:pPr algn="ctr"/>
            <a:r>
              <a:rPr sz="2000" b="1" i="0">
                <a:solidFill>
                  <a:srgbClr val="FFFFFF"/>
                </a:solidFill>
                <a:latin typeface="Arial"/>
                <a:ea typeface="Arial"/>
                <a:cs typeface="Arial"/>
              </a:rPr>
              <a:t>3</a:t>
            </a:r>
          </a:p>
        </p:txBody>
      </p:sp>
      <p:sp>
        <p:nvSpPr>
          <p:cNvPr id="23" name="TextBox 22"/>
          <p:cNvSpPr txBox="1"/>
          <p:nvPr/>
        </p:nvSpPr>
        <p:spPr>
          <a:xfrm>
            <a:off x="3236976" y="1609344"/>
            <a:ext cx="1143000" cy="256032"/>
          </a:xfrm>
          <a:prstGeom prst="rect">
            <a:avLst/>
          </a:prstGeom>
          <a:noFill/>
        </p:spPr>
        <p:txBody>
          <a:bodyPr wrap="square" lIns="0" rIns="0" tIns="0" bIns="0" anchor="ctr">
            <a:spAutoFit/>
          </a:bodyPr>
          <a:lstStyle/>
          <a:p>
            <a:pPr algn="ctr"/>
            <a:r>
              <a:rPr sz="850" b="1" i="0">
                <a:solidFill>
                  <a:srgbClr val="FFFFFF"/>
                </a:solidFill>
                <a:latin typeface="Arial"/>
                <a:ea typeface="Arial"/>
                <a:cs typeface="Arial"/>
              </a:rPr>
              <a:t>NORMALISATION</a:t>
            </a:r>
          </a:p>
        </p:txBody>
      </p:sp>
      <p:sp>
        <p:nvSpPr>
          <p:cNvPr id="24" name="TextBox 23"/>
          <p:cNvSpPr txBox="1"/>
          <p:nvPr/>
        </p:nvSpPr>
        <p:spPr>
          <a:xfrm>
            <a:off x="3264408" y="1901952"/>
            <a:ext cx="1088136" cy="640080"/>
          </a:xfrm>
          <a:prstGeom prst="rect">
            <a:avLst/>
          </a:prstGeom>
          <a:noFill/>
        </p:spPr>
        <p:txBody>
          <a:bodyPr wrap="square" lIns="0" rIns="0" tIns="0" bIns="0" anchor="t">
            <a:spAutoFit/>
          </a:bodyPr>
          <a:lstStyle/>
          <a:p>
            <a:pPr algn="ctr">
              <a:lnSpc>
                <a:spcPct val="100000"/>
              </a:lnSpc>
            </a:pPr>
            <a:r>
              <a:rPr sz="800" b="0" i="0">
                <a:solidFill>
                  <a:srgbClr val="FFFFFF"/>
                </a:solidFill>
                <a:latin typeface="Arial"/>
                <a:ea typeface="Arial"/>
                <a:cs typeface="Arial"/>
              </a:rPr>
              <a:t>Mise au format des noms et des dates</a:t>
            </a:r>
          </a:p>
        </p:txBody>
      </p:sp>
      <p:sp>
        <p:nvSpPr>
          <p:cNvPr id="25" name="Rectangle 24"/>
          <p:cNvSpPr/>
          <p:nvPr/>
        </p:nvSpPr>
        <p:spPr>
          <a:xfrm>
            <a:off x="4471416" y="1874519"/>
            <a:ext cx="109728" cy="36576"/>
          </a:xfrm>
          <a:prstGeom prst="rect">
            <a:avLst/>
          </a:prstGeom>
          <a:solidFill>
            <a:srgbClr val="ABD3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626864" y="1188720"/>
            <a:ext cx="1234440" cy="1417320"/>
          </a:xfrm>
          <a:prstGeom prst="rect">
            <a:avLst/>
          </a:prstGeom>
          <a:solidFill>
            <a:srgbClr val="009654"/>
          </a:solidFill>
          <a:ln w="9525">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626864" y="1225296"/>
            <a:ext cx="1234440" cy="384048"/>
          </a:xfrm>
          <a:prstGeom prst="rect">
            <a:avLst/>
          </a:prstGeom>
          <a:noFill/>
        </p:spPr>
        <p:txBody>
          <a:bodyPr wrap="square" lIns="0" rIns="0" tIns="0" bIns="0" anchor="ctr">
            <a:spAutoFit/>
          </a:bodyPr>
          <a:lstStyle/>
          <a:p>
            <a:pPr algn="ctr"/>
            <a:r>
              <a:rPr sz="2000" b="1" i="0">
                <a:solidFill>
                  <a:srgbClr val="FFFFFF"/>
                </a:solidFill>
                <a:latin typeface="Arial"/>
                <a:ea typeface="Arial"/>
                <a:cs typeface="Arial"/>
              </a:rPr>
              <a:t>4</a:t>
            </a:r>
          </a:p>
        </p:txBody>
      </p:sp>
      <p:sp>
        <p:nvSpPr>
          <p:cNvPr id="28" name="TextBox 27"/>
          <p:cNvSpPr txBox="1"/>
          <p:nvPr/>
        </p:nvSpPr>
        <p:spPr>
          <a:xfrm>
            <a:off x="4672583" y="1609344"/>
            <a:ext cx="1143000" cy="256032"/>
          </a:xfrm>
          <a:prstGeom prst="rect">
            <a:avLst/>
          </a:prstGeom>
          <a:noFill/>
        </p:spPr>
        <p:txBody>
          <a:bodyPr wrap="square" lIns="0" rIns="0" tIns="0" bIns="0" anchor="ctr">
            <a:spAutoFit/>
          </a:bodyPr>
          <a:lstStyle/>
          <a:p>
            <a:pPr algn="ctr"/>
            <a:r>
              <a:rPr sz="850" b="1" i="0">
                <a:solidFill>
                  <a:srgbClr val="FFFFFF"/>
                </a:solidFill>
                <a:latin typeface="Arial"/>
                <a:ea typeface="Arial"/>
                <a:cs typeface="Arial"/>
              </a:rPr>
              <a:t>RAPPROCHEMENT</a:t>
            </a:r>
          </a:p>
        </p:txBody>
      </p:sp>
      <p:sp>
        <p:nvSpPr>
          <p:cNvPr id="29" name="TextBox 28"/>
          <p:cNvSpPr txBox="1"/>
          <p:nvPr/>
        </p:nvSpPr>
        <p:spPr>
          <a:xfrm>
            <a:off x="4700016" y="1901952"/>
            <a:ext cx="1088136" cy="640080"/>
          </a:xfrm>
          <a:prstGeom prst="rect">
            <a:avLst/>
          </a:prstGeom>
          <a:noFill/>
        </p:spPr>
        <p:txBody>
          <a:bodyPr wrap="square" lIns="0" rIns="0" tIns="0" bIns="0" anchor="t">
            <a:spAutoFit/>
          </a:bodyPr>
          <a:lstStyle/>
          <a:p>
            <a:pPr algn="ctr">
              <a:lnSpc>
                <a:spcPct val="100000"/>
              </a:lnSpc>
            </a:pPr>
            <a:r>
              <a:rPr sz="800" b="0" i="0">
                <a:solidFill>
                  <a:srgbClr val="FFFFFF"/>
                </a:solidFill>
                <a:latin typeface="Arial"/>
                <a:ea typeface="Arial"/>
                <a:cs typeface="Arial"/>
              </a:rPr>
              <a:t>Association au client du référentiel</a:t>
            </a:r>
          </a:p>
        </p:txBody>
      </p:sp>
      <p:sp>
        <p:nvSpPr>
          <p:cNvPr id="30" name="Rectangle 29"/>
          <p:cNvSpPr/>
          <p:nvPr/>
        </p:nvSpPr>
        <p:spPr>
          <a:xfrm>
            <a:off x="5907023" y="1874519"/>
            <a:ext cx="109728" cy="36576"/>
          </a:xfrm>
          <a:prstGeom prst="rect">
            <a:avLst/>
          </a:prstGeom>
          <a:solidFill>
            <a:srgbClr val="ABD3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062472" y="1188720"/>
            <a:ext cx="1234440" cy="1417320"/>
          </a:xfrm>
          <a:prstGeom prst="rect">
            <a:avLst/>
          </a:prstGeom>
          <a:solidFill>
            <a:srgbClr val="009654"/>
          </a:solidFill>
          <a:ln w="9525">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062472" y="1225296"/>
            <a:ext cx="1234440" cy="384048"/>
          </a:xfrm>
          <a:prstGeom prst="rect">
            <a:avLst/>
          </a:prstGeom>
          <a:noFill/>
        </p:spPr>
        <p:txBody>
          <a:bodyPr wrap="square" lIns="0" rIns="0" tIns="0" bIns="0" anchor="ctr">
            <a:spAutoFit/>
          </a:bodyPr>
          <a:lstStyle/>
          <a:p>
            <a:pPr algn="ctr"/>
            <a:r>
              <a:rPr sz="2000" b="1" i="0">
                <a:solidFill>
                  <a:srgbClr val="FFFFFF"/>
                </a:solidFill>
                <a:latin typeface="Arial"/>
                <a:ea typeface="Arial"/>
                <a:cs typeface="Arial"/>
              </a:rPr>
              <a:t>5</a:t>
            </a:r>
          </a:p>
        </p:txBody>
      </p:sp>
      <p:sp>
        <p:nvSpPr>
          <p:cNvPr id="33" name="TextBox 32"/>
          <p:cNvSpPr txBox="1"/>
          <p:nvPr/>
        </p:nvSpPr>
        <p:spPr>
          <a:xfrm>
            <a:off x="6108192" y="1609344"/>
            <a:ext cx="1143000" cy="256032"/>
          </a:xfrm>
          <a:prstGeom prst="rect">
            <a:avLst/>
          </a:prstGeom>
          <a:noFill/>
        </p:spPr>
        <p:txBody>
          <a:bodyPr wrap="square" lIns="0" rIns="0" tIns="0" bIns="0" anchor="ctr">
            <a:spAutoFit/>
          </a:bodyPr>
          <a:lstStyle/>
          <a:p>
            <a:pPr algn="ctr"/>
            <a:r>
              <a:rPr sz="850" b="1" i="0">
                <a:solidFill>
                  <a:srgbClr val="FFFFFF"/>
                </a:solidFill>
                <a:latin typeface="Arial"/>
                <a:ea typeface="Arial"/>
                <a:cs typeface="Arial"/>
              </a:rPr>
              <a:t>RESTITUTION</a:t>
            </a:r>
          </a:p>
        </p:txBody>
      </p:sp>
      <p:sp>
        <p:nvSpPr>
          <p:cNvPr id="34" name="TextBox 33"/>
          <p:cNvSpPr txBox="1"/>
          <p:nvPr/>
        </p:nvSpPr>
        <p:spPr>
          <a:xfrm>
            <a:off x="6135624" y="1901952"/>
            <a:ext cx="1088136" cy="640080"/>
          </a:xfrm>
          <a:prstGeom prst="rect">
            <a:avLst/>
          </a:prstGeom>
          <a:noFill/>
        </p:spPr>
        <p:txBody>
          <a:bodyPr wrap="square" lIns="0" rIns="0" tIns="0" bIns="0" anchor="t">
            <a:spAutoFit/>
          </a:bodyPr>
          <a:lstStyle/>
          <a:p>
            <a:pPr algn="ctr">
              <a:lnSpc>
                <a:spcPct val="100000"/>
              </a:lnSpc>
            </a:pPr>
            <a:r>
              <a:rPr sz="800" b="0" i="0">
                <a:solidFill>
                  <a:srgbClr val="FFFFFF"/>
                </a:solidFill>
                <a:latin typeface="Arial"/>
                <a:ea typeface="Arial"/>
                <a:cs typeface="Arial"/>
              </a:rPr>
              <a:t>Tableau des correspondances et scores</a:t>
            </a:r>
          </a:p>
        </p:txBody>
      </p:sp>
      <p:sp>
        <p:nvSpPr>
          <p:cNvPr id="35" name="Rectangle 34"/>
          <p:cNvSpPr/>
          <p:nvPr/>
        </p:nvSpPr>
        <p:spPr>
          <a:xfrm>
            <a:off x="7342631" y="1874519"/>
            <a:ext cx="109728" cy="36576"/>
          </a:xfrm>
          <a:prstGeom prst="rect">
            <a:avLst/>
          </a:prstGeom>
          <a:solidFill>
            <a:srgbClr val="ABD3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7498079" y="1188720"/>
            <a:ext cx="1234440" cy="1417320"/>
          </a:xfrm>
          <a:prstGeom prst="rect">
            <a:avLst/>
          </a:prstGeom>
          <a:solidFill>
            <a:srgbClr val="009654"/>
          </a:solidFill>
          <a:ln w="9525">
            <a:solidFill>
              <a:srgbClr val="00965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498079" y="1225296"/>
            <a:ext cx="1234440" cy="384048"/>
          </a:xfrm>
          <a:prstGeom prst="rect">
            <a:avLst/>
          </a:prstGeom>
          <a:noFill/>
        </p:spPr>
        <p:txBody>
          <a:bodyPr wrap="square" lIns="0" rIns="0" tIns="0" bIns="0" anchor="ctr">
            <a:spAutoFit/>
          </a:bodyPr>
          <a:lstStyle/>
          <a:p>
            <a:pPr algn="ctr"/>
            <a:r>
              <a:rPr sz="2000" b="1" i="0">
                <a:solidFill>
                  <a:srgbClr val="FFFFFF"/>
                </a:solidFill>
                <a:latin typeface="Arial"/>
                <a:ea typeface="Arial"/>
                <a:cs typeface="Arial"/>
              </a:rPr>
              <a:t>6</a:t>
            </a:r>
          </a:p>
        </p:txBody>
      </p:sp>
      <p:sp>
        <p:nvSpPr>
          <p:cNvPr id="38" name="TextBox 37"/>
          <p:cNvSpPr txBox="1"/>
          <p:nvPr/>
        </p:nvSpPr>
        <p:spPr>
          <a:xfrm>
            <a:off x="7543800" y="1609344"/>
            <a:ext cx="1143000" cy="256032"/>
          </a:xfrm>
          <a:prstGeom prst="rect">
            <a:avLst/>
          </a:prstGeom>
          <a:noFill/>
        </p:spPr>
        <p:txBody>
          <a:bodyPr wrap="square" lIns="0" rIns="0" tIns="0" bIns="0" anchor="ctr">
            <a:spAutoFit/>
          </a:bodyPr>
          <a:lstStyle/>
          <a:p>
            <a:pPr algn="ctr"/>
            <a:r>
              <a:rPr sz="850" b="1" i="0">
                <a:solidFill>
                  <a:srgbClr val="FFFFFF"/>
                </a:solidFill>
                <a:latin typeface="Arial"/>
                <a:ea typeface="Arial"/>
                <a:cs typeface="Arial"/>
              </a:rPr>
              <a:t>VALIDATION</a:t>
            </a:r>
          </a:p>
        </p:txBody>
      </p:sp>
      <p:sp>
        <p:nvSpPr>
          <p:cNvPr id="39" name="TextBox 38"/>
          <p:cNvSpPr txBox="1"/>
          <p:nvPr/>
        </p:nvSpPr>
        <p:spPr>
          <a:xfrm>
            <a:off x="7571231" y="1901952"/>
            <a:ext cx="1088136" cy="640080"/>
          </a:xfrm>
          <a:prstGeom prst="rect">
            <a:avLst/>
          </a:prstGeom>
          <a:noFill/>
        </p:spPr>
        <p:txBody>
          <a:bodyPr wrap="square" lIns="0" rIns="0" tIns="0" bIns="0" anchor="t">
            <a:spAutoFit/>
          </a:bodyPr>
          <a:lstStyle/>
          <a:p>
            <a:pPr algn="ctr">
              <a:lnSpc>
                <a:spcPct val="100000"/>
              </a:lnSpc>
            </a:pPr>
            <a:r>
              <a:rPr sz="800" b="0" i="0">
                <a:solidFill>
                  <a:srgbClr val="FFFFFF"/>
                </a:solidFill>
                <a:latin typeface="Arial"/>
                <a:ea typeface="Arial"/>
                <a:cs typeface="Arial"/>
              </a:rPr>
              <a:t>Décision humaine avant mise à jour</a:t>
            </a:r>
          </a:p>
        </p:txBody>
      </p:sp>
      <p:sp>
        <p:nvSpPr>
          <p:cNvPr id="40" name="Rectangle 39"/>
          <p:cNvSpPr/>
          <p:nvPr/>
        </p:nvSpPr>
        <p:spPr>
          <a:xfrm>
            <a:off x="365760" y="2834640"/>
            <a:ext cx="2679192" cy="162763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365760" y="2834640"/>
            <a:ext cx="2679192" cy="274320"/>
          </a:xfrm>
          <a:prstGeom prst="rect">
            <a:avLst/>
          </a:prstGeom>
          <a:solidFill>
            <a:srgbClr val="DEE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2" name="Picture 41" descr="parametres_004181.png"/>
          <p:cNvPicPr>
            <a:picLocks noChangeAspect="1"/>
          </p:cNvPicPr>
          <p:nvPr/>
        </p:nvPicPr>
        <p:blipFill>
          <a:blip r:embed="rId4"/>
          <a:stretch>
            <a:fillRect/>
          </a:stretch>
        </p:blipFill>
        <p:spPr>
          <a:xfrm>
            <a:off x="445312" y="2859328"/>
            <a:ext cx="224942" cy="224942"/>
          </a:xfrm>
          <a:prstGeom prst="rect">
            <a:avLst/>
          </a:prstGeom>
        </p:spPr>
      </p:pic>
      <p:sp>
        <p:nvSpPr>
          <p:cNvPr id="43" name="TextBox 42"/>
          <p:cNvSpPr txBox="1"/>
          <p:nvPr/>
        </p:nvSpPr>
        <p:spPr>
          <a:xfrm>
            <a:off x="786384" y="2834640"/>
            <a:ext cx="2148840" cy="274320"/>
          </a:xfrm>
          <a:prstGeom prst="rect">
            <a:avLst/>
          </a:prstGeom>
          <a:noFill/>
        </p:spPr>
        <p:txBody>
          <a:bodyPr wrap="square" lIns="0" rIns="0" tIns="0" bIns="0" anchor="ctr">
            <a:spAutoFit/>
          </a:bodyPr>
          <a:lstStyle/>
          <a:p>
            <a:pPr algn="l"/>
            <a:r>
              <a:rPr sz="900" b="1" i="0" spc="40">
                <a:solidFill>
                  <a:srgbClr val="004181"/>
                </a:solidFill>
                <a:latin typeface="Arial"/>
                <a:ea typeface="Arial"/>
                <a:cs typeface="Arial"/>
              </a:rPr>
              <a:t>CE QUE LA MACHINE FAIT</a:t>
            </a:r>
          </a:p>
        </p:txBody>
      </p:sp>
      <p:sp>
        <p:nvSpPr>
          <p:cNvPr id="44" name="TextBox 43"/>
          <p:cNvSpPr txBox="1"/>
          <p:nvPr/>
        </p:nvSpPr>
        <p:spPr>
          <a:xfrm>
            <a:off x="502920" y="3273552"/>
            <a:ext cx="2404872" cy="1234440"/>
          </a:xfrm>
          <a:prstGeom prst="rect">
            <a:avLst/>
          </a:prstGeom>
          <a:noFill/>
        </p:spPr>
        <p:txBody>
          <a:bodyPr wrap="square" lIns="0" rIns="0" tIns="0" bIns="0" anchor="t">
            <a:spAutoFit/>
          </a:bodyPr>
          <a:lstStyle/>
          <a:p>
            <a:pPr algn="l" marL="152400" indent="-152400">
              <a:lnSpc>
                <a:spcPct val="100000"/>
              </a:lnSpc>
              <a:spcAft>
                <a:spcPts val="1600"/>
              </a:spcAft>
              <a:buClr>
                <a:srgbClr val="009654"/>
              </a:buClr>
              <a:buFont typeface="Arial" pitchFamily="34" charset="0"/>
              <a:buChar char="▪"/>
            </a:pPr>
            <a:r>
              <a:rPr sz="950" b="0" i="0">
                <a:solidFill>
                  <a:srgbClr val="3A3A3A"/>
                </a:solidFill>
                <a:latin typeface="Arial"/>
                <a:ea typeface="Arial"/>
                <a:cs typeface="Arial"/>
              </a:rPr>
              <a:t>Lit les pièces scannées, même inclinées</a:t>
            </a:r>
          </a:p>
          <a:p>
            <a:pPr algn="l" marL="152400" indent="-152400">
              <a:lnSpc>
                <a:spcPct val="100000"/>
              </a:lnSpc>
              <a:spcAft>
                <a:spcPts val="1600"/>
              </a:spcAft>
              <a:buClr>
                <a:srgbClr val="009654"/>
              </a:buClr>
              <a:buFont typeface="Arial" pitchFamily="34" charset="0"/>
              <a:buChar char="▪"/>
            </a:pPr>
            <a:r>
              <a:rPr sz="950" b="0" i="0">
                <a:solidFill>
                  <a:srgbClr val="3A3A3A"/>
                </a:solidFill>
                <a:latin typeface="Arial"/>
                <a:ea typeface="Arial"/>
                <a:cs typeface="Arial"/>
              </a:rPr>
              <a:t>Propose une correspondance avec un score</a:t>
            </a:r>
          </a:p>
          <a:p>
            <a:pPr algn="l" marL="152400" indent="-152400">
              <a:lnSpc>
                <a:spcPct val="100000"/>
              </a:lnSpc>
              <a:spcAft>
                <a:spcPts val="1600"/>
              </a:spcAft>
              <a:buClr>
                <a:srgbClr val="009654"/>
              </a:buClr>
              <a:buFont typeface="Arial" pitchFamily="34" charset="0"/>
              <a:buChar char="▪"/>
            </a:pPr>
            <a:r>
              <a:rPr sz="950" b="0" i="0">
                <a:solidFill>
                  <a:srgbClr val="3A3A3A"/>
                </a:solidFill>
                <a:latin typeface="Arial"/>
                <a:ea typeface="Arial"/>
                <a:cs typeface="Arial"/>
              </a:rPr>
              <a:t>Classe les propositions par niveau de confiance</a:t>
            </a:r>
          </a:p>
        </p:txBody>
      </p:sp>
      <p:sp>
        <p:nvSpPr>
          <p:cNvPr id="45" name="Rectangle 44"/>
          <p:cNvSpPr/>
          <p:nvPr/>
        </p:nvSpPr>
        <p:spPr>
          <a:xfrm>
            <a:off x="3227832" y="2834640"/>
            <a:ext cx="2679192" cy="162763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3227832" y="2834640"/>
            <a:ext cx="2679192" cy="274320"/>
          </a:xfrm>
          <a:prstGeom prst="rect">
            <a:avLst/>
          </a:prstGeom>
          <a:solidFill>
            <a:srgbClr val="DEE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7" name="Picture 46" descr="supprimer_004181.png"/>
          <p:cNvPicPr>
            <a:picLocks noChangeAspect="1"/>
          </p:cNvPicPr>
          <p:nvPr/>
        </p:nvPicPr>
        <p:blipFill>
          <a:blip r:embed="rId5"/>
          <a:stretch>
            <a:fillRect/>
          </a:stretch>
        </p:blipFill>
        <p:spPr>
          <a:xfrm>
            <a:off x="3307384" y="2859328"/>
            <a:ext cx="224942" cy="224942"/>
          </a:xfrm>
          <a:prstGeom prst="rect">
            <a:avLst/>
          </a:prstGeom>
        </p:spPr>
      </p:pic>
      <p:sp>
        <p:nvSpPr>
          <p:cNvPr id="48" name="TextBox 47"/>
          <p:cNvSpPr txBox="1"/>
          <p:nvPr/>
        </p:nvSpPr>
        <p:spPr>
          <a:xfrm>
            <a:off x="3648456" y="2834640"/>
            <a:ext cx="2148840" cy="274320"/>
          </a:xfrm>
          <a:prstGeom prst="rect">
            <a:avLst/>
          </a:prstGeom>
          <a:noFill/>
        </p:spPr>
        <p:txBody>
          <a:bodyPr wrap="square" lIns="0" rIns="0" tIns="0" bIns="0" anchor="ctr">
            <a:spAutoFit/>
          </a:bodyPr>
          <a:lstStyle/>
          <a:p>
            <a:pPr algn="l"/>
            <a:r>
              <a:rPr sz="900" b="1" i="0" spc="40">
                <a:solidFill>
                  <a:srgbClr val="004181"/>
                </a:solidFill>
                <a:latin typeface="Arial"/>
                <a:ea typeface="Arial"/>
                <a:cs typeface="Arial"/>
              </a:rPr>
              <a:t>CE QU'ELLE NE FAIT PAS</a:t>
            </a:r>
          </a:p>
        </p:txBody>
      </p:sp>
      <p:sp>
        <p:nvSpPr>
          <p:cNvPr id="49" name="TextBox 48"/>
          <p:cNvSpPr txBox="1"/>
          <p:nvPr/>
        </p:nvSpPr>
        <p:spPr>
          <a:xfrm>
            <a:off x="3364991" y="3273552"/>
            <a:ext cx="2404872" cy="1234440"/>
          </a:xfrm>
          <a:prstGeom prst="rect">
            <a:avLst/>
          </a:prstGeom>
          <a:noFill/>
        </p:spPr>
        <p:txBody>
          <a:bodyPr wrap="square" lIns="0" rIns="0" tIns="0" bIns="0" anchor="t">
            <a:spAutoFit/>
          </a:bodyPr>
          <a:lstStyle/>
          <a:p>
            <a:pPr algn="l" marL="152400" indent="-152400">
              <a:lnSpc>
                <a:spcPct val="100000"/>
              </a:lnSpc>
              <a:spcAft>
                <a:spcPts val="1600"/>
              </a:spcAft>
              <a:buClr>
                <a:srgbClr val="009654"/>
              </a:buClr>
              <a:buFont typeface="Arial" pitchFamily="34" charset="0"/>
              <a:buChar char="▪"/>
            </a:pPr>
            <a:r>
              <a:rPr sz="950" b="0" i="0">
                <a:solidFill>
                  <a:srgbClr val="3A3A3A"/>
                </a:solidFill>
                <a:latin typeface="Arial"/>
                <a:ea typeface="Arial"/>
                <a:cs typeface="Arial"/>
              </a:rPr>
              <a:t>Elle ne modifie jamais le corebanking</a:t>
            </a:r>
          </a:p>
          <a:p>
            <a:pPr algn="l" marL="152400" indent="-152400">
              <a:lnSpc>
                <a:spcPct val="100000"/>
              </a:lnSpc>
              <a:spcAft>
                <a:spcPts val="1600"/>
              </a:spcAft>
              <a:buClr>
                <a:srgbClr val="009654"/>
              </a:buClr>
              <a:buFont typeface="Arial" pitchFamily="34" charset="0"/>
              <a:buChar char="▪"/>
            </a:pPr>
            <a:r>
              <a:rPr sz="950" b="0" i="0">
                <a:solidFill>
                  <a:srgbClr val="3A3A3A"/>
                </a:solidFill>
                <a:latin typeface="Arial"/>
                <a:ea typeface="Arial"/>
                <a:cs typeface="Arial"/>
              </a:rPr>
              <a:t>Elle ne tranche pas les cas ambigus</a:t>
            </a:r>
          </a:p>
          <a:p>
            <a:pPr algn="l" marL="152400" indent="-152400">
              <a:lnSpc>
                <a:spcPct val="100000"/>
              </a:lnSpc>
              <a:spcAft>
                <a:spcPts val="1600"/>
              </a:spcAft>
              <a:buClr>
                <a:srgbClr val="009654"/>
              </a:buClr>
              <a:buFont typeface="Arial" pitchFamily="34" charset="0"/>
              <a:buChar char="▪"/>
            </a:pPr>
            <a:r>
              <a:rPr sz="950" b="0" i="0">
                <a:solidFill>
                  <a:srgbClr val="3A3A3A"/>
                </a:solidFill>
                <a:latin typeface="Arial"/>
                <a:ea typeface="Arial"/>
                <a:cs typeface="Arial"/>
              </a:rPr>
              <a:t>Elle ne remplace pas la pièce justificative</a:t>
            </a:r>
          </a:p>
        </p:txBody>
      </p:sp>
      <p:sp>
        <p:nvSpPr>
          <p:cNvPr id="50" name="Rectangle 49"/>
          <p:cNvSpPr/>
          <p:nvPr/>
        </p:nvSpPr>
        <p:spPr>
          <a:xfrm>
            <a:off x="6089904" y="2834640"/>
            <a:ext cx="2679192" cy="162763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6089904" y="2834640"/>
            <a:ext cx="2679192" cy="274320"/>
          </a:xfrm>
          <a:prstGeom prst="rect">
            <a:avLst/>
          </a:prstGeom>
          <a:solidFill>
            <a:srgbClr val="DEE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2" name="Picture 51" descr="utilisateur_004181.png"/>
          <p:cNvPicPr>
            <a:picLocks noChangeAspect="1"/>
          </p:cNvPicPr>
          <p:nvPr/>
        </p:nvPicPr>
        <p:blipFill>
          <a:blip r:embed="rId6"/>
          <a:stretch>
            <a:fillRect/>
          </a:stretch>
        </p:blipFill>
        <p:spPr>
          <a:xfrm>
            <a:off x="6169456" y="2859328"/>
            <a:ext cx="224942" cy="224942"/>
          </a:xfrm>
          <a:prstGeom prst="rect">
            <a:avLst/>
          </a:prstGeom>
        </p:spPr>
      </p:pic>
      <p:sp>
        <p:nvSpPr>
          <p:cNvPr id="53" name="TextBox 52"/>
          <p:cNvSpPr txBox="1"/>
          <p:nvPr/>
        </p:nvSpPr>
        <p:spPr>
          <a:xfrm>
            <a:off x="6510528" y="2834640"/>
            <a:ext cx="2148840" cy="274320"/>
          </a:xfrm>
          <a:prstGeom prst="rect">
            <a:avLst/>
          </a:prstGeom>
          <a:noFill/>
        </p:spPr>
        <p:txBody>
          <a:bodyPr wrap="square" lIns="0" rIns="0" tIns="0" bIns="0" anchor="ctr">
            <a:spAutoFit/>
          </a:bodyPr>
          <a:lstStyle/>
          <a:p>
            <a:pPr algn="l"/>
            <a:r>
              <a:rPr sz="900" b="1" i="0" spc="40">
                <a:solidFill>
                  <a:srgbClr val="004181"/>
                </a:solidFill>
                <a:latin typeface="Arial"/>
                <a:ea typeface="Arial"/>
                <a:cs typeface="Arial"/>
              </a:rPr>
              <a:t>CE QUE VOUS FAITES</a:t>
            </a:r>
          </a:p>
        </p:txBody>
      </p:sp>
      <p:sp>
        <p:nvSpPr>
          <p:cNvPr id="54" name="TextBox 53"/>
          <p:cNvSpPr txBox="1"/>
          <p:nvPr/>
        </p:nvSpPr>
        <p:spPr>
          <a:xfrm>
            <a:off x="6227064" y="3273552"/>
            <a:ext cx="2404872" cy="1234440"/>
          </a:xfrm>
          <a:prstGeom prst="rect">
            <a:avLst/>
          </a:prstGeom>
          <a:noFill/>
        </p:spPr>
        <p:txBody>
          <a:bodyPr wrap="square" lIns="0" rIns="0" tIns="0" bIns="0" anchor="t">
            <a:spAutoFit/>
          </a:bodyPr>
          <a:lstStyle/>
          <a:p>
            <a:pPr algn="l" marL="152400" indent="-152400">
              <a:lnSpc>
                <a:spcPct val="100000"/>
              </a:lnSpc>
              <a:spcAft>
                <a:spcPts val="1600"/>
              </a:spcAft>
              <a:buClr>
                <a:srgbClr val="009654"/>
              </a:buClr>
              <a:buFont typeface="Arial" pitchFamily="34" charset="0"/>
              <a:buChar char="▪"/>
            </a:pPr>
            <a:r>
              <a:rPr sz="950" b="0" i="0">
                <a:solidFill>
                  <a:srgbClr val="3A3A3A"/>
                </a:solidFill>
                <a:latin typeface="Arial"/>
                <a:ea typeface="Arial"/>
                <a:cs typeface="Arial"/>
              </a:rPr>
              <a:t>Vous contrôlez la proposition à l'écran</a:t>
            </a:r>
          </a:p>
          <a:p>
            <a:pPr algn="l" marL="152400" indent="-152400">
              <a:lnSpc>
                <a:spcPct val="100000"/>
              </a:lnSpc>
              <a:spcAft>
                <a:spcPts val="1600"/>
              </a:spcAft>
              <a:buClr>
                <a:srgbClr val="009654"/>
              </a:buClr>
              <a:buFont typeface="Arial" pitchFamily="34" charset="0"/>
              <a:buChar char="▪"/>
            </a:pPr>
            <a:r>
              <a:rPr sz="950" b="0" i="0">
                <a:solidFill>
                  <a:srgbClr val="3A3A3A"/>
                </a:solidFill>
                <a:latin typeface="Arial"/>
                <a:ea typeface="Arial"/>
                <a:cs typeface="Arial"/>
              </a:rPr>
              <a:t>Vous validez, corrigez ou rejetez</a:t>
            </a:r>
          </a:p>
          <a:p>
            <a:pPr algn="l" marL="152400" indent="-152400">
              <a:lnSpc>
                <a:spcPct val="100000"/>
              </a:lnSpc>
              <a:spcAft>
                <a:spcPts val="1600"/>
              </a:spcAft>
              <a:buClr>
                <a:srgbClr val="009654"/>
              </a:buClr>
              <a:buFont typeface="Arial" pitchFamily="34" charset="0"/>
              <a:buChar char="▪"/>
            </a:pPr>
            <a:r>
              <a:rPr sz="950" b="0" i="0">
                <a:solidFill>
                  <a:srgbClr val="3A3A3A"/>
                </a:solidFill>
                <a:latin typeface="Arial"/>
                <a:ea typeface="Arial"/>
                <a:cs typeface="Arial"/>
              </a:rPr>
              <a:t>Vous saisissez la correction au dossier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50"/>
                                        <p:tgtEl>
                                          <p:spTgt spid="16"/>
                                        </p:tgtEl>
                                      </p:cBhvr>
                                    </p:animEffect>
                                  </p:childTnLst>
                                </p:cTn>
                              </p:par>
                              <p:par>
                                <p:cTn id="20" presetID="10" presetClass="entr" presetSubtype="0" fill="hold" grpId="0" nodeType="withEffect">
                                  <p:stCondLst>
                                    <p:cond delay="12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50"/>
                                        <p:tgtEl>
                                          <p:spTgt spid="17"/>
                                        </p:tgtEl>
                                      </p:cBhvr>
                                    </p:animEffect>
                                  </p:childTnLst>
                                </p:cTn>
                              </p:par>
                              <p:par>
                                <p:cTn id="23" presetID="10" presetClass="entr" presetSubtype="0" fill="hold" grpId="0" nodeType="withEffect">
                                  <p:stCondLst>
                                    <p:cond delay="24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50"/>
                                        <p:tgtEl>
                                          <p:spTgt spid="18"/>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50"/>
                                        <p:tgtEl>
                                          <p:spTgt spid="21"/>
                                        </p:tgtEl>
                                      </p:cBhvr>
                                    </p:animEffect>
                                  </p:childTnLst>
                                </p:cTn>
                              </p:par>
                              <p:par>
                                <p:cTn id="34" presetID="10" presetClass="entr" presetSubtype="0" fill="hold" grpId="0" nodeType="withEffect">
                                  <p:stCondLst>
                                    <p:cond delay="12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50"/>
                                        <p:tgtEl>
                                          <p:spTgt spid="22"/>
                                        </p:tgtEl>
                                      </p:cBhvr>
                                    </p:animEffect>
                                  </p:childTnLst>
                                </p:cTn>
                              </p:par>
                              <p:par>
                                <p:cTn id="37" presetID="10" presetClass="entr" presetSubtype="0" fill="hold" grpId="0" nodeType="withEffect">
                                  <p:stCondLst>
                                    <p:cond delay="24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50"/>
                                        <p:tgtEl>
                                          <p:spTgt spid="23"/>
                                        </p:tgtEl>
                                      </p:cBhvr>
                                    </p:animEffect>
                                  </p:childTnLst>
                                </p:cTn>
                              </p:par>
                              <p:par>
                                <p:cTn id="40" presetID="10" presetClass="entr" presetSubtype="0" fill="hold" grpId="0" nodeType="withEffect">
                                  <p:stCondLst>
                                    <p:cond delay="36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50"/>
                                        <p:tgtEl>
                                          <p:spTgt spid="24"/>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450"/>
                                        <p:tgtEl>
                                          <p:spTgt spid="26"/>
                                        </p:tgtEl>
                                      </p:cBhvr>
                                    </p:animEffect>
                                  </p:childTnLst>
                                </p:cTn>
                              </p:par>
                              <p:par>
                                <p:cTn id="48" presetID="10" presetClass="entr" presetSubtype="0" fill="hold" grpId="0" nodeType="withEffect">
                                  <p:stCondLst>
                                    <p:cond delay="12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450"/>
                                        <p:tgtEl>
                                          <p:spTgt spid="27"/>
                                        </p:tgtEl>
                                      </p:cBhvr>
                                    </p:animEffect>
                                  </p:childTnLst>
                                </p:cTn>
                              </p:par>
                              <p:par>
                                <p:cTn id="51" presetID="10" presetClass="entr" presetSubtype="0" fill="hold" grpId="0" nodeType="withEffect">
                                  <p:stCondLst>
                                    <p:cond delay="24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450"/>
                                        <p:tgtEl>
                                          <p:spTgt spid="28"/>
                                        </p:tgtEl>
                                      </p:cBhvr>
                                    </p:animEffect>
                                  </p:childTnLst>
                                </p:cTn>
                              </p:par>
                              <p:par>
                                <p:cTn id="54" presetID="10" presetClass="entr" presetSubtype="0" fill="hold" grpId="0" nodeType="withEffect">
                                  <p:stCondLst>
                                    <p:cond delay="360"/>
                                  </p:stCondLst>
                                  <p:childTnLst>
                                    <p:set>
                                      <p:cBhvr>
                                        <p:cTn id="55" dur="1" fill="hold">
                                          <p:stCondLst>
                                            <p:cond delay="0"/>
                                          </p:stCondLst>
                                        </p:cTn>
                                        <p:tgtEl>
                                          <p:spTgt spid="29"/>
                                        </p:tgtEl>
                                        <p:attrNameLst>
                                          <p:attrName>style.visibility</p:attrName>
                                        </p:attrNameLst>
                                      </p:cBhvr>
                                      <p:to>
                                        <p:strVal val="visible"/>
                                      </p:to>
                                    </p:set>
                                    <p:animEffect transition="in" filter="fade">
                                      <p:cBhvr>
                                        <p:cTn id="56" dur="450"/>
                                        <p:tgtEl>
                                          <p:spTgt spid="29"/>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50"/>
                                        <p:tgtEl>
                                          <p:spTgt spid="31"/>
                                        </p:tgtEl>
                                      </p:cBhvr>
                                    </p:animEffect>
                                  </p:childTnLst>
                                </p:cTn>
                              </p:par>
                              <p:par>
                                <p:cTn id="62" presetID="10" presetClass="entr" presetSubtype="0" fill="hold" grpId="0" nodeType="withEffect">
                                  <p:stCondLst>
                                    <p:cond delay="12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450"/>
                                        <p:tgtEl>
                                          <p:spTgt spid="32"/>
                                        </p:tgtEl>
                                      </p:cBhvr>
                                    </p:animEffect>
                                  </p:childTnLst>
                                </p:cTn>
                              </p:par>
                              <p:par>
                                <p:cTn id="65" presetID="10" presetClass="entr" presetSubtype="0" fill="hold" grpId="0" nodeType="withEffect">
                                  <p:stCondLst>
                                    <p:cond delay="24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450"/>
                                        <p:tgtEl>
                                          <p:spTgt spid="33"/>
                                        </p:tgtEl>
                                      </p:cBhvr>
                                    </p:animEffect>
                                  </p:childTnLst>
                                </p:cTn>
                              </p:par>
                              <p:par>
                                <p:cTn id="68" presetID="10" presetClass="entr" presetSubtype="0" fill="hold" grpId="0" nodeType="withEffect">
                                  <p:stCondLst>
                                    <p:cond delay="36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450"/>
                                        <p:tgtEl>
                                          <p:spTgt spid="34"/>
                                        </p:tgtEl>
                                      </p:cBhvr>
                                    </p:animEffect>
                                  </p:childTnLst>
                                </p:cTn>
                              </p:par>
                            </p:childTnLst>
                          </p:cTn>
                        </p:par>
                      </p:childTnLst>
                    </p:cTn>
                  </p:par>
                  <p:par>
                    <p:cTn id="85" fill="hold">
                      <p:stCondLst>
                        <p:cond delay="indefinite"/>
                      </p:stCondLst>
                      <p:childTnLst>
                        <p:par>
                          <p:cTn id="86"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450"/>
                                        <p:tgtEl>
                                          <p:spTgt spid="36"/>
                                        </p:tgtEl>
                                      </p:cBhvr>
                                    </p:animEffect>
                                  </p:childTnLst>
                                </p:cTn>
                              </p:par>
                              <p:par>
                                <p:cTn id="76" presetID="10" presetClass="entr" presetSubtype="0" fill="hold" grpId="0" nodeType="withEffect">
                                  <p:stCondLst>
                                    <p:cond delay="12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450"/>
                                        <p:tgtEl>
                                          <p:spTgt spid="37"/>
                                        </p:tgtEl>
                                      </p:cBhvr>
                                    </p:animEffect>
                                  </p:childTnLst>
                                </p:cTn>
                              </p:par>
                              <p:par>
                                <p:cTn id="79" presetID="10" presetClass="entr" presetSubtype="0" fill="hold" grpId="0" nodeType="withEffect">
                                  <p:stCondLst>
                                    <p:cond delay="240"/>
                                  </p:stCondLst>
                                  <p:childTnLst>
                                    <p:set>
                                      <p:cBhvr>
                                        <p:cTn id="80" dur="1" fill="hold">
                                          <p:stCondLst>
                                            <p:cond delay="0"/>
                                          </p:stCondLst>
                                        </p:cTn>
                                        <p:tgtEl>
                                          <p:spTgt spid="38"/>
                                        </p:tgtEl>
                                        <p:attrNameLst>
                                          <p:attrName>style.visibility</p:attrName>
                                        </p:attrNameLst>
                                      </p:cBhvr>
                                      <p:to>
                                        <p:strVal val="visible"/>
                                      </p:to>
                                    </p:set>
                                    <p:animEffect transition="in" filter="fade">
                                      <p:cBhvr>
                                        <p:cTn id="81" dur="450"/>
                                        <p:tgtEl>
                                          <p:spTgt spid="38"/>
                                        </p:tgtEl>
                                      </p:cBhvr>
                                    </p:animEffect>
                                  </p:childTnLst>
                                </p:cTn>
                              </p:par>
                              <p:par>
                                <p:cTn id="82" presetID="10" presetClass="entr" presetSubtype="0" fill="hold" grpId="0" nodeType="withEffect">
                                  <p:stCondLst>
                                    <p:cond delay="36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450"/>
                                        <p:tgtEl>
                                          <p:spTgt spid="39"/>
                                        </p:tgtEl>
                                      </p:cBhvr>
                                    </p:animEffect>
                                  </p:childTnLst>
                                </p:cTn>
                              </p:par>
                            </p:childTnLst>
                          </p:cTn>
                        </p:par>
                      </p:childTnLst>
                    </p:cTn>
                  </p:par>
                  <p:par>
                    <p:cTn id="102" fill="hold">
                      <p:stCondLst>
                        <p:cond delay="indefinite"/>
                      </p:stCondLst>
                      <p:childTnLst>
                        <p:par>
                          <p:cTn id="103"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fade">
                                      <p:cBhvr>
                                        <p:cTn id="89" dur="450"/>
                                        <p:tgtEl>
                                          <p:spTgt spid="40"/>
                                        </p:tgtEl>
                                      </p:cBhvr>
                                    </p:animEffect>
                                  </p:childTnLst>
                                </p:cTn>
                              </p:par>
                              <p:par>
                                <p:cTn id="90" presetID="10" presetClass="entr" presetSubtype="0" fill="hold" grpId="0" nodeType="withEffect">
                                  <p:stCondLst>
                                    <p:cond delay="120"/>
                                  </p:stCondLst>
                                  <p:childTnLst>
                                    <p:set>
                                      <p:cBhvr>
                                        <p:cTn id="91" dur="1" fill="hold">
                                          <p:stCondLst>
                                            <p:cond delay="0"/>
                                          </p:stCondLst>
                                        </p:cTn>
                                        <p:tgtEl>
                                          <p:spTgt spid="41"/>
                                        </p:tgtEl>
                                        <p:attrNameLst>
                                          <p:attrName>style.visibility</p:attrName>
                                        </p:attrNameLst>
                                      </p:cBhvr>
                                      <p:to>
                                        <p:strVal val="visible"/>
                                      </p:to>
                                    </p:set>
                                    <p:animEffect transition="in" filter="fade">
                                      <p:cBhvr>
                                        <p:cTn id="92" dur="450"/>
                                        <p:tgtEl>
                                          <p:spTgt spid="41"/>
                                        </p:tgtEl>
                                      </p:cBhvr>
                                    </p:animEffect>
                                  </p:childTnLst>
                                </p:cTn>
                              </p:par>
                              <p:par>
                                <p:cTn id="93" presetID="10" presetClass="entr" presetSubtype="0" fill="hold" grpId="0" nodeType="withEffect">
                                  <p:stCondLst>
                                    <p:cond delay="240"/>
                                  </p:stCondLst>
                                  <p:childTnLst>
                                    <p:set>
                                      <p:cBhvr>
                                        <p:cTn id="94" dur="1" fill="hold">
                                          <p:stCondLst>
                                            <p:cond delay="0"/>
                                          </p:stCondLst>
                                        </p:cTn>
                                        <p:tgtEl>
                                          <p:spTgt spid="42"/>
                                        </p:tgtEl>
                                        <p:attrNameLst>
                                          <p:attrName>style.visibility</p:attrName>
                                        </p:attrNameLst>
                                      </p:cBhvr>
                                      <p:to>
                                        <p:strVal val="visible"/>
                                      </p:to>
                                    </p:set>
                                    <p:animEffect transition="in" filter="fade">
                                      <p:cBhvr>
                                        <p:cTn id="95" dur="450"/>
                                        <p:tgtEl>
                                          <p:spTgt spid="42"/>
                                        </p:tgtEl>
                                      </p:cBhvr>
                                    </p:animEffect>
                                  </p:childTnLst>
                                </p:cTn>
                              </p:par>
                              <p:par>
                                <p:cTn id="96" presetID="10" presetClass="entr" presetSubtype="0" fill="hold" grpId="0" nodeType="withEffect">
                                  <p:stCondLst>
                                    <p:cond delay="360"/>
                                  </p:stCondLst>
                                  <p:childTnLst>
                                    <p:set>
                                      <p:cBhvr>
                                        <p:cTn id="97" dur="1" fill="hold">
                                          <p:stCondLst>
                                            <p:cond delay="0"/>
                                          </p:stCondLst>
                                        </p:cTn>
                                        <p:tgtEl>
                                          <p:spTgt spid="43"/>
                                        </p:tgtEl>
                                        <p:attrNameLst>
                                          <p:attrName>style.visibility</p:attrName>
                                        </p:attrNameLst>
                                      </p:cBhvr>
                                      <p:to>
                                        <p:strVal val="visible"/>
                                      </p:to>
                                    </p:set>
                                    <p:animEffect transition="in" filter="fade">
                                      <p:cBhvr>
                                        <p:cTn id="98" dur="450"/>
                                        <p:tgtEl>
                                          <p:spTgt spid="43"/>
                                        </p:tgtEl>
                                      </p:cBhvr>
                                    </p:animEffect>
                                  </p:childTnLst>
                                </p:cTn>
                              </p:par>
                              <p:par>
                                <p:cTn id="99" presetID="10" presetClass="entr" presetSubtype="0" fill="hold" grpId="0" nodeType="withEffect">
                                  <p:stCondLst>
                                    <p:cond delay="480"/>
                                  </p:stCondLst>
                                  <p:childTnLst>
                                    <p:set>
                                      <p:cBhvr>
                                        <p:cTn id="100" dur="1" fill="hold">
                                          <p:stCondLst>
                                            <p:cond delay="0"/>
                                          </p:stCondLst>
                                        </p:cTn>
                                        <p:tgtEl>
                                          <p:spTgt spid="44"/>
                                        </p:tgtEl>
                                        <p:attrNameLst>
                                          <p:attrName>style.visibility</p:attrName>
                                        </p:attrNameLst>
                                      </p:cBhvr>
                                      <p:to>
                                        <p:strVal val="visible"/>
                                      </p:to>
                                    </p:set>
                                    <p:animEffect transition="in" filter="fade">
                                      <p:cBhvr>
                                        <p:cTn id="101" dur="450"/>
                                        <p:tgtEl>
                                          <p:spTgt spid="44"/>
                                        </p:tgtEl>
                                      </p:cBhvr>
                                    </p:animEffect>
                                  </p:childTnLst>
                                </p:cTn>
                              </p:par>
                            </p:childTnLst>
                          </p:cTn>
                        </p:par>
                      </p:childTnLst>
                    </p:cTn>
                  </p:par>
                  <p:par>
                    <p:cTn id="119" fill="hold">
                      <p:stCondLst>
                        <p:cond delay="indefinite"/>
                      </p:stCondLst>
                      <p:childTnLst>
                        <p:par>
                          <p:cTn id="120"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450"/>
                                        <p:tgtEl>
                                          <p:spTgt spid="45"/>
                                        </p:tgtEl>
                                      </p:cBhvr>
                                    </p:animEffect>
                                  </p:childTnLst>
                                </p:cTn>
                              </p:par>
                              <p:par>
                                <p:cTn id="107" presetID="10" presetClass="entr" presetSubtype="0" fill="hold" grpId="0" nodeType="withEffect">
                                  <p:stCondLst>
                                    <p:cond delay="120"/>
                                  </p:stCondLst>
                                  <p:childTnLst>
                                    <p:set>
                                      <p:cBhvr>
                                        <p:cTn id="108" dur="1" fill="hold">
                                          <p:stCondLst>
                                            <p:cond delay="0"/>
                                          </p:stCondLst>
                                        </p:cTn>
                                        <p:tgtEl>
                                          <p:spTgt spid="46"/>
                                        </p:tgtEl>
                                        <p:attrNameLst>
                                          <p:attrName>style.visibility</p:attrName>
                                        </p:attrNameLst>
                                      </p:cBhvr>
                                      <p:to>
                                        <p:strVal val="visible"/>
                                      </p:to>
                                    </p:set>
                                    <p:animEffect transition="in" filter="fade">
                                      <p:cBhvr>
                                        <p:cTn id="109" dur="450"/>
                                        <p:tgtEl>
                                          <p:spTgt spid="46"/>
                                        </p:tgtEl>
                                      </p:cBhvr>
                                    </p:animEffect>
                                  </p:childTnLst>
                                </p:cTn>
                              </p:par>
                              <p:par>
                                <p:cTn id="110" presetID="10" presetClass="entr" presetSubtype="0" fill="hold" grpId="0" nodeType="withEffect">
                                  <p:stCondLst>
                                    <p:cond delay="240"/>
                                  </p:stCondLst>
                                  <p:childTnLst>
                                    <p:set>
                                      <p:cBhvr>
                                        <p:cTn id="111" dur="1" fill="hold">
                                          <p:stCondLst>
                                            <p:cond delay="0"/>
                                          </p:stCondLst>
                                        </p:cTn>
                                        <p:tgtEl>
                                          <p:spTgt spid="47"/>
                                        </p:tgtEl>
                                        <p:attrNameLst>
                                          <p:attrName>style.visibility</p:attrName>
                                        </p:attrNameLst>
                                      </p:cBhvr>
                                      <p:to>
                                        <p:strVal val="visible"/>
                                      </p:to>
                                    </p:set>
                                    <p:animEffect transition="in" filter="fade">
                                      <p:cBhvr>
                                        <p:cTn id="112" dur="450"/>
                                        <p:tgtEl>
                                          <p:spTgt spid="47"/>
                                        </p:tgtEl>
                                      </p:cBhvr>
                                    </p:animEffect>
                                  </p:childTnLst>
                                </p:cTn>
                              </p:par>
                              <p:par>
                                <p:cTn id="113" presetID="10" presetClass="entr" presetSubtype="0" fill="hold" grpId="0" nodeType="withEffect">
                                  <p:stCondLst>
                                    <p:cond delay="36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5" dur="450"/>
                                        <p:tgtEl>
                                          <p:spTgt spid="48"/>
                                        </p:tgtEl>
                                      </p:cBhvr>
                                    </p:animEffect>
                                  </p:childTnLst>
                                </p:cTn>
                              </p:par>
                              <p:par>
                                <p:cTn id="116" presetID="10" presetClass="entr" presetSubtype="0" fill="hold" grpId="0" nodeType="withEffect">
                                  <p:stCondLst>
                                    <p:cond delay="480"/>
                                  </p:stCondLst>
                                  <p:childTnLst>
                                    <p:set>
                                      <p:cBhvr>
                                        <p:cTn id="117" dur="1" fill="hold">
                                          <p:stCondLst>
                                            <p:cond delay="0"/>
                                          </p:stCondLst>
                                        </p:cTn>
                                        <p:tgtEl>
                                          <p:spTgt spid="49"/>
                                        </p:tgtEl>
                                        <p:attrNameLst>
                                          <p:attrName>style.visibility</p:attrName>
                                        </p:attrNameLst>
                                      </p:cBhvr>
                                      <p:to>
                                        <p:strVal val="visible"/>
                                      </p:to>
                                    </p:set>
                                    <p:animEffect transition="in" filter="fade">
                                      <p:cBhvr>
                                        <p:cTn id="118" dur="450"/>
                                        <p:tgtEl>
                                          <p:spTgt spid="49"/>
                                        </p:tgtEl>
                                      </p:cBhvr>
                                    </p:animEffect>
                                  </p:childTnLst>
                                </p:cTn>
                              </p:par>
                            </p:childTnLst>
                          </p:cTn>
                        </p:par>
                      </p:childTnLst>
                    </p:cTn>
                  </p:par>
                  <p:par>
                    <p:cTn id="136" fill="hold">
                      <p:stCondLst>
                        <p:cond delay="indefinite"/>
                      </p:stCondLst>
                      <p:childTnLst>
                        <p:par>
                          <p:cTn id="137"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50"/>
                                        </p:tgtEl>
                                        <p:attrNameLst>
                                          <p:attrName>style.visibility</p:attrName>
                                        </p:attrNameLst>
                                      </p:cBhvr>
                                      <p:to>
                                        <p:strVal val="visible"/>
                                      </p:to>
                                    </p:set>
                                    <p:animEffect transition="in" filter="fade">
                                      <p:cBhvr>
                                        <p:cTn id="123" dur="450"/>
                                        <p:tgtEl>
                                          <p:spTgt spid="50"/>
                                        </p:tgtEl>
                                      </p:cBhvr>
                                    </p:animEffect>
                                  </p:childTnLst>
                                </p:cTn>
                              </p:par>
                              <p:par>
                                <p:cTn id="124" presetID="10" presetClass="entr" presetSubtype="0" fill="hold" grpId="0" nodeType="withEffect">
                                  <p:stCondLst>
                                    <p:cond delay="120"/>
                                  </p:stCondLst>
                                  <p:childTnLst>
                                    <p:set>
                                      <p:cBhvr>
                                        <p:cTn id="125" dur="1" fill="hold">
                                          <p:stCondLst>
                                            <p:cond delay="0"/>
                                          </p:stCondLst>
                                        </p:cTn>
                                        <p:tgtEl>
                                          <p:spTgt spid="51"/>
                                        </p:tgtEl>
                                        <p:attrNameLst>
                                          <p:attrName>style.visibility</p:attrName>
                                        </p:attrNameLst>
                                      </p:cBhvr>
                                      <p:to>
                                        <p:strVal val="visible"/>
                                      </p:to>
                                    </p:set>
                                    <p:animEffect transition="in" filter="fade">
                                      <p:cBhvr>
                                        <p:cTn id="126" dur="450"/>
                                        <p:tgtEl>
                                          <p:spTgt spid="51"/>
                                        </p:tgtEl>
                                      </p:cBhvr>
                                    </p:animEffect>
                                  </p:childTnLst>
                                </p:cTn>
                              </p:par>
                              <p:par>
                                <p:cTn id="127" presetID="10" presetClass="entr" presetSubtype="0" fill="hold" grpId="0" nodeType="withEffect">
                                  <p:stCondLst>
                                    <p:cond delay="240"/>
                                  </p:stCondLst>
                                  <p:childTnLst>
                                    <p:set>
                                      <p:cBhvr>
                                        <p:cTn id="128" dur="1" fill="hold">
                                          <p:stCondLst>
                                            <p:cond delay="0"/>
                                          </p:stCondLst>
                                        </p:cTn>
                                        <p:tgtEl>
                                          <p:spTgt spid="52"/>
                                        </p:tgtEl>
                                        <p:attrNameLst>
                                          <p:attrName>style.visibility</p:attrName>
                                        </p:attrNameLst>
                                      </p:cBhvr>
                                      <p:to>
                                        <p:strVal val="visible"/>
                                      </p:to>
                                    </p:set>
                                    <p:animEffect transition="in" filter="fade">
                                      <p:cBhvr>
                                        <p:cTn id="129" dur="450"/>
                                        <p:tgtEl>
                                          <p:spTgt spid="52"/>
                                        </p:tgtEl>
                                      </p:cBhvr>
                                    </p:animEffect>
                                  </p:childTnLst>
                                </p:cTn>
                              </p:par>
                              <p:par>
                                <p:cTn id="130" presetID="10" presetClass="entr" presetSubtype="0" fill="hold" grpId="0" nodeType="withEffect">
                                  <p:stCondLst>
                                    <p:cond delay="360"/>
                                  </p:stCondLst>
                                  <p:childTnLst>
                                    <p:set>
                                      <p:cBhvr>
                                        <p:cTn id="131" dur="1" fill="hold">
                                          <p:stCondLst>
                                            <p:cond delay="0"/>
                                          </p:stCondLst>
                                        </p:cTn>
                                        <p:tgtEl>
                                          <p:spTgt spid="53"/>
                                        </p:tgtEl>
                                        <p:attrNameLst>
                                          <p:attrName>style.visibility</p:attrName>
                                        </p:attrNameLst>
                                      </p:cBhvr>
                                      <p:to>
                                        <p:strVal val="visible"/>
                                      </p:to>
                                    </p:set>
                                    <p:animEffect transition="in" filter="fade">
                                      <p:cBhvr>
                                        <p:cTn id="132" dur="450"/>
                                        <p:tgtEl>
                                          <p:spTgt spid="53"/>
                                        </p:tgtEl>
                                      </p:cBhvr>
                                    </p:animEffect>
                                  </p:childTnLst>
                                </p:cTn>
                              </p:par>
                              <p:par>
                                <p:cTn id="133" presetID="10" presetClass="entr" presetSubtype="0" fill="hold" grpId="0" nodeType="withEffect">
                                  <p:stCondLst>
                                    <p:cond delay="480"/>
                                  </p:stCondLst>
                                  <p:childTnLst>
                                    <p:set>
                                      <p:cBhvr>
                                        <p:cTn id="134" dur="1" fill="hold">
                                          <p:stCondLst>
                                            <p:cond delay="0"/>
                                          </p:stCondLst>
                                        </p:cTn>
                                        <p:tgtEl>
                                          <p:spTgt spid="54"/>
                                        </p:tgtEl>
                                        <p:attrNameLst>
                                          <p:attrName>style.visibility</p:attrName>
                                        </p:attrNameLst>
                                      </p:cBhvr>
                                      <p:to>
                                        <p:strVal val="visible"/>
                                      </p:to>
                                    </p:set>
                                    <p:animEffect transition="in" filter="fade">
                                      <p:cBhvr>
                                        <p:cTn id="135" dur="4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14</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V.  SCREENING KYC ID</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telecharger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PRÉPARER ET CHARGER UN LOT DE DOCUMENTS</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143000"/>
            <a:ext cx="4023360" cy="21031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65760" y="1143000"/>
            <a:ext cx="4023360" cy="274320"/>
          </a:xfrm>
          <a:prstGeom prst="rect">
            <a:avLst/>
          </a:prstGeom>
          <a:solidFill>
            <a:srgbClr val="DEE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contacts_004181.png"/>
          <p:cNvPicPr>
            <a:picLocks noChangeAspect="1"/>
          </p:cNvPicPr>
          <p:nvPr/>
        </p:nvPicPr>
        <p:blipFill>
          <a:blip r:embed="rId4"/>
          <a:stretch>
            <a:fillRect/>
          </a:stretch>
        </p:blipFill>
        <p:spPr>
          <a:xfrm>
            <a:off x="445312" y="1167688"/>
            <a:ext cx="224942" cy="224942"/>
          </a:xfrm>
          <a:prstGeom prst="rect">
            <a:avLst/>
          </a:prstGeom>
        </p:spPr>
      </p:pic>
      <p:sp>
        <p:nvSpPr>
          <p:cNvPr id="14" name="TextBox 13"/>
          <p:cNvSpPr txBox="1"/>
          <p:nvPr/>
        </p:nvSpPr>
        <p:spPr>
          <a:xfrm>
            <a:off x="786384" y="1143000"/>
            <a:ext cx="3493008" cy="274320"/>
          </a:xfrm>
          <a:prstGeom prst="rect">
            <a:avLst/>
          </a:prstGeom>
          <a:noFill/>
        </p:spPr>
        <p:txBody>
          <a:bodyPr wrap="square" lIns="0" rIns="0" tIns="0" bIns="0" anchor="ctr">
            <a:spAutoFit/>
          </a:bodyPr>
          <a:lstStyle/>
          <a:p>
            <a:pPr algn="l"/>
            <a:r>
              <a:rPr sz="1000" b="1" i="0" spc="40">
                <a:solidFill>
                  <a:srgbClr val="004181"/>
                </a:solidFill>
                <a:latin typeface="Arial"/>
                <a:ea typeface="Arial"/>
                <a:cs typeface="Arial"/>
              </a:rPr>
              <a:t>FORMATS ET ORGANISATION</a:t>
            </a:r>
          </a:p>
        </p:txBody>
      </p:sp>
      <p:sp>
        <p:nvSpPr>
          <p:cNvPr id="15" name="TextBox 14"/>
          <p:cNvSpPr txBox="1"/>
          <p:nvPr/>
        </p:nvSpPr>
        <p:spPr>
          <a:xfrm>
            <a:off x="530352" y="1563624"/>
            <a:ext cx="3694176" cy="1554479"/>
          </a:xfrm>
          <a:prstGeom prst="rect">
            <a:avLst/>
          </a:prstGeom>
          <a:noFill/>
        </p:spPr>
        <p:txBody>
          <a:bodyPr wrap="square" lIns="0" rIns="0" tIns="0" bIns="0" anchor="t">
            <a:spAutoFit/>
          </a:bodyPr>
          <a:lstStyle/>
          <a:p>
            <a:pPr algn="l" marL="152400" indent="-152400">
              <a:lnSpc>
                <a:spcPct val="105000"/>
              </a:lnSpc>
              <a:spcAft>
                <a:spcPts val="1300"/>
              </a:spcAft>
              <a:buClr>
                <a:srgbClr val="004181"/>
              </a:buClr>
              <a:buFont typeface="Arial" pitchFamily="34" charset="0"/>
              <a:buChar char="▪"/>
            </a:pPr>
            <a:r>
              <a:rPr sz="950" b="0" i="0">
                <a:solidFill>
                  <a:srgbClr val="3A3A3A"/>
                </a:solidFill>
                <a:latin typeface="Arial"/>
                <a:ea typeface="Arial"/>
                <a:cs typeface="Arial"/>
              </a:rPr>
              <a:t>Fichiers PDF ou images ; les lots volumineux passent par une archive compressée</a:t>
            </a:r>
          </a:p>
          <a:p>
            <a:pPr algn="l" marL="152400" indent="-152400">
              <a:lnSpc>
                <a:spcPct val="105000"/>
              </a:lnSpc>
              <a:spcAft>
                <a:spcPts val="1300"/>
              </a:spcAft>
              <a:buClr>
                <a:srgbClr val="004181"/>
              </a:buClr>
              <a:buFont typeface="Arial" pitchFamily="34" charset="0"/>
              <a:buChar char="▪"/>
            </a:pPr>
            <a:r>
              <a:rPr sz="950" b="0" i="0">
                <a:solidFill>
                  <a:srgbClr val="3A3A3A"/>
                </a:solidFill>
                <a:latin typeface="Arial"/>
                <a:ea typeface="Arial"/>
                <a:cs typeface="Arial"/>
              </a:rPr>
              <a:t>Un document par client, nommé avec la référence du compte ou du client</a:t>
            </a:r>
          </a:p>
          <a:p>
            <a:pPr algn="l" marL="152400" indent="-152400">
              <a:lnSpc>
                <a:spcPct val="105000"/>
              </a:lnSpc>
              <a:spcAft>
                <a:spcPts val="1300"/>
              </a:spcAft>
              <a:buClr>
                <a:srgbClr val="004181"/>
              </a:buClr>
              <a:buFont typeface="Arial" pitchFamily="34" charset="0"/>
              <a:buChar char="▪"/>
            </a:pPr>
            <a:r>
              <a:rPr sz="950" b="0" i="0">
                <a:solidFill>
                  <a:srgbClr val="3A3A3A"/>
                </a:solidFill>
                <a:latin typeface="Arial"/>
                <a:ea typeface="Arial"/>
                <a:cs typeface="Arial"/>
              </a:rPr>
              <a:t>Le poids de chaque fichier est contrôlé au dépôt : au-delà, le fichier est refusé</a:t>
            </a:r>
          </a:p>
          <a:p>
            <a:pPr algn="l" marL="152400" indent="-152400">
              <a:lnSpc>
                <a:spcPct val="105000"/>
              </a:lnSpc>
              <a:spcAft>
                <a:spcPts val="1300"/>
              </a:spcAft>
              <a:buClr>
                <a:srgbClr val="004181"/>
              </a:buClr>
              <a:buFont typeface="Arial" pitchFamily="34" charset="0"/>
              <a:buChar char="▪"/>
            </a:pPr>
            <a:r>
              <a:rPr sz="950" b="0" i="0">
                <a:solidFill>
                  <a:srgbClr val="3A3A3A"/>
                </a:solidFill>
                <a:latin typeface="Arial"/>
                <a:ea typeface="Arial"/>
                <a:cs typeface="Arial"/>
              </a:rPr>
              <a:t>Les pages recto et verso d'une même pièce restent dans un seul fichier</a:t>
            </a:r>
          </a:p>
        </p:txBody>
      </p:sp>
      <p:sp>
        <p:nvSpPr>
          <p:cNvPr id="16" name="Rectangle 15"/>
          <p:cNvSpPr/>
          <p:nvPr/>
        </p:nvSpPr>
        <p:spPr>
          <a:xfrm>
            <a:off x="4754880" y="1143000"/>
            <a:ext cx="4023360" cy="210312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754880" y="1143000"/>
            <a:ext cx="4023360" cy="274320"/>
          </a:xfrm>
          <a:prstGeom prst="rect">
            <a:avLst/>
          </a:prstGeom>
          <a:solidFill>
            <a:srgbClr val="DEF1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scanner_009654.png"/>
          <p:cNvPicPr>
            <a:picLocks noChangeAspect="1"/>
          </p:cNvPicPr>
          <p:nvPr/>
        </p:nvPicPr>
        <p:blipFill>
          <a:blip r:embed="rId5"/>
          <a:stretch>
            <a:fillRect/>
          </a:stretch>
        </p:blipFill>
        <p:spPr>
          <a:xfrm>
            <a:off x="4834432" y="1167688"/>
            <a:ext cx="224942" cy="224942"/>
          </a:xfrm>
          <a:prstGeom prst="rect">
            <a:avLst/>
          </a:prstGeom>
        </p:spPr>
      </p:pic>
      <p:sp>
        <p:nvSpPr>
          <p:cNvPr id="19" name="TextBox 18"/>
          <p:cNvSpPr txBox="1"/>
          <p:nvPr/>
        </p:nvSpPr>
        <p:spPr>
          <a:xfrm>
            <a:off x="5175504" y="1143000"/>
            <a:ext cx="3493008" cy="274320"/>
          </a:xfrm>
          <a:prstGeom prst="rect">
            <a:avLst/>
          </a:prstGeom>
          <a:noFill/>
        </p:spPr>
        <p:txBody>
          <a:bodyPr wrap="square" lIns="0" rIns="0" tIns="0" bIns="0" anchor="ctr">
            <a:spAutoFit/>
          </a:bodyPr>
          <a:lstStyle/>
          <a:p>
            <a:pPr algn="l"/>
            <a:r>
              <a:rPr sz="1000" b="1" i="0" spc="40">
                <a:solidFill>
                  <a:srgbClr val="009654"/>
                </a:solidFill>
                <a:latin typeface="Arial"/>
                <a:ea typeface="Arial"/>
                <a:cs typeface="Arial"/>
              </a:rPr>
              <a:t>QUALITÉ DU SCAN</a:t>
            </a:r>
          </a:p>
        </p:txBody>
      </p:sp>
      <p:sp>
        <p:nvSpPr>
          <p:cNvPr id="20" name="TextBox 19"/>
          <p:cNvSpPr txBox="1"/>
          <p:nvPr/>
        </p:nvSpPr>
        <p:spPr>
          <a:xfrm>
            <a:off x="4919472" y="1563624"/>
            <a:ext cx="3694176" cy="1554479"/>
          </a:xfrm>
          <a:prstGeom prst="rect">
            <a:avLst/>
          </a:prstGeom>
          <a:noFill/>
        </p:spPr>
        <p:txBody>
          <a:bodyPr wrap="square" lIns="0" rIns="0" tIns="0" bIns="0" anchor="t">
            <a:spAutoFit/>
          </a:bodyPr>
          <a:lstStyle/>
          <a:p>
            <a:pPr algn="l" marL="152400" indent="-152400">
              <a:lnSpc>
                <a:spcPct val="105000"/>
              </a:lnSpc>
              <a:spcAft>
                <a:spcPts val="1300"/>
              </a:spcAft>
              <a:buClr>
                <a:srgbClr val="009654"/>
              </a:buClr>
              <a:buFont typeface="Arial" pitchFamily="34" charset="0"/>
              <a:buChar char="▪"/>
            </a:pPr>
            <a:r>
              <a:rPr sz="950" b="0" i="0">
                <a:solidFill>
                  <a:srgbClr val="3A3A3A"/>
                </a:solidFill>
                <a:latin typeface="Arial"/>
                <a:ea typeface="Arial"/>
                <a:cs typeface="Arial"/>
              </a:rPr>
              <a:t>Document à plat, entièrement dans le cadre, sans doigt ni ombre portée</a:t>
            </a:r>
          </a:p>
          <a:p>
            <a:pPr algn="l" marL="152400" indent="-152400">
              <a:lnSpc>
                <a:spcPct val="105000"/>
              </a:lnSpc>
              <a:spcAft>
                <a:spcPts val="1300"/>
              </a:spcAft>
              <a:buClr>
                <a:srgbClr val="009654"/>
              </a:buClr>
              <a:buFont typeface="Arial" pitchFamily="34" charset="0"/>
              <a:buChar char="▪"/>
            </a:pPr>
            <a:r>
              <a:rPr sz="950" b="0" i="0">
                <a:solidFill>
                  <a:srgbClr val="3A3A3A"/>
                </a:solidFill>
                <a:latin typeface="Arial"/>
                <a:ea typeface="Arial"/>
                <a:cs typeface="Arial"/>
              </a:rPr>
              <a:t>Résolution de lecture courante : 200 à 300 points par pouce</a:t>
            </a:r>
          </a:p>
          <a:p>
            <a:pPr algn="l" marL="152400" indent="-152400">
              <a:lnSpc>
                <a:spcPct val="105000"/>
              </a:lnSpc>
              <a:spcAft>
                <a:spcPts val="1300"/>
              </a:spcAft>
              <a:buClr>
                <a:srgbClr val="009654"/>
              </a:buClr>
              <a:buFont typeface="Arial" pitchFamily="34" charset="0"/>
              <a:buChar char="▪"/>
            </a:pPr>
            <a:r>
              <a:rPr sz="950" b="0" i="0">
                <a:solidFill>
                  <a:srgbClr val="3A3A3A"/>
                </a:solidFill>
                <a:latin typeface="Arial"/>
                <a:ea typeface="Arial"/>
                <a:cs typeface="Arial"/>
              </a:rPr>
              <a:t>Une photo floue ou surexposée produit une extraction inutilisable</a:t>
            </a:r>
          </a:p>
          <a:p>
            <a:pPr algn="l" marL="152400" indent="-152400">
              <a:lnSpc>
                <a:spcPct val="105000"/>
              </a:lnSpc>
              <a:spcAft>
                <a:spcPts val="1300"/>
              </a:spcAft>
              <a:buClr>
                <a:srgbClr val="009654"/>
              </a:buClr>
              <a:buFont typeface="Arial" pitchFamily="34" charset="0"/>
              <a:buChar char="▪"/>
            </a:pPr>
            <a:r>
              <a:rPr sz="950" b="0" i="0">
                <a:solidFill>
                  <a:srgbClr val="3A3A3A"/>
                </a:solidFill>
                <a:latin typeface="Arial"/>
                <a:ea typeface="Arial"/>
                <a:cs typeface="Arial"/>
              </a:rPr>
              <a:t>En cas de doute, relire le scan à l'écran avant de constituer le lot</a:t>
            </a:r>
          </a:p>
        </p:txBody>
      </p:sp>
      <p:sp>
        <p:nvSpPr>
          <p:cNvPr id="21" name="Rectangle 20"/>
          <p:cNvSpPr/>
          <p:nvPr/>
        </p:nvSpPr>
        <p:spPr>
          <a:xfrm>
            <a:off x="365760" y="3364992"/>
            <a:ext cx="8412480" cy="1207008"/>
          </a:xfrm>
          <a:prstGeom prst="rect">
            <a:avLst/>
          </a:prstGeom>
          <a:solidFill>
            <a:srgbClr val="E4EDE4"/>
          </a:solidFill>
          <a:ln w="9525">
            <a:solidFill>
              <a:srgbClr val="ABD3B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65760" y="3364992"/>
            <a:ext cx="8412480" cy="274320"/>
          </a:xfrm>
          <a:prstGeom prst="rect">
            <a:avLst/>
          </a:prstGeom>
          <a:solidFill>
            <a:srgbClr val="DEF1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recharger_009654.png"/>
          <p:cNvPicPr>
            <a:picLocks noChangeAspect="1"/>
          </p:cNvPicPr>
          <p:nvPr/>
        </p:nvPicPr>
        <p:blipFill>
          <a:blip r:embed="rId6"/>
          <a:stretch>
            <a:fillRect/>
          </a:stretch>
        </p:blipFill>
        <p:spPr>
          <a:xfrm>
            <a:off x="445312" y="3389680"/>
            <a:ext cx="224942" cy="224942"/>
          </a:xfrm>
          <a:prstGeom prst="rect">
            <a:avLst/>
          </a:prstGeom>
        </p:spPr>
      </p:pic>
      <p:sp>
        <p:nvSpPr>
          <p:cNvPr id="24" name="TextBox 23"/>
          <p:cNvSpPr txBox="1"/>
          <p:nvPr/>
        </p:nvSpPr>
        <p:spPr>
          <a:xfrm>
            <a:off x="786384" y="3364992"/>
            <a:ext cx="7882127" cy="274320"/>
          </a:xfrm>
          <a:prstGeom prst="rect">
            <a:avLst/>
          </a:prstGeom>
          <a:noFill/>
        </p:spPr>
        <p:txBody>
          <a:bodyPr wrap="square" lIns="0" rIns="0" tIns="0" bIns="0" anchor="ctr">
            <a:spAutoFit/>
          </a:bodyPr>
          <a:lstStyle/>
          <a:p>
            <a:pPr algn="l"/>
            <a:r>
              <a:rPr sz="1000" b="1" i="0" spc="40">
                <a:solidFill>
                  <a:srgbClr val="009654"/>
                </a:solidFill>
                <a:latin typeface="Arial"/>
                <a:ea typeface="Arial"/>
                <a:cs typeface="Arial"/>
              </a:rPr>
              <a:t>APRÈS LE DÉPÔT : UN TRAITEMENT DIFFÉRÉ</a:t>
            </a:r>
          </a:p>
        </p:txBody>
      </p:sp>
      <p:sp>
        <p:nvSpPr>
          <p:cNvPr id="25" name="TextBox 24"/>
          <p:cNvSpPr txBox="1"/>
          <p:nvPr/>
        </p:nvSpPr>
        <p:spPr>
          <a:xfrm>
            <a:off x="566928" y="3767328"/>
            <a:ext cx="8046720" cy="731520"/>
          </a:xfrm>
          <a:prstGeom prst="rect">
            <a:avLst/>
          </a:prstGeom>
          <a:noFill/>
        </p:spPr>
        <p:txBody>
          <a:bodyPr wrap="square" lIns="0" rIns="0" tIns="0" bIns="0" anchor="t">
            <a:spAutoFit/>
          </a:bodyPr>
          <a:lstStyle/>
          <a:p>
            <a:pPr algn="l" marL="152400" indent="-152400">
              <a:lnSpc>
                <a:spcPct val="105000"/>
              </a:lnSpc>
              <a:spcAft>
                <a:spcPts val="800"/>
              </a:spcAft>
              <a:buClr>
                <a:srgbClr val="009654"/>
              </a:buClr>
              <a:buFont typeface="Arial" pitchFamily="34" charset="0"/>
              <a:buChar char="▪"/>
            </a:pPr>
            <a:r>
              <a:rPr sz="1000" b="0" i="0">
                <a:solidFill>
                  <a:srgbClr val="3A3A3A"/>
                </a:solidFill>
                <a:latin typeface="Arial"/>
                <a:ea typeface="Arial"/>
                <a:cs typeface="Arial"/>
              </a:rPr>
              <a:t>Le lot entre dans une file d'attente : la lecture des documents s'exécute en arrière-plan, il est inutile de rester sur l'écran.</a:t>
            </a:r>
          </a:p>
          <a:p>
            <a:pPr algn="l" marL="152400" indent="-152400">
              <a:lnSpc>
                <a:spcPct val="105000"/>
              </a:lnSpc>
              <a:spcAft>
                <a:spcPts val="800"/>
              </a:spcAft>
              <a:buClr>
                <a:srgbClr val="009654"/>
              </a:buClr>
              <a:buFont typeface="Arial" pitchFamily="34" charset="0"/>
              <a:buChar char="▪"/>
            </a:pPr>
            <a:r>
              <a:rPr sz="1000" b="0" i="0">
                <a:solidFill>
                  <a:srgbClr val="3A3A3A"/>
                </a:solidFill>
                <a:latin typeface="Arial"/>
                <a:ea typeface="Arial"/>
                <a:cs typeface="Arial"/>
              </a:rPr>
              <a:t>L'état de chaque document reste consultable ; un document en échec est signalé et peut être rechargé après un nouveau scan.</a:t>
            </a:r>
          </a:p>
          <a:p>
            <a:pPr algn="l" marL="152400" indent="-152400">
              <a:lnSpc>
                <a:spcPct val="105000"/>
              </a:lnSpc>
              <a:spcAft>
                <a:spcPts val="800"/>
              </a:spcAft>
              <a:buClr>
                <a:srgbClr val="009654"/>
              </a:buClr>
              <a:buFont typeface="Arial" pitchFamily="34" charset="0"/>
              <a:buChar char="▪"/>
            </a:pPr>
            <a:r>
              <a:rPr sz="1000" b="0" i="0">
                <a:solidFill>
                  <a:srgbClr val="3A3A3A"/>
                </a:solidFill>
                <a:latin typeface="Arial"/>
                <a:ea typeface="Arial"/>
                <a:cs typeface="Arial"/>
              </a:rPr>
              <a:t>Les résultats apparaissent ensuite dans l'écran de rapprochement, prêts à être validés.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50"/>
                                        <p:tgtEl>
                                          <p:spTgt spid="16"/>
                                        </p:tgtEl>
                                      </p:cBhvr>
                                    </p:animEffect>
                                  </p:childTnLst>
                                </p:cTn>
                              </p:par>
                              <p:par>
                                <p:cTn id="23" presetID="10" presetClass="entr" presetSubtype="0" fill="hold" grpId="0" nodeType="withEffect">
                                  <p:stCondLst>
                                    <p:cond delay="12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50"/>
                                        <p:tgtEl>
                                          <p:spTgt spid="17"/>
                                        </p:tgtEl>
                                      </p:cBhvr>
                                    </p:animEffect>
                                  </p:childTnLst>
                                </p:cTn>
                              </p:par>
                              <p:par>
                                <p:cTn id="26" presetID="10" presetClass="entr" presetSubtype="0" fill="hold" grpId="0" nodeType="withEffect">
                                  <p:stCondLst>
                                    <p:cond delay="24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50"/>
                                        <p:tgtEl>
                                          <p:spTgt spid="18"/>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50"/>
                                        <p:tgtEl>
                                          <p:spTgt spid="19"/>
                                        </p:tgtEl>
                                      </p:cBhvr>
                                    </p:animEffect>
                                  </p:childTnLst>
                                </p:cTn>
                              </p:par>
                              <p:par>
                                <p:cTn id="32" presetID="10" presetClass="entr" presetSubtype="0" fill="hold" grpId="0" nodeType="withEffect">
                                  <p:stCondLst>
                                    <p:cond delay="48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50"/>
                                        <p:tgtEl>
                                          <p:spTgt spid="21"/>
                                        </p:tgtEl>
                                      </p:cBhvr>
                                    </p:animEffect>
                                  </p:childTnLst>
                                </p:cTn>
                              </p:par>
                              <p:par>
                                <p:cTn id="40" presetID="10" presetClass="entr" presetSubtype="0" fill="hold" grpId="0" nodeType="withEffect">
                                  <p:stCondLst>
                                    <p:cond delay="12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50"/>
                                        <p:tgtEl>
                                          <p:spTgt spid="22"/>
                                        </p:tgtEl>
                                      </p:cBhvr>
                                    </p:animEffect>
                                  </p:childTnLst>
                                </p:cTn>
                              </p:par>
                              <p:par>
                                <p:cTn id="43" presetID="10" presetClass="entr" presetSubtype="0" fill="hold" grpId="0" nodeType="withEffect">
                                  <p:stCondLst>
                                    <p:cond delay="24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450"/>
                                        <p:tgtEl>
                                          <p:spTgt spid="23"/>
                                        </p:tgtEl>
                                      </p:cBhvr>
                                    </p:animEffect>
                                  </p:childTnLst>
                                </p:cTn>
                              </p:par>
                              <p:par>
                                <p:cTn id="46" presetID="10" presetClass="entr" presetSubtype="0" fill="hold" grpId="0" nodeType="withEffect">
                                  <p:stCondLst>
                                    <p:cond delay="36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50"/>
                                        <p:tgtEl>
                                          <p:spTgt spid="24"/>
                                        </p:tgtEl>
                                      </p:cBhvr>
                                    </p:animEffect>
                                  </p:childTnLst>
                                </p:cTn>
                              </p:par>
                              <p:par>
                                <p:cTn id="49" presetID="10" presetClass="entr" presetSubtype="0" fill="hold" grpId="0" nodeType="withEffect">
                                  <p:stCondLst>
                                    <p:cond delay="48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15</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V.  SCREENING KYC ID</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deux-utilisateurs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SCORE DE CORRESPONDANCE ET VALIDATION HUMAINE</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170432"/>
            <a:ext cx="2679192" cy="15087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65760" y="1170432"/>
            <a:ext cx="2679192" cy="274320"/>
          </a:xfrm>
          <a:prstGeom prst="rect">
            <a:avLst/>
          </a:prstGeom>
          <a:solidFill>
            <a:srgbClr val="DEF1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bouclier_009654.png"/>
          <p:cNvPicPr>
            <a:picLocks noChangeAspect="1"/>
          </p:cNvPicPr>
          <p:nvPr/>
        </p:nvPicPr>
        <p:blipFill>
          <a:blip r:embed="rId4"/>
          <a:stretch>
            <a:fillRect/>
          </a:stretch>
        </p:blipFill>
        <p:spPr>
          <a:xfrm>
            <a:off x="445312" y="1195120"/>
            <a:ext cx="224942" cy="224942"/>
          </a:xfrm>
          <a:prstGeom prst="rect">
            <a:avLst/>
          </a:prstGeom>
        </p:spPr>
      </p:pic>
      <p:sp>
        <p:nvSpPr>
          <p:cNvPr id="14" name="TextBox 13"/>
          <p:cNvSpPr txBox="1"/>
          <p:nvPr/>
        </p:nvSpPr>
        <p:spPr>
          <a:xfrm>
            <a:off x="786384" y="1170432"/>
            <a:ext cx="2148840" cy="274320"/>
          </a:xfrm>
          <a:prstGeom prst="rect">
            <a:avLst/>
          </a:prstGeom>
          <a:noFill/>
        </p:spPr>
        <p:txBody>
          <a:bodyPr wrap="square" lIns="0" rIns="0" tIns="0" bIns="0" anchor="ctr">
            <a:spAutoFit/>
          </a:bodyPr>
          <a:lstStyle/>
          <a:p>
            <a:pPr algn="l"/>
            <a:r>
              <a:rPr sz="900" b="1" i="0" spc="40">
                <a:solidFill>
                  <a:srgbClr val="009654"/>
                </a:solidFill>
                <a:latin typeface="Arial"/>
                <a:ea typeface="Arial"/>
                <a:cs typeface="Arial"/>
              </a:rPr>
              <a:t>CORRESPONDANCE FORTE</a:t>
            </a:r>
          </a:p>
        </p:txBody>
      </p:sp>
      <p:sp>
        <p:nvSpPr>
          <p:cNvPr id="15" name="TextBox 14"/>
          <p:cNvSpPr txBox="1"/>
          <p:nvPr/>
        </p:nvSpPr>
        <p:spPr>
          <a:xfrm>
            <a:off x="502920" y="1572768"/>
            <a:ext cx="2404872" cy="731520"/>
          </a:xfrm>
          <a:prstGeom prst="rect">
            <a:avLst/>
          </a:prstGeom>
          <a:noFill/>
        </p:spPr>
        <p:txBody>
          <a:bodyPr wrap="square" lIns="0" rIns="0" tIns="0" bIns="0" anchor="t">
            <a:spAutoFit/>
          </a:bodyPr>
          <a:lstStyle/>
          <a:p>
            <a:pPr algn="l">
              <a:lnSpc>
                <a:spcPct val="105000"/>
              </a:lnSpc>
            </a:pPr>
            <a:r>
              <a:rPr sz="950" b="0" i="0">
                <a:solidFill>
                  <a:srgbClr val="3A3A3A"/>
                </a:solidFill>
                <a:latin typeface="Arial"/>
                <a:ea typeface="Arial"/>
                <a:cs typeface="Arial"/>
              </a:rPr>
              <a:t>Nom, date de naissance et numéro de pièce concordent : les trois critères pondérés sont alignés.</a:t>
            </a:r>
          </a:p>
        </p:txBody>
      </p:sp>
      <p:sp>
        <p:nvSpPr>
          <p:cNvPr id="16" name="Rectangle 15"/>
          <p:cNvSpPr/>
          <p:nvPr/>
        </p:nvSpPr>
        <p:spPr>
          <a:xfrm>
            <a:off x="502920" y="2304288"/>
            <a:ext cx="2404872"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02920" y="2359152"/>
            <a:ext cx="2404872" cy="274320"/>
          </a:xfrm>
          <a:prstGeom prst="rect">
            <a:avLst/>
          </a:prstGeom>
          <a:noFill/>
        </p:spPr>
        <p:txBody>
          <a:bodyPr wrap="square" lIns="0" rIns="0" tIns="0" bIns="0" anchor="ctr">
            <a:spAutoFit/>
          </a:bodyPr>
          <a:lstStyle/>
          <a:p>
            <a:pPr algn="l">
              <a:lnSpc>
                <a:spcPct val="100000"/>
              </a:lnSpc>
            </a:pPr>
            <a:r>
              <a:rPr sz="900" b="1" i="0">
                <a:solidFill>
                  <a:srgbClr val="009654"/>
                </a:solidFill>
                <a:latin typeface="Arial"/>
                <a:ea typeface="Arial"/>
                <a:cs typeface="Arial"/>
              </a:rPr>
              <a:t>Contrôle visuel rapide, puis validation</a:t>
            </a:r>
          </a:p>
        </p:txBody>
      </p:sp>
      <p:sp>
        <p:nvSpPr>
          <p:cNvPr id="18" name="Rectangle 17"/>
          <p:cNvSpPr/>
          <p:nvPr/>
        </p:nvSpPr>
        <p:spPr>
          <a:xfrm>
            <a:off x="3227832" y="1170432"/>
            <a:ext cx="2679192" cy="15087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3227832" y="1170432"/>
            <a:ext cx="2679192" cy="274320"/>
          </a:xfrm>
          <a:prstGeom prst="rect">
            <a:avLst/>
          </a:prstGeom>
          <a:solidFill>
            <a:srgbClr val="FFF6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0" name="Picture 19" descr="avertissement_9A6B00.png"/>
          <p:cNvPicPr>
            <a:picLocks noChangeAspect="1"/>
          </p:cNvPicPr>
          <p:nvPr/>
        </p:nvPicPr>
        <p:blipFill>
          <a:blip r:embed="rId5"/>
          <a:stretch>
            <a:fillRect/>
          </a:stretch>
        </p:blipFill>
        <p:spPr>
          <a:xfrm>
            <a:off x="3307384" y="1195120"/>
            <a:ext cx="224942" cy="224942"/>
          </a:xfrm>
          <a:prstGeom prst="rect">
            <a:avLst/>
          </a:prstGeom>
        </p:spPr>
      </p:pic>
      <p:sp>
        <p:nvSpPr>
          <p:cNvPr id="21" name="TextBox 20"/>
          <p:cNvSpPr txBox="1"/>
          <p:nvPr/>
        </p:nvSpPr>
        <p:spPr>
          <a:xfrm>
            <a:off x="3648456" y="1170432"/>
            <a:ext cx="2148840" cy="274320"/>
          </a:xfrm>
          <a:prstGeom prst="rect">
            <a:avLst/>
          </a:prstGeom>
          <a:noFill/>
        </p:spPr>
        <p:txBody>
          <a:bodyPr wrap="square" lIns="0" rIns="0" tIns="0" bIns="0" anchor="ctr">
            <a:spAutoFit/>
          </a:bodyPr>
          <a:lstStyle/>
          <a:p>
            <a:pPr algn="l"/>
            <a:r>
              <a:rPr sz="900" b="1" i="0" spc="40">
                <a:solidFill>
                  <a:srgbClr val="9A6B00"/>
                </a:solidFill>
                <a:latin typeface="Arial"/>
                <a:ea typeface="Arial"/>
                <a:cs typeface="Arial"/>
              </a:rPr>
              <a:t>À VÉRIFIER</a:t>
            </a:r>
          </a:p>
        </p:txBody>
      </p:sp>
      <p:sp>
        <p:nvSpPr>
          <p:cNvPr id="22" name="TextBox 21"/>
          <p:cNvSpPr txBox="1"/>
          <p:nvPr/>
        </p:nvSpPr>
        <p:spPr>
          <a:xfrm>
            <a:off x="3364991" y="1572768"/>
            <a:ext cx="2404872" cy="731520"/>
          </a:xfrm>
          <a:prstGeom prst="rect">
            <a:avLst/>
          </a:prstGeom>
          <a:noFill/>
        </p:spPr>
        <p:txBody>
          <a:bodyPr wrap="square" lIns="0" rIns="0" tIns="0" bIns="0" anchor="t">
            <a:spAutoFit/>
          </a:bodyPr>
          <a:lstStyle/>
          <a:p>
            <a:pPr algn="l">
              <a:lnSpc>
                <a:spcPct val="105000"/>
              </a:lnSpc>
            </a:pPr>
            <a:r>
              <a:rPr sz="950" b="0" i="0">
                <a:solidFill>
                  <a:srgbClr val="3A3A3A"/>
                </a:solidFill>
                <a:latin typeface="Arial"/>
                <a:ea typeface="Arial"/>
                <a:cs typeface="Arial"/>
              </a:rPr>
              <a:t>Concordance partielle ou homonymie possible : un critère diverge ou reste illisible.</a:t>
            </a:r>
          </a:p>
        </p:txBody>
      </p:sp>
      <p:sp>
        <p:nvSpPr>
          <p:cNvPr id="23" name="Rectangle 22"/>
          <p:cNvSpPr/>
          <p:nvPr/>
        </p:nvSpPr>
        <p:spPr>
          <a:xfrm>
            <a:off x="3364991" y="2304288"/>
            <a:ext cx="2404872"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364991" y="2359152"/>
            <a:ext cx="2404872" cy="274320"/>
          </a:xfrm>
          <a:prstGeom prst="rect">
            <a:avLst/>
          </a:prstGeom>
          <a:noFill/>
        </p:spPr>
        <p:txBody>
          <a:bodyPr wrap="square" lIns="0" rIns="0" tIns="0" bIns="0" anchor="ctr">
            <a:spAutoFit/>
          </a:bodyPr>
          <a:lstStyle/>
          <a:p>
            <a:pPr algn="l">
              <a:lnSpc>
                <a:spcPct val="100000"/>
              </a:lnSpc>
            </a:pPr>
            <a:r>
              <a:rPr sz="900" b="1" i="0">
                <a:solidFill>
                  <a:srgbClr val="FDB813"/>
                </a:solidFill>
                <a:latin typeface="Arial"/>
                <a:ea typeface="Arial"/>
                <a:cs typeface="Arial"/>
              </a:rPr>
              <a:t>Ouvrir le dossier et comparer</a:t>
            </a:r>
          </a:p>
        </p:txBody>
      </p:sp>
      <p:sp>
        <p:nvSpPr>
          <p:cNvPr id="25" name="Rectangle 24"/>
          <p:cNvSpPr/>
          <p:nvPr/>
        </p:nvSpPr>
        <p:spPr>
          <a:xfrm>
            <a:off x="6089904" y="1170432"/>
            <a:ext cx="2679192" cy="15087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089904" y="1170432"/>
            <a:ext cx="2679192" cy="274320"/>
          </a:xfrm>
          <a:prstGeom prst="rect">
            <a:avLst/>
          </a:prstGeom>
          <a:solidFill>
            <a:srgbClr val="FCE8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supprimer_E84E2B.png"/>
          <p:cNvPicPr>
            <a:picLocks noChangeAspect="1"/>
          </p:cNvPicPr>
          <p:nvPr/>
        </p:nvPicPr>
        <p:blipFill>
          <a:blip r:embed="rId6"/>
          <a:stretch>
            <a:fillRect/>
          </a:stretch>
        </p:blipFill>
        <p:spPr>
          <a:xfrm>
            <a:off x="6169456" y="1195120"/>
            <a:ext cx="224942" cy="224942"/>
          </a:xfrm>
          <a:prstGeom prst="rect">
            <a:avLst/>
          </a:prstGeom>
        </p:spPr>
      </p:pic>
      <p:sp>
        <p:nvSpPr>
          <p:cNvPr id="28" name="TextBox 27"/>
          <p:cNvSpPr txBox="1"/>
          <p:nvPr/>
        </p:nvSpPr>
        <p:spPr>
          <a:xfrm>
            <a:off x="6510528" y="1170432"/>
            <a:ext cx="2148840" cy="274320"/>
          </a:xfrm>
          <a:prstGeom prst="rect">
            <a:avLst/>
          </a:prstGeom>
          <a:noFill/>
        </p:spPr>
        <p:txBody>
          <a:bodyPr wrap="square" lIns="0" rIns="0" tIns="0" bIns="0" anchor="ctr">
            <a:spAutoFit/>
          </a:bodyPr>
          <a:lstStyle/>
          <a:p>
            <a:pPr algn="l"/>
            <a:r>
              <a:rPr sz="900" b="1" i="0" spc="40">
                <a:solidFill>
                  <a:srgbClr val="E84E2B"/>
                </a:solidFill>
                <a:latin typeface="Arial"/>
                <a:ea typeface="Arial"/>
                <a:cs typeface="Arial"/>
              </a:rPr>
              <a:t>CORRESPONDANCE FAIBLE</a:t>
            </a:r>
          </a:p>
        </p:txBody>
      </p:sp>
      <p:sp>
        <p:nvSpPr>
          <p:cNvPr id="29" name="TextBox 28"/>
          <p:cNvSpPr txBox="1"/>
          <p:nvPr/>
        </p:nvSpPr>
        <p:spPr>
          <a:xfrm>
            <a:off x="6227064" y="1572768"/>
            <a:ext cx="2404872" cy="731520"/>
          </a:xfrm>
          <a:prstGeom prst="rect">
            <a:avLst/>
          </a:prstGeom>
          <a:noFill/>
        </p:spPr>
        <p:txBody>
          <a:bodyPr wrap="square" lIns="0" rIns="0" tIns="0" bIns="0" anchor="t">
            <a:spAutoFit/>
          </a:bodyPr>
          <a:lstStyle/>
          <a:p>
            <a:pPr algn="l">
              <a:lnSpc>
                <a:spcPct val="105000"/>
              </a:lnSpc>
            </a:pPr>
            <a:r>
              <a:rPr sz="950" b="0" i="0">
                <a:solidFill>
                  <a:srgbClr val="3A3A3A"/>
                </a:solidFill>
                <a:latin typeface="Arial"/>
                <a:ea typeface="Arial"/>
                <a:cs typeface="Arial"/>
              </a:rPr>
              <a:t>Trop d'écarts entre le document lu et le client proposé par le moteur.</a:t>
            </a:r>
          </a:p>
        </p:txBody>
      </p:sp>
      <p:sp>
        <p:nvSpPr>
          <p:cNvPr id="30" name="Rectangle 29"/>
          <p:cNvSpPr/>
          <p:nvPr/>
        </p:nvSpPr>
        <p:spPr>
          <a:xfrm>
            <a:off x="6227064" y="2304288"/>
            <a:ext cx="2404872"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227064" y="2359152"/>
            <a:ext cx="2404872" cy="274320"/>
          </a:xfrm>
          <a:prstGeom prst="rect">
            <a:avLst/>
          </a:prstGeom>
          <a:noFill/>
        </p:spPr>
        <p:txBody>
          <a:bodyPr wrap="square" lIns="0" rIns="0" tIns="0" bIns="0" anchor="ctr">
            <a:spAutoFit/>
          </a:bodyPr>
          <a:lstStyle/>
          <a:p>
            <a:pPr algn="l">
              <a:lnSpc>
                <a:spcPct val="100000"/>
              </a:lnSpc>
            </a:pPr>
            <a:r>
              <a:rPr sz="900" b="1" i="0">
                <a:solidFill>
                  <a:srgbClr val="E84E2B"/>
                </a:solidFill>
                <a:latin typeface="Arial"/>
                <a:ea typeface="Arial"/>
                <a:cs typeface="Arial"/>
              </a:rPr>
              <a:t>Rejeter et rechercher le client manuellement</a:t>
            </a:r>
          </a:p>
        </p:txBody>
      </p:sp>
      <p:sp>
        <p:nvSpPr>
          <p:cNvPr id="32" name="Rectangle 31"/>
          <p:cNvSpPr/>
          <p:nvPr/>
        </p:nvSpPr>
        <p:spPr>
          <a:xfrm>
            <a:off x="365760" y="2816352"/>
            <a:ext cx="8412480" cy="17556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65760" y="2816352"/>
            <a:ext cx="8412480" cy="274320"/>
          </a:xfrm>
          <a:prstGeom prst="rect">
            <a:avLst/>
          </a:prstGeom>
          <a:solidFill>
            <a:srgbClr val="DEE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4" name="Picture 33" descr="utilisateur_004181.png"/>
          <p:cNvPicPr>
            <a:picLocks noChangeAspect="1"/>
          </p:cNvPicPr>
          <p:nvPr/>
        </p:nvPicPr>
        <p:blipFill>
          <a:blip r:embed="rId7"/>
          <a:stretch>
            <a:fillRect/>
          </a:stretch>
        </p:blipFill>
        <p:spPr>
          <a:xfrm>
            <a:off x="445312" y="2841040"/>
            <a:ext cx="224942" cy="224942"/>
          </a:xfrm>
          <a:prstGeom prst="rect">
            <a:avLst/>
          </a:prstGeom>
        </p:spPr>
      </p:pic>
      <p:sp>
        <p:nvSpPr>
          <p:cNvPr id="35" name="TextBox 34"/>
          <p:cNvSpPr txBox="1"/>
          <p:nvPr/>
        </p:nvSpPr>
        <p:spPr>
          <a:xfrm>
            <a:off x="786384" y="2816352"/>
            <a:ext cx="7882127" cy="274320"/>
          </a:xfrm>
          <a:prstGeom prst="rect">
            <a:avLst/>
          </a:prstGeom>
          <a:noFill/>
        </p:spPr>
        <p:txBody>
          <a:bodyPr wrap="square" lIns="0" rIns="0" tIns="0" bIns="0" anchor="ctr">
            <a:spAutoFit/>
          </a:bodyPr>
          <a:lstStyle/>
          <a:p>
            <a:pPr algn="l"/>
            <a:r>
              <a:rPr sz="1000" b="1" i="0" spc="40">
                <a:solidFill>
                  <a:srgbClr val="004181"/>
                </a:solidFill>
                <a:latin typeface="Arial"/>
                <a:ea typeface="Arial"/>
                <a:cs typeface="Arial"/>
              </a:rPr>
              <a:t>LA DÉCISION RESTE HUMAINE</a:t>
            </a:r>
          </a:p>
        </p:txBody>
      </p:sp>
      <p:sp>
        <p:nvSpPr>
          <p:cNvPr id="36" name="TextBox 35"/>
          <p:cNvSpPr txBox="1"/>
          <p:nvPr/>
        </p:nvSpPr>
        <p:spPr>
          <a:xfrm>
            <a:off x="566928" y="3246120"/>
            <a:ext cx="3931920" cy="1234440"/>
          </a:xfrm>
          <a:prstGeom prst="rect">
            <a:avLst/>
          </a:prstGeom>
          <a:noFill/>
        </p:spPr>
        <p:txBody>
          <a:bodyPr wrap="square" lIns="0" rIns="0" tIns="0" bIns="0" anchor="t">
            <a:spAutoFit/>
          </a:bodyPr>
          <a:lstStyle/>
          <a:p>
            <a:pPr algn="l" marL="152400" indent="-152400">
              <a:lnSpc>
                <a:spcPct val="100000"/>
              </a:lnSpc>
              <a:spcAft>
                <a:spcPts val="2000"/>
              </a:spcAft>
              <a:buClr>
                <a:srgbClr val="009654"/>
              </a:buClr>
              <a:buFont typeface="Arial" pitchFamily="34" charset="0"/>
              <a:buChar char="▪"/>
            </a:pPr>
            <a:r>
              <a:rPr sz="950" b="0" i="0">
                <a:solidFill>
                  <a:srgbClr val="3A3A3A"/>
                </a:solidFill>
                <a:latin typeface="Arial"/>
                <a:ea typeface="Arial"/>
                <a:cs typeface="Arial"/>
              </a:rPr>
              <a:t>Aucune donnée n'est écrite dans le corebanking par la plateforme</a:t>
            </a:r>
          </a:p>
          <a:p>
            <a:pPr algn="l" marL="152400" indent="-152400">
              <a:lnSpc>
                <a:spcPct val="100000"/>
              </a:lnSpc>
              <a:spcAft>
                <a:spcPts val="2000"/>
              </a:spcAft>
              <a:buClr>
                <a:srgbClr val="009654"/>
              </a:buClr>
              <a:buFont typeface="Arial" pitchFamily="34" charset="0"/>
              <a:buChar char="▪"/>
            </a:pPr>
            <a:r>
              <a:rPr sz="950" b="0" i="0">
                <a:solidFill>
                  <a:srgbClr val="3A3A3A"/>
                </a:solidFill>
                <a:latin typeface="Arial"/>
                <a:ea typeface="Arial"/>
                <a:cs typeface="Arial"/>
              </a:rPr>
              <a:t>Seuls les profils habilités peuvent valider un rapprochement</a:t>
            </a:r>
          </a:p>
          <a:p>
            <a:pPr algn="l" marL="152400" indent="-152400">
              <a:lnSpc>
                <a:spcPct val="100000"/>
              </a:lnSpc>
              <a:spcAft>
                <a:spcPts val="2000"/>
              </a:spcAft>
              <a:buClr>
                <a:srgbClr val="009654"/>
              </a:buClr>
              <a:buFont typeface="Arial" pitchFamily="34" charset="0"/>
              <a:buChar char="▪"/>
            </a:pPr>
            <a:r>
              <a:rPr sz="950" b="0" i="0">
                <a:solidFill>
                  <a:srgbClr val="3A3A3A"/>
                </a:solidFill>
                <a:latin typeface="Arial"/>
                <a:ea typeface="Arial"/>
                <a:cs typeface="Arial"/>
              </a:rPr>
              <a:t>Chaque décision est horodatée et nominative</a:t>
            </a:r>
          </a:p>
        </p:txBody>
      </p:sp>
      <p:sp>
        <p:nvSpPr>
          <p:cNvPr id="37" name="TextBox 36"/>
          <p:cNvSpPr txBox="1"/>
          <p:nvPr/>
        </p:nvSpPr>
        <p:spPr>
          <a:xfrm>
            <a:off x="4709160" y="3246120"/>
            <a:ext cx="3931920" cy="1234440"/>
          </a:xfrm>
          <a:prstGeom prst="rect">
            <a:avLst/>
          </a:prstGeom>
          <a:noFill/>
        </p:spPr>
        <p:txBody>
          <a:bodyPr wrap="square" lIns="0" rIns="0" tIns="0" bIns="0" anchor="t">
            <a:spAutoFit/>
          </a:bodyPr>
          <a:lstStyle/>
          <a:p>
            <a:pPr algn="l" marL="152400" indent="-152400">
              <a:lnSpc>
                <a:spcPct val="100000"/>
              </a:lnSpc>
              <a:spcAft>
                <a:spcPts val="2000"/>
              </a:spcAft>
              <a:buClr>
                <a:srgbClr val="009654"/>
              </a:buClr>
              <a:buFont typeface="Arial" pitchFamily="34" charset="0"/>
              <a:buChar char="▪"/>
            </a:pPr>
            <a:r>
              <a:rPr sz="950" b="0" i="0">
                <a:solidFill>
                  <a:srgbClr val="3A3A3A"/>
                </a:solidFill>
                <a:latin typeface="Arial"/>
                <a:ea typeface="Arial"/>
                <a:cs typeface="Arial"/>
              </a:rPr>
              <a:t>En cas de doute, on rejette : un faux rapprochement coûte plus cher qu'un dossier resté ouvert</a:t>
            </a:r>
          </a:p>
          <a:p>
            <a:pPr algn="l" marL="152400" indent="-152400">
              <a:lnSpc>
                <a:spcPct val="100000"/>
              </a:lnSpc>
              <a:spcAft>
                <a:spcPts val="2000"/>
              </a:spcAft>
              <a:buClr>
                <a:srgbClr val="009654"/>
              </a:buClr>
              <a:buFont typeface="Arial" pitchFamily="34" charset="0"/>
              <a:buChar char="▪"/>
            </a:pPr>
            <a:r>
              <a:rPr sz="950" b="0" i="0">
                <a:solidFill>
                  <a:srgbClr val="3A3A3A"/>
                </a:solidFill>
                <a:latin typeface="Arial"/>
                <a:ea typeface="Arial"/>
                <a:cs typeface="Arial"/>
              </a:rPr>
              <a:t>La pièce justificative reste archivée et consultable selon votre périmètre</a:t>
            </a:r>
          </a:p>
          <a:p>
            <a:pPr algn="l" marL="152400" indent="-152400">
              <a:lnSpc>
                <a:spcPct val="100000"/>
              </a:lnSpc>
              <a:spcAft>
                <a:spcPts val="2000"/>
              </a:spcAft>
              <a:buClr>
                <a:srgbClr val="009654"/>
              </a:buClr>
              <a:buFont typeface="Arial" pitchFamily="34" charset="0"/>
              <a:buChar char="▪"/>
            </a:pPr>
            <a:r>
              <a:rPr sz="950" b="0" i="0">
                <a:solidFill>
                  <a:srgbClr val="3A3A3A"/>
                </a:solidFill>
                <a:latin typeface="Arial"/>
                <a:ea typeface="Arial"/>
                <a:cs typeface="Arial"/>
              </a:rPr>
              <a:t>Les documents traités alimentent le suivi de complétude du lendemain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par>
                                <p:cTn id="18" presetID="10" presetClass="entr" presetSubtype="0" fill="hold" grpId="0" nodeType="withEffect">
                                  <p:stCondLst>
                                    <p:cond delay="60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50"/>
                                        <p:tgtEl>
                                          <p:spTgt spid="16"/>
                                        </p:tgtEl>
                                      </p:cBhvr>
                                    </p:animEffect>
                                  </p:childTnLst>
                                </p:cTn>
                              </p:par>
                              <p:par>
                                <p:cTn id="21" presetID="10" presetClass="entr" presetSubtype="0" fill="hold" grpId="0" nodeType="withEffect">
                                  <p:stCondLst>
                                    <p:cond delay="72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50"/>
                                        <p:tgtEl>
                                          <p:spTgt spid="17"/>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50"/>
                                        <p:tgtEl>
                                          <p:spTgt spid="18"/>
                                        </p:tgtEl>
                                      </p:cBhvr>
                                    </p:animEffect>
                                  </p:childTnLst>
                                </p:cTn>
                              </p:par>
                              <p:par>
                                <p:cTn id="29" presetID="10" presetClass="entr" presetSubtype="0" fill="hold" grpId="0" nodeType="withEffect">
                                  <p:stCondLst>
                                    <p:cond delay="12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50"/>
                                        <p:tgtEl>
                                          <p:spTgt spid="19"/>
                                        </p:tgtEl>
                                      </p:cBhvr>
                                    </p:animEffect>
                                  </p:childTnLst>
                                </p:cTn>
                              </p:par>
                              <p:par>
                                <p:cTn id="32" presetID="10" presetClass="entr" presetSubtype="0" fill="hold" grpId="0" nodeType="withEffect">
                                  <p:stCondLst>
                                    <p:cond delay="24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50"/>
                                        <p:tgtEl>
                                          <p:spTgt spid="21"/>
                                        </p:tgtEl>
                                      </p:cBhvr>
                                    </p:animEffect>
                                  </p:childTnLst>
                                </p:cTn>
                              </p:par>
                              <p:par>
                                <p:cTn id="38" presetID="10" presetClass="entr" presetSubtype="0" fill="hold" grpId="0" nodeType="withEffect">
                                  <p:stCondLst>
                                    <p:cond delay="48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450"/>
                                        <p:tgtEl>
                                          <p:spTgt spid="22"/>
                                        </p:tgtEl>
                                      </p:cBhvr>
                                    </p:animEffect>
                                  </p:childTnLst>
                                </p:cTn>
                              </p:par>
                              <p:par>
                                <p:cTn id="41" presetID="10" presetClass="entr" presetSubtype="0" fill="hold" grpId="0" nodeType="withEffect">
                                  <p:stCondLst>
                                    <p:cond delay="60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50"/>
                                        <p:tgtEl>
                                          <p:spTgt spid="23"/>
                                        </p:tgtEl>
                                      </p:cBhvr>
                                    </p:animEffect>
                                  </p:childTnLst>
                                </p:cTn>
                              </p:par>
                              <p:par>
                                <p:cTn id="44" presetID="10" presetClass="entr" presetSubtype="0" fill="hold" grpId="0" nodeType="withEffect">
                                  <p:stCondLst>
                                    <p:cond delay="72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450"/>
                                        <p:tgtEl>
                                          <p:spTgt spid="24"/>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450"/>
                                        <p:tgtEl>
                                          <p:spTgt spid="25"/>
                                        </p:tgtEl>
                                      </p:cBhvr>
                                    </p:animEffect>
                                  </p:childTnLst>
                                </p:cTn>
                              </p:par>
                              <p:par>
                                <p:cTn id="52" presetID="10" presetClass="entr" presetSubtype="0" fill="hold" grpId="0" nodeType="withEffect">
                                  <p:stCondLst>
                                    <p:cond delay="1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450"/>
                                        <p:tgtEl>
                                          <p:spTgt spid="26"/>
                                        </p:tgtEl>
                                      </p:cBhvr>
                                    </p:animEffect>
                                  </p:childTnLst>
                                </p:cTn>
                              </p:par>
                              <p:par>
                                <p:cTn id="55" presetID="10" presetClass="entr" presetSubtype="0" fill="hold" grpId="0" nodeType="withEffect">
                                  <p:stCondLst>
                                    <p:cond delay="24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450"/>
                                        <p:tgtEl>
                                          <p:spTgt spid="27"/>
                                        </p:tgtEl>
                                      </p:cBhvr>
                                    </p:animEffect>
                                  </p:childTnLst>
                                </p:cTn>
                              </p:par>
                              <p:par>
                                <p:cTn id="58" presetID="10" presetClass="entr" presetSubtype="0" fill="hold" grpId="0" nodeType="withEffect">
                                  <p:stCondLst>
                                    <p:cond delay="36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450"/>
                                        <p:tgtEl>
                                          <p:spTgt spid="28"/>
                                        </p:tgtEl>
                                      </p:cBhvr>
                                    </p:animEffect>
                                  </p:childTnLst>
                                </p:cTn>
                              </p:par>
                              <p:par>
                                <p:cTn id="61" presetID="10" presetClass="entr" presetSubtype="0" fill="hold" grpId="0" nodeType="withEffect">
                                  <p:stCondLst>
                                    <p:cond delay="48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450"/>
                                        <p:tgtEl>
                                          <p:spTgt spid="29"/>
                                        </p:tgtEl>
                                      </p:cBhvr>
                                    </p:animEffect>
                                  </p:childTnLst>
                                </p:cTn>
                              </p:par>
                              <p:par>
                                <p:cTn id="64" presetID="10" presetClass="entr" presetSubtype="0" fill="hold" grpId="0" nodeType="withEffect">
                                  <p:stCondLst>
                                    <p:cond delay="60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450"/>
                                        <p:tgtEl>
                                          <p:spTgt spid="30"/>
                                        </p:tgtEl>
                                      </p:cBhvr>
                                    </p:animEffect>
                                  </p:childTnLst>
                                </p:cTn>
                              </p:par>
                              <p:par>
                                <p:cTn id="67" presetID="10" presetClass="entr" presetSubtype="0" fill="hold" grpId="0" nodeType="withEffect">
                                  <p:stCondLst>
                                    <p:cond delay="72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450"/>
                                        <p:tgtEl>
                                          <p:spTgt spid="31"/>
                                        </p:tgtEl>
                                      </p:cBhvr>
                                    </p:animEffect>
                                  </p:childTnLst>
                                </p:cTn>
                              </p:par>
                            </p:childTnLst>
                          </p:cTn>
                        </p:par>
                      </p:childTnLst>
                    </p:cTn>
                  </p:par>
                  <p:par>
                    <p:cTn id="90" fill="hold">
                      <p:stCondLst>
                        <p:cond delay="indefinite"/>
                      </p:stCondLst>
                      <p:childTnLst>
                        <p:par>
                          <p:cTn id="9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450"/>
                                        <p:tgtEl>
                                          <p:spTgt spid="32"/>
                                        </p:tgtEl>
                                      </p:cBhvr>
                                    </p:animEffect>
                                  </p:childTnLst>
                                </p:cTn>
                              </p:par>
                              <p:par>
                                <p:cTn id="75" presetID="10" presetClass="entr" presetSubtype="0" fill="hold" grpId="0" nodeType="withEffect">
                                  <p:stCondLst>
                                    <p:cond delay="120"/>
                                  </p:stCondLst>
                                  <p:childTnLst>
                                    <p:set>
                                      <p:cBhvr>
                                        <p:cTn id="76" dur="1" fill="hold">
                                          <p:stCondLst>
                                            <p:cond delay="0"/>
                                          </p:stCondLst>
                                        </p:cTn>
                                        <p:tgtEl>
                                          <p:spTgt spid="33"/>
                                        </p:tgtEl>
                                        <p:attrNameLst>
                                          <p:attrName>style.visibility</p:attrName>
                                        </p:attrNameLst>
                                      </p:cBhvr>
                                      <p:to>
                                        <p:strVal val="visible"/>
                                      </p:to>
                                    </p:set>
                                    <p:animEffect transition="in" filter="fade">
                                      <p:cBhvr>
                                        <p:cTn id="77" dur="450"/>
                                        <p:tgtEl>
                                          <p:spTgt spid="33"/>
                                        </p:tgtEl>
                                      </p:cBhvr>
                                    </p:animEffect>
                                  </p:childTnLst>
                                </p:cTn>
                              </p:par>
                              <p:par>
                                <p:cTn id="78" presetID="10" presetClass="entr" presetSubtype="0" fill="hold" grpId="0" nodeType="withEffect">
                                  <p:stCondLst>
                                    <p:cond delay="240"/>
                                  </p:stCondLst>
                                  <p:childTnLst>
                                    <p:set>
                                      <p:cBhvr>
                                        <p:cTn id="79" dur="1" fill="hold">
                                          <p:stCondLst>
                                            <p:cond delay="0"/>
                                          </p:stCondLst>
                                        </p:cTn>
                                        <p:tgtEl>
                                          <p:spTgt spid="34"/>
                                        </p:tgtEl>
                                        <p:attrNameLst>
                                          <p:attrName>style.visibility</p:attrName>
                                        </p:attrNameLst>
                                      </p:cBhvr>
                                      <p:to>
                                        <p:strVal val="visible"/>
                                      </p:to>
                                    </p:set>
                                    <p:animEffect transition="in" filter="fade">
                                      <p:cBhvr>
                                        <p:cTn id="80" dur="450"/>
                                        <p:tgtEl>
                                          <p:spTgt spid="34"/>
                                        </p:tgtEl>
                                      </p:cBhvr>
                                    </p:animEffect>
                                  </p:childTnLst>
                                </p:cTn>
                              </p:par>
                              <p:par>
                                <p:cTn id="81" presetID="10" presetClass="entr" presetSubtype="0" fill="hold" grpId="0" nodeType="withEffect">
                                  <p:stCondLst>
                                    <p:cond delay="36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450"/>
                                        <p:tgtEl>
                                          <p:spTgt spid="35"/>
                                        </p:tgtEl>
                                      </p:cBhvr>
                                    </p:animEffect>
                                  </p:childTnLst>
                                </p:cTn>
                              </p:par>
                              <p:par>
                                <p:cTn id="84" presetID="10" presetClass="entr" presetSubtype="0" fill="hold" grpId="0" nodeType="withEffect">
                                  <p:stCondLst>
                                    <p:cond delay="480"/>
                                  </p:stCondLst>
                                  <p:childTnLst>
                                    <p:set>
                                      <p:cBhvr>
                                        <p:cTn id="85" dur="1" fill="hold">
                                          <p:stCondLst>
                                            <p:cond delay="0"/>
                                          </p:stCondLst>
                                        </p:cTn>
                                        <p:tgtEl>
                                          <p:spTgt spid="36"/>
                                        </p:tgtEl>
                                        <p:attrNameLst>
                                          <p:attrName>style.visibility</p:attrName>
                                        </p:attrNameLst>
                                      </p:cBhvr>
                                      <p:to>
                                        <p:strVal val="visible"/>
                                      </p:to>
                                    </p:set>
                                    <p:animEffect transition="in" filter="fade">
                                      <p:cBhvr>
                                        <p:cTn id="86" dur="450"/>
                                        <p:tgtEl>
                                          <p:spTgt spid="36"/>
                                        </p:tgtEl>
                                      </p:cBhvr>
                                    </p:animEffect>
                                  </p:childTnLst>
                                </p:cTn>
                              </p:par>
                              <p:par>
                                <p:cTn id="87" presetID="10" presetClass="entr" presetSubtype="0" fill="hold" grpId="0" nodeType="withEffect">
                                  <p:stCondLst>
                                    <p:cond delay="600"/>
                                  </p:stCondLst>
                                  <p:childTnLst>
                                    <p:set>
                                      <p:cBhvr>
                                        <p:cTn id="88" dur="1" fill="hold">
                                          <p:stCondLst>
                                            <p:cond delay="0"/>
                                          </p:stCondLst>
                                        </p:cTn>
                                        <p:tgtEl>
                                          <p:spTgt spid="37"/>
                                        </p:tgtEl>
                                        <p:attrNameLst>
                                          <p:attrName>style.visibility</p:attrName>
                                        </p:attrNameLst>
                                      </p:cBhvr>
                                      <p:to>
                                        <p:strVal val="visible"/>
                                      </p:to>
                                    </p:set>
                                    <p:animEffect transition="in" filter="fade">
                                      <p:cBhvr>
                                        <p:cTn id="89"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16</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VI.  RITUELS ET DÉPLOIEMENT</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calendrier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INSCRIRE LA PLATEFORME DANS LE QUOTIDIEN</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170432"/>
            <a:ext cx="2679192" cy="248716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65760" y="1170432"/>
            <a:ext cx="2679192" cy="274320"/>
          </a:xfrm>
          <a:prstGeom prst="rect">
            <a:avLst/>
          </a:prstGeom>
          <a:solidFill>
            <a:srgbClr val="DEF1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boucle_009654.png"/>
          <p:cNvPicPr>
            <a:picLocks noChangeAspect="1"/>
          </p:cNvPicPr>
          <p:nvPr/>
        </p:nvPicPr>
        <p:blipFill>
          <a:blip r:embed="rId4"/>
          <a:stretch>
            <a:fillRect/>
          </a:stretch>
        </p:blipFill>
        <p:spPr>
          <a:xfrm>
            <a:off x="445312" y="1195120"/>
            <a:ext cx="224942" cy="224942"/>
          </a:xfrm>
          <a:prstGeom prst="rect">
            <a:avLst/>
          </a:prstGeom>
        </p:spPr>
      </p:pic>
      <p:sp>
        <p:nvSpPr>
          <p:cNvPr id="14" name="TextBox 13"/>
          <p:cNvSpPr txBox="1"/>
          <p:nvPr/>
        </p:nvSpPr>
        <p:spPr>
          <a:xfrm>
            <a:off x="786384" y="1170432"/>
            <a:ext cx="2148840" cy="274320"/>
          </a:xfrm>
          <a:prstGeom prst="rect">
            <a:avLst/>
          </a:prstGeom>
          <a:noFill/>
        </p:spPr>
        <p:txBody>
          <a:bodyPr wrap="square" lIns="0" rIns="0" tIns="0" bIns="0" anchor="ctr">
            <a:spAutoFit/>
          </a:bodyPr>
          <a:lstStyle/>
          <a:p>
            <a:pPr algn="l"/>
            <a:r>
              <a:rPr sz="950" b="1" i="0" spc="40">
                <a:solidFill>
                  <a:srgbClr val="009654"/>
                </a:solidFill>
                <a:latin typeface="Arial"/>
                <a:ea typeface="Arial"/>
                <a:cs typeface="Arial"/>
              </a:rPr>
              <a:t>CHAQUE JOUR</a:t>
            </a:r>
          </a:p>
        </p:txBody>
      </p:sp>
      <p:sp>
        <p:nvSpPr>
          <p:cNvPr id="15" name="TextBox 14"/>
          <p:cNvSpPr txBox="1"/>
          <p:nvPr/>
        </p:nvSpPr>
        <p:spPr>
          <a:xfrm>
            <a:off x="512064" y="1600200"/>
            <a:ext cx="2386584" cy="2194560"/>
          </a:xfrm>
          <a:prstGeom prst="rect">
            <a:avLst/>
          </a:prstGeom>
          <a:noFill/>
        </p:spPr>
        <p:txBody>
          <a:bodyPr wrap="square" lIns="0" rIns="0" tIns="0" bIns="0" anchor="t">
            <a:spAutoFit/>
          </a:bodyPr>
          <a:lstStyle/>
          <a:p>
            <a:pPr algn="l" marL="152400" indent="-152400">
              <a:lnSpc>
                <a:spcPct val="105000"/>
              </a:lnSpc>
              <a:spcAft>
                <a:spcPts val="1300"/>
              </a:spcAft>
              <a:buClr>
                <a:srgbClr val="009654"/>
              </a:buClr>
              <a:buFont typeface="Arial" pitchFamily="34" charset="0"/>
              <a:buChar char="▪"/>
            </a:pPr>
            <a:r>
              <a:rPr sz="950" b="0" i="0">
                <a:solidFill>
                  <a:srgbClr val="3A3A3A"/>
                </a:solidFill>
                <a:latin typeface="Arial"/>
                <a:ea typeface="Arial"/>
                <a:cs typeface="Arial"/>
              </a:rPr>
              <a:t>Le chargé consulte son flux de la veille et corrige les dossiers signalés</a:t>
            </a:r>
          </a:p>
          <a:p>
            <a:pPr algn="l" marL="152400" indent="-152400">
              <a:lnSpc>
                <a:spcPct val="105000"/>
              </a:lnSpc>
              <a:spcAft>
                <a:spcPts val="1300"/>
              </a:spcAft>
              <a:buClr>
                <a:srgbClr val="009654"/>
              </a:buClr>
              <a:buFont typeface="Arial" pitchFamily="34" charset="0"/>
              <a:buChar char="▪"/>
            </a:pPr>
            <a:r>
              <a:rPr sz="950" b="0" i="0">
                <a:solidFill>
                  <a:srgbClr val="3A3A3A"/>
                </a:solidFill>
                <a:latin typeface="Arial"/>
                <a:ea typeface="Arial"/>
                <a:cs typeface="Arial"/>
              </a:rPr>
              <a:t>Il dépose les pièces collectées en agence dans le lot du jour</a:t>
            </a:r>
          </a:p>
          <a:p>
            <a:pPr algn="l" marL="152400" indent="-152400">
              <a:lnSpc>
                <a:spcPct val="105000"/>
              </a:lnSpc>
              <a:spcAft>
                <a:spcPts val="1300"/>
              </a:spcAft>
              <a:buClr>
                <a:srgbClr val="009654"/>
              </a:buClr>
              <a:buFont typeface="Arial" pitchFamily="34" charset="0"/>
              <a:buChar char="▪"/>
            </a:pPr>
            <a:r>
              <a:rPr sz="950" b="0" i="0">
                <a:solidFill>
                  <a:srgbClr val="3A3A3A"/>
                </a:solidFill>
                <a:latin typeface="Arial"/>
                <a:ea typeface="Arial"/>
                <a:cs typeface="Arial"/>
              </a:rPr>
              <a:t>Il traite les rapprochements en attente sur son portefeuille</a:t>
            </a:r>
          </a:p>
          <a:p>
            <a:pPr algn="l" marL="152400" indent="-152400">
              <a:lnSpc>
                <a:spcPct val="105000"/>
              </a:lnSpc>
              <a:spcAft>
                <a:spcPts val="1300"/>
              </a:spcAft>
              <a:buClr>
                <a:srgbClr val="009654"/>
              </a:buClr>
              <a:buFont typeface="Arial" pitchFamily="34" charset="0"/>
              <a:buChar char="▪"/>
            </a:pPr>
            <a:r>
              <a:rPr sz="950" b="0" i="0">
                <a:solidFill>
                  <a:srgbClr val="3A3A3A"/>
                </a:solidFill>
                <a:latin typeface="Arial"/>
                <a:ea typeface="Arial"/>
                <a:cs typeface="Arial"/>
              </a:rPr>
              <a:t>Il contrôle le matin que ses corrections de la veille sont bien prises en compte</a:t>
            </a:r>
          </a:p>
        </p:txBody>
      </p:sp>
      <p:sp>
        <p:nvSpPr>
          <p:cNvPr id="16" name="Rectangle 15"/>
          <p:cNvSpPr/>
          <p:nvPr/>
        </p:nvSpPr>
        <p:spPr>
          <a:xfrm>
            <a:off x="3227832" y="1170432"/>
            <a:ext cx="2679192" cy="248716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227832" y="1170432"/>
            <a:ext cx="2679192" cy="274320"/>
          </a:xfrm>
          <a:prstGeom prst="rect">
            <a:avLst/>
          </a:prstGeom>
          <a:solidFill>
            <a:srgbClr val="DEE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recharger_004181.png"/>
          <p:cNvPicPr>
            <a:picLocks noChangeAspect="1"/>
          </p:cNvPicPr>
          <p:nvPr/>
        </p:nvPicPr>
        <p:blipFill>
          <a:blip r:embed="rId5"/>
          <a:stretch>
            <a:fillRect/>
          </a:stretch>
        </p:blipFill>
        <p:spPr>
          <a:xfrm>
            <a:off x="3307384" y="1195120"/>
            <a:ext cx="224942" cy="224942"/>
          </a:xfrm>
          <a:prstGeom prst="rect">
            <a:avLst/>
          </a:prstGeom>
        </p:spPr>
      </p:pic>
      <p:sp>
        <p:nvSpPr>
          <p:cNvPr id="19" name="TextBox 18"/>
          <p:cNvSpPr txBox="1"/>
          <p:nvPr/>
        </p:nvSpPr>
        <p:spPr>
          <a:xfrm>
            <a:off x="3648456" y="1170432"/>
            <a:ext cx="2148840" cy="274320"/>
          </a:xfrm>
          <a:prstGeom prst="rect">
            <a:avLst/>
          </a:prstGeom>
          <a:noFill/>
        </p:spPr>
        <p:txBody>
          <a:bodyPr wrap="square" lIns="0" rIns="0" tIns="0" bIns="0" anchor="ctr">
            <a:spAutoFit/>
          </a:bodyPr>
          <a:lstStyle/>
          <a:p>
            <a:pPr algn="l"/>
            <a:r>
              <a:rPr sz="950" b="1" i="0" spc="40">
                <a:solidFill>
                  <a:srgbClr val="004181"/>
                </a:solidFill>
                <a:latin typeface="Arial"/>
                <a:ea typeface="Arial"/>
                <a:cs typeface="Arial"/>
              </a:rPr>
              <a:t>CHAQUE SEMAINE</a:t>
            </a:r>
          </a:p>
        </p:txBody>
      </p:sp>
      <p:sp>
        <p:nvSpPr>
          <p:cNvPr id="20" name="TextBox 19"/>
          <p:cNvSpPr txBox="1"/>
          <p:nvPr/>
        </p:nvSpPr>
        <p:spPr>
          <a:xfrm>
            <a:off x="3374136" y="1600200"/>
            <a:ext cx="2386584" cy="2194560"/>
          </a:xfrm>
          <a:prstGeom prst="rect">
            <a:avLst/>
          </a:prstGeom>
          <a:noFill/>
        </p:spPr>
        <p:txBody>
          <a:bodyPr wrap="square" lIns="0" rIns="0" tIns="0" bIns="0" anchor="t">
            <a:spAutoFit/>
          </a:bodyPr>
          <a:lstStyle/>
          <a:p>
            <a:pPr algn="l" marL="152400" indent="-152400">
              <a:lnSpc>
                <a:spcPct val="105000"/>
              </a:lnSpc>
              <a:spcAft>
                <a:spcPts val="1300"/>
              </a:spcAft>
              <a:buClr>
                <a:srgbClr val="004181"/>
              </a:buClr>
              <a:buFont typeface="Arial" pitchFamily="34" charset="0"/>
              <a:buChar char="▪"/>
            </a:pPr>
            <a:r>
              <a:rPr sz="950" b="0" i="0">
                <a:solidFill>
                  <a:srgbClr val="3A3A3A"/>
                </a:solidFill>
                <a:latin typeface="Arial"/>
                <a:ea typeface="Arial"/>
                <a:cs typeface="Arial"/>
              </a:rPr>
              <a:t>Le directeur d'agence compare ses chargés et arbitre les priorités</a:t>
            </a:r>
          </a:p>
          <a:p>
            <a:pPr algn="l" marL="152400" indent="-152400">
              <a:lnSpc>
                <a:spcPct val="105000"/>
              </a:lnSpc>
              <a:spcAft>
                <a:spcPts val="1300"/>
              </a:spcAft>
              <a:buClr>
                <a:srgbClr val="004181"/>
              </a:buClr>
              <a:buFont typeface="Arial" pitchFamily="34" charset="0"/>
              <a:buChar char="▪"/>
            </a:pPr>
            <a:r>
              <a:rPr sz="950" b="0" i="0">
                <a:solidFill>
                  <a:srgbClr val="3A3A3A"/>
                </a:solidFill>
                <a:latin typeface="Arial"/>
                <a:ea typeface="Arial"/>
                <a:cs typeface="Arial"/>
              </a:rPr>
              <a:t>Il vérifie que les dossiers échus depuis plus d'une semaine ont été traités</a:t>
            </a:r>
          </a:p>
          <a:p>
            <a:pPr algn="l" marL="152400" indent="-152400">
              <a:lnSpc>
                <a:spcPct val="105000"/>
              </a:lnSpc>
              <a:spcAft>
                <a:spcPts val="1300"/>
              </a:spcAft>
              <a:buClr>
                <a:srgbClr val="004181"/>
              </a:buClr>
              <a:buFont typeface="Arial" pitchFamily="34" charset="0"/>
              <a:buChar char="▪"/>
            </a:pPr>
            <a:r>
              <a:rPr sz="950" b="0" i="0">
                <a:solidFill>
                  <a:srgbClr val="3A3A3A"/>
                </a:solidFill>
                <a:latin typeface="Arial"/>
                <a:ea typeface="Arial"/>
                <a:cs typeface="Arial"/>
              </a:rPr>
              <a:t>Il remonte au correspondant filiale les cas bloquants</a:t>
            </a:r>
          </a:p>
          <a:p>
            <a:pPr algn="l" marL="152400" indent="-152400">
              <a:lnSpc>
                <a:spcPct val="105000"/>
              </a:lnSpc>
              <a:spcAft>
                <a:spcPts val="1300"/>
              </a:spcAft>
              <a:buClr>
                <a:srgbClr val="004181"/>
              </a:buClr>
              <a:buFont typeface="Arial" pitchFamily="34" charset="0"/>
              <a:buChar char="▪"/>
            </a:pPr>
            <a:r>
              <a:rPr sz="950" b="0" i="0">
                <a:solidFill>
                  <a:srgbClr val="3A3A3A"/>
                </a:solidFill>
                <a:latin typeface="Arial"/>
                <a:ea typeface="Arial"/>
                <a:cs typeface="Arial"/>
              </a:rPr>
              <a:t>Il consacre cinq minutes aux dossiers échus lors de la réunion d'agence</a:t>
            </a:r>
          </a:p>
        </p:txBody>
      </p:sp>
      <p:sp>
        <p:nvSpPr>
          <p:cNvPr id="21" name="Rectangle 20"/>
          <p:cNvSpPr/>
          <p:nvPr/>
        </p:nvSpPr>
        <p:spPr>
          <a:xfrm>
            <a:off x="6089904" y="1170432"/>
            <a:ext cx="2679192" cy="248716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089904" y="1170432"/>
            <a:ext cx="2679192" cy="274320"/>
          </a:xfrm>
          <a:prstGeom prst="rect">
            <a:avLst/>
          </a:prstGeom>
          <a:solidFill>
            <a:srgbClr val="EAEC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tendance_5A6B8C.png"/>
          <p:cNvPicPr>
            <a:picLocks noChangeAspect="1"/>
          </p:cNvPicPr>
          <p:nvPr/>
        </p:nvPicPr>
        <p:blipFill>
          <a:blip r:embed="rId6"/>
          <a:stretch>
            <a:fillRect/>
          </a:stretch>
        </p:blipFill>
        <p:spPr>
          <a:xfrm>
            <a:off x="6169456" y="1195120"/>
            <a:ext cx="224942" cy="224942"/>
          </a:xfrm>
          <a:prstGeom prst="rect">
            <a:avLst/>
          </a:prstGeom>
        </p:spPr>
      </p:pic>
      <p:sp>
        <p:nvSpPr>
          <p:cNvPr id="24" name="TextBox 23"/>
          <p:cNvSpPr txBox="1"/>
          <p:nvPr/>
        </p:nvSpPr>
        <p:spPr>
          <a:xfrm>
            <a:off x="6510528" y="1170432"/>
            <a:ext cx="2148840" cy="274320"/>
          </a:xfrm>
          <a:prstGeom prst="rect">
            <a:avLst/>
          </a:prstGeom>
          <a:noFill/>
        </p:spPr>
        <p:txBody>
          <a:bodyPr wrap="square" lIns="0" rIns="0" tIns="0" bIns="0" anchor="ctr">
            <a:spAutoFit/>
          </a:bodyPr>
          <a:lstStyle/>
          <a:p>
            <a:pPr algn="l"/>
            <a:r>
              <a:rPr sz="950" b="1" i="0" spc="40">
                <a:solidFill>
                  <a:srgbClr val="5A6B8C"/>
                </a:solidFill>
                <a:latin typeface="Arial"/>
                <a:ea typeface="Arial"/>
                <a:cs typeface="Arial"/>
              </a:rPr>
              <a:t>CHAQUE MOIS</a:t>
            </a:r>
          </a:p>
        </p:txBody>
      </p:sp>
      <p:sp>
        <p:nvSpPr>
          <p:cNvPr id="25" name="TextBox 24"/>
          <p:cNvSpPr txBox="1"/>
          <p:nvPr/>
        </p:nvSpPr>
        <p:spPr>
          <a:xfrm>
            <a:off x="6236208" y="1600200"/>
            <a:ext cx="2386584" cy="2194560"/>
          </a:xfrm>
          <a:prstGeom prst="rect">
            <a:avLst/>
          </a:prstGeom>
          <a:noFill/>
        </p:spPr>
        <p:txBody>
          <a:bodyPr wrap="square" lIns="0" rIns="0" tIns="0" bIns="0" anchor="t">
            <a:spAutoFit/>
          </a:bodyPr>
          <a:lstStyle/>
          <a:p>
            <a:pPr algn="l" marL="152400" indent="-152400">
              <a:lnSpc>
                <a:spcPct val="105000"/>
              </a:lnSpc>
              <a:spcAft>
                <a:spcPts val="1300"/>
              </a:spcAft>
              <a:buClr>
                <a:srgbClr val="5A6B8C"/>
              </a:buClr>
              <a:buFont typeface="Arial" pitchFamily="34" charset="0"/>
              <a:buChar char="▪"/>
            </a:pPr>
            <a:r>
              <a:rPr sz="950" b="0" i="0">
                <a:solidFill>
                  <a:srgbClr val="3A3A3A"/>
                </a:solidFill>
                <a:latin typeface="Arial"/>
                <a:ea typeface="Arial"/>
                <a:cs typeface="Arial"/>
              </a:rPr>
              <a:t>Le correspondant KYC RDC publie le classement des agences</a:t>
            </a:r>
          </a:p>
          <a:p>
            <a:pPr algn="l" marL="152400" indent="-152400">
              <a:lnSpc>
                <a:spcPct val="105000"/>
              </a:lnSpc>
              <a:spcAft>
                <a:spcPts val="1300"/>
              </a:spcAft>
              <a:buClr>
                <a:srgbClr val="5A6B8C"/>
              </a:buClr>
              <a:buFont typeface="Arial" pitchFamily="34" charset="0"/>
              <a:buChar char="▪"/>
            </a:pPr>
            <a:r>
              <a:rPr sz="950" b="0" i="0">
                <a:solidFill>
                  <a:srgbClr val="3A3A3A"/>
                </a:solidFill>
                <a:latin typeface="Arial"/>
                <a:ea typeface="Arial"/>
                <a:cs typeface="Arial"/>
              </a:rPr>
              <a:t>Il analyse l'évolution du stock et l'écart au mois précédent</a:t>
            </a:r>
          </a:p>
          <a:p>
            <a:pPr algn="l" marL="152400" indent="-152400">
              <a:lnSpc>
                <a:spcPct val="105000"/>
              </a:lnSpc>
              <a:spcAft>
                <a:spcPts val="1300"/>
              </a:spcAft>
              <a:buClr>
                <a:srgbClr val="5A6B8C"/>
              </a:buClr>
              <a:buFont typeface="Arial" pitchFamily="34" charset="0"/>
              <a:buChar char="▪"/>
            </a:pPr>
            <a:r>
              <a:rPr sz="950" b="0" i="0">
                <a:solidFill>
                  <a:srgbClr val="3A3A3A"/>
                </a:solidFill>
                <a:latin typeface="Arial"/>
                <a:ea typeface="Arial"/>
                <a:cs typeface="Arial"/>
              </a:rPr>
              <a:t>Il ajuste les campagnes et les règles avec la Conformité Groupe</a:t>
            </a:r>
          </a:p>
          <a:p>
            <a:pPr algn="l" marL="152400" indent="-152400">
              <a:lnSpc>
                <a:spcPct val="105000"/>
              </a:lnSpc>
              <a:spcAft>
                <a:spcPts val="1300"/>
              </a:spcAft>
              <a:buClr>
                <a:srgbClr val="5A6B8C"/>
              </a:buClr>
              <a:buFont typeface="Arial" pitchFamily="34" charset="0"/>
              <a:buChar char="▪"/>
            </a:pPr>
            <a:r>
              <a:rPr sz="950" b="0" i="0">
                <a:solidFill>
                  <a:srgbClr val="3A3A3A"/>
                </a:solidFill>
                <a:latin typeface="Arial"/>
                <a:ea typeface="Arial"/>
                <a:cs typeface="Arial"/>
              </a:rPr>
              <a:t>Il organise le rattrapage des agences en retard sur leurs objectifs</a:t>
            </a:r>
          </a:p>
        </p:txBody>
      </p:sp>
      <p:sp>
        <p:nvSpPr>
          <p:cNvPr id="26" name="Rectangle 25"/>
          <p:cNvSpPr/>
          <p:nvPr/>
        </p:nvSpPr>
        <p:spPr>
          <a:xfrm>
            <a:off x="365760" y="4041648"/>
            <a:ext cx="8412480" cy="548640"/>
          </a:xfrm>
          <a:prstGeom prst="rect">
            <a:avLst/>
          </a:prstGeom>
          <a:solidFill>
            <a:srgbClr val="E4EDE4"/>
          </a:solidFill>
          <a:ln w="9525">
            <a:solidFill>
              <a:srgbClr val="ABD3B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66928" y="4041648"/>
            <a:ext cx="8046720" cy="548640"/>
          </a:xfrm>
          <a:prstGeom prst="rect">
            <a:avLst/>
          </a:prstGeom>
          <a:noFill/>
        </p:spPr>
        <p:txBody>
          <a:bodyPr wrap="square" lIns="0" rIns="0" tIns="0" bIns="0" anchor="ctr">
            <a:spAutoFit/>
          </a:bodyPr>
          <a:lstStyle/>
          <a:p>
            <a:pPr algn="l">
              <a:lnSpc>
                <a:spcPct val="105000"/>
              </a:lnSpc>
            </a:pPr>
            <a:r>
              <a:rPr sz="1000" b="1" i="0">
                <a:solidFill>
                  <a:srgbClr val="009654"/>
                </a:solidFill>
                <a:latin typeface="Arial"/>
                <a:ea typeface="Arial"/>
                <a:cs typeface="Arial"/>
              </a:rPr>
              <a:t>Quinze minutes par jour suffisent. </a:t>
            </a:r>
            <a:r>
              <a:rPr sz="1000" b="0" i="0">
                <a:solidFill>
                  <a:srgbClr val="3A3A3A"/>
                </a:solidFill>
                <a:latin typeface="Arial"/>
                <a:ea typeface="Arial"/>
                <a:cs typeface="Arial"/>
              </a:rPr>
              <a:t>Un portefeuille suivi chaque matin ne produit jamais le rattrapage massif que redoutent les agences en fin de trimestre.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50"/>
                                        <p:tgtEl>
                                          <p:spTgt spid="16"/>
                                        </p:tgtEl>
                                      </p:cBhvr>
                                    </p:animEffect>
                                  </p:childTnLst>
                                </p:cTn>
                              </p:par>
                              <p:par>
                                <p:cTn id="23" presetID="10" presetClass="entr" presetSubtype="0" fill="hold" grpId="0" nodeType="withEffect">
                                  <p:stCondLst>
                                    <p:cond delay="12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50"/>
                                        <p:tgtEl>
                                          <p:spTgt spid="17"/>
                                        </p:tgtEl>
                                      </p:cBhvr>
                                    </p:animEffect>
                                  </p:childTnLst>
                                </p:cTn>
                              </p:par>
                              <p:par>
                                <p:cTn id="26" presetID="10" presetClass="entr" presetSubtype="0" fill="hold" grpId="0" nodeType="withEffect">
                                  <p:stCondLst>
                                    <p:cond delay="24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50"/>
                                        <p:tgtEl>
                                          <p:spTgt spid="18"/>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50"/>
                                        <p:tgtEl>
                                          <p:spTgt spid="19"/>
                                        </p:tgtEl>
                                      </p:cBhvr>
                                    </p:animEffect>
                                  </p:childTnLst>
                                </p:cTn>
                              </p:par>
                              <p:par>
                                <p:cTn id="32" presetID="10" presetClass="entr" presetSubtype="0" fill="hold" grpId="0" nodeType="withEffect">
                                  <p:stCondLst>
                                    <p:cond delay="48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50"/>
                                        <p:tgtEl>
                                          <p:spTgt spid="21"/>
                                        </p:tgtEl>
                                      </p:cBhvr>
                                    </p:animEffect>
                                  </p:childTnLst>
                                </p:cTn>
                              </p:par>
                              <p:par>
                                <p:cTn id="40" presetID="10" presetClass="entr" presetSubtype="0" fill="hold" grpId="0" nodeType="withEffect">
                                  <p:stCondLst>
                                    <p:cond delay="12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50"/>
                                        <p:tgtEl>
                                          <p:spTgt spid="22"/>
                                        </p:tgtEl>
                                      </p:cBhvr>
                                    </p:animEffect>
                                  </p:childTnLst>
                                </p:cTn>
                              </p:par>
                              <p:par>
                                <p:cTn id="43" presetID="10" presetClass="entr" presetSubtype="0" fill="hold" grpId="0" nodeType="withEffect">
                                  <p:stCondLst>
                                    <p:cond delay="24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450"/>
                                        <p:tgtEl>
                                          <p:spTgt spid="23"/>
                                        </p:tgtEl>
                                      </p:cBhvr>
                                    </p:animEffect>
                                  </p:childTnLst>
                                </p:cTn>
                              </p:par>
                              <p:par>
                                <p:cTn id="46" presetID="10" presetClass="entr" presetSubtype="0" fill="hold" grpId="0" nodeType="withEffect">
                                  <p:stCondLst>
                                    <p:cond delay="36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50"/>
                                        <p:tgtEl>
                                          <p:spTgt spid="24"/>
                                        </p:tgtEl>
                                      </p:cBhvr>
                                    </p:animEffect>
                                  </p:childTnLst>
                                </p:cTn>
                              </p:par>
                              <p:par>
                                <p:cTn id="49" presetID="10" presetClass="entr" presetSubtype="0" fill="hold" grpId="0" nodeType="withEffect">
                                  <p:stCondLst>
                                    <p:cond delay="48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450"/>
                                        <p:tgtEl>
                                          <p:spTgt spid="25"/>
                                        </p:tgtEl>
                                      </p:cBhvr>
                                    </p:animEffect>
                                  </p:childTnLst>
                                </p:cTn>
                              </p:par>
                            </p:childTnLst>
                          </p:cTn>
                        </p:par>
                      </p:childTnLst>
                    </p:cTn>
                  </p:par>
                  <p:par>
                    <p:cTn id="60" fill="hold">
                      <p:stCondLst>
                        <p:cond delay="indefinite"/>
                      </p:stCondLst>
                      <p:childTnLst>
                        <p:par>
                          <p:cTn id="61"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50"/>
                                        <p:tgtEl>
                                          <p:spTgt spid="26"/>
                                        </p:tgtEl>
                                      </p:cBhvr>
                                    </p:animEffect>
                                  </p:childTnLst>
                                </p:cTn>
                              </p:par>
                              <p:par>
                                <p:cTn id="57" presetID="10" presetClass="entr" presetSubtype="0" fill="hold" grpId="0" nodeType="withEffect">
                                  <p:stCondLst>
                                    <p:cond delay="12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17</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VI.  RITUELS ET DÉPLOIEMENT</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marque-page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BONNES PRATIQUES ET ERREURS FRÉQUENTES</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143000"/>
            <a:ext cx="4023360" cy="3429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65760" y="1143000"/>
            <a:ext cx="4023360" cy="274320"/>
          </a:xfrm>
          <a:prstGeom prst="rect">
            <a:avLst/>
          </a:prstGeom>
          <a:solidFill>
            <a:srgbClr val="DEF1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bouclier_009654.png"/>
          <p:cNvPicPr>
            <a:picLocks noChangeAspect="1"/>
          </p:cNvPicPr>
          <p:nvPr/>
        </p:nvPicPr>
        <p:blipFill>
          <a:blip r:embed="rId4"/>
          <a:stretch>
            <a:fillRect/>
          </a:stretch>
        </p:blipFill>
        <p:spPr>
          <a:xfrm>
            <a:off x="445312" y="1167688"/>
            <a:ext cx="224942" cy="224942"/>
          </a:xfrm>
          <a:prstGeom prst="rect">
            <a:avLst/>
          </a:prstGeom>
        </p:spPr>
      </p:pic>
      <p:sp>
        <p:nvSpPr>
          <p:cNvPr id="14" name="TextBox 13"/>
          <p:cNvSpPr txBox="1"/>
          <p:nvPr/>
        </p:nvSpPr>
        <p:spPr>
          <a:xfrm>
            <a:off x="786384" y="1143000"/>
            <a:ext cx="3493008" cy="274320"/>
          </a:xfrm>
          <a:prstGeom prst="rect">
            <a:avLst/>
          </a:prstGeom>
          <a:noFill/>
        </p:spPr>
        <p:txBody>
          <a:bodyPr wrap="square" lIns="0" rIns="0" tIns="0" bIns="0" anchor="ctr">
            <a:spAutoFit/>
          </a:bodyPr>
          <a:lstStyle/>
          <a:p>
            <a:pPr algn="l"/>
            <a:r>
              <a:rPr sz="1000" b="1" i="0" spc="40">
                <a:solidFill>
                  <a:srgbClr val="009654"/>
                </a:solidFill>
                <a:latin typeface="Arial"/>
                <a:ea typeface="Arial"/>
                <a:cs typeface="Arial"/>
              </a:rPr>
              <a:t>À FAIRE</a:t>
            </a:r>
          </a:p>
        </p:txBody>
      </p:sp>
      <p:sp>
        <p:nvSpPr>
          <p:cNvPr id="15" name="TextBox 14"/>
          <p:cNvSpPr txBox="1"/>
          <p:nvPr/>
        </p:nvSpPr>
        <p:spPr>
          <a:xfrm>
            <a:off x="530352" y="1563624"/>
            <a:ext cx="3694176" cy="2880360"/>
          </a:xfrm>
          <a:prstGeom prst="rect">
            <a:avLst/>
          </a:prstGeom>
          <a:noFill/>
        </p:spPr>
        <p:txBody>
          <a:bodyPr wrap="square" lIns="0" rIns="0" tIns="0" bIns="0" anchor="t">
            <a:spAutoFit/>
          </a:bodyPr>
          <a:lstStyle/>
          <a:p>
            <a:pPr algn="l" marL="152400" indent="-152400">
              <a:lnSpc>
                <a:spcPct val="105000"/>
              </a:lnSpc>
              <a:spcAft>
                <a:spcPts val="2100"/>
              </a:spcAft>
              <a:buClr>
                <a:srgbClr val="009654"/>
              </a:buClr>
              <a:buFont typeface="Arial" pitchFamily="34" charset="0"/>
              <a:buChar char="▪"/>
            </a:pPr>
            <a:r>
              <a:rPr sz="1000" b="0" i="0">
                <a:solidFill>
                  <a:srgbClr val="3A3A3A"/>
                </a:solidFill>
                <a:latin typeface="Arial"/>
                <a:ea typeface="Arial"/>
                <a:cs typeface="Arial"/>
              </a:rPr>
              <a:t>Traiter le flux du jour avant de s'attaquer au stock ancien</a:t>
            </a:r>
          </a:p>
          <a:p>
            <a:pPr algn="l" marL="152400" indent="-152400">
              <a:lnSpc>
                <a:spcPct val="105000"/>
              </a:lnSpc>
              <a:spcAft>
                <a:spcPts val="2100"/>
              </a:spcAft>
              <a:buClr>
                <a:srgbClr val="009654"/>
              </a:buClr>
              <a:buFont typeface="Arial" pitchFamily="34" charset="0"/>
              <a:buChar char="▪"/>
            </a:pPr>
            <a:r>
              <a:rPr sz="1000" b="0" i="0">
                <a:solidFill>
                  <a:srgbClr val="3A3A3A"/>
                </a:solidFill>
                <a:latin typeface="Arial"/>
                <a:ea typeface="Arial"/>
                <a:cs typeface="Arial"/>
              </a:rPr>
              <a:t>Corriger à la source, dans le corebanking, jamais seulement dans un tableur</a:t>
            </a:r>
          </a:p>
          <a:p>
            <a:pPr algn="l" marL="152400" indent="-152400">
              <a:lnSpc>
                <a:spcPct val="105000"/>
              </a:lnSpc>
              <a:spcAft>
                <a:spcPts val="2100"/>
              </a:spcAft>
              <a:buClr>
                <a:srgbClr val="009654"/>
              </a:buClr>
              <a:buFont typeface="Arial" pitchFamily="34" charset="0"/>
              <a:buChar char="▪"/>
            </a:pPr>
            <a:r>
              <a:rPr sz="1000" b="0" i="0">
                <a:solidFill>
                  <a:srgbClr val="3A3A3A"/>
                </a:solidFill>
                <a:latin typeface="Arial"/>
                <a:ea typeface="Arial"/>
                <a:cs typeface="Arial"/>
              </a:rPr>
              <a:t>Rapprocher chaque correction d'une pièce justificative archivée</a:t>
            </a:r>
          </a:p>
          <a:p>
            <a:pPr algn="l" marL="152400" indent="-152400">
              <a:lnSpc>
                <a:spcPct val="105000"/>
              </a:lnSpc>
              <a:spcAft>
                <a:spcPts val="2100"/>
              </a:spcAft>
              <a:buClr>
                <a:srgbClr val="009654"/>
              </a:buClr>
              <a:buFont typeface="Arial" pitchFamily="34" charset="0"/>
              <a:buChar char="▪"/>
            </a:pPr>
            <a:r>
              <a:rPr sz="1000" b="0" i="0">
                <a:solidFill>
                  <a:srgbClr val="3A3A3A"/>
                </a:solidFill>
                <a:latin typeface="Arial"/>
                <a:ea typeface="Arial"/>
                <a:cs typeface="Arial"/>
              </a:rPr>
              <a:t>Signaler une règle qui produit des faux positifs plutôt que de l'ignorer</a:t>
            </a:r>
          </a:p>
          <a:p>
            <a:pPr algn="l" marL="152400" indent="-152400">
              <a:lnSpc>
                <a:spcPct val="105000"/>
              </a:lnSpc>
              <a:spcAft>
                <a:spcPts val="2100"/>
              </a:spcAft>
              <a:buClr>
                <a:srgbClr val="009654"/>
              </a:buClr>
              <a:buFont typeface="Arial" pitchFamily="34" charset="0"/>
              <a:buChar char="▪"/>
            </a:pPr>
            <a:r>
              <a:rPr sz="1000" b="0" i="0">
                <a:solidFill>
                  <a:srgbClr val="3A3A3A"/>
                </a:solidFill>
                <a:latin typeface="Arial"/>
                <a:ea typeface="Arial"/>
                <a:cs typeface="Arial"/>
              </a:rPr>
              <a:t>Vérifier son taux le lendemain matin pour confirmer la prise en compte</a:t>
            </a:r>
          </a:p>
          <a:p>
            <a:pPr algn="l" marL="152400" indent="-152400">
              <a:lnSpc>
                <a:spcPct val="105000"/>
              </a:lnSpc>
              <a:spcAft>
                <a:spcPts val="2100"/>
              </a:spcAft>
              <a:buClr>
                <a:srgbClr val="009654"/>
              </a:buClr>
              <a:buFont typeface="Arial" pitchFamily="34" charset="0"/>
              <a:buChar char="▪"/>
            </a:pPr>
            <a:r>
              <a:rPr sz="1000" b="0" i="0">
                <a:solidFill>
                  <a:srgbClr val="3A3A3A"/>
                </a:solidFill>
                <a:latin typeface="Arial"/>
                <a:ea typeface="Arial"/>
                <a:cs typeface="Arial"/>
              </a:rPr>
              <a:t>Profiter de chaque visite en agence pour collecter la pièce manquante</a:t>
            </a:r>
          </a:p>
        </p:txBody>
      </p:sp>
      <p:sp>
        <p:nvSpPr>
          <p:cNvPr id="16" name="Rectangle 15"/>
          <p:cNvSpPr/>
          <p:nvPr/>
        </p:nvSpPr>
        <p:spPr>
          <a:xfrm>
            <a:off x="4754880" y="1143000"/>
            <a:ext cx="4023360" cy="3429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754880" y="1143000"/>
            <a:ext cx="4023360" cy="274320"/>
          </a:xfrm>
          <a:prstGeom prst="rect">
            <a:avLst/>
          </a:prstGeom>
          <a:solidFill>
            <a:srgbClr val="FCE8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supprimer_E84E2B.png"/>
          <p:cNvPicPr>
            <a:picLocks noChangeAspect="1"/>
          </p:cNvPicPr>
          <p:nvPr/>
        </p:nvPicPr>
        <p:blipFill>
          <a:blip r:embed="rId5"/>
          <a:stretch>
            <a:fillRect/>
          </a:stretch>
        </p:blipFill>
        <p:spPr>
          <a:xfrm>
            <a:off x="4834432" y="1167688"/>
            <a:ext cx="224942" cy="224942"/>
          </a:xfrm>
          <a:prstGeom prst="rect">
            <a:avLst/>
          </a:prstGeom>
        </p:spPr>
      </p:pic>
      <p:sp>
        <p:nvSpPr>
          <p:cNvPr id="19" name="TextBox 18"/>
          <p:cNvSpPr txBox="1"/>
          <p:nvPr/>
        </p:nvSpPr>
        <p:spPr>
          <a:xfrm>
            <a:off x="5175504" y="1143000"/>
            <a:ext cx="3493008" cy="274320"/>
          </a:xfrm>
          <a:prstGeom prst="rect">
            <a:avLst/>
          </a:prstGeom>
          <a:noFill/>
        </p:spPr>
        <p:txBody>
          <a:bodyPr wrap="square" lIns="0" rIns="0" tIns="0" bIns="0" anchor="ctr">
            <a:spAutoFit/>
          </a:bodyPr>
          <a:lstStyle/>
          <a:p>
            <a:pPr algn="l"/>
            <a:r>
              <a:rPr sz="1000" b="1" i="0" spc="40">
                <a:solidFill>
                  <a:srgbClr val="E84E2B"/>
                </a:solidFill>
                <a:latin typeface="Arial"/>
                <a:ea typeface="Arial"/>
                <a:cs typeface="Arial"/>
              </a:rPr>
              <a:t>À ÉVITER</a:t>
            </a:r>
          </a:p>
        </p:txBody>
      </p:sp>
      <p:sp>
        <p:nvSpPr>
          <p:cNvPr id="20" name="TextBox 19"/>
          <p:cNvSpPr txBox="1"/>
          <p:nvPr/>
        </p:nvSpPr>
        <p:spPr>
          <a:xfrm>
            <a:off x="4919472" y="1563624"/>
            <a:ext cx="3694176" cy="2880360"/>
          </a:xfrm>
          <a:prstGeom prst="rect">
            <a:avLst/>
          </a:prstGeom>
          <a:noFill/>
        </p:spPr>
        <p:txBody>
          <a:bodyPr wrap="square" lIns="0" rIns="0" tIns="0" bIns="0" anchor="t">
            <a:spAutoFit/>
          </a:bodyPr>
          <a:lstStyle/>
          <a:p>
            <a:pPr algn="l" marL="152400" indent="-152400">
              <a:lnSpc>
                <a:spcPct val="105000"/>
              </a:lnSpc>
              <a:spcAft>
                <a:spcPts val="2100"/>
              </a:spcAft>
              <a:buClr>
                <a:srgbClr val="E84E2B"/>
              </a:buClr>
              <a:buFont typeface="Arial" pitchFamily="34" charset="0"/>
              <a:buChar char="▪"/>
            </a:pPr>
            <a:r>
              <a:rPr sz="1000" b="0" i="0">
                <a:solidFill>
                  <a:srgbClr val="3A3A3A"/>
                </a:solidFill>
                <a:latin typeface="Arial"/>
                <a:ea typeface="Arial"/>
                <a:cs typeface="Arial"/>
              </a:rPr>
              <a:t>Remplir un champ avec une mention générique pour faire monter le taux</a:t>
            </a:r>
          </a:p>
          <a:p>
            <a:pPr algn="l" marL="152400" indent="-152400">
              <a:lnSpc>
                <a:spcPct val="105000"/>
              </a:lnSpc>
              <a:spcAft>
                <a:spcPts val="2100"/>
              </a:spcAft>
              <a:buClr>
                <a:srgbClr val="E84E2B"/>
              </a:buClr>
              <a:buFont typeface="Arial" pitchFamily="34" charset="0"/>
              <a:buChar char="▪"/>
            </a:pPr>
            <a:r>
              <a:rPr sz="1000" b="0" i="0">
                <a:solidFill>
                  <a:srgbClr val="3A3A3A"/>
                </a:solidFill>
                <a:latin typeface="Arial"/>
                <a:ea typeface="Arial"/>
                <a:cs typeface="Arial"/>
              </a:rPr>
              <a:t>Partager son identifiant avec un collègue ou un stagiaire</a:t>
            </a:r>
          </a:p>
          <a:p>
            <a:pPr algn="l" marL="152400" indent="-152400">
              <a:lnSpc>
                <a:spcPct val="105000"/>
              </a:lnSpc>
              <a:spcAft>
                <a:spcPts val="2100"/>
              </a:spcAft>
              <a:buClr>
                <a:srgbClr val="E84E2B"/>
              </a:buClr>
              <a:buFont typeface="Arial" pitchFamily="34" charset="0"/>
              <a:buChar char="▪"/>
            </a:pPr>
            <a:r>
              <a:rPr sz="1000" b="0" i="0">
                <a:solidFill>
                  <a:srgbClr val="3A3A3A"/>
                </a:solidFill>
                <a:latin typeface="Arial"/>
                <a:ea typeface="Arial"/>
                <a:cs typeface="Arial"/>
              </a:rPr>
              <a:t>Exporter des listes nominatives hors du poste bancaire</a:t>
            </a:r>
          </a:p>
          <a:p>
            <a:pPr algn="l" marL="152400" indent="-152400">
              <a:lnSpc>
                <a:spcPct val="105000"/>
              </a:lnSpc>
              <a:spcAft>
                <a:spcPts val="2100"/>
              </a:spcAft>
              <a:buClr>
                <a:srgbClr val="E84E2B"/>
              </a:buClr>
              <a:buFont typeface="Arial" pitchFamily="34" charset="0"/>
              <a:buChar char="▪"/>
            </a:pPr>
            <a:r>
              <a:rPr sz="1000" b="0" i="0">
                <a:solidFill>
                  <a:srgbClr val="3A3A3A"/>
                </a:solidFill>
                <a:latin typeface="Arial"/>
                <a:ea typeface="Arial"/>
                <a:cs typeface="Arial"/>
              </a:rPr>
              <a:t>Valider un rapprochement douteux pour solder la file d'attente</a:t>
            </a:r>
          </a:p>
          <a:p>
            <a:pPr algn="l" marL="152400" indent="-152400">
              <a:lnSpc>
                <a:spcPct val="105000"/>
              </a:lnSpc>
              <a:spcAft>
                <a:spcPts val="2100"/>
              </a:spcAft>
              <a:buClr>
                <a:srgbClr val="E84E2B"/>
              </a:buClr>
              <a:buFont typeface="Arial" pitchFamily="34" charset="0"/>
              <a:buChar char="▪"/>
            </a:pPr>
            <a:r>
              <a:rPr sz="1000" b="0" i="0">
                <a:solidFill>
                  <a:srgbClr val="3A3A3A"/>
                </a:solidFill>
                <a:latin typeface="Arial"/>
                <a:ea typeface="Arial"/>
                <a:cs typeface="Arial"/>
              </a:rPr>
              <a:t>Attendre la revue mensuelle pour découvrir les dossiers échus</a:t>
            </a:r>
          </a:p>
          <a:p>
            <a:pPr algn="l" marL="152400" indent="-152400">
              <a:lnSpc>
                <a:spcPct val="105000"/>
              </a:lnSpc>
              <a:spcAft>
                <a:spcPts val="2100"/>
              </a:spcAft>
              <a:buClr>
                <a:srgbClr val="E84E2B"/>
              </a:buClr>
              <a:buFont typeface="Arial" pitchFamily="34" charset="0"/>
              <a:buChar char="▪"/>
            </a:pPr>
            <a:r>
              <a:rPr sz="1000" b="0" i="0">
                <a:solidFill>
                  <a:srgbClr val="3A3A3A"/>
                </a:solidFill>
                <a:latin typeface="Arial"/>
                <a:ea typeface="Arial"/>
                <a:cs typeface="Arial"/>
              </a:rPr>
              <a:t>Corriger un dossier sans conserver la pièce qui justifie la nouvelle valeur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50"/>
                                        <p:tgtEl>
                                          <p:spTgt spid="16"/>
                                        </p:tgtEl>
                                      </p:cBhvr>
                                    </p:animEffect>
                                  </p:childTnLst>
                                </p:cTn>
                              </p:par>
                              <p:par>
                                <p:cTn id="23" presetID="10" presetClass="entr" presetSubtype="0" fill="hold" grpId="0" nodeType="withEffect">
                                  <p:stCondLst>
                                    <p:cond delay="12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50"/>
                                        <p:tgtEl>
                                          <p:spTgt spid="17"/>
                                        </p:tgtEl>
                                      </p:cBhvr>
                                    </p:animEffect>
                                  </p:childTnLst>
                                </p:cTn>
                              </p:par>
                              <p:par>
                                <p:cTn id="26" presetID="10" presetClass="entr" presetSubtype="0" fill="hold" grpId="0" nodeType="withEffect">
                                  <p:stCondLst>
                                    <p:cond delay="24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50"/>
                                        <p:tgtEl>
                                          <p:spTgt spid="18"/>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50"/>
                                        <p:tgtEl>
                                          <p:spTgt spid="19"/>
                                        </p:tgtEl>
                                      </p:cBhvr>
                                    </p:animEffect>
                                  </p:childTnLst>
                                </p:cTn>
                              </p:par>
                              <p:par>
                                <p:cTn id="32" presetID="10" presetClass="entr" presetSubtype="0" fill="hold" grpId="0" nodeType="withEffect">
                                  <p:stCondLst>
                                    <p:cond delay="48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18</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VI.  RITUELS ET DÉPLOIEMENT</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algorithme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FEUILLE DE ROUTE DU DÉPLOIEMENT EN RDC</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234440"/>
            <a:ext cx="1572768" cy="20574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932688" y="1371600"/>
            <a:ext cx="438912" cy="438912"/>
          </a:xfrm>
          <a:prstGeom prst="ellipse">
            <a:avLst/>
          </a:prstGeom>
          <a:solidFill>
            <a:srgbClr val="0096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32688" y="1371600"/>
            <a:ext cx="438912" cy="438912"/>
          </a:xfrm>
          <a:prstGeom prst="rect">
            <a:avLst/>
          </a:prstGeom>
          <a:noFill/>
        </p:spPr>
        <p:txBody>
          <a:bodyPr wrap="square" lIns="0" rIns="0" tIns="0" bIns="0" anchor="ctr">
            <a:spAutoFit/>
          </a:bodyPr>
          <a:lstStyle/>
          <a:p>
            <a:pPr algn="ctr"/>
            <a:r>
              <a:rPr sz="1400" b="1" i="0">
                <a:solidFill>
                  <a:srgbClr val="FFFFFF"/>
                </a:solidFill>
                <a:latin typeface="Arial"/>
                <a:ea typeface="Arial"/>
                <a:cs typeface="Arial"/>
              </a:rPr>
              <a:t>1</a:t>
            </a:r>
          </a:p>
        </p:txBody>
      </p:sp>
      <p:sp>
        <p:nvSpPr>
          <p:cNvPr id="14" name="TextBox 13"/>
          <p:cNvSpPr txBox="1"/>
          <p:nvPr/>
        </p:nvSpPr>
        <p:spPr>
          <a:xfrm>
            <a:off x="438912" y="1901952"/>
            <a:ext cx="1426464" cy="274320"/>
          </a:xfrm>
          <a:prstGeom prst="rect">
            <a:avLst/>
          </a:prstGeom>
          <a:noFill/>
        </p:spPr>
        <p:txBody>
          <a:bodyPr wrap="square" lIns="0" rIns="0" tIns="0" bIns="0" anchor="ctr">
            <a:spAutoFit/>
          </a:bodyPr>
          <a:lstStyle/>
          <a:p>
            <a:pPr algn="ctr"/>
            <a:r>
              <a:rPr sz="950" b="1" i="0">
                <a:solidFill>
                  <a:srgbClr val="004181"/>
                </a:solidFill>
                <a:latin typeface="Arial"/>
                <a:ea typeface="Arial"/>
                <a:cs typeface="Arial"/>
              </a:rPr>
              <a:t>CADRAGE</a:t>
            </a:r>
          </a:p>
        </p:txBody>
      </p:sp>
      <p:sp>
        <p:nvSpPr>
          <p:cNvPr id="15" name="TextBox 14"/>
          <p:cNvSpPr txBox="1"/>
          <p:nvPr/>
        </p:nvSpPr>
        <p:spPr>
          <a:xfrm>
            <a:off x="475488" y="2212848"/>
            <a:ext cx="1353312" cy="658368"/>
          </a:xfrm>
          <a:prstGeom prst="rect">
            <a:avLst/>
          </a:prstGeom>
          <a:noFill/>
        </p:spPr>
        <p:txBody>
          <a:bodyPr wrap="square" lIns="0" rIns="0" tIns="0" bIns="0" anchor="t">
            <a:spAutoFit/>
          </a:bodyPr>
          <a:lstStyle/>
          <a:p>
            <a:pPr algn="ctr">
              <a:lnSpc>
                <a:spcPct val="105000"/>
              </a:lnSpc>
            </a:pPr>
            <a:r>
              <a:rPr sz="850" b="0" i="0">
                <a:solidFill>
                  <a:srgbClr val="6E6E6E"/>
                </a:solidFill>
                <a:latin typeface="Arial"/>
                <a:ea typeface="Arial"/>
                <a:cs typeface="Arial"/>
              </a:rPr>
              <a:t>Périmètre, champs suivis et règles validés avec la Conformité RDC</a:t>
            </a:r>
          </a:p>
        </p:txBody>
      </p:sp>
      <p:sp>
        <p:nvSpPr>
          <p:cNvPr id="16" name="Rectangle 15"/>
          <p:cNvSpPr/>
          <p:nvPr/>
        </p:nvSpPr>
        <p:spPr>
          <a:xfrm>
            <a:off x="566928" y="2907792"/>
            <a:ext cx="1170432" cy="256032"/>
          </a:xfrm>
          <a:prstGeom prst="rect">
            <a:avLst/>
          </a:prstGeom>
          <a:solidFill>
            <a:srgbClr val="E4ED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66928" y="2907792"/>
            <a:ext cx="1170432" cy="256032"/>
          </a:xfrm>
          <a:prstGeom prst="rect">
            <a:avLst/>
          </a:prstGeom>
          <a:noFill/>
        </p:spPr>
        <p:txBody>
          <a:bodyPr wrap="square" lIns="0" rIns="0" tIns="0" bIns="0" anchor="ctr">
            <a:spAutoFit/>
          </a:bodyPr>
          <a:lstStyle/>
          <a:p>
            <a:pPr algn="ctr"/>
            <a:r>
              <a:rPr sz="800" b="1" i="0">
                <a:solidFill>
                  <a:srgbClr val="009654"/>
                </a:solidFill>
                <a:latin typeface="Arial"/>
                <a:ea typeface="Arial"/>
                <a:cs typeface="Arial"/>
              </a:rPr>
              <a:t>Septembre 2026</a:t>
            </a:r>
          </a:p>
        </p:txBody>
      </p:sp>
      <p:sp>
        <p:nvSpPr>
          <p:cNvPr id="18" name="Rectangle 17"/>
          <p:cNvSpPr/>
          <p:nvPr/>
        </p:nvSpPr>
        <p:spPr>
          <a:xfrm>
            <a:off x="1975104" y="2240280"/>
            <a:ext cx="100584" cy="36576"/>
          </a:xfrm>
          <a:prstGeom prst="rect">
            <a:avLst/>
          </a:prstGeom>
          <a:solidFill>
            <a:srgbClr val="ABD3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075688" y="1234440"/>
            <a:ext cx="1572768" cy="20574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2642616" y="1371600"/>
            <a:ext cx="438912" cy="438912"/>
          </a:xfrm>
          <a:prstGeom prst="ellipse">
            <a:avLst/>
          </a:prstGeom>
          <a:solidFill>
            <a:srgbClr val="0096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642616" y="1371600"/>
            <a:ext cx="438912" cy="438912"/>
          </a:xfrm>
          <a:prstGeom prst="rect">
            <a:avLst/>
          </a:prstGeom>
          <a:noFill/>
        </p:spPr>
        <p:txBody>
          <a:bodyPr wrap="square" lIns="0" rIns="0" tIns="0" bIns="0" anchor="ctr">
            <a:spAutoFit/>
          </a:bodyPr>
          <a:lstStyle/>
          <a:p>
            <a:pPr algn="ctr"/>
            <a:r>
              <a:rPr sz="1400" b="1" i="0">
                <a:solidFill>
                  <a:srgbClr val="FFFFFF"/>
                </a:solidFill>
                <a:latin typeface="Arial"/>
                <a:ea typeface="Arial"/>
                <a:cs typeface="Arial"/>
              </a:rPr>
              <a:t>2</a:t>
            </a:r>
          </a:p>
        </p:txBody>
      </p:sp>
      <p:sp>
        <p:nvSpPr>
          <p:cNvPr id="22" name="TextBox 21"/>
          <p:cNvSpPr txBox="1"/>
          <p:nvPr/>
        </p:nvSpPr>
        <p:spPr>
          <a:xfrm>
            <a:off x="2148840" y="1901952"/>
            <a:ext cx="1426464" cy="274320"/>
          </a:xfrm>
          <a:prstGeom prst="rect">
            <a:avLst/>
          </a:prstGeom>
          <a:noFill/>
        </p:spPr>
        <p:txBody>
          <a:bodyPr wrap="square" lIns="0" rIns="0" tIns="0" bIns="0" anchor="ctr">
            <a:spAutoFit/>
          </a:bodyPr>
          <a:lstStyle/>
          <a:p>
            <a:pPr algn="ctr"/>
            <a:r>
              <a:rPr sz="950" b="1" i="0">
                <a:solidFill>
                  <a:srgbClr val="004181"/>
                </a:solidFill>
                <a:latin typeface="Arial"/>
                <a:ea typeface="Arial"/>
                <a:cs typeface="Arial"/>
              </a:rPr>
              <a:t>PARAMÉTRAGE</a:t>
            </a:r>
          </a:p>
        </p:txBody>
      </p:sp>
      <p:sp>
        <p:nvSpPr>
          <p:cNvPr id="23" name="TextBox 22"/>
          <p:cNvSpPr txBox="1"/>
          <p:nvPr/>
        </p:nvSpPr>
        <p:spPr>
          <a:xfrm>
            <a:off x="2185416" y="2212848"/>
            <a:ext cx="1353312" cy="658368"/>
          </a:xfrm>
          <a:prstGeom prst="rect">
            <a:avLst/>
          </a:prstGeom>
          <a:noFill/>
        </p:spPr>
        <p:txBody>
          <a:bodyPr wrap="square" lIns="0" rIns="0" tIns="0" bIns="0" anchor="t">
            <a:spAutoFit/>
          </a:bodyPr>
          <a:lstStyle/>
          <a:p>
            <a:pPr algn="ctr">
              <a:lnSpc>
                <a:spcPct val="105000"/>
              </a:lnSpc>
            </a:pPr>
            <a:r>
              <a:rPr sz="850" b="0" i="0">
                <a:solidFill>
                  <a:srgbClr val="6E6E6E"/>
                </a:solidFill>
                <a:latin typeface="Arial"/>
                <a:ea typeface="Arial"/>
                <a:cs typeface="Arial"/>
              </a:rPr>
              <a:t>Création des comptes, des organes et des habilitations</a:t>
            </a:r>
          </a:p>
        </p:txBody>
      </p:sp>
      <p:sp>
        <p:nvSpPr>
          <p:cNvPr id="24" name="Rectangle 23"/>
          <p:cNvSpPr/>
          <p:nvPr/>
        </p:nvSpPr>
        <p:spPr>
          <a:xfrm>
            <a:off x="2276856" y="2907792"/>
            <a:ext cx="1170432" cy="256032"/>
          </a:xfrm>
          <a:prstGeom prst="rect">
            <a:avLst/>
          </a:prstGeom>
          <a:solidFill>
            <a:srgbClr val="E4ED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76856" y="2907792"/>
            <a:ext cx="1170432" cy="256032"/>
          </a:xfrm>
          <a:prstGeom prst="rect">
            <a:avLst/>
          </a:prstGeom>
          <a:noFill/>
        </p:spPr>
        <p:txBody>
          <a:bodyPr wrap="square" lIns="0" rIns="0" tIns="0" bIns="0" anchor="ctr">
            <a:spAutoFit/>
          </a:bodyPr>
          <a:lstStyle/>
          <a:p>
            <a:pPr algn="ctr"/>
            <a:r>
              <a:rPr sz="800" b="1" i="0">
                <a:solidFill>
                  <a:srgbClr val="009654"/>
                </a:solidFill>
                <a:latin typeface="Arial"/>
                <a:ea typeface="Arial"/>
                <a:cs typeface="Arial"/>
              </a:rPr>
              <a:t>Octobre 2026</a:t>
            </a:r>
          </a:p>
        </p:txBody>
      </p:sp>
      <p:sp>
        <p:nvSpPr>
          <p:cNvPr id="26" name="Rectangle 25"/>
          <p:cNvSpPr/>
          <p:nvPr/>
        </p:nvSpPr>
        <p:spPr>
          <a:xfrm>
            <a:off x="3685032" y="2240280"/>
            <a:ext cx="100584" cy="36576"/>
          </a:xfrm>
          <a:prstGeom prst="rect">
            <a:avLst/>
          </a:prstGeom>
          <a:solidFill>
            <a:srgbClr val="ABD3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3785615" y="1234440"/>
            <a:ext cx="1572768" cy="20574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4352544" y="1371600"/>
            <a:ext cx="438912" cy="438912"/>
          </a:xfrm>
          <a:prstGeom prst="ellipse">
            <a:avLst/>
          </a:prstGeom>
          <a:solidFill>
            <a:srgbClr val="0096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352544" y="1371600"/>
            <a:ext cx="438912" cy="438912"/>
          </a:xfrm>
          <a:prstGeom prst="rect">
            <a:avLst/>
          </a:prstGeom>
          <a:noFill/>
        </p:spPr>
        <p:txBody>
          <a:bodyPr wrap="square" lIns="0" rIns="0" tIns="0" bIns="0" anchor="ctr">
            <a:spAutoFit/>
          </a:bodyPr>
          <a:lstStyle/>
          <a:p>
            <a:pPr algn="ctr"/>
            <a:r>
              <a:rPr sz="1400" b="1" i="0">
                <a:solidFill>
                  <a:srgbClr val="FFFFFF"/>
                </a:solidFill>
                <a:latin typeface="Arial"/>
                <a:ea typeface="Arial"/>
                <a:cs typeface="Arial"/>
              </a:rPr>
              <a:t>3</a:t>
            </a:r>
          </a:p>
        </p:txBody>
      </p:sp>
      <p:sp>
        <p:nvSpPr>
          <p:cNvPr id="30" name="TextBox 29"/>
          <p:cNvSpPr txBox="1"/>
          <p:nvPr/>
        </p:nvSpPr>
        <p:spPr>
          <a:xfrm>
            <a:off x="3858768" y="1901952"/>
            <a:ext cx="1426464" cy="274320"/>
          </a:xfrm>
          <a:prstGeom prst="rect">
            <a:avLst/>
          </a:prstGeom>
          <a:noFill/>
        </p:spPr>
        <p:txBody>
          <a:bodyPr wrap="square" lIns="0" rIns="0" tIns="0" bIns="0" anchor="ctr">
            <a:spAutoFit/>
          </a:bodyPr>
          <a:lstStyle/>
          <a:p>
            <a:pPr algn="ctr"/>
            <a:r>
              <a:rPr sz="950" b="1" i="0">
                <a:solidFill>
                  <a:srgbClr val="004181"/>
                </a:solidFill>
                <a:latin typeface="Arial"/>
                <a:ea typeface="Arial"/>
                <a:cs typeface="Arial"/>
              </a:rPr>
              <a:t>PILOTE</a:t>
            </a:r>
          </a:p>
        </p:txBody>
      </p:sp>
      <p:sp>
        <p:nvSpPr>
          <p:cNvPr id="31" name="TextBox 30"/>
          <p:cNvSpPr txBox="1"/>
          <p:nvPr/>
        </p:nvSpPr>
        <p:spPr>
          <a:xfrm>
            <a:off x="3895344" y="2212848"/>
            <a:ext cx="1353312" cy="658368"/>
          </a:xfrm>
          <a:prstGeom prst="rect">
            <a:avLst/>
          </a:prstGeom>
          <a:noFill/>
        </p:spPr>
        <p:txBody>
          <a:bodyPr wrap="square" lIns="0" rIns="0" tIns="0" bIns="0" anchor="t">
            <a:spAutoFit/>
          </a:bodyPr>
          <a:lstStyle/>
          <a:p>
            <a:pPr algn="ctr">
              <a:lnSpc>
                <a:spcPct val="105000"/>
              </a:lnSpc>
            </a:pPr>
            <a:r>
              <a:rPr sz="850" b="0" i="0">
                <a:solidFill>
                  <a:srgbClr val="6E6E6E"/>
                </a:solidFill>
                <a:latin typeface="Arial"/>
                <a:ea typeface="Arial"/>
                <a:cs typeface="Arial"/>
              </a:rPr>
              <a:t>Deux agences de Kinshasa pendant trois semaines</a:t>
            </a:r>
          </a:p>
        </p:txBody>
      </p:sp>
      <p:sp>
        <p:nvSpPr>
          <p:cNvPr id="32" name="Rectangle 31"/>
          <p:cNvSpPr/>
          <p:nvPr/>
        </p:nvSpPr>
        <p:spPr>
          <a:xfrm>
            <a:off x="3986783" y="2907792"/>
            <a:ext cx="1170432" cy="256032"/>
          </a:xfrm>
          <a:prstGeom prst="rect">
            <a:avLst/>
          </a:prstGeom>
          <a:solidFill>
            <a:srgbClr val="E4ED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986783" y="2907792"/>
            <a:ext cx="1170432" cy="256032"/>
          </a:xfrm>
          <a:prstGeom prst="rect">
            <a:avLst/>
          </a:prstGeom>
          <a:noFill/>
        </p:spPr>
        <p:txBody>
          <a:bodyPr wrap="square" lIns="0" rIns="0" tIns="0" bIns="0" anchor="ctr">
            <a:spAutoFit/>
          </a:bodyPr>
          <a:lstStyle/>
          <a:p>
            <a:pPr algn="ctr"/>
            <a:r>
              <a:rPr sz="800" b="1" i="0">
                <a:solidFill>
                  <a:srgbClr val="009654"/>
                </a:solidFill>
                <a:latin typeface="Arial"/>
                <a:ea typeface="Arial"/>
                <a:cs typeface="Arial"/>
              </a:rPr>
              <a:t>Novembre 2026</a:t>
            </a:r>
          </a:p>
        </p:txBody>
      </p:sp>
      <p:sp>
        <p:nvSpPr>
          <p:cNvPr id="34" name="Rectangle 33"/>
          <p:cNvSpPr/>
          <p:nvPr/>
        </p:nvSpPr>
        <p:spPr>
          <a:xfrm>
            <a:off x="5394959" y="2240280"/>
            <a:ext cx="100584" cy="36576"/>
          </a:xfrm>
          <a:prstGeom prst="rect">
            <a:avLst/>
          </a:prstGeom>
          <a:solidFill>
            <a:srgbClr val="ABD3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5495544" y="1234440"/>
            <a:ext cx="1572768" cy="20574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6062472" y="1371600"/>
            <a:ext cx="438912" cy="438912"/>
          </a:xfrm>
          <a:prstGeom prst="ellipse">
            <a:avLst/>
          </a:prstGeom>
          <a:solidFill>
            <a:srgbClr val="0096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062472" y="1371600"/>
            <a:ext cx="438912" cy="438912"/>
          </a:xfrm>
          <a:prstGeom prst="rect">
            <a:avLst/>
          </a:prstGeom>
          <a:noFill/>
        </p:spPr>
        <p:txBody>
          <a:bodyPr wrap="square" lIns="0" rIns="0" tIns="0" bIns="0" anchor="ctr">
            <a:spAutoFit/>
          </a:bodyPr>
          <a:lstStyle/>
          <a:p>
            <a:pPr algn="ctr"/>
            <a:r>
              <a:rPr sz="1400" b="1" i="0">
                <a:solidFill>
                  <a:srgbClr val="FFFFFF"/>
                </a:solidFill>
                <a:latin typeface="Arial"/>
                <a:ea typeface="Arial"/>
                <a:cs typeface="Arial"/>
              </a:rPr>
              <a:t>4</a:t>
            </a:r>
          </a:p>
        </p:txBody>
      </p:sp>
      <p:sp>
        <p:nvSpPr>
          <p:cNvPr id="38" name="TextBox 37"/>
          <p:cNvSpPr txBox="1"/>
          <p:nvPr/>
        </p:nvSpPr>
        <p:spPr>
          <a:xfrm>
            <a:off x="5568696" y="1901952"/>
            <a:ext cx="1426464" cy="274320"/>
          </a:xfrm>
          <a:prstGeom prst="rect">
            <a:avLst/>
          </a:prstGeom>
          <a:noFill/>
        </p:spPr>
        <p:txBody>
          <a:bodyPr wrap="square" lIns="0" rIns="0" tIns="0" bIns="0" anchor="ctr">
            <a:spAutoFit/>
          </a:bodyPr>
          <a:lstStyle/>
          <a:p>
            <a:pPr algn="ctr"/>
            <a:r>
              <a:rPr sz="950" b="1" i="0">
                <a:solidFill>
                  <a:srgbClr val="004181"/>
                </a:solidFill>
                <a:latin typeface="Arial"/>
                <a:ea typeface="Arial"/>
                <a:cs typeface="Arial"/>
              </a:rPr>
              <a:t>FORMATION</a:t>
            </a:r>
          </a:p>
        </p:txBody>
      </p:sp>
      <p:sp>
        <p:nvSpPr>
          <p:cNvPr id="39" name="TextBox 38"/>
          <p:cNvSpPr txBox="1"/>
          <p:nvPr/>
        </p:nvSpPr>
        <p:spPr>
          <a:xfrm>
            <a:off x="5605272" y="2212848"/>
            <a:ext cx="1353312" cy="658368"/>
          </a:xfrm>
          <a:prstGeom prst="rect">
            <a:avLst/>
          </a:prstGeom>
          <a:noFill/>
        </p:spPr>
        <p:txBody>
          <a:bodyPr wrap="square" lIns="0" rIns="0" tIns="0" bIns="0" anchor="t">
            <a:spAutoFit/>
          </a:bodyPr>
          <a:lstStyle/>
          <a:p>
            <a:pPr algn="ctr">
              <a:lnSpc>
                <a:spcPct val="105000"/>
              </a:lnSpc>
            </a:pPr>
            <a:r>
              <a:rPr sz="850" b="0" i="0">
                <a:solidFill>
                  <a:srgbClr val="6E6E6E"/>
                </a:solidFill>
                <a:latin typeface="Arial"/>
                <a:ea typeface="Arial"/>
                <a:cs typeface="Arial"/>
              </a:rPr>
              <a:t>Sessions par vague, une par direction régionale</a:t>
            </a:r>
          </a:p>
        </p:txBody>
      </p:sp>
      <p:sp>
        <p:nvSpPr>
          <p:cNvPr id="40" name="Rectangle 39"/>
          <p:cNvSpPr/>
          <p:nvPr/>
        </p:nvSpPr>
        <p:spPr>
          <a:xfrm>
            <a:off x="5696712" y="2907792"/>
            <a:ext cx="1170432" cy="256032"/>
          </a:xfrm>
          <a:prstGeom prst="rect">
            <a:avLst/>
          </a:prstGeom>
          <a:solidFill>
            <a:srgbClr val="E4ED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5696712" y="2907792"/>
            <a:ext cx="1170432" cy="256032"/>
          </a:xfrm>
          <a:prstGeom prst="rect">
            <a:avLst/>
          </a:prstGeom>
          <a:noFill/>
        </p:spPr>
        <p:txBody>
          <a:bodyPr wrap="square" lIns="0" rIns="0" tIns="0" bIns="0" anchor="ctr">
            <a:spAutoFit/>
          </a:bodyPr>
          <a:lstStyle/>
          <a:p>
            <a:pPr algn="ctr"/>
            <a:r>
              <a:rPr sz="800" b="1" i="0">
                <a:solidFill>
                  <a:srgbClr val="009654"/>
                </a:solidFill>
                <a:latin typeface="Arial"/>
                <a:ea typeface="Arial"/>
                <a:cs typeface="Arial"/>
              </a:rPr>
              <a:t>Décembre 2026</a:t>
            </a:r>
          </a:p>
        </p:txBody>
      </p:sp>
      <p:sp>
        <p:nvSpPr>
          <p:cNvPr id="42" name="Rectangle 41"/>
          <p:cNvSpPr/>
          <p:nvPr/>
        </p:nvSpPr>
        <p:spPr>
          <a:xfrm>
            <a:off x="7104888" y="2240280"/>
            <a:ext cx="100584" cy="36576"/>
          </a:xfrm>
          <a:prstGeom prst="rect">
            <a:avLst/>
          </a:prstGeom>
          <a:solidFill>
            <a:srgbClr val="ABD3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7205472" y="1234440"/>
            <a:ext cx="1572768" cy="20574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7772400" y="1371600"/>
            <a:ext cx="438912" cy="438912"/>
          </a:xfrm>
          <a:prstGeom prst="ellipse">
            <a:avLst/>
          </a:prstGeom>
          <a:solidFill>
            <a:srgbClr val="0096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772400" y="1371600"/>
            <a:ext cx="438912" cy="438912"/>
          </a:xfrm>
          <a:prstGeom prst="rect">
            <a:avLst/>
          </a:prstGeom>
          <a:noFill/>
        </p:spPr>
        <p:txBody>
          <a:bodyPr wrap="square" lIns="0" rIns="0" tIns="0" bIns="0" anchor="ctr">
            <a:spAutoFit/>
          </a:bodyPr>
          <a:lstStyle/>
          <a:p>
            <a:pPr algn="ctr"/>
            <a:r>
              <a:rPr sz="1400" b="1" i="0">
                <a:solidFill>
                  <a:srgbClr val="FFFFFF"/>
                </a:solidFill>
                <a:latin typeface="Arial"/>
                <a:ea typeface="Arial"/>
                <a:cs typeface="Arial"/>
              </a:rPr>
              <a:t>5</a:t>
            </a:r>
          </a:p>
        </p:txBody>
      </p:sp>
      <p:sp>
        <p:nvSpPr>
          <p:cNvPr id="46" name="TextBox 45"/>
          <p:cNvSpPr txBox="1"/>
          <p:nvPr/>
        </p:nvSpPr>
        <p:spPr>
          <a:xfrm>
            <a:off x="7278624" y="1901952"/>
            <a:ext cx="1426464" cy="274320"/>
          </a:xfrm>
          <a:prstGeom prst="rect">
            <a:avLst/>
          </a:prstGeom>
          <a:noFill/>
        </p:spPr>
        <p:txBody>
          <a:bodyPr wrap="square" lIns="0" rIns="0" tIns="0" bIns="0" anchor="ctr">
            <a:spAutoFit/>
          </a:bodyPr>
          <a:lstStyle/>
          <a:p>
            <a:pPr algn="ctr"/>
            <a:r>
              <a:rPr sz="950" b="1" i="0">
                <a:solidFill>
                  <a:srgbClr val="004181"/>
                </a:solidFill>
                <a:latin typeface="Arial"/>
                <a:ea typeface="Arial"/>
                <a:cs typeface="Arial"/>
              </a:rPr>
              <a:t>GÉNÉRALISATION</a:t>
            </a:r>
          </a:p>
        </p:txBody>
      </p:sp>
      <p:sp>
        <p:nvSpPr>
          <p:cNvPr id="47" name="TextBox 46"/>
          <p:cNvSpPr txBox="1"/>
          <p:nvPr/>
        </p:nvSpPr>
        <p:spPr>
          <a:xfrm>
            <a:off x="7315200" y="2212848"/>
            <a:ext cx="1353312" cy="658368"/>
          </a:xfrm>
          <a:prstGeom prst="rect">
            <a:avLst/>
          </a:prstGeom>
          <a:noFill/>
        </p:spPr>
        <p:txBody>
          <a:bodyPr wrap="square" lIns="0" rIns="0" tIns="0" bIns="0" anchor="t">
            <a:spAutoFit/>
          </a:bodyPr>
          <a:lstStyle/>
          <a:p>
            <a:pPr algn="ctr">
              <a:lnSpc>
                <a:spcPct val="105000"/>
              </a:lnSpc>
            </a:pPr>
            <a:r>
              <a:rPr sz="850" b="0" i="0">
                <a:solidFill>
                  <a:srgbClr val="6E6E6E"/>
                </a:solidFill>
                <a:latin typeface="Arial"/>
                <a:ea typeface="Arial"/>
                <a:cs typeface="Arial"/>
              </a:rPr>
              <a:t>Extension au réseau et suivi en comité mensuel</a:t>
            </a:r>
          </a:p>
        </p:txBody>
      </p:sp>
      <p:sp>
        <p:nvSpPr>
          <p:cNvPr id="48" name="Rectangle 47"/>
          <p:cNvSpPr/>
          <p:nvPr/>
        </p:nvSpPr>
        <p:spPr>
          <a:xfrm>
            <a:off x="7406640" y="2907792"/>
            <a:ext cx="1170432" cy="256032"/>
          </a:xfrm>
          <a:prstGeom prst="rect">
            <a:avLst/>
          </a:prstGeom>
          <a:solidFill>
            <a:srgbClr val="E4ED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7406640" y="2907792"/>
            <a:ext cx="1170432" cy="256032"/>
          </a:xfrm>
          <a:prstGeom prst="rect">
            <a:avLst/>
          </a:prstGeom>
          <a:noFill/>
        </p:spPr>
        <p:txBody>
          <a:bodyPr wrap="square" lIns="0" rIns="0" tIns="0" bIns="0" anchor="ctr">
            <a:spAutoFit/>
          </a:bodyPr>
          <a:lstStyle/>
          <a:p>
            <a:pPr algn="ctr"/>
            <a:r>
              <a:rPr sz="800" b="1" i="0">
                <a:solidFill>
                  <a:srgbClr val="009654"/>
                </a:solidFill>
                <a:latin typeface="Arial"/>
                <a:ea typeface="Arial"/>
                <a:cs typeface="Arial"/>
              </a:rPr>
              <a:t>1er trim. 2027</a:t>
            </a:r>
          </a:p>
        </p:txBody>
      </p:sp>
      <p:sp>
        <p:nvSpPr>
          <p:cNvPr id="50" name="Rectangle 49"/>
          <p:cNvSpPr/>
          <p:nvPr/>
        </p:nvSpPr>
        <p:spPr>
          <a:xfrm>
            <a:off x="365760" y="3456432"/>
            <a:ext cx="8412480" cy="1097280"/>
          </a:xfrm>
          <a:prstGeom prst="rect">
            <a:avLst/>
          </a:prstGeom>
          <a:solidFill>
            <a:srgbClr val="E4EDE4"/>
          </a:solidFill>
          <a:ln w="9525">
            <a:solidFill>
              <a:srgbClr val="ABD3B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365760" y="3456432"/>
            <a:ext cx="8412480" cy="274320"/>
          </a:xfrm>
          <a:prstGeom prst="rect">
            <a:avLst/>
          </a:prstGeom>
          <a:solidFill>
            <a:srgbClr val="DEF1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2" name="Picture 51" descr="acces-securite_009654.png"/>
          <p:cNvPicPr>
            <a:picLocks noChangeAspect="1"/>
          </p:cNvPicPr>
          <p:nvPr/>
        </p:nvPicPr>
        <p:blipFill>
          <a:blip r:embed="rId4"/>
          <a:stretch>
            <a:fillRect/>
          </a:stretch>
        </p:blipFill>
        <p:spPr>
          <a:xfrm>
            <a:off x="445312" y="3481120"/>
            <a:ext cx="224942" cy="224942"/>
          </a:xfrm>
          <a:prstGeom prst="rect">
            <a:avLst/>
          </a:prstGeom>
        </p:spPr>
      </p:pic>
      <p:sp>
        <p:nvSpPr>
          <p:cNvPr id="53" name="TextBox 52"/>
          <p:cNvSpPr txBox="1"/>
          <p:nvPr/>
        </p:nvSpPr>
        <p:spPr>
          <a:xfrm>
            <a:off x="786384" y="3456432"/>
            <a:ext cx="7882127" cy="274320"/>
          </a:xfrm>
          <a:prstGeom prst="rect">
            <a:avLst/>
          </a:prstGeom>
          <a:noFill/>
        </p:spPr>
        <p:txBody>
          <a:bodyPr wrap="square" lIns="0" rIns="0" tIns="0" bIns="0" anchor="ctr">
            <a:spAutoFit/>
          </a:bodyPr>
          <a:lstStyle/>
          <a:p>
            <a:pPr algn="l"/>
            <a:r>
              <a:rPr sz="1000" b="1" i="0" spc="40">
                <a:solidFill>
                  <a:srgbClr val="009654"/>
                </a:solidFill>
                <a:latin typeface="Arial"/>
                <a:ea typeface="Arial"/>
                <a:cs typeface="Arial"/>
              </a:rPr>
              <a:t>CE QUI CONDITIONNE LA RÉUSSITE</a:t>
            </a:r>
          </a:p>
        </p:txBody>
      </p:sp>
      <p:sp>
        <p:nvSpPr>
          <p:cNvPr id="54" name="TextBox 53"/>
          <p:cNvSpPr txBox="1"/>
          <p:nvPr/>
        </p:nvSpPr>
        <p:spPr>
          <a:xfrm>
            <a:off x="566928" y="3858768"/>
            <a:ext cx="8046720" cy="640080"/>
          </a:xfrm>
          <a:prstGeom prst="rect">
            <a:avLst/>
          </a:prstGeom>
          <a:noFill/>
        </p:spPr>
        <p:txBody>
          <a:bodyPr wrap="square" lIns="0" rIns="0" tIns="0" bIns="0" anchor="t">
            <a:spAutoFit/>
          </a:bodyPr>
          <a:lstStyle/>
          <a:p>
            <a:pPr algn="l" marL="152400" indent="-152400">
              <a:lnSpc>
                <a:spcPct val="100000"/>
              </a:lnSpc>
              <a:spcAft>
                <a:spcPts val="300"/>
              </a:spcAft>
              <a:buClr>
                <a:srgbClr val="009654"/>
              </a:buClr>
              <a:buFont typeface="Arial" pitchFamily="34" charset="0"/>
              <a:buChar char="▪"/>
            </a:pPr>
            <a:r>
              <a:rPr sz="950" b="0" i="0">
                <a:solidFill>
                  <a:srgbClr val="3A3A3A"/>
                </a:solidFill>
                <a:latin typeface="Arial"/>
                <a:ea typeface="Arial"/>
                <a:cs typeface="Arial"/>
              </a:rPr>
              <a:t>Un correspondant KYC identifié dans chaque agence, connu de tous</a:t>
            </a:r>
          </a:p>
          <a:p>
            <a:pPr algn="l" marL="152400" indent="-152400">
              <a:lnSpc>
                <a:spcPct val="100000"/>
              </a:lnSpc>
              <a:spcAft>
                <a:spcPts val="300"/>
              </a:spcAft>
              <a:buClr>
                <a:srgbClr val="009654"/>
              </a:buClr>
              <a:buFont typeface="Arial" pitchFamily="34" charset="0"/>
              <a:buChar char="▪"/>
            </a:pPr>
            <a:r>
              <a:rPr sz="950" b="0" i="0">
                <a:solidFill>
                  <a:srgbClr val="3A3A3A"/>
                </a:solidFill>
                <a:latin typeface="Arial"/>
                <a:ea typeface="Arial"/>
                <a:cs typeface="Arial"/>
              </a:rPr>
              <a:t>Des objectifs de progression chiffrés et suivis en comité mensuel</a:t>
            </a:r>
          </a:p>
          <a:p>
            <a:pPr algn="l" marL="152400" indent="-152400">
              <a:lnSpc>
                <a:spcPct val="100000"/>
              </a:lnSpc>
              <a:spcAft>
                <a:spcPts val="300"/>
              </a:spcAft>
              <a:buClr>
                <a:srgbClr val="009654"/>
              </a:buClr>
              <a:buFont typeface="Arial" pitchFamily="34" charset="0"/>
              <a:buChar char="▪"/>
            </a:pPr>
            <a:r>
              <a:rPr sz="950" b="0" i="0">
                <a:solidFill>
                  <a:srgbClr val="3A3A3A"/>
                </a:solidFill>
                <a:latin typeface="Arial"/>
                <a:ea typeface="Arial"/>
                <a:cs typeface="Arial"/>
              </a:rPr>
              <a:t>Un canal unique de remontée des anomalies vers le Pôle Projet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par>
                                <p:cTn id="18" presetID="10" presetClass="entr" presetSubtype="0" fill="hold" grpId="0" nodeType="withEffect">
                                  <p:stCondLst>
                                    <p:cond delay="60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50"/>
                                        <p:tgtEl>
                                          <p:spTgt spid="16"/>
                                        </p:tgtEl>
                                      </p:cBhvr>
                                    </p:animEffect>
                                  </p:childTnLst>
                                </p:cTn>
                              </p:par>
                              <p:par>
                                <p:cTn id="21" presetID="10" presetClass="entr" presetSubtype="0" fill="hold" grpId="0" nodeType="withEffect">
                                  <p:stCondLst>
                                    <p:cond delay="72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50"/>
                                        <p:tgtEl>
                                          <p:spTgt spid="17"/>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50"/>
                                        <p:tgtEl>
                                          <p:spTgt spid="19"/>
                                        </p:tgtEl>
                                      </p:cBhvr>
                                    </p:animEffect>
                                  </p:childTnLst>
                                </p:cTn>
                              </p:par>
                              <p:par>
                                <p:cTn id="29" presetID="10" presetClass="entr" presetSubtype="0" fill="hold" grpId="0" nodeType="withEffect">
                                  <p:stCondLst>
                                    <p:cond delay="12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50"/>
                                        <p:tgtEl>
                                          <p:spTgt spid="20"/>
                                        </p:tgtEl>
                                      </p:cBhvr>
                                    </p:animEffect>
                                  </p:childTnLst>
                                </p:cTn>
                              </p:par>
                              <p:par>
                                <p:cTn id="32" presetID="10" presetClass="entr" presetSubtype="0" fill="hold" grpId="0" nodeType="withEffect">
                                  <p:stCondLst>
                                    <p:cond delay="24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50"/>
                                        <p:tgtEl>
                                          <p:spTgt spid="21"/>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50"/>
                                        <p:tgtEl>
                                          <p:spTgt spid="22"/>
                                        </p:tgtEl>
                                      </p:cBhvr>
                                    </p:animEffect>
                                  </p:childTnLst>
                                </p:cTn>
                              </p:par>
                              <p:par>
                                <p:cTn id="38" presetID="10" presetClass="entr" presetSubtype="0" fill="hold" grpId="0" nodeType="withEffect">
                                  <p:stCondLst>
                                    <p:cond delay="48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50"/>
                                        <p:tgtEl>
                                          <p:spTgt spid="23"/>
                                        </p:tgtEl>
                                      </p:cBhvr>
                                    </p:animEffect>
                                  </p:childTnLst>
                                </p:cTn>
                              </p:par>
                              <p:par>
                                <p:cTn id="41" presetID="10" presetClass="entr" presetSubtype="0" fill="hold" grpId="0" nodeType="withEffect">
                                  <p:stCondLst>
                                    <p:cond delay="60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50"/>
                                        <p:tgtEl>
                                          <p:spTgt spid="24"/>
                                        </p:tgtEl>
                                      </p:cBhvr>
                                    </p:animEffect>
                                  </p:childTnLst>
                                </p:cTn>
                              </p:par>
                              <p:par>
                                <p:cTn id="44" presetID="10" presetClass="entr" presetSubtype="0" fill="hold" grpId="0" nodeType="withEffect">
                                  <p:stCondLst>
                                    <p:cond delay="72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50"/>
                                        <p:tgtEl>
                                          <p:spTgt spid="25"/>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50"/>
                                        <p:tgtEl>
                                          <p:spTgt spid="27"/>
                                        </p:tgtEl>
                                      </p:cBhvr>
                                    </p:animEffect>
                                  </p:childTnLst>
                                </p:cTn>
                              </p:par>
                              <p:par>
                                <p:cTn id="52" presetID="10" presetClass="entr" presetSubtype="0" fill="hold" grpId="0" nodeType="withEffect">
                                  <p:stCondLst>
                                    <p:cond delay="12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50"/>
                                        <p:tgtEl>
                                          <p:spTgt spid="28"/>
                                        </p:tgtEl>
                                      </p:cBhvr>
                                    </p:animEffect>
                                  </p:childTnLst>
                                </p:cTn>
                              </p:par>
                              <p:par>
                                <p:cTn id="55" presetID="10" presetClass="entr" presetSubtype="0" fill="hold" grpId="0" nodeType="withEffect">
                                  <p:stCondLst>
                                    <p:cond delay="24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450"/>
                                        <p:tgtEl>
                                          <p:spTgt spid="29"/>
                                        </p:tgtEl>
                                      </p:cBhvr>
                                    </p:animEffect>
                                  </p:childTnLst>
                                </p:cTn>
                              </p:par>
                              <p:par>
                                <p:cTn id="58" presetID="10" presetClass="entr" presetSubtype="0" fill="hold" grpId="0" nodeType="withEffect">
                                  <p:stCondLst>
                                    <p:cond delay="36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450"/>
                                        <p:tgtEl>
                                          <p:spTgt spid="30"/>
                                        </p:tgtEl>
                                      </p:cBhvr>
                                    </p:animEffect>
                                  </p:childTnLst>
                                </p:cTn>
                              </p:par>
                              <p:par>
                                <p:cTn id="61" presetID="10" presetClass="entr" presetSubtype="0" fill="hold" grpId="0" nodeType="withEffect">
                                  <p:stCondLst>
                                    <p:cond delay="48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450"/>
                                        <p:tgtEl>
                                          <p:spTgt spid="31"/>
                                        </p:tgtEl>
                                      </p:cBhvr>
                                    </p:animEffect>
                                  </p:childTnLst>
                                </p:cTn>
                              </p:par>
                              <p:par>
                                <p:cTn id="64" presetID="10" presetClass="entr" presetSubtype="0" fill="hold" grpId="0" nodeType="withEffect">
                                  <p:stCondLst>
                                    <p:cond delay="60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450"/>
                                        <p:tgtEl>
                                          <p:spTgt spid="32"/>
                                        </p:tgtEl>
                                      </p:cBhvr>
                                    </p:animEffect>
                                  </p:childTnLst>
                                </p:cTn>
                              </p:par>
                              <p:par>
                                <p:cTn id="67" presetID="10" presetClass="entr" presetSubtype="0" fill="hold" grpId="0" nodeType="withEffect">
                                  <p:stCondLst>
                                    <p:cond delay="72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450"/>
                                        <p:tgtEl>
                                          <p:spTgt spid="33"/>
                                        </p:tgtEl>
                                      </p:cBhvr>
                                    </p:animEffect>
                                  </p:childTnLst>
                                </p:cTn>
                              </p:par>
                            </p:childTnLst>
                          </p:cTn>
                        </p:par>
                      </p:childTnLst>
                    </p:cTn>
                  </p:par>
                  <p:par>
                    <p:cTn id="93" fill="hold">
                      <p:stCondLst>
                        <p:cond delay="indefinite"/>
                      </p:stCondLst>
                      <p:childTnLst>
                        <p:par>
                          <p:cTn id="94"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450"/>
                                        <p:tgtEl>
                                          <p:spTgt spid="35"/>
                                        </p:tgtEl>
                                      </p:cBhvr>
                                    </p:animEffect>
                                  </p:childTnLst>
                                </p:cTn>
                              </p:par>
                              <p:par>
                                <p:cTn id="75" presetID="10" presetClass="entr" presetSubtype="0" fill="hold" grpId="0" nodeType="withEffect">
                                  <p:stCondLst>
                                    <p:cond delay="12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450"/>
                                        <p:tgtEl>
                                          <p:spTgt spid="36"/>
                                        </p:tgtEl>
                                      </p:cBhvr>
                                    </p:animEffect>
                                  </p:childTnLst>
                                </p:cTn>
                              </p:par>
                              <p:par>
                                <p:cTn id="78" presetID="10" presetClass="entr" presetSubtype="0" fill="hold" grpId="0" nodeType="withEffect">
                                  <p:stCondLst>
                                    <p:cond delay="240"/>
                                  </p:stCondLst>
                                  <p:childTnLst>
                                    <p:set>
                                      <p:cBhvr>
                                        <p:cTn id="79" dur="1" fill="hold">
                                          <p:stCondLst>
                                            <p:cond delay="0"/>
                                          </p:stCondLst>
                                        </p:cTn>
                                        <p:tgtEl>
                                          <p:spTgt spid="37"/>
                                        </p:tgtEl>
                                        <p:attrNameLst>
                                          <p:attrName>style.visibility</p:attrName>
                                        </p:attrNameLst>
                                      </p:cBhvr>
                                      <p:to>
                                        <p:strVal val="visible"/>
                                      </p:to>
                                    </p:set>
                                    <p:animEffect transition="in" filter="fade">
                                      <p:cBhvr>
                                        <p:cTn id="80" dur="450"/>
                                        <p:tgtEl>
                                          <p:spTgt spid="37"/>
                                        </p:tgtEl>
                                      </p:cBhvr>
                                    </p:animEffect>
                                  </p:childTnLst>
                                </p:cTn>
                              </p:par>
                              <p:par>
                                <p:cTn id="81" presetID="10" presetClass="entr" presetSubtype="0" fill="hold" grpId="0" nodeType="withEffect">
                                  <p:stCondLst>
                                    <p:cond delay="360"/>
                                  </p:stCondLst>
                                  <p:childTnLst>
                                    <p:set>
                                      <p:cBhvr>
                                        <p:cTn id="82" dur="1" fill="hold">
                                          <p:stCondLst>
                                            <p:cond delay="0"/>
                                          </p:stCondLst>
                                        </p:cTn>
                                        <p:tgtEl>
                                          <p:spTgt spid="38"/>
                                        </p:tgtEl>
                                        <p:attrNameLst>
                                          <p:attrName>style.visibility</p:attrName>
                                        </p:attrNameLst>
                                      </p:cBhvr>
                                      <p:to>
                                        <p:strVal val="visible"/>
                                      </p:to>
                                    </p:set>
                                    <p:animEffect transition="in" filter="fade">
                                      <p:cBhvr>
                                        <p:cTn id="83" dur="450"/>
                                        <p:tgtEl>
                                          <p:spTgt spid="38"/>
                                        </p:tgtEl>
                                      </p:cBhvr>
                                    </p:animEffect>
                                  </p:childTnLst>
                                </p:cTn>
                              </p:par>
                              <p:par>
                                <p:cTn id="84" presetID="10" presetClass="entr" presetSubtype="0" fill="hold" grpId="0" nodeType="withEffect">
                                  <p:stCondLst>
                                    <p:cond delay="480"/>
                                  </p:stCondLst>
                                  <p:childTnLst>
                                    <p:set>
                                      <p:cBhvr>
                                        <p:cTn id="85" dur="1" fill="hold">
                                          <p:stCondLst>
                                            <p:cond delay="0"/>
                                          </p:stCondLst>
                                        </p:cTn>
                                        <p:tgtEl>
                                          <p:spTgt spid="39"/>
                                        </p:tgtEl>
                                        <p:attrNameLst>
                                          <p:attrName>style.visibility</p:attrName>
                                        </p:attrNameLst>
                                      </p:cBhvr>
                                      <p:to>
                                        <p:strVal val="visible"/>
                                      </p:to>
                                    </p:set>
                                    <p:animEffect transition="in" filter="fade">
                                      <p:cBhvr>
                                        <p:cTn id="86" dur="450"/>
                                        <p:tgtEl>
                                          <p:spTgt spid="39"/>
                                        </p:tgtEl>
                                      </p:cBhvr>
                                    </p:animEffect>
                                  </p:childTnLst>
                                </p:cTn>
                              </p:par>
                              <p:par>
                                <p:cTn id="87" presetID="10" presetClass="entr" presetSubtype="0" fill="hold" grpId="0" nodeType="withEffect">
                                  <p:stCondLst>
                                    <p:cond delay="600"/>
                                  </p:stCondLst>
                                  <p:childTnLst>
                                    <p:set>
                                      <p:cBhvr>
                                        <p:cTn id="88" dur="1" fill="hold">
                                          <p:stCondLst>
                                            <p:cond delay="0"/>
                                          </p:stCondLst>
                                        </p:cTn>
                                        <p:tgtEl>
                                          <p:spTgt spid="40"/>
                                        </p:tgtEl>
                                        <p:attrNameLst>
                                          <p:attrName>style.visibility</p:attrName>
                                        </p:attrNameLst>
                                      </p:cBhvr>
                                      <p:to>
                                        <p:strVal val="visible"/>
                                      </p:to>
                                    </p:set>
                                    <p:animEffect transition="in" filter="fade">
                                      <p:cBhvr>
                                        <p:cTn id="89" dur="450"/>
                                        <p:tgtEl>
                                          <p:spTgt spid="40"/>
                                        </p:tgtEl>
                                      </p:cBhvr>
                                    </p:animEffect>
                                  </p:childTnLst>
                                </p:cTn>
                              </p:par>
                              <p:par>
                                <p:cTn id="90" presetID="10" presetClass="entr" presetSubtype="0" fill="hold" grpId="0" nodeType="withEffect">
                                  <p:stCondLst>
                                    <p:cond delay="720"/>
                                  </p:stCondLst>
                                  <p:childTnLst>
                                    <p:set>
                                      <p:cBhvr>
                                        <p:cTn id="91" dur="1" fill="hold">
                                          <p:stCondLst>
                                            <p:cond delay="0"/>
                                          </p:stCondLst>
                                        </p:cTn>
                                        <p:tgtEl>
                                          <p:spTgt spid="41"/>
                                        </p:tgtEl>
                                        <p:attrNameLst>
                                          <p:attrName>style.visibility</p:attrName>
                                        </p:attrNameLst>
                                      </p:cBhvr>
                                      <p:to>
                                        <p:strVal val="visible"/>
                                      </p:to>
                                    </p:set>
                                    <p:animEffect transition="in" filter="fade">
                                      <p:cBhvr>
                                        <p:cTn id="92" dur="450"/>
                                        <p:tgtEl>
                                          <p:spTgt spid="41"/>
                                        </p:tgtEl>
                                      </p:cBhvr>
                                    </p:animEffect>
                                  </p:childTnLst>
                                </p:cTn>
                              </p:par>
                            </p:childTnLst>
                          </p:cTn>
                        </p:par>
                      </p:childTnLst>
                    </p:cTn>
                  </p:par>
                  <p:par>
                    <p:cTn id="116" fill="hold">
                      <p:stCondLst>
                        <p:cond delay="indefinite"/>
                      </p:stCondLst>
                      <p:childTnLst>
                        <p:par>
                          <p:cTn id="117"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fade">
                                      <p:cBhvr>
                                        <p:cTn id="97" dur="450"/>
                                        <p:tgtEl>
                                          <p:spTgt spid="43"/>
                                        </p:tgtEl>
                                      </p:cBhvr>
                                    </p:animEffect>
                                  </p:childTnLst>
                                </p:cTn>
                              </p:par>
                              <p:par>
                                <p:cTn id="98" presetID="10" presetClass="entr" presetSubtype="0" fill="hold" grpId="0" nodeType="withEffect">
                                  <p:stCondLst>
                                    <p:cond delay="120"/>
                                  </p:stCondLst>
                                  <p:childTnLst>
                                    <p:set>
                                      <p:cBhvr>
                                        <p:cTn id="99" dur="1" fill="hold">
                                          <p:stCondLst>
                                            <p:cond delay="0"/>
                                          </p:stCondLst>
                                        </p:cTn>
                                        <p:tgtEl>
                                          <p:spTgt spid="44"/>
                                        </p:tgtEl>
                                        <p:attrNameLst>
                                          <p:attrName>style.visibility</p:attrName>
                                        </p:attrNameLst>
                                      </p:cBhvr>
                                      <p:to>
                                        <p:strVal val="visible"/>
                                      </p:to>
                                    </p:set>
                                    <p:animEffect transition="in" filter="fade">
                                      <p:cBhvr>
                                        <p:cTn id="100" dur="450"/>
                                        <p:tgtEl>
                                          <p:spTgt spid="44"/>
                                        </p:tgtEl>
                                      </p:cBhvr>
                                    </p:animEffect>
                                  </p:childTnLst>
                                </p:cTn>
                              </p:par>
                              <p:par>
                                <p:cTn id="101" presetID="10" presetClass="entr" presetSubtype="0" fill="hold" grpId="0" nodeType="withEffect">
                                  <p:stCondLst>
                                    <p:cond delay="240"/>
                                  </p:stCondLst>
                                  <p:childTnLst>
                                    <p:set>
                                      <p:cBhvr>
                                        <p:cTn id="102" dur="1" fill="hold">
                                          <p:stCondLst>
                                            <p:cond delay="0"/>
                                          </p:stCondLst>
                                        </p:cTn>
                                        <p:tgtEl>
                                          <p:spTgt spid="45"/>
                                        </p:tgtEl>
                                        <p:attrNameLst>
                                          <p:attrName>style.visibility</p:attrName>
                                        </p:attrNameLst>
                                      </p:cBhvr>
                                      <p:to>
                                        <p:strVal val="visible"/>
                                      </p:to>
                                    </p:set>
                                    <p:animEffect transition="in" filter="fade">
                                      <p:cBhvr>
                                        <p:cTn id="103" dur="450"/>
                                        <p:tgtEl>
                                          <p:spTgt spid="45"/>
                                        </p:tgtEl>
                                      </p:cBhvr>
                                    </p:animEffect>
                                  </p:childTnLst>
                                </p:cTn>
                              </p:par>
                              <p:par>
                                <p:cTn id="104" presetID="10" presetClass="entr" presetSubtype="0" fill="hold" grpId="0" nodeType="withEffect">
                                  <p:stCondLst>
                                    <p:cond delay="360"/>
                                  </p:stCondLst>
                                  <p:childTnLst>
                                    <p:set>
                                      <p:cBhvr>
                                        <p:cTn id="105" dur="1" fill="hold">
                                          <p:stCondLst>
                                            <p:cond delay="0"/>
                                          </p:stCondLst>
                                        </p:cTn>
                                        <p:tgtEl>
                                          <p:spTgt spid="46"/>
                                        </p:tgtEl>
                                        <p:attrNameLst>
                                          <p:attrName>style.visibility</p:attrName>
                                        </p:attrNameLst>
                                      </p:cBhvr>
                                      <p:to>
                                        <p:strVal val="visible"/>
                                      </p:to>
                                    </p:set>
                                    <p:animEffect transition="in" filter="fade">
                                      <p:cBhvr>
                                        <p:cTn id="106" dur="450"/>
                                        <p:tgtEl>
                                          <p:spTgt spid="46"/>
                                        </p:tgtEl>
                                      </p:cBhvr>
                                    </p:animEffect>
                                  </p:childTnLst>
                                </p:cTn>
                              </p:par>
                              <p:par>
                                <p:cTn id="107" presetID="10" presetClass="entr" presetSubtype="0" fill="hold" grpId="0" nodeType="withEffect">
                                  <p:stCondLst>
                                    <p:cond delay="480"/>
                                  </p:stCondLst>
                                  <p:childTnLst>
                                    <p:set>
                                      <p:cBhvr>
                                        <p:cTn id="108" dur="1" fill="hold">
                                          <p:stCondLst>
                                            <p:cond delay="0"/>
                                          </p:stCondLst>
                                        </p:cTn>
                                        <p:tgtEl>
                                          <p:spTgt spid="47"/>
                                        </p:tgtEl>
                                        <p:attrNameLst>
                                          <p:attrName>style.visibility</p:attrName>
                                        </p:attrNameLst>
                                      </p:cBhvr>
                                      <p:to>
                                        <p:strVal val="visible"/>
                                      </p:to>
                                    </p:set>
                                    <p:animEffect transition="in" filter="fade">
                                      <p:cBhvr>
                                        <p:cTn id="109" dur="450"/>
                                        <p:tgtEl>
                                          <p:spTgt spid="47"/>
                                        </p:tgtEl>
                                      </p:cBhvr>
                                    </p:animEffect>
                                  </p:childTnLst>
                                </p:cTn>
                              </p:par>
                              <p:par>
                                <p:cTn id="110" presetID="10" presetClass="entr" presetSubtype="0" fill="hold" grpId="0" nodeType="withEffect">
                                  <p:stCondLst>
                                    <p:cond delay="600"/>
                                  </p:stCondLst>
                                  <p:childTnLst>
                                    <p:set>
                                      <p:cBhvr>
                                        <p:cTn id="111" dur="1" fill="hold">
                                          <p:stCondLst>
                                            <p:cond delay="0"/>
                                          </p:stCondLst>
                                        </p:cTn>
                                        <p:tgtEl>
                                          <p:spTgt spid="48"/>
                                        </p:tgtEl>
                                        <p:attrNameLst>
                                          <p:attrName>style.visibility</p:attrName>
                                        </p:attrNameLst>
                                      </p:cBhvr>
                                      <p:to>
                                        <p:strVal val="visible"/>
                                      </p:to>
                                    </p:set>
                                    <p:animEffect transition="in" filter="fade">
                                      <p:cBhvr>
                                        <p:cTn id="112" dur="450"/>
                                        <p:tgtEl>
                                          <p:spTgt spid="48"/>
                                        </p:tgtEl>
                                      </p:cBhvr>
                                    </p:animEffect>
                                  </p:childTnLst>
                                </p:cTn>
                              </p:par>
                              <p:par>
                                <p:cTn id="113" presetID="10" presetClass="entr" presetSubtype="0" fill="hold" grpId="0" nodeType="withEffect">
                                  <p:stCondLst>
                                    <p:cond delay="720"/>
                                  </p:stCondLst>
                                  <p:childTnLst>
                                    <p:set>
                                      <p:cBhvr>
                                        <p:cTn id="114" dur="1" fill="hold">
                                          <p:stCondLst>
                                            <p:cond delay="0"/>
                                          </p:stCondLst>
                                        </p:cTn>
                                        <p:tgtEl>
                                          <p:spTgt spid="49"/>
                                        </p:tgtEl>
                                        <p:attrNameLst>
                                          <p:attrName>style.visibility</p:attrName>
                                        </p:attrNameLst>
                                      </p:cBhvr>
                                      <p:to>
                                        <p:strVal val="visible"/>
                                      </p:to>
                                    </p:set>
                                    <p:animEffect transition="in" filter="fade">
                                      <p:cBhvr>
                                        <p:cTn id="115" dur="450"/>
                                        <p:tgtEl>
                                          <p:spTgt spid="49"/>
                                        </p:tgtEl>
                                      </p:cBhvr>
                                    </p:animEffect>
                                  </p:childTnLst>
                                </p:cTn>
                              </p:par>
                            </p:childTnLst>
                          </p:cTn>
                        </p:par>
                      </p:childTnLst>
                    </p:cTn>
                  </p:par>
                  <p:par>
                    <p:cTn id="133" fill="hold">
                      <p:stCondLst>
                        <p:cond delay="indefinite"/>
                      </p:stCondLst>
                      <p:childTnLst>
                        <p:par>
                          <p:cTn id="134"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50"/>
                                        </p:tgtEl>
                                        <p:attrNameLst>
                                          <p:attrName>style.visibility</p:attrName>
                                        </p:attrNameLst>
                                      </p:cBhvr>
                                      <p:to>
                                        <p:strVal val="visible"/>
                                      </p:to>
                                    </p:set>
                                    <p:animEffect transition="in" filter="fade">
                                      <p:cBhvr>
                                        <p:cTn id="120" dur="450"/>
                                        <p:tgtEl>
                                          <p:spTgt spid="50"/>
                                        </p:tgtEl>
                                      </p:cBhvr>
                                    </p:animEffect>
                                  </p:childTnLst>
                                </p:cTn>
                              </p:par>
                              <p:par>
                                <p:cTn id="121" presetID="10" presetClass="entr" presetSubtype="0" fill="hold" grpId="0" nodeType="withEffect">
                                  <p:stCondLst>
                                    <p:cond delay="120"/>
                                  </p:stCondLst>
                                  <p:childTnLst>
                                    <p:set>
                                      <p:cBhvr>
                                        <p:cTn id="122" dur="1" fill="hold">
                                          <p:stCondLst>
                                            <p:cond delay="0"/>
                                          </p:stCondLst>
                                        </p:cTn>
                                        <p:tgtEl>
                                          <p:spTgt spid="51"/>
                                        </p:tgtEl>
                                        <p:attrNameLst>
                                          <p:attrName>style.visibility</p:attrName>
                                        </p:attrNameLst>
                                      </p:cBhvr>
                                      <p:to>
                                        <p:strVal val="visible"/>
                                      </p:to>
                                    </p:set>
                                    <p:animEffect transition="in" filter="fade">
                                      <p:cBhvr>
                                        <p:cTn id="123" dur="450"/>
                                        <p:tgtEl>
                                          <p:spTgt spid="51"/>
                                        </p:tgtEl>
                                      </p:cBhvr>
                                    </p:animEffect>
                                  </p:childTnLst>
                                </p:cTn>
                              </p:par>
                              <p:par>
                                <p:cTn id="124" presetID="10" presetClass="entr" presetSubtype="0" fill="hold" grpId="0" nodeType="withEffect">
                                  <p:stCondLst>
                                    <p:cond delay="240"/>
                                  </p:stCondLst>
                                  <p:childTnLst>
                                    <p:set>
                                      <p:cBhvr>
                                        <p:cTn id="125" dur="1" fill="hold">
                                          <p:stCondLst>
                                            <p:cond delay="0"/>
                                          </p:stCondLst>
                                        </p:cTn>
                                        <p:tgtEl>
                                          <p:spTgt spid="52"/>
                                        </p:tgtEl>
                                        <p:attrNameLst>
                                          <p:attrName>style.visibility</p:attrName>
                                        </p:attrNameLst>
                                      </p:cBhvr>
                                      <p:to>
                                        <p:strVal val="visible"/>
                                      </p:to>
                                    </p:set>
                                    <p:animEffect transition="in" filter="fade">
                                      <p:cBhvr>
                                        <p:cTn id="126" dur="450"/>
                                        <p:tgtEl>
                                          <p:spTgt spid="52"/>
                                        </p:tgtEl>
                                      </p:cBhvr>
                                    </p:animEffect>
                                  </p:childTnLst>
                                </p:cTn>
                              </p:par>
                              <p:par>
                                <p:cTn id="127" presetID="10" presetClass="entr" presetSubtype="0" fill="hold" grpId="0" nodeType="withEffect">
                                  <p:stCondLst>
                                    <p:cond delay="360"/>
                                  </p:stCondLst>
                                  <p:childTnLst>
                                    <p:set>
                                      <p:cBhvr>
                                        <p:cTn id="128" dur="1" fill="hold">
                                          <p:stCondLst>
                                            <p:cond delay="0"/>
                                          </p:stCondLst>
                                        </p:cTn>
                                        <p:tgtEl>
                                          <p:spTgt spid="53"/>
                                        </p:tgtEl>
                                        <p:attrNameLst>
                                          <p:attrName>style.visibility</p:attrName>
                                        </p:attrNameLst>
                                      </p:cBhvr>
                                      <p:to>
                                        <p:strVal val="visible"/>
                                      </p:to>
                                    </p:set>
                                    <p:animEffect transition="in" filter="fade">
                                      <p:cBhvr>
                                        <p:cTn id="129" dur="450"/>
                                        <p:tgtEl>
                                          <p:spTgt spid="53"/>
                                        </p:tgtEl>
                                      </p:cBhvr>
                                    </p:animEffect>
                                  </p:childTnLst>
                                </p:cTn>
                              </p:par>
                              <p:par>
                                <p:cTn id="130" presetID="10" presetClass="entr" presetSubtype="0" fill="hold" grpId="0" nodeType="withEffect">
                                  <p:stCondLst>
                                    <p:cond delay="480"/>
                                  </p:stCondLst>
                                  <p:childTnLst>
                                    <p:set>
                                      <p:cBhvr>
                                        <p:cTn id="131" dur="1" fill="hold">
                                          <p:stCondLst>
                                            <p:cond delay="0"/>
                                          </p:stCondLst>
                                        </p:cTn>
                                        <p:tgtEl>
                                          <p:spTgt spid="54"/>
                                        </p:tgtEl>
                                        <p:attrNameLst>
                                          <p:attrName>style.visibility</p:attrName>
                                        </p:attrNameLst>
                                      </p:cBhvr>
                                      <p:to>
                                        <p:strVal val="visible"/>
                                      </p:to>
                                    </p:set>
                                    <p:animEffect transition="in" filter="fade">
                                      <p:cBhvr>
                                        <p:cTn id="132" dur="4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6304" y="146304"/>
            <a:ext cx="8851392" cy="484632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84048" y="347472"/>
            <a:ext cx="274320" cy="2743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384048" y="347472"/>
            <a:ext cx="274320" cy="274320"/>
          </a:xfrm>
          <a:prstGeom prst="rect">
            <a:avLst/>
          </a:prstGeom>
          <a:noFill/>
        </p:spPr>
        <p:txBody>
          <a:bodyPr wrap="square" lIns="0" rIns="0" tIns="0" bIns="0" anchor="ctr">
            <a:spAutoFit/>
          </a:bodyPr>
          <a:lstStyle/>
          <a:p>
            <a:pPr algn="ctr"/>
            <a:r>
              <a:rPr sz="900" b="1" i="0">
                <a:solidFill>
                  <a:srgbClr val="FFFFFF"/>
                </a:solidFill>
                <a:latin typeface="Arial"/>
                <a:ea typeface="Arial"/>
                <a:cs typeface="Arial"/>
              </a:rPr>
              <a:t>19</a:t>
            </a:r>
          </a:p>
        </p:txBody>
      </p:sp>
      <p:sp>
        <p:nvSpPr>
          <p:cNvPr id="5" name="TextBox 4"/>
          <p:cNvSpPr txBox="1"/>
          <p:nvPr/>
        </p:nvSpPr>
        <p:spPr>
          <a:xfrm>
            <a:off x="786384" y="329184"/>
            <a:ext cx="6583680" cy="310896"/>
          </a:xfrm>
          <a:prstGeom prst="rect">
            <a:avLst/>
          </a:prstGeom>
          <a:noFill/>
        </p:spPr>
        <p:txBody>
          <a:bodyPr wrap="square" lIns="0" rIns="0" tIns="0" bIns="0" anchor="ctr">
            <a:spAutoFit/>
          </a:bodyPr>
          <a:lstStyle/>
          <a:p>
            <a:pPr algn="l"/>
            <a:r>
              <a:rPr sz="1250" b="0" i="0" spc="40">
                <a:solidFill>
                  <a:srgbClr val="3A3A3A"/>
                </a:solidFill>
                <a:latin typeface="Arial"/>
                <a:ea typeface="Arial"/>
                <a:cs typeface="Arial"/>
              </a:rPr>
              <a:t>ANNEXE  |  SUPPORT ET RESSOURCES</a:t>
            </a:r>
          </a:p>
        </p:txBody>
      </p:sp>
      <p:sp>
        <p:nvSpPr>
          <p:cNvPr id="6" name="Rectangle 5"/>
          <p:cNvSpPr/>
          <p:nvPr/>
        </p:nvSpPr>
        <p:spPr>
          <a:xfrm>
            <a:off x="155448" y="786384"/>
            <a:ext cx="8833104"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chat_009654.png"/>
          <p:cNvPicPr>
            <a:picLocks noChangeAspect="1"/>
          </p:cNvPicPr>
          <p:nvPr/>
        </p:nvPicPr>
        <p:blipFill>
          <a:blip r:embed="rId2"/>
          <a:stretch>
            <a:fillRect/>
          </a:stretch>
        </p:blipFill>
        <p:spPr>
          <a:xfrm>
            <a:off x="392094" y="904158"/>
            <a:ext cx="239938" cy="239938"/>
          </a:xfrm>
          <a:prstGeom prst="rect">
            <a:avLst/>
          </a:prstGeom>
        </p:spPr>
      </p:pic>
      <p:sp>
        <p:nvSpPr>
          <p:cNvPr id="8" name="TextBox 7"/>
          <p:cNvSpPr txBox="1"/>
          <p:nvPr/>
        </p:nvSpPr>
        <p:spPr>
          <a:xfrm>
            <a:off x="731520" y="905256"/>
            <a:ext cx="8028431" cy="256032"/>
          </a:xfrm>
          <a:prstGeom prst="rect">
            <a:avLst/>
          </a:prstGeom>
          <a:noFill/>
        </p:spPr>
        <p:txBody>
          <a:bodyPr wrap="square" lIns="0" rIns="0" tIns="0" bIns="0" anchor="ctr">
            <a:spAutoFit/>
          </a:bodyPr>
          <a:lstStyle/>
          <a:p>
            <a:pPr algn="l"/>
            <a:r>
              <a:rPr sz="1050" b="1" i="0" spc="50">
                <a:solidFill>
                  <a:srgbClr val="009654"/>
                </a:solidFill>
                <a:latin typeface="Arial"/>
                <a:ea typeface="Arial"/>
                <a:cs typeface="Arial"/>
              </a:rPr>
              <a:t>À QUI S'ADRESSER, ET POUR QUOI</a:t>
            </a:r>
          </a:p>
        </p:txBody>
      </p:sp>
      <p:sp>
        <p:nvSpPr>
          <p:cNvPr id="9" name="TextBox 8"/>
          <p:cNvSpPr txBox="1"/>
          <p:nvPr/>
        </p:nvSpPr>
        <p:spPr>
          <a:xfrm>
            <a:off x="384048" y="4626864"/>
            <a:ext cx="4572000" cy="201168"/>
          </a:xfrm>
          <a:prstGeom prst="rect">
            <a:avLst/>
          </a:prstGeom>
          <a:noFill/>
        </p:spPr>
        <p:txBody>
          <a:bodyPr wrap="square" lIns="0" rIns="0" tIns="0" bIns="0" anchor="ctr">
            <a:spAutoFit/>
          </a:bodyPr>
          <a:lstStyle/>
          <a:p>
            <a:pPr algn="l"/>
            <a:r>
              <a:rPr sz="750" b="0" i="0">
                <a:solidFill>
                  <a:srgbClr val="9B9B9B"/>
                </a:solidFill>
                <a:latin typeface="Arial"/>
                <a:ea typeface="Arial"/>
                <a:cs typeface="Arial"/>
              </a:rPr>
              <a:t>Formation Plateforme KYC  |  BOA RDC  |  10.09.2026</a:t>
            </a:r>
          </a:p>
        </p:txBody>
      </p:sp>
      <p:pic>
        <p:nvPicPr>
          <p:cNvPr id="10" name="Picture 9" descr="embleme.png"/>
          <p:cNvPicPr>
            <a:picLocks noChangeAspect="1"/>
          </p:cNvPicPr>
          <p:nvPr/>
        </p:nvPicPr>
        <p:blipFill>
          <a:blip r:embed="rId3"/>
          <a:stretch>
            <a:fillRect/>
          </a:stretch>
        </p:blipFill>
        <p:spPr>
          <a:xfrm>
            <a:off x="8503920" y="4581144"/>
            <a:ext cx="237744" cy="237744"/>
          </a:xfrm>
          <a:prstGeom prst="rect">
            <a:avLst/>
          </a:prstGeom>
        </p:spPr>
      </p:pic>
      <p:sp>
        <p:nvSpPr>
          <p:cNvPr id="11" name="Rectangle 10"/>
          <p:cNvSpPr/>
          <p:nvPr/>
        </p:nvSpPr>
        <p:spPr>
          <a:xfrm>
            <a:off x="365760" y="1143000"/>
            <a:ext cx="4023360" cy="3429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65760" y="1143000"/>
            <a:ext cx="4023360" cy="274320"/>
          </a:xfrm>
          <a:prstGeom prst="rect">
            <a:avLst/>
          </a:prstGeom>
          <a:solidFill>
            <a:srgbClr val="DEE6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utilisateur_004181.png"/>
          <p:cNvPicPr>
            <a:picLocks noChangeAspect="1"/>
          </p:cNvPicPr>
          <p:nvPr/>
        </p:nvPicPr>
        <p:blipFill>
          <a:blip r:embed="rId4"/>
          <a:stretch>
            <a:fillRect/>
          </a:stretch>
        </p:blipFill>
        <p:spPr>
          <a:xfrm>
            <a:off x="445312" y="1167688"/>
            <a:ext cx="224942" cy="224942"/>
          </a:xfrm>
          <a:prstGeom prst="rect">
            <a:avLst/>
          </a:prstGeom>
        </p:spPr>
      </p:pic>
      <p:sp>
        <p:nvSpPr>
          <p:cNvPr id="14" name="TextBox 13"/>
          <p:cNvSpPr txBox="1"/>
          <p:nvPr/>
        </p:nvSpPr>
        <p:spPr>
          <a:xfrm>
            <a:off x="786384" y="1143000"/>
            <a:ext cx="3493008" cy="274320"/>
          </a:xfrm>
          <a:prstGeom prst="rect">
            <a:avLst/>
          </a:prstGeom>
          <a:noFill/>
        </p:spPr>
        <p:txBody>
          <a:bodyPr wrap="square" lIns="0" rIns="0" tIns="0" bIns="0" anchor="ctr">
            <a:spAutoFit/>
          </a:bodyPr>
          <a:lstStyle/>
          <a:p>
            <a:pPr algn="l"/>
            <a:r>
              <a:rPr sz="1000" b="1" i="0" spc="40">
                <a:solidFill>
                  <a:srgbClr val="004181"/>
                </a:solidFill>
                <a:latin typeface="Arial"/>
                <a:ea typeface="Arial"/>
                <a:cs typeface="Arial"/>
              </a:rPr>
              <a:t>VOS INTERLOCUTEURS</a:t>
            </a:r>
          </a:p>
        </p:txBody>
      </p:sp>
      <p:pic>
        <p:nvPicPr>
          <p:cNvPr id="15" name="Picture 14" descr="acces-securite_009654.png"/>
          <p:cNvPicPr>
            <a:picLocks noChangeAspect="1"/>
          </p:cNvPicPr>
          <p:nvPr/>
        </p:nvPicPr>
        <p:blipFill>
          <a:blip r:embed="rId5"/>
          <a:stretch>
            <a:fillRect/>
          </a:stretch>
        </p:blipFill>
        <p:spPr>
          <a:xfrm>
            <a:off x="559978" y="1730410"/>
            <a:ext cx="269930" cy="269930"/>
          </a:xfrm>
          <a:prstGeom prst="rect">
            <a:avLst/>
          </a:prstGeom>
        </p:spPr>
      </p:pic>
      <p:sp>
        <p:nvSpPr>
          <p:cNvPr id="16" name="TextBox 15"/>
          <p:cNvSpPr txBox="1"/>
          <p:nvPr/>
        </p:nvSpPr>
        <p:spPr>
          <a:xfrm>
            <a:off x="914400" y="1627632"/>
            <a:ext cx="3291840" cy="237744"/>
          </a:xfrm>
          <a:prstGeom prst="rect">
            <a:avLst/>
          </a:prstGeom>
          <a:noFill/>
        </p:spPr>
        <p:txBody>
          <a:bodyPr wrap="square" lIns="0" rIns="0" tIns="0" bIns="0" anchor="ctr">
            <a:spAutoFit/>
          </a:bodyPr>
          <a:lstStyle/>
          <a:p>
            <a:pPr algn="l"/>
            <a:r>
              <a:rPr sz="950" b="1" i="0">
                <a:solidFill>
                  <a:srgbClr val="004181"/>
                </a:solidFill>
                <a:latin typeface="Arial"/>
                <a:ea typeface="Arial"/>
                <a:cs typeface="Arial"/>
              </a:rPr>
              <a:t>Accès, mot de passe, verrouillage</a:t>
            </a:r>
          </a:p>
        </p:txBody>
      </p:sp>
      <p:sp>
        <p:nvSpPr>
          <p:cNvPr id="17" name="TextBox 16"/>
          <p:cNvSpPr txBox="1"/>
          <p:nvPr/>
        </p:nvSpPr>
        <p:spPr>
          <a:xfrm>
            <a:off x="914400" y="1865376"/>
            <a:ext cx="3291840" cy="237744"/>
          </a:xfrm>
          <a:prstGeom prst="rect">
            <a:avLst/>
          </a:prstGeom>
          <a:noFill/>
        </p:spPr>
        <p:txBody>
          <a:bodyPr wrap="square" lIns="0" rIns="0" tIns="0" bIns="0" anchor="ctr">
            <a:spAutoFit/>
          </a:bodyPr>
          <a:lstStyle/>
          <a:p>
            <a:pPr algn="l"/>
            <a:r>
              <a:rPr sz="950" b="0" i="0">
                <a:solidFill>
                  <a:srgbClr val="009654"/>
                </a:solidFill>
                <a:latin typeface="Arial"/>
                <a:ea typeface="Arial"/>
                <a:cs typeface="Arial"/>
              </a:rPr>
              <a:t>DSI BOA RDC</a:t>
            </a:r>
          </a:p>
        </p:txBody>
      </p:sp>
      <p:sp>
        <p:nvSpPr>
          <p:cNvPr id="18" name="Rectangle 17"/>
          <p:cNvSpPr/>
          <p:nvPr/>
        </p:nvSpPr>
        <p:spPr>
          <a:xfrm>
            <a:off x="548640" y="2139696"/>
            <a:ext cx="365760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localisation_009654.png"/>
          <p:cNvPicPr>
            <a:picLocks noChangeAspect="1"/>
          </p:cNvPicPr>
          <p:nvPr/>
        </p:nvPicPr>
        <p:blipFill>
          <a:blip r:embed="rId6"/>
          <a:stretch>
            <a:fillRect/>
          </a:stretch>
        </p:blipFill>
        <p:spPr>
          <a:xfrm>
            <a:off x="559978" y="2315626"/>
            <a:ext cx="269930" cy="269930"/>
          </a:xfrm>
          <a:prstGeom prst="rect">
            <a:avLst/>
          </a:prstGeom>
        </p:spPr>
      </p:pic>
      <p:sp>
        <p:nvSpPr>
          <p:cNvPr id="20" name="TextBox 19"/>
          <p:cNvSpPr txBox="1"/>
          <p:nvPr/>
        </p:nvSpPr>
        <p:spPr>
          <a:xfrm>
            <a:off x="914400" y="2212848"/>
            <a:ext cx="3291840" cy="237744"/>
          </a:xfrm>
          <a:prstGeom prst="rect">
            <a:avLst/>
          </a:prstGeom>
          <a:noFill/>
        </p:spPr>
        <p:txBody>
          <a:bodyPr wrap="square" lIns="0" rIns="0" tIns="0" bIns="0" anchor="ctr">
            <a:spAutoFit/>
          </a:bodyPr>
          <a:lstStyle/>
          <a:p>
            <a:pPr algn="l"/>
            <a:r>
              <a:rPr sz="950" b="1" i="0">
                <a:solidFill>
                  <a:srgbClr val="004181"/>
                </a:solidFill>
                <a:latin typeface="Arial"/>
                <a:ea typeface="Arial"/>
                <a:cs typeface="Arial"/>
              </a:rPr>
              <a:t>Périmètre incorrect, menu manquant</a:t>
            </a:r>
          </a:p>
        </p:txBody>
      </p:sp>
      <p:sp>
        <p:nvSpPr>
          <p:cNvPr id="21" name="TextBox 20"/>
          <p:cNvSpPr txBox="1"/>
          <p:nvPr/>
        </p:nvSpPr>
        <p:spPr>
          <a:xfrm>
            <a:off x="914400" y="2450591"/>
            <a:ext cx="3291840" cy="237744"/>
          </a:xfrm>
          <a:prstGeom prst="rect">
            <a:avLst/>
          </a:prstGeom>
          <a:noFill/>
        </p:spPr>
        <p:txBody>
          <a:bodyPr wrap="square" lIns="0" rIns="0" tIns="0" bIns="0" anchor="ctr">
            <a:spAutoFit/>
          </a:bodyPr>
          <a:lstStyle/>
          <a:p>
            <a:pPr algn="l"/>
            <a:r>
              <a:rPr sz="950" b="0" i="0">
                <a:solidFill>
                  <a:srgbClr val="009654"/>
                </a:solidFill>
                <a:latin typeface="Arial"/>
                <a:ea typeface="Arial"/>
                <a:cs typeface="Arial"/>
              </a:rPr>
              <a:t>Correspondant KYC filiale</a:t>
            </a:r>
          </a:p>
        </p:txBody>
      </p:sp>
      <p:sp>
        <p:nvSpPr>
          <p:cNvPr id="22" name="Rectangle 21"/>
          <p:cNvSpPr/>
          <p:nvPr/>
        </p:nvSpPr>
        <p:spPr>
          <a:xfrm>
            <a:off x="548640" y="2724912"/>
            <a:ext cx="365760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algorithme_009654.png"/>
          <p:cNvPicPr>
            <a:picLocks noChangeAspect="1"/>
          </p:cNvPicPr>
          <p:nvPr/>
        </p:nvPicPr>
        <p:blipFill>
          <a:blip r:embed="rId7"/>
          <a:stretch>
            <a:fillRect/>
          </a:stretch>
        </p:blipFill>
        <p:spPr>
          <a:xfrm>
            <a:off x="559978" y="2900842"/>
            <a:ext cx="269930" cy="269930"/>
          </a:xfrm>
          <a:prstGeom prst="rect">
            <a:avLst/>
          </a:prstGeom>
        </p:spPr>
      </p:pic>
      <p:sp>
        <p:nvSpPr>
          <p:cNvPr id="24" name="TextBox 23"/>
          <p:cNvSpPr txBox="1"/>
          <p:nvPr/>
        </p:nvSpPr>
        <p:spPr>
          <a:xfrm>
            <a:off x="914400" y="2798064"/>
            <a:ext cx="3291840" cy="237744"/>
          </a:xfrm>
          <a:prstGeom prst="rect">
            <a:avLst/>
          </a:prstGeom>
          <a:noFill/>
        </p:spPr>
        <p:txBody>
          <a:bodyPr wrap="square" lIns="0" rIns="0" tIns="0" bIns="0" anchor="ctr">
            <a:spAutoFit/>
          </a:bodyPr>
          <a:lstStyle/>
          <a:p>
            <a:pPr algn="l"/>
            <a:r>
              <a:rPr sz="950" b="1" i="0">
                <a:solidFill>
                  <a:srgbClr val="004181"/>
                </a:solidFill>
                <a:latin typeface="Arial"/>
                <a:ea typeface="Arial"/>
                <a:cs typeface="Arial"/>
              </a:rPr>
              <a:t>Règle contestée, champ à ajouter</a:t>
            </a:r>
          </a:p>
        </p:txBody>
      </p:sp>
      <p:sp>
        <p:nvSpPr>
          <p:cNvPr id="25" name="TextBox 24"/>
          <p:cNvSpPr txBox="1"/>
          <p:nvPr/>
        </p:nvSpPr>
        <p:spPr>
          <a:xfrm>
            <a:off x="914400" y="3035808"/>
            <a:ext cx="3291840" cy="237744"/>
          </a:xfrm>
          <a:prstGeom prst="rect">
            <a:avLst/>
          </a:prstGeom>
          <a:noFill/>
        </p:spPr>
        <p:txBody>
          <a:bodyPr wrap="square" lIns="0" rIns="0" tIns="0" bIns="0" anchor="ctr">
            <a:spAutoFit/>
          </a:bodyPr>
          <a:lstStyle/>
          <a:p>
            <a:pPr algn="l"/>
            <a:r>
              <a:rPr sz="950" b="0" i="0">
                <a:solidFill>
                  <a:srgbClr val="009654"/>
                </a:solidFill>
                <a:latin typeface="Arial"/>
                <a:ea typeface="Arial"/>
                <a:cs typeface="Arial"/>
              </a:rPr>
              <a:t>Conformité BOA RDC</a:t>
            </a:r>
          </a:p>
        </p:txBody>
      </p:sp>
      <p:sp>
        <p:nvSpPr>
          <p:cNvPr id="26" name="Rectangle 25"/>
          <p:cNvSpPr/>
          <p:nvPr/>
        </p:nvSpPr>
        <p:spPr>
          <a:xfrm>
            <a:off x="548640" y="3310128"/>
            <a:ext cx="365760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parametres_009654.png"/>
          <p:cNvPicPr>
            <a:picLocks noChangeAspect="1"/>
          </p:cNvPicPr>
          <p:nvPr/>
        </p:nvPicPr>
        <p:blipFill>
          <a:blip r:embed="rId8"/>
          <a:stretch>
            <a:fillRect/>
          </a:stretch>
        </p:blipFill>
        <p:spPr>
          <a:xfrm>
            <a:off x="559978" y="3486058"/>
            <a:ext cx="269930" cy="269930"/>
          </a:xfrm>
          <a:prstGeom prst="rect">
            <a:avLst/>
          </a:prstGeom>
        </p:spPr>
      </p:pic>
      <p:sp>
        <p:nvSpPr>
          <p:cNvPr id="28" name="TextBox 27"/>
          <p:cNvSpPr txBox="1"/>
          <p:nvPr/>
        </p:nvSpPr>
        <p:spPr>
          <a:xfrm>
            <a:off x="914400" y="3383280"/>
            <a:ext cx="3291840" cy="237744"/>
          </a:xfrm>
          <a:prstGeom prst="rect">
            <a:avLst/>
          </a:prstGeom>
          <a:noFill/>
        </p:spPr>
        <p:txBody>
          <a:bodyPr wrap="square" lIns="0" rIns="0" tIns="0" bIns="0" anchor="ctr">
            <a:spAutoFit/>
          </a:bodyPr>
          <a:lstStyle/>
          <a:p>
            <a:pPr algn="l"/>
            <a:r>
              <a:rPr sz="950" b="1" i="0">
                <a:solidFill>
                  <a:srgbClr val="004181"/>
                </a:solidFill>
                <a:latin typeface="Arial"/>
                <a:ea typeface="Arial"/>
                <a:cs typeface="Arial"/>
              </a:rPr>
              <a:t>Anomalie technique, écran en erreur</a:t>
            </a:r>
          </a:p>
        </p:txBody>
      </p:sp>
      <p:sp>
        <p:nvSpPr>
          <p:cNvPr id="29" name="TextBox 28"/>
          <p:cNvSpPr txBox="1"/>
          <p:nvPr/>
        </p:nvSpPr>
        <p:spPr>
          <a:xfrm>
            <a:off x="914400" y="3621024"/>
            <a:ext cx="3291840" cy="237744"/>
          </a:xfrm>
          <a:prstGeom prst="rect">
            <a:avLst/>
          </a:prstGeom>
          <a:noFill/>
        </p:spPr>
        <p:txBody>
          <a:bodyPr wrap="square" lIns="0" rIns="0" tIns="0" bIns="0" anchor="ctr">
            <a:spAutoFit/>
          </a:bodyPr>
          <a:lstStyle/>
          <a:p>
            <a:pPr algn="l"/>
            <a:r>
              <a:rPr sz="950" b="0" i="0">
                <a:solidFill>
                  <a:srgbClr val="009654"/>
                </a:solidFill>
                <a:latin typeface="Arial"/>
                <a:ea typeface="Arial"/>
                <a:cs typeface="Arial"/>
              </a:rPr>
              <a:t>Pôle Projet Groupe</a:t>
            </a:r>
          </a:p>
        </p:txBody>
      </p:sp>
      <p:sp>
        <p:nvSpPr>
          <p:cNvPr id="30" name="Rectangle 29"/>
          <p:cNvSpPr/>
          <p:nvPr/>
        </p:nvSpPr>
        <p:spPr>
          <a:xfrm>
            <a:off x="548640" y="3895344"/>
            <a:ext cx="365760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accueil_009654.png"/>
          <p:cNvPicPr>
            <a:picLocks noChangeAspect="1"/>
          </p:cNvPicPr>
          <p:nvPr/>
        </p:nvPicPr>
        <p:blipFill>
          <a:blip r:embed="rId9"/>
          <a:stretch>
            <a:fillRect/>
          </a:stretch>
        </p:blipFill>
        <p:spPr>
          <a:xfrm>
            <a:off x="559978" y="4071274"/>
            <a:ext cx="269930" cy="269930"/>
          </a:xfrm>
          <a:prstGeom prst="rect">
            <a:avLst/>
          </a:prstGeom>
        </p:spPr>
      </p:pic>
      <p:sp>
        <p:nvSpPr>
          <p:cNvPr id="32" name="TextBox 31"/>
          <p:cNvSpPr txBox="1"/>
          <p:nvPr/>
        </p:nvSpPr>
        <p:spPr>
          <a:xfrm>
            <a:off x="914400" y="3968496"/>
            <a:ext cx="3291840" cy="237744"/>
          </a:xfrm>
          <a:prstGeom prst="rect">
            <a:avLst/>
          </a:prstGeom>
          <a:noFill/>
        </p:spPr>
        <p:txBody>
          <a:bodyPr wrap="square" lIns="0" rIns="0" tIns="0" bIns="0" anchor="ctr">
            <a:spAutoFit/>
          </a:bodyPr>
          <a:lstStyle/>
          <a:p>
            <a:pPr algn="l"/>
            <a:r>
              <a:rPr sz="950" b="1" i="0">
                <a:solidFill>
                  <a:srgbClr val="004181"/>
                </a:solidFill>
                <a:latin typeface="Arial"/>
                <a:ea typeface="Arial"/>
                <a:cs typeface="Arial"/>
              </a:rPr>
              <a:t>Question métier sur un dossier</a:t>
            </a:r>
          </a:p>
        </p:txBody>
      </p:sp>
      <p:sp>
        <p:nvSpPr>
          <p:cNvPr id="33" name="TextBox 32"/>
          <p:cNvSpPr txBox="1"/>
          <p:nvPr/>
        </p:nvSpPr>
        <p:spPr>
          <a:xfrm>
            <a:off x="914400" y="4206240"/>
            <a:ext cx="3291840" cy="237744"/>
          </a:xfrm>
          <a:prstGeom prst="rect">
            <a:avLst/>
          </a:prstGeom>
          <a:noFill/>
        </p:spPr>
        <p:txBody>
          <a:bodyPr wrap="square" lIns="0" rIns="0" tIns="0" bIns="0" anchor="ctr">
            <a:spAutoFit/>
          </a:bodyPr>
          <a:lstStyle/>
          <a:p>
            <a:pPr algn="l"/>
            <a:r>
              <a:rPr sz="950" b="0" i="0">
                <a:solidFill>
                  <a:srgbClr val="009654"/>
                </a:solidFill>
                <a:latin typeface="Arial"/>
                <a:ea typeface="Arial"/>
                <a:cs typeface="Arial"/>
              </a:rPr>
              <a:t>Directeur d'agence</a:t>
            </a:r>
          </a:p>
        </p:txBody>
      </p:sp>
      <p:sp>
        <p:nvSpPr>
          <p:cNvPr id="34" name="Rectangle 33"/>
          <p:cNvSpPr/>
          <p:nvPr/>
        </p:nvSpPr>
        <p:spPr>
          <a:xfrm>
            <a:off x="4754880" y="1143000"/>
            <a:ext cx="4023360" cy="34290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4754880" y="1143000"/>
            <a:ext cx="4023360" cy="274320"/>
          </a:xfrm>
          <a:prstGeom prst="rect">
            <a:avLst/>
          </a:prstGeom>
          <a:solidFill>
            <a:srgbClr val="DEF1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6" name="Picture 35" descr="question_009654.png"/>
          <p:cNvPicPr>
            <a:picLocks noChangeAspect="1"/>
          </p:cNvPicPr>
          <p:nvPr/>
        </p:nvPicPr>
        <p:blipFill>
          <a:blip r:embed="rId10"/>
          <a:stretch>
            <a:fillRect/>
          </a:stretch>
        </p:blipFill>
        <p:spPr>
          <a:xfrm>
            <a:off x="4834432" y="1167688"/>
            <a:ext cx="224942" cy="224942"/>
          </a:xfrm>
          <a:prstGeom prst="rect">
            <a:avLst/>
          </a:prstGeom>
        </p:spPr>
      </p:pic>
      <p:sp>
        <p:nvSpPr>
          <p:cNvPr id="37" name="TextBox 36"/>
          <p:cNvSpPr txBox="1"/>
          <p:nvPr/>
        </p:nvSpPr>
        <p:spPr>
          <a:xfrm>
            <a:off x="5175504" y="1143000"/>
            <a:ext cx="3493008" cy="274320"/>
          </a:xfrm>
          <a:prstGeom prst="rect">
            <a:avLst/>
          </a:prstGeom>
          <a:noFill/>
        </p:spPr>
        <p:txBody>
          <a:bodyPr wrap="square" lIns="0" rIns="0" tIns="0" bIns="0" anchor="ctr">
            <a:spAutoFit/>
          </a:bodyPr>
          <a:lstStyle/>
          <a:p>
            <a:pPr algn="l"/>
            <a:r>
              <a:rPr sz="1000" b="1" i="0" spc="40">
                <a:solidFill>
                  <a:srgbClr val="009654"/>
                </a:solidFill>
                <a:latin typeface="Arial"/>
                <a:ea typeface="Arial"/>
                <a:cs typeface="Arial"/>
              </a:rPr>
              <a:t>QUESTIONS FRÉQUENTES</a:t>
            </a:r>
          </a:p>
        </p:txBody>
      </p:sp>
      <p:sp>
        <p:nvSpPr>
          <p:cNvPr id="38" name="TextBox 37"/>
          <p:cNvSpPr txBox="1"/>
          <p:nvPr/>
        </p:nvSpPr>
        <p:spPr>
          <a:xfrm>
            <a:off x="4937760" y="1627632"/>
            <a:ext cx="3657600" cy="256032"/>
          </a:xfrm>
          <a:prstGeom prst="rect">
            <a:avLst/>
          </a:prstGeom>
          <a:noFill/>
        </p:spPr>
        <p:txBody>
          <a:bodyPr wrap="square" lIns="0" rIns="0" tIns="0" bIns="0" anchor="ctr">
            <a:spAutoFit/>
          </a:bodyPr>
          <a:lstStyle/>
          <a:p>
            <a:pPr algn="l">
              <a:lnSpc>
                <a:spcPct val="100000"/>
              </a:lnSpc>
            </a:pPr>
            <a:r>
              <a:rPr sz="950" b="1" i="0">
                <a:solidFill>
                  <a:srgbClr val="004181"/>
                </a:solidFill>
                <a:latin typeface="Arial"/>
                <a:ea typeface="Arial"/>
                <a:cs typeface="Arial"/>
              </a:rPr>
              <a:t>Mon taux n'a pas bougé après mes corrections.</a:t>
            </a:r>
          </a:p>
        </p:txBody>
      </p:sp>
      <p:sp>
        <p:nvSpPr>
          <p:cNvPr id="39" name="TextBox 38"/>
          <p:cNvSpPr txBox="1"/>
          <p:nvPr/>
        </p:nvSpPr>
        <p:spPr>
          <a:xfrm>
            <a:off x="4937760" y="1901952"/>
            <a:ext cx="3657600" cy="457200"/>
          </a:xfrm>
          <a:prstGeom prst="rect">
            <a:avLst/>
          </a:prstGeom>
          <a:noFill/>
        </p:spPr>
        <p:txBody>
          <a:bodyPr wrap="square" lIns="0" rIns="0" tIns="0" bIns="0" anchor="t">
            <a:spAutoFit/>
          </a:bodyPr>
          <a:lstStyle/>
          <a:p>
            <a:pPr algn="l">
              <a:lnSpc>
                <a:spcPct val="105000"/>
              </a:lnSpc>
            </a:pPr>
            <a:r>
              <a:rPr sz="900" b="0" i="0">
                <a:solidFill>
                  <a:srgbClr val="3A3A3A"/>
                </a:solidFill>
                <a:latin typeface="Arial"/>
                <a:ea typeface="Arial"/>
                <a:cs typeface="Arial"/>
              </a:rPr>
              <a:t>Les données sont réinjectées la nuit : le taux se met à jour le lendemain matin.</a:t>
            </a:r>
          </a:p>
        </p:txBody>
      </p:sp>
      <p:sp>
        <p:nvSpPr>
          <p:cNvPr id="40" name="TextBox 39"/>
          <p:cNvSpPr txBox="1"/>
          <p:nvPr/>
        </p:nvSpPr>
        <p:spPr>
          <a:xfrm>
            <a:off x="4937760" y="2377440"/>
            <a:ext cx="3657600" cy="256032"/>
          </a:xfrm>
          <a:prstGeom prst="rect">
            <a:avLst/>
          </a:prstGeom>
          <a:noFill/>
        </p:spPr>
        <p:txBody>
          <a:bodyPr wrap="square" lIns="0" rIns="0" tIns="0" bIns="0" anchor="ctr">
            <a:spAutoFit/>
          </a:bodyPr>
          <a:lstStyle/>
          <a:p>
            <a:pPr algn="l">
              <a:lnSpc>
                <a:spcPct val="100000"/>
              </a:lnSpc>
            </a:pPr>
            <a:r>
              <a:rPr sz="950" b="1" i="0">
                <a:solidFill>
                  <a:srgbClr val="004181"/>
                </a:solidFill>
                <a:latin typeface="Arial"/>
                <a:ea typeface="Arial"/>
                <a:cs typeface="Arial"/>
              </a:rPr>
              <a:t>Je ne vois pas les clients d'un collègue.</a:t>
            </a:r>
          </a:p>
        </p:txBody>
      </p:sp>
      <p:sp>
        <p:nvSpPr>
          <p:cNvPr id="41" name="TextBox 40"/>
          <p:cNvSpPr txBox="1"/>
          <p:nvPr/>
        </p:nvSpPr>
        <p:spPr>
          <a:xfrm>
            <a:off x="4937760" y="2651760"/>
            <a:ext cx="3657600" cy="457200"/>
          </a:xfrm>
          <a:prstGeom prst="rect">
            <a:avLst/>
          </a:prstGeom>
          <a:noFill/>
        </p:spPr>
        <p:txBody>
          <a:bodyPr wrap="square" lIns="0" rIns="0" tIns="0" bIns="0" anchor="t">
            <a:spAutoFit/>
          </a:bodyPr>
          <a:lstStyle/>
          <a:p>
            <a:pPr algn="l">
              <a:lnSpc>
                <a:spcPct val="105000"/>
              </a:lnSpc>
            </a:pPr>
            <a:r>
              <a:rPr sz="900" b="0" i="0">
                <a:solidFill>
                  <a:srgbClr val="3A3A3A"/>
                </a:solidFill>
                <a:latin typeface="Arial"/>
                <a:ea typeface="Arial"/>
                <a:cs typeface="Arial"/>
              </a:rPr>
              <a:t>C'est normal : chacun ne voit que son propre portefeuille.</a:t>
            </a:r>
          </a:p>
        </p:txBody>
      </p:sp>
      <p:sp>
        <p:nvSpPr>
          <p:cNvPr id="42" name="TextBox 41"/>
          <p:cNvSpPr txBox="1"/>
          <p:nvPr/>
        </p:nvSpPr>
        <p:spPr>
          <a:xfrm>
            <a:off x="4937760" y="3127248"/>
            <a:ext cx="3657600" cy="256032"/>
          </a:xfrm>
          <a:prstGeom prst="rect">
            <a:avLst/>
          </a:prstGeom>
          <a:noFill/>
        </p:spPr>
        <p:txBody>
          <a:bodyPr wrap="square" lIns="0" rIns="0" tIns="0" bIns="0" anchor="ctr">
            <a:spAutoFit/>
          </a:bodyPr>
          <a:lstStyle/>
          <a:p>
            <a:pPr algn="l">
              <a:lnSpc>
                <a:spcPct val="100000"/>
              </a:lnSpc>
            </a:pPr>
            <a:r>
              <a:rPr sz="950" b="1" i="0">
                <a:solidFill>
                  <a:srgbClr val="004181"/>
                </a:solidFill>
                <a:latin typeface="Arial"/>
                <a:ea typeface="Arial"/>
                <a:cs typeface="Arial"/>
              </a:rPr>
              <a:t>Un dossier apparaît en écart à tort.</a:t>
            </a:r>
          </a:p>
        </p:txBody>
      </p:sp>
      <p:sp>
        <p:nvSpPr>
          <p:cNvPr id="43" name="TextBox 42"/>
          <p:cNvSpPr txBox="1"/>
          <p:nvPr/>
        </p:nvSpPr>
        <p:spPr>
          <a:xfrm>
            <a:off x="4937760" y="3401568"/>
            <a:ext cx="3657600" cy="457200"/>
          </a:xfrm>
          <a:prstGeom prst="rect">
            <a:avLst/>
          </a:prstGeom>
          <a:noFill/>
        </p:spPr>
        <p:txBody>
          <a:bodyPr wrap="square" lIns="0" rIns="0" tIns="0" bIns="0" anchor="t">
            <a:spAutoFit/>
          </a:bodyPr>
          <a:lstStyle/>
          <a:p>
            <a:pPr algn="l">
              <a:lnSpc>
                <a:spcPct val="105000"/>
              </a:lnSpc>
            </a:pPr>
            <a:r>
              <a:rPr sz="900" b="0" i="0">
                <a:solidFill>
                  <a:srgbClr val="3A3A3A"/>
                </a:solidFill>
                <a:latin typeface="Arial"/>
                <a:ea typeface="Arial"/>
                <a:cs typeface="Arial"/>
              </a:rPr>
              <a:t>Extraire la ligne, la transmettre au correspondant filiale : la règle sera réexaminée.</a:t>
            </a:r>
          </a:p>
        </p:txBody>
      </p:sp>
      <p:sp>
        <p:nvSpPr>
          <p:cNvPr id="44" name="TextBox 43"/>
          <p:cNvSpPr txBox="1"/>
          <p:nvPr/>
        </p:nvSpPr>
        <p:spPr>
          <a:xfrm>
            <a:off x="4937760" y="3877056"/>
            <a:ext cx="3657600" cy="256032"/>
          </a:xfrm>
          <a:prstGeom prst="rect">
            <a:avLst/>
          </a:prstGeom>
          <a:noFill/>
        </p:spPr>
        <p:txBody>
          <a:bodyPr wrap="square" lIns="0" rIns="0" tIns="0" bIns="0" anchor="ctr">
            <a:spAutoFit/>
          </a:bodyPr>
          <a:lstStyle/>
          <a:p>
            <a:pPr algn="l">
              <a:lnSpc>
                <a:spcPct val="100000"/>
              </a:lnSpc>
            </a:pPr>
            <a:r>
              <a:rPr sz="950" b="1" i="0">
                <a:solidFill>
                  <a:srgbClr val="004181"/>
                </a:solidFill>
                <a:latin typeface="Arial"/>
                <a:ea typeface="Arial"/>
                <a:cs typeface="Arial"/>
              </a:rPr>
              <a:t>Le document chargé reste sans résultat.</a:t>
            </a:r>
          </a:p>
        </p:txBody>
      </p:sp>
      <p:sp>
        <p:nvSpPr>
          <p:cNvPr id="45" name="TextBox 44"/>
          <p:cNvSpPr txBox="1"/>
          <p:nvPr/>
        </p:nvSpPr>
        <p:spPr>
          <a:xfrm>
            <a:off x="4937760" y="4151376"/>
            <a:ext cx="3657600" cy="457200"/>
          </a:xfrm>
          <a:prstGeom prst="rect">
            <a:avLst/>
          </a:prstGeom>
          <a:noFill/>
        </p:spPr>
        <p:txBody>
          <a:bodyPr wrap="square" lIns="0" rIns="0" tIns="0" bIns="0" anchor="t">
            <a:spAutoFit/>
          </a:bodyPr>
          <a:lstStyle/>
          <a:p>
            <a:pPr algn="l">
              <a:lnSpc>
                <a:spcPct val="105000"/>
              </a:lnSpc>
            </a:pPr>
            <a:r>
              <a:rPr sz="900" b="0" i="0">
                <a:solidFill>
                  <a:srgbClr val="3A3A3A"/>
                </a:solidFill>
                <a:latin typeface="Arial"/>
                <a:ea typeface="Arial"/>
                <a:cs typeface="Arial"/>
              </a:rPr>
              <a:t>Vérifier la lisibilité du scan, puis recharger le document.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2" fill="hold">
                      <p:stCondLst>
                        <p:cond delay="indefinite"/>
                      </p:stCondLst>
                      <p:childTnLst>
                        <p:par>
                          <p:cTn id="7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50"/>
                                        <p:tgtEl>
                                          <p:spTgt spid="11"/>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50"/>
                                        <p:tgtEl>
                                          <p:spTgt spid="12"/>
                                        </p:tgtEl>
                                      </p:cBhvr>
                                    </p:animEffect>
                                  </p:childTnLst>
                                </p:cTn>
                              </p:par>
                              <p:par>
                                <p:cTn id="9" presetID="10" presetClass="entr" presetSubtype="0" fill="hold" grpId="0" nodeType="withEffect">
                                  <p:stCondLst>
                                    <p:cond delay="24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par>
                                <p:cTn id="12" presetID="10" presetClass="entr" presetSubtype="0" fill="hold" grpId="0" nodeType="withEffect">
                                  <p:stCondLst>
                                    <p:cond delay="36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50"/>
                                        <p:tgtEl>
                                          <p:spTgt spid="14"/>
                                        </p:tgtEl>
                                      </p:cBhvr>
                                    </p:animEffect>
                                  </p:childTnLst>
                                </p:cTn>
                              </p:par>
                              <p:par>
                                <p:cTn id="15" presetID="10" presetClass="entr" presetSubtype="0" fill="hold" grpId="0" nodeType="withEffect">
                                  <p:stCondLst>
                                    <p:cond delay="48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50"/>
                                        <p:tgtEl>
                                          <p:spTgt spid="15"/>
                                        </p:tgtEl>
                                      </p:cBhvr>
                                    </p:animEffect>
                                  </p:childTnLst>
                                </p:cTn>
                              </p:par>
                              <p:par>
                                <p:cTn id="18" presetID="10" presetClass="entr" presetSubtype="0" fill="hold" grpId="0" nodeType="withEffect">
                                  <p:stCondLst>
                                    <p:cond delay="60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50"/>
                                        <p:tgtEl>
                                          <p:spTgt spid="16"/>
                                        </p:tgtEl>
                                      </p:cBhvr>
                                    </p:animEffect>
                                  </p:childTnLst>
                                </p:cTn>
                              </p:par>
                              <p:par>
                                <p:cTn id="21" presetID="10" presetClass="entr" presetSubtype="0" fill="hold" grpId="0" nodeType="withEffect">
                                  <p:stCondLst>
                                    <p:cond delay="72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50"/>
                                        <p:tgtEl>
                                          <p:spTgt spid="17"/>
                                        </p:tgtEl>
                                      </p:cBhvr>
                                    </p:animEffect>
                                  </p:childTnLst>
                                </p:cTn>
                              </p:par>
                              <p:par>
                                <p:cTn id="24" presetID="10" presetClass="entr" presetSubtype="0" fill="hold" grpId="0" nodeType="withEffect">
                                  <p:stCondLst>
                                    <p:cond delay="84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50"/>
                                        <p:tgtEl>
                                          <p:spTgt spid="18"/>
                                        </p:tgtEl>
                                      </p:cBhvr>
                                    </p:animEffect>
                                  </p:childTnLst>
                                </p:cTn>
                              </p:par>
                              <p:par>
                                <p:cTn id="27" presetID="10" presetClass="entr" presetSubtype="0" fill="hold" grpId="0" nodeType="withEffect">
                                  <p:stCondLst>
                                    <p:cond delay="96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50"/>
                                        <p:tgtEl>
                                          <p:spTgt spid="19"/>
                                        </p:tgtEl>
                                      </p:cBhvr>
                                    </p:animEffect>
                                  </p:childTnLst>
                                </p:cTn>
                              </p:par>
                              <p:par>
                                <p:cTn id="30" presetID="10" presetClass="entr" presetSubtype="0" fill="hold" grpId="0" nodeType="withEffect">
                                  <p:stCondLst>
                                    <p:cond delay="108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50"/>
                                        <p:tgtEl>
                                          <p:spTgt spid="20"/>
                                        </p:tgtEl>
                                      </p:cBhvr>
                                    </p:animEffect>
                                  </p:childTnLst>
                                </p:cTn>
                              </p:par>
                              <p:par>
                                <p:cTn id="33" presetID="10" presetClass="entr" presetSubtype="0" fill="hold" grpId="0" nodeType="withEffect">
                                  <p:stCondLst>
                                    <p:cond delay="120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50"/>
                                        <p:tgtEl>
                                          <p:spTgt spid="21"/>
                                        </p:tgtEl>
                                      </p:cBhvr>
                                    </p:animEffect>
                                  </p:childTnLst>
                                </p:cTn>
                              </p:par>
                              <p:par>
                                <p:cTn id="36" presetID="10" presetClass="entr" presetSubtype="0" fill="hold" grpId="0" nodeType="withEffect">
                                  <p:stCondLst>
                                    <p:cond delay="132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childTnLst>
                                </p:cTn>
                              </p:par>
                              <p:par>
                                <p:cTn id="39" presetID="10" presetClass="entr" presetSubtype="0" fill="hold" grpId="0" nodeType="withEffect">
                                  <p:stCondLst>
                                    <p:cond delay="144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50"/>
                                        <p:tgtEl>
                                          <p:spTgt spid="23"/>
                                        </p:tgtEl>
                                      </p:cBhvr>
                                    </p:animEffect>
                                  </p:childTnLst>
                                </p:cTn>
                              </p:par>
                              <p:par>
                                <p:cTn id="42" presetID="10" presetClass="entr" presetSubtype="0" fill="hold" grpId="0" nodeType="withEffect">
                                  <p:stCondLst>
                                    <p:cond delay="156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450"/>
                                        <p:tgtEl>
                                          <p:spTgt spid="24"/>
                                        </p:tgtEl>
                                      </p:cBhvr>
                                    </p:animEffect>
                                  </p:childTnLst>
                                </p:cTn>
                              </p:par>
                              <p:par>
                                <p:cTn id="45" presetID="10" presetClass="entr" presetSubtype="0" fill="hold" grpId="0" nodeType="withEffect">
                                  <p:stCondLst>
                                    <p:cond delay="168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par>
                                <p:cTn id="48" presetID="10" presetClass="entr" presetSubtype="0" fill="hold" grpId="0" nodeType="withEffect">
                                  <p:stCondLst>
                                    <p:cond delay="180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450"/>
                                        <p:tgtEl>
                                          <p:spTgt spid="26"/>
                                        </p:tgtEl>
                                      </p:cBhvr>
                                    </p:animEffect>
                                  </p:childTnLst>
                                </p:cTn>
                              </p:par>
                              <p:par>
                                <p:cTn id="51" presetID="10" presetClass="entr" presetSubtype="0" fill="hold" grpId="0" nodeType="withEffect">
                                  <p:stCondLst>
                                    <p:cond delay="192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450"/>
                                        <p:tgtEl>
                                          <p:spTgt spid="27"/>
                                        </p:tgtEl>
                                      </p:cBhvr>
                                    </p:animEffect>
                                  </p:childTnLst>
                                </p:cTn>
                              </p:par>
                              <p:par>
                                <p:cTn id="54" presetID="10" presetClass="entr" presetSubtype="0" fill="hold" grpId="0" nodeType="withEffect">
                                  <p:stCondLst>
                                    <p:cond delay="204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450"/>
                                        <p:tgtEl>
                                          <p:spTgt spid="28"/>
                                        </p:tgtEl>
                                      </p:cBhvr>
                                    </p:animEffect>
                                  </p:childTnLst>
                                </p:cTn>
                              </p:par>
                              <p:par>
                                <p:cTn id="57" presetID="10" presetClass="entr" presetSubtype="0" fill="hold" grpId="0" nodeType="withEffect">
                                  <p:stCondLst>
                                    <p:cond delay="216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450"/>
                                        <p:tgtEl>
                                          <p:spTgt spid="29"/>
                                        </p:tgtEl>
                                      </p:cBhvr>
                                    </p:animEffect>
                                  </p:childTnLst>
                                </p:cTn>
                              </p:par>
                              <p:par>
                                <p:cTn id="60" presetID="10" presetClass="entr" presetSubtype="0" fill="hold" grpId="0" nodeType="withEffect">
                                  <p:stCondLst>
                                    <p:cond delay="228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50"/>
                                        <p:tgtEl>
                                          <p:spTgt spid="30"/>
                                        </p:tgtEl>
                                      </p:cBhvr>
                                    </p:animEffect>
                                  </p:childTnLst>
                                </p:cTn>
                              </p:par>
                              <p:par>
                                <p:cTn id="63" presetID="10" presetClass="entr" presetSubtype="0" fill="hold" grpId="0" nodeType="withEffect">
                                  <p:stCondLst>
                                    <p:cond delay="240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50"/>
                                        <p:tgtEl>
                                          <p:spTgt spid="31"/>
                                        </p:tgtEl>
                                      </p:cBhvr>
                                    </p:animEffect>
                                  </p:childTnLst>
                                </p:cTn>
                              </p:par>
                              <p:par>
                                <p:cTn id="66" presetID="10" presetClass="entr" presetSubtype="0" fill="hold" grpId="0" nodeType="withEffect">
                                  <p:stCondLst>
                                    <p:cond delay="252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50"/>
                                        <p:tgtEl>
                                          <p:spTgt spid="32"/>
                                        </p:tgtEl>
                                      </p:cBhvr>
                                    </p:animEffect>
                                  </p:childTnLst>
                                </p:cTn>
                              </p:par>
                              <p:par>
                                <p:cTn id="69" presetID="10" presetClass="entr" presetSubtype="0" fill="hold" grpId="0" nodeType="withEffect">
                                  <p:stCondLst>
                                    <p:cond delay="264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450"/>
                                        <p:tgtEl>
                                          <p:spTgt spid="33"/>
                                        </p:tgtEl>
                                      </p:cBhvr>
                                    </p:animEffect>
                                  </p:childTnLst>
                                </p:cTn>
                              </p:par>
                            </p:childTnLst>
                          </p:cTn>
                        </p:par>
                      </p:childTnLst>
                    </p:cTn>
                  </p:par>
                  <p:par>
                    <p:cTn id="110" fill="hold">
                      <p:stCondLst>
                        <p:cond delay="indefinite"/>
                      </p:stCondLst>
                      <p:childTnLst>
                        <p:par>
                          <p:cTn id="111"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450"/>
                                        <p:tgtEl>
                                          <p:spTgt spid="34"/>
                                        </p:tgtEl>
                                      </p:cBhvr>
                                    </p:animEffect>
                                  </p:childTnLst>
                                </p:cTn>
                              </p:par>
                              <p:par>
                                <p:cTn id="77" presetID="10" presetClass="entr" presetSubtype="0" fill="hold" grpId="0" nodeType="withEffect">
                                  <p:stCondLst>
                                    <p:cond delay="120"/>
                                  </p:stCondLst>
                                  <p:childTnLst>
                                    <p:set>
                                      <p:cBhvr>
                                        <p:cTn id="78" dur="1" fill="hold">
                                          <p:stCondLst>
                                            <p:cond delay="0"/>
                                          </p:stCondLst>
                                        </p:cTn>
                                        <p:tgtEl>
                                          <p:spTgt spid="35"/>
                                        </p:tgtEl>
                                        <p:attrNameLst>
                                          <p:attrName>style.visibility</p:attrName>
                                        </p:attrNameLst>
                                      </p:cBhvr>
                                      <p:to>
                                        <p:strVal val="visible"/>
                                      </p:to>
                                    </p:set>
                                    <p:animEffect transition="in" filter="fade">
                                      <p:cBhvr>
                                        <p:cTn id="79" dur="450"/>
                                        <p:tgtEl>
                                          <p:spTgt spid="35"/>
                                        </p:tgtEl>
                                      </p:cBhvr>
                                    </p:animEffect>
                                  </p:childTnLst>
                                </p:cTn>
                              </p:par>
                              <p:par>
                                <p:cTn id="80" presetID="10" presetClass="entr" presetSubtype="0" fill="hold" grpId="0" nodeType="withEffect">
                                  <p:stCondLst>
                                    <p:cond delay="240"/>
                                  </p:stCondLst>
                                  <p:childTnLst>
                                    <p:set>
                                      <p:cBhvr>
                                        <p:cTn id="81" dur="1" fill="hold">
                                          <p:stCondLst>
                                            <p:cond delay="0"/>
                                          </p:stCondLst>
                                        </p:cTn>
                                        <p:tgtEl>
                                          <p:spTgt spid="36"/>
                                        </p:tgtEl>
                                        <p:attrNameLst>
                                          <p:attrName>style.visibility</p:attrName>
                                        </p:attrNameLst>
                                      </p:cBhvr>
                                      <p:to>
                                        <p:strVal val="visible"/>
                                      </p:to>
                                    </p:set>
                                    <p:animEffect transition="in" filter="fade">
                                      <p:cBhvr>
                                        <p:cTn id="82" dur="450"/>
                                        <p:tgtEl>
                                          <p:spTgt spid="36"/>
                                        </p:tgtEl>
                                      </p:cBhvr>
                                    </p:animEffect>
                                  </p:childTnLst>
                                </p:cTn>
                              </p:par>
                              <p:par>
                                <p:cTn id="83" presetID="10" presetClass="entr" presetSubtype="0" fill="hold" grpId="0" nodeType="withEffect">
                                  <p:stCondLst>
                                    <p:cond delay="360"/>
                                  </p:stCondLst>
                                  <p:childTnLst>
                                    <p:set>
                                      <p:cBhvr>
                                        <p:cTn id="84" dur="1" fill="hold">
                                          <p:stCondLst>
                                            <p:cond delay="0"/>
                                          </p:stCondLst>
                                        </p:cTn>
                                        <p:tgtEl>
                                          <p:spTgt spid="37"/>
                                        </p:tgtEl>
                                        <p:attrNameLst>
                                          <p:attrName>style.visibility</p:attrName>
                                        </p:attrNameLst>
                                      </p:cBhvr>
                                      <p:to>
                                        <p:strVal val="visible"/>
                                      </p:to>
                                    </p:set>
                                    <p:animEffect transition="in" filter="fade">
                                      <p:cBhvr>
                                        <p:cTn id="85" dur="450"/>
                                        <p:tgtEl>
                                          <p:spTgt spid="37"/>
                                        </p:tgtEl>
                                      </p:cBhvr>
                                    </p:animEffect>
                                  </p:childTnLst>
                                </p:cTn>
                              </p:par>
                              <p:par>
                                <p:cTn id="86" presetID="10" presetClass="entr" presetSubtype="0" fill="hold" grpId="0" nodeType="withEffect">
                                  <p:stCondLst>
                                    <p:cond delay="480"/>
                                  </p:stCondLst>
                                  <p:childTnLst>
                                    <p:set>
                                      <p:cBhvr>
                                        <p:cTn id="87" dur="1" fill="hold">
                                          <p:stCondLst>
                                            <p:cond delay="0"/>
                                          </p:stCondLst>
                                        </p:cTn>
                                        <p:tgtEl>
                                          <p:spTgt spid="38"/>
                                        </p:tgtEl>
                                        <p:attrNameLst>
                                          <p:attrName>style.visibility</p:attrName>
                                        </p:attrNameLst>
                                      </p:cBhvr>
                                      <p:to>
                                        <p:strVal val="visible"/>
                                      </p:to>
                                    </p:set>
                                    <p:animEffect transition="in" filter="fade">
                                      <p:cBhvr>
                                        <p:cTn id="88" dur="450"/>
                                        <p:tgtEl>
                                          <p:spTgt spid="38"/>
                                        </p:tgtEl>
                                      </p:cBhvr>
                                    </p:animEffect>
                                  </p:childTnLst>
                                </p:cTn>
                              </p:par>
                              <p:par>
                                <p:cTn id="89" presetID="10" presetClass="entr" presetSubtype="0" fill="hold" grpId="0" nodeType="withEffect">
                                  <p:stCondLst>
                                    <p:cond delay="600"/>
                                  </p:stCondLst>
                                  <p:childTnLst>
                                    <p:set>
                                      <p:cBhvr>
                                        <p:cTn id="90" dur="1" fill="hold">
                                          <p:stCondLst>
                                            <p:cond delay="0"/>
                                          </p:stCondLst>
                                        </p:cTn>
                                        <p:tgtEl>
                                          <p:spTgt spid="39"/>
                                        </p:tgtEl>
                                        <p:attrNameLst>
                                          <p:attrName>style.visibility</p:attrName>
                                        </p:attrNameLst>
                                      </p:cBhvr>
                                      <p:to>
                                        <p:strVal val="visible"/>
                                      </p:to>
                                    </p:set>
                                    <p:animEffect transition="in" filter="fade">
                                      <p:cBhvr>
                                        <p:cTn id="91" dur="450"/>
                                        <p:tgtEl>
                                          <p:spTgt spid="39"/>
                                        </p:tgtEl>
                                      </p:cBhvr>
                                    </p:animEffect>
                                  </p:childTnLst>
                                </p:cTn>
                              </p:par>
                              <p:par>
                                <p:cTn id="92" presetID="10" presetClass="entr" presetSubtype="0" fill="hold" grpId="0" nodeType="withEffect">
                                  <p:stCondLst>
                                    <p:cond delay="720"/>
                                  </p:stCondLst>
                                  <p:childTnLst>
                                    <p:set>
                                      <p:cBhvr>
                                        <p:cTn id="93" dur="1" fill="hold">
                                          <p:stCondLst>
                                            <p:cond delay="0"/>
                                          </p:stCondLst>
                                        </p:cTn>
                                        <p:tgtEl>
                                          <p:spTgt spid="40"/>
                                        </p:tgtEl>
                                        <p:attrNameLst>
                                          <p:attrName>style.visibility</p:attrName>
                                        </p:attrNameLst>
                                      </p:cBhvr>
                                      <p:to>
                                        <p:strVal val="visible"/>
                                      </p:to>
                                    </p:set>
                                    <p:animEffect transition="in" filter="fade">
                                      <p:cBhvr>
                                        <p:cTn id="94" dur="450"/>
                                        <p:tgtEl>
                                          <p:spTgt spid="40"/>
                                        </p:tgtEl>
                                      </p:cBhvr>
                                    </p:animEffect>
                                  </p:childTnLst>
                                </p:cTn>
                              </p:par>
                              <p:par>
                                <p:cTn id="95" presetID="10" presetClass="entr" presetSubtype="0" fill="hold" grpId="0" nodeType="withEffect">
                                  <p:stCondLst>
                                    <p:cond delay="840"/>
                                  </p:stCondLst>
                                  <p:childTnLst>
                                    <p:set>
                                      <p:cBhvr>
                                        <p:cTn id="96" dur="1" fill="hold">
                                          <p:stCondLst>
                                            <p:cond delay="0"/>
                                          </p:stCondLst>
                                        </p:cTn>
                                        <p:tgtEl>
                                          <p:spTgt spid="41"/>
                                        </p:tgtEl>
                                        <p:attrNameLst>
                                          <p:attrName>style.visibility</p:attrName>
                                        </p:attrNameLst>
                                      </p:cBhvr>
                                      <p:to>
                                        <p:strVal val="visible"/>
                                      </p:to>
                                    </p:set>
                                    <p:animEffect transition="in" filter="fade">
                                      <p:cBhvr>
                                        <p:cTn id="97" dur="450"/>
                                        <p:tgtEl>
                                          <p:spTgt spid="41"/>
                                        </p:tgtEl>
                                      </p:cBhvr>
                                    </p:animEffect>
                                  </p:childTnLst>
                                </p:cTn>
                              </p:par>
                              <p:par>
                                <p:cTn id="98" presetID="10" presetClass="entr" presetSubtype="0" fill="hold" grpId="0" nodeType="withEffect">
                                  <p:stCondLst>
                                    <p:cond delay="960"/>
                                  </p:stCondLst>
                                  <p:childTnLst>
                                    <p:set>
                                      <p:cBhvr>
                                        <p:cTn id="99" dur="1" fill="hold">
                                          <p:stCondLst>
                                            <p:cond delay="0"/>
                                          </p:stCondLst>
                                        </p:cTn>
                                        <p:tgtEl>
                                          <p:spTgt spid="42"/>
                                        </p:tgtEl>
                                        <p:attrNameLst>
                                          <p:attrName>style.visibility</p:attrName>
                                        </p:attrNameLst>
                                      </p:cBhvr>
                                      <p:to>
                                        <p:strVal val="visible"/>
                                      </p:to>
                                    </p:set>
                                    <p:animEffect transition="in" filter="fade">
                                      <p:cBhvr>
                                        <p:cTn id="100" dur="450"/>
                                        <p:tgtEl>
                                          <p:spTgt spid="42"/>
                                        </p:tgtEl>
                                      </p:cBhvr>
                                    </p:animEffect>
                                  </p:childTnLst>
                                </p:cTn>
                              </p:par>
                              <p:par>
                                <p:cTn id="101" presetID="10" presetClass="entr" presetSubtype="0" fill="hold" grpId="0" nodeType="withEffect">
                                  <p:stCondLst>
                                    <p:cond delay="108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3" dur="450"/>
                                        <p:tgtEl>
                                          <p:spTgt spid="43"/>
                                        </p:tgtEl>
                                      </p:cBhvr>
                                    </p:animEffect>
                                  </p:childTnLst>
                                </p:cTn>
                              </p:par>
                              <p:par>
                                <p:cTn id="104" presetID="10" presetClass="entr" presetSubtype="0" fill="hold" grpId="0" nodeType="withEffect">
                                  <p:stCondLst>
                                    <p:cond delay="120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450"/>
                                        <p:tgtEl>
                                          <p:spTgt spid="44"/>
                                        </p:tgtEl>
                                      </p:cBhvr>
                                    </p:animEffect>
                                  </p:childTnLst>
                                </p:cTn>
                              </p:par>
                              <p:par>
                                <p:cTn id="107" presetID="10" presetClass="entr" presetSubtype="0" fill="hold" grpId="0" nodeType="withEffect">
                                  <p:stCondLst>
                                    <p:cond delay="1320"/>
                                  </p:stCondLst>
                                  <p:childTnLst>
                                    <p:set>
                                      <p:cBhvr>
                                        <p:cTn id="108" dur="1" fill="hold">
                                          <p:stCondLst>
                                            <p:cond delay="0"/>
                                          </p:stCondLst>
                                        </p:cTn>
                                        <p:tgtEl>
                                          <p:spTgt spid="45"/>
                                        </p:tgtEl>
                                        <p:attrNameLst>
                                          <p:attrName>style.visibility</p:attrName>
                                        </p:attrNameLst>
                                      </p:cBhvr>
                                      <p:to>
                                        <p:strVal val="visible"/>
                                      </p:to>
                                    </p:set>
                                    <p:animEffect transition="in" filter="fade">
                                      <p:cBhvr>
                                        <p:cTn id="109" dur="4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9654"/>
        </a:solidFill>
        <a:effectLst/>
      </p:bgPr>
    </p:bg>
    <p:spTree>
      <p:nvGrpSpPr>
        <p:cNvPr id="1" name=""/>
        <p:cNvGrpSpPr/>
        <p:nvPr/>
      </p:nvGrpSpPr>
      <p:grpSpPr/>
      <p:pic>
        <p:nvPicPr>
          <p:cNvPr id="2" name="Picture 1" descr="motif_009654_4.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566928" y="1097280"/>
            <a:ext cx="59436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68680" y="1371600"/>
            <a:ext cx="5394960" cy="914400"/>
          </a:xfrm>
          <a:prstGeom prst="rect">
            <a:avLst/>
          </a:prstGeom>
          <a:noFill/>
        </p:spPr>
        <p:txBody>
          <a:bodyPr wrap="square" lIns="0" rIns="0" tIns="0" bIns="0" anchor="ctr">
            <a:spAutoFit/>
          </a:bodyPr>
          <a:lstStyle/>
          <a:p>
            <a:pPr algn="l"/>
            <a:r>
              <a:rPr sz="3400" b="1" i="0" spc="300">
                <a:solidFill>
                  <a:srgbClr val="009654"/>
                </a:solidFill>
                <a:latin typeface="Arial"/>
                <a:ea typeface="Arial"/>
                <a:cs typeface="Arial"/>
              </a:rPr>
              <a:t>MERCI</a:t>
            </a:r>
          </a:p>
        </p:txBody>
      </p:sp>
      <p:sp>
        <p:nvSpPr>
          <p:cNvPr id="5" name="Rectangle 4"/>
          <p:cNvSpPr/>
          <p:nvPr/>
        </p:nvSpPr>
        <p:spPr>
          <a:xfrm>
            <a:off x="868680" y="2377440"/>
            <a:ext cx="1371600" cy="45720"/>
          </a:xfrm>
          <a:prstGeom prst="rect">
            <a:avLst/>
          </a:prstGeom>
          <a:solidFill>
            <a:srgbClr val="FDB8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68680" y="2560320"/>
            <a:ext cx="5120640" cy="777240"/>
          </a:xfrm>
          <a:prstGeom prst="rect">
            <a:avLst/>
          </a:prstGeom>
          <a:noFill/>
        </p:spPr>
        <p:txBody>
          <a:bodyPr wrap="square" lIns="0" rIns="0" tIns="0" bIns="0" anchor="t">
            <a:spAutoFit/>
          </a:bodyPr>
          <a:lstStyle/>
          <a:p>
            <a:pPr algn="l">
              <a:lnSpc>
                <a:spcPct val="115000"/>
              </a:lnSpc>
              <a:spcAft>
                <a:spcPts val="500"/>
              </a:spcAft>
            </a:pPr>
            <a:r>
              <a:rPr sz="1100" b="0" i="0">
                <a:solidFill>
                  <a:srgbClr val="3A3A3A"/>
                </a:solidFill>
                <a:latin typeface="Arial"/>
                <a:ea typeface="Arial"/>
                <a:cs typeface="Arial"/>
              </a:rPr>
              <a:t>Place aux questions et à l'atelier pratique.</a:t>
            </a:r>
          </a:p>
          <a:p>
            <a:pPr algn="l">
              <a:lnSpc>
                <a:spcPct val="115000"/>
              </a:lnSpc>
              <a:spcAft>
                <a:spcPts val="500"/>
              </a:spcAft>
            </a:pPr>
            <a:r>
              <a:rPr sz="1100" b="0" i="0">
                <a:solidFill>
                  <a:srgbClr val="3A3A3A"/>
                </a:solidFill>
                <a:latin typeface="Arial"/>
                <a:ea typeface="Arial"/>
                <a:cs typeface="Arial"/>
              </a:rPr>
              <a:t>La qualité du référentiel client se construit dossier par dossier.</a:t>
            </a:r>
          </a:p>
        </p:txBody>
      </p:sp>
      <p:pic>
        <p:nvPicPr>
          <p:cNvPr id="7" name="Picture 6" descr="logo_couleur.png"/>
          <p:cNvPicPr>
            <a:picLocks noChangeAspect="1"/>
          </p:cNvPicPr>
          <p:nvPr/>
        </p:nvPicPr>
        <p:blipFill>
          <a:blip r:embed="rId3"/>
          <a:stretch>
            <a:fillRect/>
          </a:stretch>
        </p:blipFill>
        <p:spPr>
          <a:xfrm>
            <a:off x="868680" y="3035808"/>
            <a:ext cx="2194560" cy="420624"/>
          </a:xfrm>
          <a:prstGeom prst="rect">
            <a:avLst/>
          </a:prstGeom>
        </p:spPr>
      </p:pic>
      <p:sp>
        <p:nvSpPr>
          <p:cNvPr id="8" name="TextBox 7"/>
          <p:cNvSpPr txBox="1"/>
          <p:nvPr/>
        </p:nvSpPr>
        <p:spPr>
          <a:xfrm>
            <a:off x="3200400" y="4206240"/>
            <a:ext cx="5394960" cy="384048"/>
          </a:xfrm>
          <a:prstGeom prst="rect">
            <a:avLst/>
          </a:prstGeom>
          <a:noFill/>
        </p:spPr>
        <p:txBody>
          <a:bodyPr wrap="square" lIns="0" rIns="0" tIns="0" bIns="0" anchor="ctr">
            <a:spAutoFit/>
          </a:bodyPr>
          <a:lstStyle/>
          <a:p>
            <a:pPr algn="r"/>
            <a:r>
              <a:rPr sz="950" b="0" i="0">
                <a:solidFill>
                  <a:srgbClr val="CFE7DA"/>
                </a:solidFill>
                <a:latin typeface="Arial"/>
                <a:ea typeface="Arial"/>
                <a:cs typeface="Arial"/>
              </a:rPr>
              <a:t>Conformité BOA Group  |  Pôle Projet  —  10.09.2026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50"/>
                                        <p:tgtEl>
                                          <p:spTgt spid="3"/>
                                        </p:tgtEl>
                                      </p:cBhvr>
                                    </p:animEffect>
                                  </p:childTnLst>
                                </p:cTn>
                              </p:par>
                              <p:par>
                                <p:cTn id="6" presetID="10" presetClass="entr" presetSubtype="0" fill="hold" grpId="0" nodeType="withEffect">
                                  <p:stCondLst>
                                    <p:cond delay="12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50"/>
                                        <p:tgtEl>
                                          <p:spTgt spid="4"/>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par>
                                <p:cTn id="14" presetID="10" presetClass="entr" presetSubtype="0" fill="hold" grpId="0" nodeType="withEffect">
                                  <p:stCondLst>
                                    <p:cond delay="12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50"/>
                                        <p:tgtEl>
                                          <p:spTgt spid="7"/>
                                        </p:tgtEl>
                                      </p:cBhvr>
                                    </p:animEffect>
                                  </p:childTnLst>
                                </p:cTn>
                              </p:par>
                              <p:par>
                                <p:cTn id="22" presetID="10" presetClass="entr" presetSubtype="0" fill="hold" grpId="0" nodeType="withEffect">
                                  <p:stCondLst>
                                    <p:cond delay="12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TotalTime>
  <Words>803</Words>
  <Application>Microsoft Office PowerPoint</Application>
  <PresentationFormat>Affichage à l'écran (16:9)</PresentationFormat>
  <Paragraphs>179</Paragraphs>
  <Slides>9</Slides>
  <Notes>9</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9</vt:i4>
      </vt:variant>
    </vt:vector>
  </HeadingPairs>
  <TitlesOfParts>
    <vt:vector size="12"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Screening KYC ID – Fiche Projet</dc:title>
  <dc:subject>PptxGenJS Presentation</dc:subject>
  <dc:creator>PptxGenJS</dc:creator>
  <cp:lastModifiedBy>Mamadou Fallou Sylla</cp:lastModifiedBy>
  <cp:revision>2</cp:revision>
  <dcterms:created xsi:type="dcterms:W3CDTF">2026-05-21T14:51:05Z</dcterms:created>
  <dcterms:modified xsi:type="dcterms:W3CDTF">2026-06-10T16:05:49Z</dcterms:modified>
</cp:coreProperties>
</file>