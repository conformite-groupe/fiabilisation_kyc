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97" r:id="rId2"/>
    <p:sldId id="39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1-0BCF-4100-BB08-DA8D2FA820DB}"/>
              </c:ext>
            </c:extLst>
          </c:dPt>
          <c:dPt>
            <c:idx val="1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0BCF-4100-BB08-DA8D2FA820DB}"/>
              </c:ext>
            </c:extLst>
          </c:dPt>
          <c:dPt>
            <c:idx val="2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5-0BCF-4100-BB08-DA8D2FA820DB}"/>
              </c:ext>
            </c:extLst>
          </c:dPt>
          <c:dPt>
            <c:idx val="3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7-0BCF-4100-BB08-DA8D2FA820DB}"/>
              </c:ext>
            </c:extLst>
          </c:dPt>
          <c:dPt>
            <c:idx val="4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9-0BCF-4100-BB08-DA8D2FA820DB}"/>
              </c:ext>
            </c:extLst>
          </c:dPt>
          <c:dPt>
            <c:idx val="5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B-0BCF-4100-BB08-DA8D2FA820DB}"/>
              </c:ext>
            </c:extLst>
          </c:dPt>
          <c:dPt>
            <c:idx val="6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D-0BCF-4100-BB08-DA8D2FA820DB}"/>
              </c:ext>
            </c:extLst>
          </c:dPt>
          <c:dPt>
            <c:idx val="7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F-0BCF-4100-BB08-DA8D2FA820DB}"/>
              </c:ext>
            </c:extLst>
          </c:dPt>
          <c:dPt>
            <c:idx val="8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11-0BCF-4100-BB08-DA8D2FA820DB}"/>
              </c:ext>
            </c:extLst>
          </c:dPt>
          <c:dPt>
            <c:idx val="9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13-0BCF-4100-BB08-DA8D2FA820DB}"/>
              </c:ext>
            </c:extLst>
          </c:dPt>
          <c:dPt>
            <c:idx val="10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15-0BCF-4100-BB08-DA8D2FA820D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  <c:pt idx="4">
                  <c:v>Date de validité CIN</c:v>
                </c:pt>
                <c:pt idx="5">
                  <c:v>Origine du revenu</c:v>
                </c:pt>
                <c:pt idx="6">
                  <c:v>Lieu de naissance</c:v>
                </c:pt>
                <c:pt idx="7">
                  <c:v>Profession</c:v>
                </c:pt>
                <c:pt idx="8">
                  <c:v>Code agent économique</c:v>
                </c:pt>
                <c:pt idx="9">
                  <c:v>Date de naissance</c:v>
                </c:pt>
                <c:pt idx="10">
                  <c:v>Pays de résidence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91</c:v>
                </c:pt>
                <c:pt idx="1">
                  <c:v>98</c:v>
                </c:pt>
                <c:pt idx="2">
                  <c:v>99</c:v>
                </c:pt>
                <c:pt idx="3">
                  <c:v>99</c:v>
                </c:pt>
                <c:pt idx="4">
                  <c:v>99</c:v>
                </c:pt>
                <c:pt idx="5">
                  <c:v>99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0BCF-4100-BB08-DA8D2FA820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1-929C-4968-A8D5-8BB4D3FAB44A}"/>
              </c:ext>
            </c:extLst>
          </c:dPt>
          <c:dPt>
            <c:idx val="1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3-929C-4968-A8D5-8BB4D3FAB44A}"/>
              </c:ext>
            </c:extLst>
          </c:dPt>
          <c:dPt>
            <c:idx val="2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929C-4968-A8D5-8BB4D3FAB44A}"/>
              </c:ext>
            </c:extLst>
          </c:dPt>
          <c:dPt>
            <c:idx val="3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7-929C-4968-A8D5-8BB4D3FAB44A}"/>
              </c:ext>
            </c:extLst>
          </c:dPt>
          <c:dPt>
            <c:idx val="4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9-929C-4968-A8D5-8BB4D3FAB44A}"/>
              </c:ext>
            </c:extLst>
          </c:dPt>
          <c:dPt>
            <c:idx val="5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B-929C-4968-A8D5-8BB4D3FAB44A}"/>
              </c:ext>
            </c:extLst>
          </c:dPt>
          <c:dPt>
            <c:idx val="6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D-929C-4968-A8D5-8BB4D3FAB44A}"/>
              </c:ext>
            </c:extLst>
          </c:dPt>
          <c:dPt>
            <c:idx val="7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F-929C-4968-A8D5-8BB4D3FAB44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  <c:pt idx="4">
                  <c:v>Téléphone</c:v>
                </c:pt>
                <c:pt idx="5">
                  <c:v>Secteur d'activité</c:v>
                </c:pt>
                <c:pt idx="6">
                  <c:v>Code agent économique</c:v>
                </c:pt>
                <c:pt idx="7">
                  <c:v>Origine du revenu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  <c:pt idx="4">
                  <c:v>93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29C-4968-A8D5-8BB4D3FAB4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1-5ED5-4C30-9A50-BADC5D974BF7}"/>
              </c:ext>
            </c:extLst>
          </c:dPt>
          <c:dPt>
            <c:idx val="1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3-5ED5-4C30-9A50-BADC5D974BF7}"/>
              </c:ext>
            </c:extLst>
          </c:dPt>
          <c:dPt>
            <c:idx val="2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5-5ED5-4C30-9A50-BADC5D974BF7}"/>
              </c:ext>
            </c:extLst>
          </c:dPt>
          <c:dPt>
            <c:idx val="3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7-5ED5-4C30-9A50-BADC5D974BF7}"/>
              </c:ext>
            </c:extLst>
          </c:dPt>
          <c:dPt>
            <c:idx val="4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9-5ED5-4C30-9A50-BADC5D974B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Date de révision KYC</c:v>
                </c:pt>
                <c:pt idx="1">
                  <c:v>Document d'identité </c:v>
                </c:pt>
                <c:pt idx="2">
                  <c:v>Pièce d'identité exp</c:v>
                </c:pt>
                <c:pt idx="3">
                  <c:v>Risque élevé sans ré</c:v>
                </c:pt>
                <c:pt idx="4">
                  <c:v>Non-résident sans bo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151528</c:v>
                </c:pt>
                <c:pt idx="1">
                  <c:v>87192</c:v>
                </c:pt>
                <c:pt idx="2">
                  <c:v>87192</c:v>
                </c:pt>
                <c:pt idx="3">
                  <c:v>5872</c:v>
                </c:pt>
                <c:pt idx="4">
                  <c:v>2754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ED5-4C30-9A50-BADC5D974B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1-17EE-496E-A3E3-13471BDF1E6D}"/>
              </c:ext>
            </c:extLst>
          </c:dPt>
          <c:dPt>
            <c:idx val="1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3-17EE-496E-A3E3-13471BDF1E6D}"/>
              </c:ext>
            </c:extLst>
          </c:dPt>
          <c:dPt>
            <c:idx val="2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5-17EE-496E-A3E3-13471BDF1E6D}"/>
              </c:ext>
            </c:extLst>
          </c:dPt>
          <c:dPt>
            <c:idx val="3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7-17EE-496E-A3E3-13471BDF1E6D}"/>
              </c:ext>
            </c:extLst>
          </c:dPt>
          <c:dPt>
            <c:idx val="4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9-17EE-496E-A3E3-13471BDF1E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 positif mais résu</c:v>
                </c:pt>
                <c:pt idx="1">
                  <c:v>Société avec capital</c:v>
                </c:pt>
                <c:pt idx="2">
                  <c:v>RCS renseigné mais s</c:v>
                </c:pt>
                <c:pt idx="3">
                  <c:v>Capital social nul</c:v>
                </c:pt>
                <c:pt idx="4">
                  <c:v>Format téléphone inv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10877</c:v>
                </c:pt>
                <c:pt idx="1">
                  <c:v>9144</c:v>
                </c:pt>
                <c:pt idx="2">
                  <c:v>4228</c:v>
                </c:pt>
                <c:pt idx="3">
                  <c:v>2064</c:v>
                </c:pt>
                <c:pt idx="4">
                  <c:v>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7EE-496E-A3E3-13471BDF1E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009A5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210</c:v>
                </c:pt>
                <c:pt idx="2">
                  <c:v>9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7DC-4539-B7F0-DEDC6E79D7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70AD47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</c:v>
                </c:pt>
                <c:pt idx="1">
                  <c:v>95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7DC-4539-B7F0-DEDC6E79D7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98</c:v>
                </c:pt>
                <c:pt idx="2">
                  <c:v>99</c:v>
                </c:pt>
                <c:pt idx="3">
                  <c:v>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6A-43A6-AED0-0B7FBCFD1B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</c:v>
                </c:pt>
              </c:strCache>
            </c:strRef>
          </c:tx>
          <c:spPr>
            <a:solidFill>
              <a:srgbClr val="1B2A4A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B6A-43A6-AED0-0B7FBCFD1B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70</c:v>
                </c:pt>
                <c:pt idx="1">
                  <c:v>80</c:v>
                </c:pt>
                <c:pt idx="2">
                  <c:v>99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B6A-43A6-AED0-0B7FBCFD1B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D32F2F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44</c:v>
                </c:pt>
                <c:pt idx="1">
                  <c:v>98</c:v>
                </c:pt>
                <c:pt idx="2">
                  <c:v>100</c:v>
                </c:pt>
                <c:pt idx="3">
                  <c:v>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4B6A-43A6-AED0-0B7FBCFD1B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E45-45AD-8F69-DDF67B0765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1B2A4A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70</c:v>
                </c:pt>
                <c:pt idx="2">
                  <c:v>82</c:v>
                </c:pt>
                <c:pt idx="3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E45-45AD-8F69-DDF67B0765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91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E45-45AD-8F69-DDF67B0765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90C-4BCB-98E4-0E662BE31535}"/>
              </c:ext>
            </c:extLst>
          </c:dPt>
          <c:dPt>
            <c:idx val="1"/>
            <c:bubble3D val="0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90C-4BCB-98E4-0E662BE31535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90C-4BCB-98E4-0E662BE31535}"/>
              </c:ext>
            </c:extLst>
          </c:dPt>
          <c:dPt>
            <c:idx val="3"/>
            <c:bubble3D val="0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A90C-4BCB-98E4-0E662BE31535}"/>
              </c:ext>
            </c:extLst>
          </c:dPt>
          <c:dPt>
            <c:idx val="4"/>
            <c:bubble3D val="0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A90C-4BCB-98E4-0E662BE31535}"/>
              </c:ext>
            </c:extLst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366383</c:v>
                </c:pt>
                <c:pt idx="2">
                  <c:v>1789</c:v>
                </c:pt>
                <c:pt idx="3">
                  <c:v>13256</c:v>
                </c:pt>
                <c:pt idx="4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90C-4BCB-98E4-0E662BE31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 lang="fr-F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C5-4F6F-89CE-FEC48A204DB9}"/>
              </c:ext>
            </c:extLst>
          </c:dPt>
          <c:dPt>
            <c:idx val="1"/>
            <c:bubble3D val="0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C5-4F6F-89CE-FEC48A204DB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C5-4F6F-89CE-FEC48A204DB9}"/>
              </c:ext>
            </c:extLst>
          </c:dPt>
          <c:dPt>
            <c:idx val="3"/>
            <c:bubble3D val="0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5C5-4F6F-89CE-FEC48A204DB9}"/>
              </c:ext>
            </c:extLst>
          </c:dPt>
          <c:dPt>
            <c:idx val="4"/>
            <c:bubble3D val="0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5C5-4F6F-89CE-FEC48A204DB9}"/>
              </c:ext>
            </c:extLst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12264</c:v>
                </c:pt>
                <c:pt idx="2">
                  <c:v>2174</c:v>
                </c:pt>
                <c:pt idx="3">
                  <c:v>1201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5C5-4F6F-89CE-FEC48A204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 lang="fr-F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009A5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151528</c:v>
                </c:pt>
                <c:pt idx="1">
                  <c:v>30550</c:v>
                </c:pt>
                <c:pt idx="2">
                  <c:v>58150</c:v>
                </c:pt>
                <c:pt idx="3">
                  <c:v>49165</c:v>
                </c:pt>
                <c:pt idx="4">
                  <c:v>20045</c:v>
                </c:pt>
                <c:pt idx="5">
                  <c:v>72042</c:v>
                </c:pt>
                <c:pt idx="6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96-4799-AFEB-9674AAD25E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571</c:v>
                </c:pt>
                <c:pt idx="1">
                  <c:v>10537</c:v>
                </c:pt>
                <c:pt idx="2">
                  <c:v>259</c:v>
                </c:pt>
                <c:pt idx="3">
                  <c:v>279</c:v>
                </c:pt>
                <c:pt idx="4">
                  <c:v>400</c:v>
                </c:pt>
                <c:pt idx="5">
                  <c:v>3627</c:v>
                </c:pt>
                <c:pt idx="6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696-4799-AFEB-9674AAD25E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C1B80-4C5A-4718-8992-38AAB2D4645A}" type="datetimeFigureOut">
              <a:rPr lang="fr-SN" smtClean="0"/>
              <a:t>30/07/2026</a:t>
            </a:fld>
            <a:endParaRPr lang="fr-S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S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6180E-16B7-414F-BAFB-535491D80053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340282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3EED-013D-069E-988C-1854D2EF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4DA2D-F9FF-1D8D-1C90-97C2A8ACB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6354C-DD71-6C82-2331-8335E7864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28EA-B4E8-5FB0-B080-260DCEAC7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7868-8A2C-7DCF-1C93-10AF9BE1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A9BEE-569B-91E6-50F2-CAB87CDB0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5BB04-820F-3D9E-1719-DB7EAAF78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8F25D-9084-0B6C-A91B-2F8D3ADC3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30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14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0E34-67AB-C12D-65A2-124EAE17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>
            <a:extLst>
              <a:ext uri="{FF2B5EF4-FFF2-40B4-BE49-F238E27FC236}">
                <a16:creationId xmlns:a16="http://schemas.microsoft.com/office/drawing/2014/main" id="{6E440239-D600-13EE-BF1B-DA8311581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5339" cy="5143500"/>
          </a:xfrm>
          <a:prstGeom prst="rect">
            <a:avLst/>
          </a:prstGeom>
        </p:spPr>
      </p:pic>
      <p:pic>
        <p:nvPicPr>
          <p:cNvPr id="3" name="Image 19">
            <a:extLst>
              <a:ext uri="{FF2B5EF4-FFF2-40B4-BE49-F238E27FC236}">
                <a16:creationId xmlns:a16="http://schemas.microsoft.com/office/drawing/2014/main" id="{4465BC79-D697-0421-8D20-993873A82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1" y="0"/>
            <a:ext cx="6125339" cy="5143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F7C0FA78-1B32-705A-E7E0-5A3418AAD48B}"/>
              </a:ext>
            </a:extLst>
          </p:cNvPr>
          <p:cNvSpPr/>
          <p:nvPr/>
        </p:nvSpPr>
        <p:spPr>
          <a:xfrm>
            <a:off x="913829" y="1291592"/>
            <a:ext cx="7315200" cy="136364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fr-FR" sz="3200" b="1" dirty="0">
                <a:solidFill>
                  <a:srgbClr val="FFFFFF"/>
                </a:solidFill>
              </a:rPr>
              <a:t>AUDIT QUALITÉ ET COMPLÉTUDE DES DONNÉES KYC</a:t>
            </a:r>
          </a:p>
        </p:txBody>
      </p:sp>
      <p:pic>
        <p:nvPicPr>
          <p:cNvPr id="5" name="Image 25">
            <a:extLst>
              <a:ext uri="{FF2B5EF4-FFF2-40B4-BE49-F238E27FC236}">
                <a16:creationId xmlns:a16="http://schemas.microsoft.com/office/drawing/2014/main" id="{F2A8C500-3D88-8915-0A08-FDC4D8401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8" y="0"/>
            <a:ext cx="1829941" cy="445009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A857E414-623F-8B2C-EE2F-2C73DE611411}"/>
              </a:ext>
            </a:extLst>
          </p:cNvPr>
          <p:cNvSpPr/>
          <p:nvPr/>
        </p:nvSpPr>
        <p:spPr>
          <a:xfrm>
            <a:off x="913829" y="2902723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SN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5E82AD-9414-9783-CA14-EC4B7260339C}"/>
              </a:ext>
            </a:extLst>
          </p:cNvPr>
          <p:cNvSpPr/>
          <p:nvPr/>
        </p:nvSpPr>
        <p:spPr>
          <a:xfrm>
            <a:off x="913829" y="3578587"/>
            <a:ext cx="3657600" cy="457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B5C789-872A-DCA4-0A19-ED97F638DC92}"/>
              </a:ext>
            </a:extLst>
          </p:cNvPr>
          <p:cNvSpPr/>
          <p:nvPr/>
        </p:nvSpPr>
        <p:spPr>
          <a:xfrm>
            <a:off x="913829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au 29 juillet 2026  |  381 480 particuliers  |  15 674 entreprises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49BA5569-73C3-2056-7219-E1EC86136DA6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01D43CE4-DFE1-DBD4-F5E6-3CCEBB8F9508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34F6C0CF-C78A-8B92-3D78-CCE253E2CB1C}"/>
              </a:ext>
            </a:extLst>
          </p:cNvPr>
          <p:cNvSpPr txBox="1"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 err="1">
                <a:solidFill>
                  <a:srgbClr val="A0D4B8"/>
                </a:solidFill>
                <a:latin typeface="Calibri"/>
              </a:rPr>
              <a:t>Conformité</a:t>
            </a:r>
            <a:r>
              <a:rPr sz="800" b="0" i="0" dirty="0">
                <a:solidFill>
                  <a:srgbClr val="A0D4B8"/>
                </a:solidFill>
                <a:latin typeface="Calibri"/>
              </a:rPr>
              <a:t> BOA Group | </a:t>
            </a:r>
            <a:r>
              <a:rPr sz="800" b="0" i="0" dirty="0" err="1">
                <a:solidFill>
                  <a:srgbClr val="A0D4B8"/>
                </a:solidFill>
                <a:latin typeface="Calibri"/>
              </a:rPr>
              <a:t>Fiabilisation</a:t>
            </a:r>
            <a:r>
              <a:rPr sz="800" b="0" i="0" dirty="0">
                <a:solidFill>
                  <a:srgbClr val="A0D4B8"/>
                </a:solidFill>
                <a:latin typeface="Calibri"/>
              </a:rPr>
              <a:t> KYC</a:t>
            </a:r>
          </a:p>
        </p:txBody>
      </p:sp>
    </p:spTree>
    <p:extLst>
      <p:ext uri="{BB962C8B-B14F-4D97-AF65-F5344CB8AC3E}">
        <p14:creationId xmlns:p14="http://schemas.microsoft.com/office/powerpoint/2010/main" val="47878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1A75-52C5-1632-8D3E-84D5A2F2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9">
            <a:extLst>
              <a:ext uri="{FF2B5EF4-FFF2-40B4-BE49-F238E27FC236}">
                <a16:creationId xmlns:a16="http://schemas.microsoft.com/office/drawing/2014/main" id="{1CFA205C-92BB-D5AF-C944-7C9961763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96" y="0"/>
            <a:ext cx="4053803" cy="5143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1A9CAC39-60A3-8354-CCA2-2EC0DCA475F8}"/>
              </a:ext>
            </a:extLst>
          </p:cNvPr>
          <p:cNvSpPr/>
          <p:nvPr/>
        </p:nvSpPr>
        <p:spPr>
          <a:xfrm>
            <a:off x="313715" y="-88301"/>
            <a:ext cx="4625313" cy="136364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10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4800" dirty="0">
              <a:solidFill>
                <a:srgbClr val="009A56"/>
              </a:solidFill>
            </a:endParaRPr>
          </a:p>
        </p:txBody>
      </p:sp>
      <p:pic>
        <p:nvPicPr>
          <p:cNvPr id="4" name="Image 25">
            <a:extLst>
              <a:ext uri="{FF2B5EF4-FFF2-40B4-BE49-F238E27FC236}">
                <a16:creationId xmlns:a16="http://schemas.microsoft.com/office/drawing/2014/main" id="{84C0433A-0D55-9202-B55B-E831C4189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0"/>
            <a:ext cx="1829941" cy="445009"/>
          </a:xfrm>
          <a:prstGeom prst="rect">
            <a:avLst/>
          </a:prstGeom>
        </p:spPr>
      </p:pic>
      <p:sp>
        <p:nvSpPr>
          <p:cNvPr id="12" name="Shape 1">
            <a:extLst>
              <a:ext uri="{FF2B5EF4-FFF2-40B4-BE49-F238E27FC236}">
                <a16:creationId xmlns:a16="http://schemas.microsoft.com/office/drawing/2014/main" id="{CED87160-B53E-F1B6-4C34-08BB2801E4CD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1C713A2-F229-1FA0-D98A-28F112D7073A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4A8E5E-450D-3C54-D2B1-ED579EB60EB9}"/>
              </a:ext>
            </a:extLst>
          </p:cNvPr>
          <p:cNvSpPr/>
          <p:nvPr/>
        </p:nvSpPr>
        <p:spPr>
          <a:xfrm>
            <a:off x="182879" y="1446737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08EE52CA-E423-A784-DD40-0C3F796FC896}"/>
              </a:ext>
            </a:extLst>
          </p:cNvPr>
          <p:cNvSpPr txBox="1"/>
          <p:nvPr/>
        </p:nvSpPr>
        <p:spPr>
          <a:xfrm>
            <a:off x="320039" y="1478627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</a:t>
            </a:r>
          </a:p>
        </p:txBody>
      </p:sp>
      <p:sp>
        <p:nvSpPr>
          <p:cNvPr id="55" name="TextBox 7">
            <a:extLst>
              <a:ext uri="{FF2B5EF4-FFF2-40B4-BE49-F238E27FC236}">
                <a16:creationId xmlns:a16="http://schemas.microsoft.com/office/drawing/2014/main" id="{989A48A7-916A-0926-D0FA-F77ADC972484}"/>
              </a:ext>
            </a:extLst>
          </p:cNvPr>
          <p:cNvSpPr txBox="1"/>
          <p:nvPr/>
        </p:nvSpPr>
        <p:spPr>
          <a:xfrm>
            <a:off x="914399" y="1432461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SN" sz="1400" b="1" i="0" dirty="0">
                <a:solidFill>
                  <a:srgbClr val="1B2A4A"/>
                </a:solidFill>
                <a:latin typeface="Calibri"/>
              </a:rPr>
              <a:t>Périmètre et statistiques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98FB43-8E1B-0554-0CA8-0A41D6A41846}"/>
              </a:ext>
            </a:extLst>
          </p:cNvPr>
          <p:cNvSpPr/>
          <p:nvPr/>
        </p:nvSpPr>
        <p:spPr>
          <a:xfrm>
            <a:off x="182879" y="1830785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2E66FA2-D496-9836-9F41-3D2809385417}"/>
              </a:ext>
            </a:extLst>
          </p:cNvPr>
          <p:cNvSpPr/>
          <p:nvPr/>
        </p:nvSpPr>
        <p:spPr>
          <a:xfrm>
            <a:off x="182879" y="2013665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1380B89C-8560-DF29-B90B-2BE933FFB515}"/>
              </a:ext>
            </a:extLst>
          </p:cNvPr>
          <p:cNvSpPr txBox="1"/>
          <p:nvPr/>
        </p:nvSpPr>
        <p:spPr>
          <a:xfrm>
            <a:off x="320039" y="2045555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</a:t>
            </a:r>
          </a:p>
        </p:txBody>
      </p:sp>
      <p:sp>
        <p:nvSpPr>
          <p:cNvPr id="63" name="TextBox 11">
            <a:extLst>
              <a:ext uri="{FF2B5EF4-FFF2-40B4-BE49-F238E27FC236}">
                <a16:creationId xmlns:a16="http://schemas.microsoft.com/office/drawing/2014/main" id="{E43B07E2-7CAE-9C1F-FEE9-EDBBC8EF1180}"/>
              </a:ext>
            </a:extLst>
          </p:cNvPr>
          <p:cNvSpPr txBox="1"/>
          <p:nvPr/>
        </p:nvSpPr>
        <p:spPr>
          <a:xfrm>
            <a:off x="914399" y="1999389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Complétude des données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6C0F68C-D1F5-B7C1-DB46-24D64E6E0A6F}"/>
              </a:ext>
            </a:extLst>
          </p:cNvPr>
          <p:cNvSpPr/>
          <p:nvPr/>
        </p:nvSpPr>
        <p:spPr>
          <a:xfrm>
            <a:off x="182879" y="2397713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A5771D-06AE-0839-7A03-F313062852C6}"/>
              </a:ext>
            </a:extLst>
          </p:cNvPr>
          <p:cNvSpPr/>
          <p:nvPr/>
        </p:nvSpPr>
        <p:spPr>
          <a:xfrm>
            <a:off x="182879" y="2580593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794CD4B0-23E5-856E-A5E6-894B41FEEF31}"/>
              </a:ext>
            </a:extLst>
          </p:cNvPr>
          <p:cNvSpPr txBox="1"/>
          <p:nvPr/>
        </p:nvSpPr>
        <p:spPr>
          <a:xfrm>
            <a:off x="320039" y="2612483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III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6FCC7989-22CA-5567-1616-C8CF02C85261}"/>
              </a:ext>
            </a:extLst>
          </p:cNvPr>
          <p:cNvSpPr txBox="1"/>
          <p:nvPr/>
        </p:nvSpPr>
        <p:spPr>
          <a:xfrm>
            <a:off x="914399" y="2566317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Qualité des données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8A3AD81-1DC3-9EA0-EA28-0A838ECA09D9}"/>
              </a:ext>
            </a:extLst>
          </p:cNvPr>
          <p:cNvSpPr/>
          <p:nvPr/>
        </p:nvSpPr>
        <p:spPr>
          <a:xfrm>
            <a:off x="182879" y="2964641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B1E4DA5-D16B-196A-F5FB-0B771A2D46E4}"/>
              </a:ext>
            </a:extLst>
          </p:cNvPr>
          <p:cNvSpPr/>
          <p:nvPr/>
        </p:nvSpPr>
        <p:spPr>
          <a:xfrm>
            <a:off x="182879" y="3147521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18">
            <a:extLst>
              <a:ext uri="{FF2B5EF4-FFF2-40B4-BE49-F238E27FC236}">
                <a16:creationId xmlns:a16="http://schemas.microsoft.com/office/drawing/2014/main" id="{872755B3-3D5D-37B2-172C-59B81C5DD5C1}"/>
              </a:ext>
            </a:extLst>
          </p:cNvPr>
          <p:cNvSpPr txBox="1"/>
          <p:nvPr/>
        </p:nvSpPr>
        <p:spPr>
          <a:xfrm>
            <a:off x="320039" y="3179411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IV</a:t>
            </a:r>
          </a:p>
        </p:txBody>
      </p:sp>
      <p:sp>
        <p:nvSpPr>
          <p:cNvPr id="79" name="TextBox 19">
            <a:extLst>
              <a:ext uri="{FF2B5EF4-FFF2-40B4-BE49-F238E27FC236}">
                <a16:creationId xmlns:a16="http://schemas.microsoft.com/office/drawing/2014/main" id="{48D842F0-0D1F-1D91-5829-EC763AC4FC32}"/>
              </a:ext>
            </a:extLst>
          </p:cNvPr>
          <p:cNvSpPr txBox="1"/>
          <p:nvPr/>
        </p:nvSpPr>
        <p:spPr>
          <a:xfrm>
            <a:off x="914399" y="3133245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PPE, comptes en devise et non-résidents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1C1E434-FBD2-D42B-6788-660B98E68DA6}"/>
              </a:ext>
            </a:extLst>
          </p:cNvPr>
          <p:cNvSpPr/>
          <p:nvPr/>
        </p:nvSpPr>
        <p:spPr>
          <a:xfrm>
            <a:off x="182879" y="3531569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C252D2-C594-6A94-824C-15263C673C3C}"/>
              </a:ext>
            </a:extLst>
          </p:cNvPr>
          <p:cNvSpPr/>
          <p:nvPr/>
        </p:nvSpPr>
        <p:spPr>
          <a:xfrm>
            <a:off x="182879" y="3714449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F40CF104-2E76-E759-8BC4-2D7AAA2C69D4}"/>
              </a:ext>
            </a:extLst>
          </p:cNvPr>
          <p:cNvSpPr txBox="1"/>
          <p:nvPr/>
        </p:nvSpPr>
        <p:spPr>
          <a:xfrm>
            <a:off x="320039" y="3746339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</a:t>
            </a:r>
          </a:p>
        </p:txBody>
      </p:sp>
      <p:sp>
        <p:nvSpPr>
          <p:cNvPr id="87" name="TextBox 23">
            <a:extLst>
              <a:ext uri="{FF2B5EF4-FFF2-40B4-BE49-F238E27FC236}">
                <a16:creationId xmlns:a16="http://schemas.microsoft.com/office/drawing/2014/main" id="{CB64AFBB-2D25-2863-F687-A1484B8AB0C0}"/>
              </a:ext>
            </a:extLst>
          </p:cNvPr>
          <p:cNvSpPr txBox="1"/>
          <p:nvPr/>
        </p:nvSpPr>
        <p:spPr>
          <a:xfrm>
            <a:off x="914399" y="3700173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Revue Scoring AML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E07EF5E-B520-151B-3D65-AFAA55BC4C6A}"/>
              </a:ext>
            </a:extLst>
          </p:cNvPr>
          <p:cNvSpPr/>
          <p:nvPr/>
        </p:nvSpPr>
        <p:spPr>
          <a:xfrm>
            <a:off x="182879" y="4098497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8E767A6-F4B8-4190-49A7-04A96C3DC5CF}"/>
              </a:ext>
            </a:extLst>
          </p:cNvPr>
          <p:cNvSpPr/>
          <p:nvPr/>
        </p:nvSpPr>
        <p:spPr>
          <a:xfrm>
            <a:off x="182879" y="4281377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C5AC3566-BB2D-5B34-8F46-5B3F6C3C79B2}"/>
              </a:ext>
            </a:extLst>
          </p:cNvPr>
          <p:cNvSpPr txBox="1"/>
          <p:nvPr/>
        </p:nvSpPr>
        <p:spPr>
          <a:xfrm>
            <a:off x="320039" y="4313267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VI</a:t>
            </a:r>
          </a:p>
        </p:txBody>
      </p:sp>
      <p:sp>
        <p:nvSpPr>
          <p:cNvPr id="95" name="TextBox 27">
            <a:extLst>
              <a:ext uri="{FF2B5EF4-FFF2-40B4-BE49-F238E27FC236}">
                <a16:creationId xmlns:a16="http://schemas.microsoft.com/office/drawing/2014/main" id="{ACE401DE-5D06-0866-E9E1-8F84C6315EF5}"/>
              </a:ext>
            </a:extLst>
          </p:cNvPr>
          <p:cNvSpPr txBox="1"/>
          <p:nvPr/>
        </p:nvSpPr>
        <p:spPr>
          <a:xfrm>
            <a:off x="914399" y="4267101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 err="1">
                <a:solidFill>
                  <a:srgbClr val="1B2A4A"/>
                </a:solidFill>
                <a:latin typeface="Calibri"/>
              </a:rPr>
              <a:t>Synthèse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1DC3F49-D260-0C81-3A7F-78E3405F3DBC}"/>
              </a:ext>
            </a:extLst>
          </p:cNvPr>
          <p:cNvSpPr/>
          <p:nvPr/>
        </p:nvSpPr>
        <p:spPr>
          <a:xfrm>
            <a:off x="182879" y="4665425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092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44964"/>
            <a:ext cx="64008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Calibri"/>
              </a:rPr>
              <a:t>I.  PÉRIMÈTRE ET </a:t>
            </a:r>
            <a:r>
              <a:rPr lang="fr-FR" sz="1800" b="1" i="0" dirty="0">
                <a:solidFill>
                  <a:srgbClr val="FFFFFF"/>
                </a:solidFill>
                <a:latin typeface="Calibri"/>
              </a:rPr>
              <a:t>STATISTIQUES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09A56"/>
                </a:solidFill>
                <a:latin typeface="Calibri"/>
              </a:rPr>
              <a:t>SYNTHÈSE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03029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303029"/>
            <a:ext cx="2048256" cy="457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367037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Calibri"/>
              </a:rPr>
              <a:t>99 %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741941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915677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SN" sz="700" b="0" i="0" dirty="0">
                <a:solidFill>
                  <a:srgbClr val="666666"/>
                </a:solidFill>
                <a:latin typeface="Calibri"/>
              </a:rPr>
              <a:t>381 480 clients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303029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303029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367037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741941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915677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SN" sz="700" b="0" i="0" dirty="0">
                <a:solidFill>
                  <a:srgbClr val="666666"/>
                </a:solidFill>
                <a:latin typeface="Calibri"/>
              </a:rPr>
              <a:t>15 674 clients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303029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303029"/>
            <a:ext cx="2048256" cy="457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367037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Calibri"/>
              </a:rPr>
              <a:t>94.8 %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741941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915677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666666"/>
                </a:solidFill>
                <a:latin typeface="Calibri"/>
              </a:rPr>
              <a:t>17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règles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fr-FR" sz="700" dirty="0">
                <a:solidFill>
                  <a:srgbClr val="666666"/>
                </a:solidFill>
                <a:latin typeface="Calibri"/>
              </a:rPr>
              <a:t>de contrôle qualité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9983" y="1303029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303029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367037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741941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915677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700" dirty="0">
                <a:solidFill>
                  <a:srgbClr val="666666"/>
                </a:solidFill>
              </a:rPr>
              <a:t>12 règles de contrôle qualité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180853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2180853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2290581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229058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2290581"/>
            <a:ext cx="155448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 err="1">
                <a:latin typeface="Calibri"/>
              </a:rPr>
              <a:t>Complétude</a:t>
            </a:r>
            <a:r>
              <a:rPr sz="850" b="1" i="0" dirty="0">
                <a:latin typeface="Calibri"/>
              </a:rPr>
              <a:t> </a:t>
            </a:r>
            <a:r>
              <a:rPr sz="850" b="1" i="0" dirty="0" err="1">
                <a:latin typeface="Calibri"/>
              </a:rPr>
              <a:t>affichée</a:t>
            </a:r>
            <a:r>
              <a:rPr sz="850" b="1" i="0" dirty="0">
                <a:latin typeface="Calibri"/>
              </a:rPr>
              <a:t> et information </a:t>
            </a:r>
            <a:r>
              <a:rPr lang="fr-FR" sz="850" b="1" i="0" dirty="0">
                <a:latin typeface="Calibri"/>
              </a:rPr>
              <a:t>in</a:t>
            </a:r>
            <a:r>
              <a:rPr sz="850" b="1" i="0" dirty="0">
                <a:latin typeface="Calibri"/>
              </a:rPr>
              <a:t>exploitable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2875797"/>
            <a:ext cx="1828800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Origine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revenu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83.5 % des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portent « Non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communiquée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»,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comptée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comme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renseignée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;</a:t>
            </a:r>
            <a:endParaRPr sz="700" b="0" i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Côté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entreprises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, la proportion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atteint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75.8 %.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7168" y="2180853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487168" y="2180853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78608" y="2290581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78608" y="229058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2290581"/>
            <a:ext cx="155448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latin typeface="Calibri"/>
              </a:rPr>
              <a:t>Le bloc financier </a:t>
            </a:r>
            <a:r>
              <a:rPr sz="850" b="1" i="0" dirty="0" err="1">
                <a:latin typeface="Calibri"/>
              </a:rPr>
              <a:t>entreprises</a:t>
            </a:r>
            <a:r>
              <a:rPr sz="850" b="1" i="0" dirty="0">
                <a:latin typeface="Calibri"/>
              </a:rPr>
              <a:t> est peu </a:t>
            </a:r>
            <a:r>
              <a:rPr lang="fr-FR" sz="850" b="1" i="0" dirty="0">
                <a:latin typeface="Calibri"/>
              </a:rPr>
              <a:t>renseigné ou n’atteint pas le taux de référence</a:t>
            </a:r>
            <a:endParaRPr sz="850" b="1" i="0" dirty="0"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96896" y="2875797"/>
            <a:ext cx="1828800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Résultat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net : 13 % de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complétude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(13 532 dossiers vides)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;</a:t>
            </a:r>
            <a:endParaRPr sz="700" b="0" i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Capital social 75 % · Chiffre d'affaires 86 % ·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Numéro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registre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de commerce 88 %</a:t>
            </a:r>
            <a:r>
              <a:rPr lang="fr-FR" sz="700" dirty="0">
                <a:solidFill>
                  <a:srgbClr val="333333"/>
                </a:solidFill>
                <a:latin typeface="Calibri"/>
              </a:rPr>
              <a:t>;</a:t>
            </a:r>
            <a:endParaRPr sz="7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608576" y="2180853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608576" y="2180853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00016" y="2290581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00016" y="229058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290581"/>
            <a:ext cx="15544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D32F2F"/>
                </a:solidFill>
                <a:latin typeface="Calibri"/>
              </a:rPr>
              <a:t>La </a:t>
            </a:r>
            <a:r>
              <a:rPr sz="850" b="1" i="0" dirty="0" err="1">
                <a:solidFill>
                  <a:srgbClr val="D32F2F"/>
                </a:solidFill>
                <a:latin typeface="Calibri"/>
              </a:rPr>
              <a:t>révision</a:t>
            </a:r>
            <a:r>
              <a:rPr sz="850" b="1" i="0" dirty="0">
                <a:solidFill>
                  <a:srgbClr val="D32F2F"/>
                </a:solidFill>
                <a:latin typeface="Calibri"/>
              </a:rPr>
              <a:t> KYC </a:t>
            </a:r>
            <a:r>
              <a:rPr sz="850" b="1" i="0" dirty="0" err="1">
                <a:solidFill>
                  <a:srgbClr val="D32F2F"/>
                </a:solidFill>
                <a:latin typeface="Calibri"/>
              </a:rPr>
              <a:t>n'est</a:t>
            </a:r>
            <a:r>
              <a:rPr sz="850" b="1" i="0" dirty="0">
                <a:solidFill>
                  <a:srgbClr val="D32F2F"/>
                </a:solidFill>
                <a:latin typeface="Calibri"/>
              </a:rPr>
              <a:t> pas </a:t>
            </a:r>
            <a:r>
              <a:rPr sz="850" b="1" i="0" dirty="0" err="1">
                <a:solidFill>
                  <a:srgbClr val="D32F2F"/>
                </a:solidFill>
                <a:latin typeface="Calibri"/>
              </a:rPr>
              <a:t>maîtrisée</a:t>
            </a:r>
            <a:endParaRPr sz="850" b="1" i="0" dirty="0">
              <a:solidFill>
                <a:srgbClr val="D32F2F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718304" y="2875797"/>
            <a:ext cx="1828800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</a:t>
            </a:r>
            <a:r>
              <a:rPr lang="fr-FR" sz="700" dirty="0">
                <a:solidFill>
                  <a:srgbClr val="333333"/>
                </a:solidFill>
                <a:latin typeface="Calibri"/>
              </a:rPr>
              <a:t>40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% des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ont des dates de revue </a:t>
            </a:r>
            <a:r>
              <a:rPr lang="fr-FR" sz="700" b="0" i="0" dirty="0" err="1">
                <a:solidFill>
                  <a:srgbClr val="333333"/>
                </a:solidFill>
                <a:latin typeface="Calibri"/>
              </a:rPr>
              <a:t>scoring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 échues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(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151 559 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clients).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70.9 %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côté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entreprises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(11 109 sociétés).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6 099 clients à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risque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élevé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sont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concernés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, soit 46.0 % de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niveau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3" y="2180853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729983" y="2180853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821423" y="2290581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21423" y="229058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7" y="2290581"/>
            <a:ext cx="15544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Calibri"/>
              </a:rPr>
              <a:t>Les segments sensibles concentrent les écarts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2875797"/>
            <a:ext cx="182880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</a:t>
            </a:r>
            <a:r>
              <a:rPr lang="fr-FR" sz="700" dirty="0">
                <a:solidFill>
                  <a:srgbClr val="333333"/>
                </a:solidFill>
                <a:latin typeface="Calibri"/>
              </a:rPr>
              <a:t>Environ 44% des clients particulier non-résidents ont des dossiers complets (1546);</a:t>
            </a:r>
          </a:p>
          <a:p>
            <a:pPr>
              <a:spcAft>
                <a:spcPts val="400"/>
              </a:spcAft>
            </a:pPr>
            <a:r>
              <a:rPr lang="fr-FR" sz="700" dirty="0">
                <a:solidFill>
                  <a:srgbClr val="333333"/>
                </a:solidFill>
                <a:latin typeface="Calibri"/>
              </a:rPr>
              <a:t> </a:t>
            </a:r>
            <a:r>
              <a:rPr lang="fr-SN" sz="700" dirty="0">
                <a:solidFill>
                  <a:srgbClr val="333333"/>
                </a:solidFill>
              </a:rPr>
              <a:t>• </a:t>
            </a:r>
            <a:r>
              <a:rPr lang="fr-FR" sz="700" dirty="0">
                <a:solidFill>
                  <a:srgbClr val="333333"/>
                </a:solidFill>
                <a:latin typeface="Calibri"/>
              </a:rPr>
              <a:t>40% des clients entreprises ont des champs complets(3);</a:t>
            </a:r>
            <a:endParaRPr sz="700" b="0" i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493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entreprises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devise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étrangère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(3.15 %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portefeuille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).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Périmètre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sensible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consolidé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5 940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11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90.5 %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666666"/>
                </a:solidFill>
                <a:latin typeface="Calibri"/>
              </a:rPr>
              <a:t>345 077 sur 381 480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6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37 961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1581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30 608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6 736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Adresse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validité CIN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366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3867911"/>
            <a:ext cx="3291840" cy="960120"/>
          </a:xfrm>
          <a:prstGeom prst="rect">
            <a:avLst/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0" y="3867911"/>
            <a:ext cx="45720" cy="9601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32704" y="3941063"/>
            <a:ext cx="3035808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Salaire (91 %, 30 608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Champs à 100 % : Lieu de naissance, Profession, Code agent économique, Date de naissance ….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90.5 % des dossiers ne présentent aucun champ vide.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8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13.2 %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2 062 sur 15 674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8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22 309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Résultat net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13 532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Capital social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3 817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2 181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de registre de commerce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Secteur d'activité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Résultat net (13 %, 13 532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13.2 % des dossiers ne présentent aucun champ 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09A56"/>
                </a:solidFill>
                <a:latin typeface="Calibri"/>
              </a:rPr>
              <a:t>TAUX DE COMPLÉTUDE PAR AGENCE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4450" y="1569062"/>
            <a:ext cx="22555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dirty="0" err="1">
                <a:solidFill>
                  <a:srgbClr val="1B2A4A"/>
                </a:solidFill>
                <a:latin typeface="Calibri"/>
              </a:rPr>
              <a:t>Particuliers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— </a:t>
            </a:r>
            <a:r>
              <a:rPr lang="fr-FR" sz="900" b="1" i="0" dirty="0">
                <a:solidFill>
                  <a:srgbClr val="1B2A4A"/>
                </a:solidFill>
                <a:latin typeface="Calibri"/>
              </a:rPr>
              <a:t>A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gences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les plus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en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retrait</a:t>
            </a:r>
            <a:endParaRPr sz="900" b="1" i="0" dirty="0">
              <a:solidFill>
                <a:srgbClr val="1B2A4A"/>
              </a:solidFill>
              <a:latin typeface="Calibri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180147"/>
              </p:ext>
            </p:extLst>
          </p:nvPr>
        </p:nvGraphicFramePr>
        <p:xfrm>
          <a:off x="615142" y="1841546"/>
          <a:ext cx="3374136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DIASPORA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VDN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KEUR MASSAR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DE PIKINE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04001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THIES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72130" y="1569062"/>
            <a:ext cx="225551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dirty="0">
                <a:solidFill>
                  <a:srgbClr val="1B2A4A"/>
                </a:solidFill>
                <a:latin typeface="Calibri"/>
              </a:rPr>
              <a:t>Entreprises — </a:t>
            </a:r>
            <a:r>
              <a:rPr lang="fr-FR" sz="900" b="1" dirty="0">
                <a:solidFill>
                  <a:srgbClr val="1B2A4A"/>
                </a:solidFill>
                <a:latin typeface="Calibri"/>
              </a:rPr>
              <a:t>A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gences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les plus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en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retrait</a:t>
            </a:r>
            <a:endParaRPr sz="900" b="1" i="0" dirty="0">
              <a:solidFill>
                <a:srgbClr val="1B2A4A"/>
              </a:solidFill>
              <a:latin typeface="Calibri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99671"/>
              </p:ext>
            </p:extLst>
          </p:nvPr>
        </p:nvGraphicFramePr>
        <p:xfrm>
          <a:off x="4912822" y="1841546"/>
          <a:ext cx="3374136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PARCELLES ASSAINIES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CENTRALE DAKAR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05001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TAMBACOUNDA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BOURGUIBA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GRAND YOFF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DISPOSITIF DE CONTRÔLE ET TAUX DE CONFORMITÉ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94.8 %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17 règles appliquées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appliquées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339 979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27 829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RÈGLES PRODUISANT LE PLUS D'ANOMALIES, TOUTES TYPOLOGIES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8412479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33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151 528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39.7 %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87 192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77.1 %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Pièce d'identité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87 192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77.1 %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actionnaire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9 144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5 872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98.5 %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65760" y="4059936"/>
            <a:ext cx="8412480" cy="7680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059936"/>
            <a:ext cx="45720" cy="7680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2064" y="4133088"/>
            <a:ext cx="8156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Précautions de lecture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4370832"/>
            <a:ext cx="81564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 taux agrégé dilue les écarts : une règle défaillante sur 40 % du portefeuille est compensée par les règles sans anomalie.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Règles particuliers au libellé différent mais aux conditions identiques : « Document d'identité expiré » / « Pièce d'identité expirée » — anomalies comptées deux fois.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Règles inévaluables faute de champ dans l'export : « PPE déclarée sans risque élevé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34244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9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151 528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87 192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77.1 %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Pièce d'identité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87 192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77.1 %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5 872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NUMID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1 698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court)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1 418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long)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1 390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Retraité avec revenu positif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Détection des employés de banque sans salaire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Salarié sans revenu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Salarié sans employeur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Âge client supérieur à 100 ans (aberrant)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Revenus élevés sans origine déclarée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déclaré sans risque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plus de 21 ans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sans origine des revenus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Date de révision KYC expirée » : 151 528 clients, soit 39.7 %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Document d'identité expiré » : 87 192 clients, soit 22.9 %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Pièce d'identité expirée » : 87 192 clients, soit 22.9 % du portefeuille.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28163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9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9 144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4 228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27.0 %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73.0 %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2 064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86.8 %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long)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97.5 %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356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97.7 %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Mandataire absent pour société active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98.2 %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Sociétés sans adresse sociale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court ou contenant des lettres (PM)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PPE déclarée sans risque élevé (inévaluable)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Résultat renseigné sans chiffre d'affaires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CA positif mais résultat vide » : 10 877 clients, soit 69.4 %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Société avec capital mais sans actionnaire » : 9 144 clients, soit 58.3 %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RCS renseigné mais sans numéro fiscal » : 4 228 clients, soit 27.0 %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Inévaluable faute de champ : « PPE déclarée sans risque élevé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DES SEGMENTS SENSIBLES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2 716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PPE (PPE = 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0.71 %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Comptes en devise étrangère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490 PP · 493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2 846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non-résidents (RESID = 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2 754 PP · 92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6 513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Périmètre sensible consolidé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union des segments, sans double compte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POIDS DES SEGMENTS DANS CHAQUE PORTEFEUILLE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0.71 %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champ absent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0.13 %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3.15 %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0.72 %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0.59 %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Périmètre sensible consolidé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5 940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1.56 %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3.66 %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Devises étrangères rencontrées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663440" y="2596896"/>
          <a:ext cx="41148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931920"/>
            <a:ext cx="8412480" cy="8961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3931920"/>
            <a:ext cx="45720" cy="89611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" y="4005072"/>
            <a:ext cx="8156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Croisements entre 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42816"/>
            <a:ext cx="8156448" cy="53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 et devise étrangère : 9 clients particuliers.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PPE et non-résident : 11 clients particuliers.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PPE et devise étrangère : 0 clients particuliers.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 et devise étrangère : 12 clients entreprises.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COMPARÉE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381 480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+0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-4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champs les plus faibles, par segment (%)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816352"/>
          <a:ext cx="411480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261518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champs les plus faibles, par segment (%)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63440" y="2816352"/>
          <a:ext cx="411480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QUALITÉ ET ANOMALIES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381 480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94.8 %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85.2 %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+5.1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89.4 %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-5.4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85.9 %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+0.7 pt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82.8 %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-12.0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79.7 %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-5.5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Non-résidents PP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1 880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68.3 %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Pièce d'identité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1 880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68.3 %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1 463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53.1 %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0" y="2615184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66.5 %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Pièce d'identité expirée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66.5 %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2615184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74.4 %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4169664"/>
            <a:ext cx="8156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Constats sur le périmètre sensible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8"/>
            <a:ext cx="8156448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particuliers : qualité 82.8 % contre 94.8 % en global.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Entreprises en devise étrangère : complétude 78 % et qualité 85.9 %.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PPE particuliers : 2 716 clients, dont 1 sans classement en risque élevé.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DU RISQUE CLIENT (CHAMP RISQUE)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13 256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3.5 % du portefeuille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1 201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7.7 % du portefeuille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366 383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en « moyen faible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96.0 % — concentration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sans notation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 PP · 3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9933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Particuliers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2743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91840" y="19933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Entreprises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200400" y="2194560"/>
          <a:ext cx="2743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72200" y="1993392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Effectifs par niveau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2200" y="2194560"/>
          <a:ext cx="260603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1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0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366 383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96.0 %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12 264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78.2 %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2 174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13 256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1 201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172200" y="3749039"/>
            <a:ext cx="2606040" cy="107899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72200" y="3749039"/>
            <a:ext cx="4572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18504" y="3822191"/>
            <a:ext cx="2350008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96.0 % des particuliers relèvent d'un seul niveau : la segmentation discrimine peu.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40 clients restent sans notation de risque.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ÉTAT DES ÉCHÉANCES DE RÉVISION (CHAMP DATREV)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47.7 %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sans révision opposable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182 078 clients : échue, absente ou invalide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70.9 %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sans révision opposable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11 109 sociétés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151 528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Révisions particuliers échues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39.7 % du portefeuille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10 537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DATREV entreprises absentes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67.2 % du portefeuille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993392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Répartition des échéances de révision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5120640" cy="1719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0" y="199339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statuts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69280" y="2194560"/>
          <a:ext cx="3108958" cy="18059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7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5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151 528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30 550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10 537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&lt; 3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58 150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3–6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49 165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6–12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20 045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&gt;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72 042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3 627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Format invalide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65760" y="405993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Ancienneté des révisions échues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261104"/>
          <a:ext cx="5120639" cy="676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Retard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&lt; 6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1 à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&gt;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128 733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22 196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460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CROISEMENT RISQUE ET ÉCHÉANCE — ZONE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33856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état de la révision par niveau de risque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92.3 %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366 383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144 834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29 786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174 620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47.7 %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1 789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1 308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73.1 %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13 256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5 872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6 099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46.0 %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265176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état de la révision par niveau de risque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2852928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12 264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8 183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8 327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67.9 %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2 174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95.1 %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1 201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59.1 %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169663"/>
            <a:ext cx="8412480" cy="658368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169663"/>
            <a:ext cx="45720" cy="65836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4242816"/>
            <a:ext cx="8156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Zone critique — risque élevé sans révision opposable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480559"/>
            <a:ext cx="8156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Particuliers : 6 099 clients à risque élevé sur 13 256 (46.0 %) sont sans révision opposable — 5 872 échues, 227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Entreprises : 710 sociétés sur 1 201 (59.1 %) — 394 échues, 315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prioritaire de régularisation : 6 809 clients à risque élevé.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3625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8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Clients à risque élevé sans révision KYC opposable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6 809 clients (PP + PM)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révision ciblée pilotée par le module Rappels Scoring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Révisions KYC échues sur l'ensemble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152 099 clients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Plan de rattrapage par agence, en priorité les retards de plus de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absente côté 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10 537 sociétés (67.2 %)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Initialiser DATREV à partir de la date d'entrée en relation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Résultat net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13 532 dossiers vides (13 %)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318 658 dossiers (83.5 %)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11 882 dossiers (75.8 %)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Date de révision KYC expirée »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151 528 anomalies (39.7 %)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Document d'identité expiré » (particuliers)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87 192 anomalies (22.9 %)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CA positif mais résultat vide »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10 877 anomalies (69.4 %)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Société avec capital mais sans actionnaire »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9 144 anomalies (58.3 %)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Capital social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3 817 dossiers vides (75 %)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17876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8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Règles au libellé différent mais aux conditions identiques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 / Pièce d'identité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Fusionner les règles pour supprimer le double comptage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Non-résidents : complétude et qualité en retrait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2 754 PP · 92 PM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Revue dossier par dossier du segment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Personne politiquement exposée absent de l'export 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règles associées inévaluables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Ajouter la colonne à l'export ou désactiver les règles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Priorité « Critique » : impact direct sur la conformité LBC/FT. « Élevée » : fiabilité des indicateurs publiés. « Moyenne » : dette de qualité à résorber.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8F0D8"/>
                </a:solidFill>
                <a:latin typeface="Calibri"/>
              </a:rPr>
              <a:t>Audit KYC BOA SN — Conformité BOA Group | Fiabilisation KYC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0D4B8"/>
                </a:solidFill>
                <a:latin typeface="Calibri"/>
              </a:rPr>
              <a:t>30 juillet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3031</Words>
  <Application>Microsoft Office PowerPoint</Application>
  <PresentationFormat>Affichage à l'écran (16:9)</PresentationFormat>
  <Paragraphs>884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Mamadou Fallou Sylla</cp:lastModifiedBy>
  <cp:revision>3</cp:revision>
  <dcterms:created xsi:type="dcterms:W3CDTF">2013-01-27T09:14:16Z</dcterms:created>
  <dcterms:modified xsi:type="dcterms:W3CDTF">2026-07-30T14:22:29Z</dcterms:modified>
  <cp:category/>
</cp:coreProperties>
</file>