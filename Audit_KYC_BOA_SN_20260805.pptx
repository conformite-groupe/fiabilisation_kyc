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0AD47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dPt>
            <c:idx val="8"/>
            <c:spPr>
              <a:solidFill>
                <a:srgbClr val="70AD47"/>
              </a:solidFill>
            </c:spPr>
          </c:dPt>
          <c:dPt>
            <c:idx val="9"/>
            <c:spPr>
              <a:solidFill>
                <a:srgbClr val="70AD47"/>
              </a:solidFill>
            </c:spPr>
          </c:dPt>
          <c:dPt>
            <c:idx val="10"/>
            <c:spPr>
              <a:solidFill>
                <a:srgbClr val="70AD47"/>
              </a:solidFill>
            </c:spPr>
          </c:dPt>
          <c:cat>
            <c:strRef>
              <c:f>Sheet1!$A$2:$A$12</c:f>
              <c:strCache>
                <c:ptCount val="11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  <c:pt idx="4">
                  <c:v>NIN</c:v>
                </c:pt>
                <c:pt idx="5">
                  <c:v>Code agent économique</c:v>
                </c:pt>
                <c:pt idx="6">
                  <c:v>Date de naissance</c:v>
                </c:pt>
                <c:pt idx="7">
                  <c:v>Adresse</c:v>
                </c:pt>
                <c:pt idx="8">
                  <c:v>Date de validité CIN</c:v>
                </c:pt>
                <c:pt idx="9">
                  <c:v>Origine du revenu</c:v>
                </c:pt>
                <c:pt idx="10">
                  <c:v>Pays de résidence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90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  <c:pt idx="8">
                  <c:v>99</c:v>
                </c:pt>
                <c:pt idx="9">
                  <c:v>99</c:v>
                </c:pt>
                <c:pt idx="10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cat>
            <c:strRef>
              <c:f>Sheet1!$A$2:$A$9</c:f>
              <c:strCache>
                <c:ptCount val="8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  <c:pt idx="4">
                  <c:v>Téléphone</c:v>
                </c:pt>
                <c:pt idx="5">
                  <c:v>Secteur d'activité</c:v>
                </c:pt>
                <c:pt idx="6">
                  <c:v>Code agent économique</c:v>
                </c:pt>
                <c:pt idx="7">
                  <c:v>Origine du revenu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  <c:pt idx="4">
                  <c:v>93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F59E0B"/>
              </a:solidFill>
            </c:spPr>
          </c:dPt>
          <c:dPt>
            <c:idx val="6"/>
            <c:spPr>
              <a:solidFill>
                <a:srgbClr val="F59E0B"/>
              </a:solidFill>
            </c:spPr>
          </c:dPt>
          <c:dPt>
            <c:idx val="7"/>
            <c:spPr>
              <a:solidFill>
                <a:srgbClr val="F59E0B"/>
              </a:solidFill>
            </c:spPr>
          </c:dPt>
          <c:dPt>
            <c:idx val="8"/>
            <c:spPr>
              <a:solidFill>
                <a:srgbClr val="F59E0B"/>
              </a:solidFill>
            </c:spPr>
          </c:dPt>
          <c:dPt>
            <c:idx val="9"/>
            <c:spPr>
              <a:solidFill>
                <a:srgbClr val="F59E0B"/>
              </a:solidFill>
            </c:spPr>
          </c:dPt>
          <c:dPt>
            <c:idx val="10"/>
            <c:spPr>
              <a:solidFill>
                <a:srgbClr val="F59E0B"/>
              </a:solidFill>
            </c:spPr>
          </c:dPt>
          <c:dPt>
            <c:idx val="11"/>
            <c:spPr>
              <a:solidFill>
                <a:srgbClr val="F59E0B"/>
              </a:solidFill>
            </c:spPr>
          </c:dPt>
          <c:cat>
            <c:strRef>
              <c:f>Sheet1!$A$2:$A$13</c:f>
              <c:strCache>
                <c:ptCount val="12"/>
                <c:pt idx="0">
                  <c:v>ELITE</c:v>
                </c:pt>
                <c:pt idx="1">
                  <c:v>PARCELLES ASSA</c:v>
                </c:pt>
                <c:pt idx="2">
                  <c:v>CENTRALE DAKAR</c:v>
                </c:pt>
                <c:pt idx="3">
                  <c:v>INDEPENDANCE</c:v>
                </c:pt>
                <c:pt idx="4">
                  <c:v>CAF ZONE INDUS</c:v>
                </c:pt>
                <c:pt idx="5">
                  <c:v>TAMBACOUNDA</c:v>
                </c:pt>
                <c:pt idx="6">
                  <c:v>BOURGUIBA</c:v>
                </c:pt>
                <c:pt idx="7">
                  <c:v>GRAND YOFF</c:v>
                </c:pt>
                <c:pt idx="8">
                  <c:v>MERMOZ</c:v>
                </c:pt>
                <c:pt idx="9">
                  <c:v>KAOLACK</c:v>
                </c:pt>
                <c:pt idx="10">
                  <c:v>SATELLITE HLM </c:v>
                </c:pt>
                <c:pt idx="11">
                  <c:v>SATELLITE PIKI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</c:v>
                </c:pt>
                <c:pt idx="1">
                  <c:v>72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76</c:v>
                </c:pt>
                <c:pt idx="6">
                  <c:v>77</c:v>
                </c:pt>
                <c:pt idx="7">
                  <c:v>77</c:v>
                </c:pt>
                <c:pt idx="8">
                  <c:v>77</c:v>
                </c:pt>
                <c:pt idx="9">
                  <c:v>77</c:v>
                </c:pt>
                <c:pt idx="10">
                  <c:v>78</c:v>
                </c:pt>
                <c:pt idx="11">
                  <c:v>78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D32F2F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Format téléphone inv</c:v>
                </c:pt>
                <c:pt idx="1">
                  <c:v>Date de révision KYC</c:v>
                </c:pt>
                <c:pt idx="2">
                  <c:v>Document d'identité </c:v>
                </c:pt>
                <c:pt idx="3">
                  <c:v>Mineur de plus de 21</c:v>
                </c:pt>
                <c:pt idx="4">
                  <c:v>Numéro d'identificat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186250</c:v>
                </c:pt>
                <c:pt idx="1">
                  <c:v>174650</c:v>
                </c:pt>
                <c:pt idx="2">
                  <c:v>91663</c:v>
                </c:pt>
                <c:pt idx="3">
                  <c:v>29442</c:v>
                </c:pt>
                <c:pt idx="4">
                  <c:v>14363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D32F2F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CA positif mais résu</c:v>
                </c:pt>
                <c:pt idx="1">
                  <c:v>Société avec capital</c:v>
                </c:pt>
                <c:pt idx="2">
                  <c:v>RCS renseigné mais s</c:v>
                </c:pt>
                <c:pt idx="3">
                  <c:v>Numéro RCS trop cour</c:v>
                </c:pt>
                <c:pt idx="4">
                  <c:v>Capital social nul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10877</c:v>
                </c:pt>
                <c:pt idx="1">
                  <c:v>9146</c:v>
                </c:pt>
                <c:pt idx="2">
                  <c:v>4230</c:v>
                </c:pt>
                <c:pt idx="3">
                  <c:v>2111</c:v>
                </c:pt>
                <c:pt idx="4">
                  <c:v>2065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210</c:v>
                </c:pt>
                <c:pt idx="2">
                  <c:v>9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483</c:v>
                </c:pt>
                <c:pt idx="1">
                  <c:v>149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</c:v>
                </c:pt>
                <c:pt idx="1">
                  <c:v>99</c:v>
                </c:pt>
                <c:pt idx="2">
                  <c:v>99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</c:v>
                </c:pt>
                <c:pt idx="1">
                  <c:v>75</c:v>
                </c:pt>
                <c:pt idx="2">
                  <c:v>77</c:v>
                </c:pt>
                <c:pt idx="3">
                  <c:v>100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D32F2F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42</c:v>
                </c:pt>
                <c:pt idx="1">
                  <c:v>93</c:v>
                </c:pt>
                <c:pt idx="2">
                  <c:v>97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70</c:v>
                </c:pt>
                <c:pt idx="2">
                  <c:v>82</c:v>
                </c:pt>
                <c:pt idx="3">
                  <c:v>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91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383920</c:v>
                </c:pt>
                <c:pt idx="2">
                  <c:v>2404</c:v>
                </c:pt>
                <c:pt idx="3">
                  <c:v>3040</c:v>
                </c:pt>
                <c:pt idx="4">
                  <c:v>43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12968</c:v>
                </c:pt>
                <c:pt idx="2">
                  <c:v>2249</c:v>
                </c:pt>
                <c:pt idx="3">
                  <c:v>397</c:v>
                </c:pt>
                <c:pt idx="4">
                  <c:v>3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174650</c:v>
                </c:pt>
                <c:pt idx="1">
                  <c:v>31053</c:v>
                </c:pt>
                <c:pt idx="2">
                  <c:v>44407</c:v>
                </c:pt>
                <c:pt idx="3">
                  <c:v>36537</c:v>
                </c:pt>
                <c:pt idx="4">
                  <c:v>20138</c:v>
                </c:pt>
                <c:pt idx="5">
                  <c:v>82636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249</c:v>
                </c:pt>
                <c:pt idx="1">
                  <c:v>10534</c:v>
                </c:pt>
                <c:pt idx="2">
                  <c:v>97</c:v>
                </c:pt>
                <c:pt idx="3">
                  <c:v>121</c:v>
                </c:pt>
                <c:pt idx="4">
                  <c:v>300</c:v>
                </c:pt>
                <c:pt idx="5">
                  <c:v>4375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77240"/>
            <a:ext cx="66751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AUDIT QUALITÉ ET COMPLÉTUDE DES DONNÉES KYC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F0D8"/>
                </a:solidFill>
                <a:latin typeface="Calibri"/>
              </a:rPr>
              <a:t>BOA SN — Sénégal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07792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272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F5E4"/>
                </a:solidFill>
                <a:latin typeface="Calibri"/>
              </a:rPr>
              <a:t>Stock au 5 août 2026  |  389 421 particuliers  |  15 677 entreprises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0D4B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5029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9A56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Périmètre et méthodologie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67128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Complétude des données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24328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34056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34056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Qualité des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91256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74136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00984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00984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PPE, comptes en devise et non-résidents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58184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41064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67912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867912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Revue Scoring AML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25112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0799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3484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3484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Synthèse et plan d'action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BASE DE L'AUDIT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389 421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371 132 identifiants uniques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15 677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15 677 identifiants uniques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de complétude suivis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11 champs PP · 8 champs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Règles qualité applicables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sur 25 règles du référentiel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MÉTHODES DE CALCUL APPLIQUÉES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— Script_V3.r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par champ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floor(100 − vides / effectif × 100)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global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× (1 − vides / (champs × effectif)))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Valeur « vide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chaîne vide après nettoyage des espaces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Appréciation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Faible &lt; 80 % · Moyen 80–99 % · Bon = 100 %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66344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— plateforme KYC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Référentiel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25 règles, 25 applicables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Combinaison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forme normale disjonctive (OU ouvre un groupe)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Σ conformes / Σ évaluations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référence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 août 2026 (opérateurs expired / age_gt)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Réserves méthodologiques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Les exports pp/pm_STOCK sont produits par Script_V3.r : clients déjà regroupés par identifiant et clients non fiabilisables (code OI) déjà exclus.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La devise locale ayant été vidée par le script R, tout compte à devise renseignée est traité comme compte en devise étrangère.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Champs absents de l'export entreprises : PPE — les règles associées sont inévaluables.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SYNTHÈSE EXÉCUTIVE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Moyen · 88.8 % de dossiers complets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Moyen · 13.2 % de dossiers complets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90.1 %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13 règles · 499 769 anomalies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83.9 %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· 30 366 anomalies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Complétude affichée et information exploitable divergent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Origine du revenu : 83.6 % des particuliers portent « Non communiquée », comptée comme renseignée.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Côté entreprises, la proportion atteint 75.8 %.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Le champ le plus faible reste Salaire (90 %).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7168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87168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Le bloc financier entreprises est peu alimenté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896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Résultat net : 13 % de complétude (13 532 dossiers vides).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Capital social 75 % · Chiffre d'affaires 86 % · Numéro de registre de commerce 88 %.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Seuls 13.2 % des dossiers entreprises sont complets.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8576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08576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La révision KYC n'est pas maîtrisée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8304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52.8 % des particuliers sont sans révision opposable (205 703 clients).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68.8 % côté entreprises (10 784 sociétés).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205 clients à risque élevé sont concernés, soit 6.7 % de ce niveau.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3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29983" y="1993392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7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Calibri"/>
              </a:rPr>
              <a:t>Les segments sensibles concentrent les écarts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Non-résidents : complétude 93 % et qualité 80.1 % (global 98 % / 90.1 %).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493 entreprises en devise étrangère (3.14 % du portefeuille).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sensible consolidé : 6 384 particuliers.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Complétude calculée selon Script_V3.r ; qualité selon le moteur de règles de la plateforme KYC restreint aux règles applicables à la filiale.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11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88.8 %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345 949 sur 389 421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11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50 971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35 894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Profession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7 214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naissance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naissance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Adresse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211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Salaire (90 %, 35 894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88.8 % des dossiers ne présentent aucun champ 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8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13.2 %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2 065 sur 15 677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8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22 310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Résultat net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13 532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Capital social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3 817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2 181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de registre de commerce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Secteur d'activité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Résultat net (13 %, 13 532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13.2 % des dossiers ne présentent aucun champ vide.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DISPERSION DU TAUX DE COMPLÉTUDE PAR AGENCE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9 agences les plus en retrait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DIASPORA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2 173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VDN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2 059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19 071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ZI PARTICULIER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6 956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LAMINE GUEYE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847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KEUR MASSAR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12 621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6344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9 agences les plus en retrait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PARCELLES ASSAINIES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CENTRALE DAKAR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1 209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05001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TAMBACOUNDA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BOURGUIBA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GRAND YOFF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35661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agences les plus faibles (effectif ≥ 100 clients)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65760" y="3767328"/>
          <a:ext cx="8412480" cy="10607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3101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Particuliers : de 87 % (CAF ZONE INDUSTRIELLE) à 99 %.  Entreprises : de 62 % à 99 %, soit 37 points d'écart.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APPARENTE ET INFORMATION RÉELLEMENT EXPLOITABLE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8412480" cy="51206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45720" cy="51206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188720"/>
            <a:ext cx="8156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•  Le taux de complétude mesure la présence d'une valeur, pas sa portée informative : les valeurs par défaut et les champs jamais alimentés élèvent mécaniquement les taux affichés.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55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VALEURS PAR DÉFAUT COMPTÉES COMME RENSEIGNÉES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139696"/>
          <a:ext cx="8412478" cy="749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0745"/>
                <a:gridCol w="1261872"/>
                <a:gridCol w="1850745"/>
                <a:gridCol w="1093622"/>
                <a:gridCol w="1261872"/>
                <a:gridCol w="109362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Valeur dominante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affiché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325 726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83.6 %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11 879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0358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CHAMPS PRÉSENTS DANS L'EXPORT MAIS NON ALIMENTÉS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39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419856"/>
          <a:ext cx="8412478" cy="1115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7244"/>
                <a:gridCol w="1345996"/>
                <a:gridCol w="1682496"/>
                <a:gridCol w="319674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de remplissage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Conséquence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délivrance CIN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DISPOSITIF DE CONTRÔLE ET TAUX DE CONFORMITÉ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90.1 %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13 règles appliquées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83.9 %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appliquées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499 769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30 366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RÈGLES PRODUISANT LE PLUS D'ANOMALIES, TOUTES TYPOLOGIES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8412479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33241"/>
                <a:gridCol w="1261872"/>
                <a:gridCol w="1177747"/>
                <a:gridCol w="1261872"/>
                <a:gridCol w="1177747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186 250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47.8 %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52.2 %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expirée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174 650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44.8 %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55.2 %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91 663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76.5 %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29 442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7.6 %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14 363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96.3 %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65760" y="4059936"/>
            <a:ext cx="8412480" cy="7680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059936"/>
            <a:ext cx="45720" cy="7680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4133088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Précautions de lecture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4370832"/>
            <a:ext cx="81564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 taux agrégé dilue les écarts : une règle défaillante sur 40 % du portefeuille est compensée par les règles sans anomalie.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Règles inévaluables faute de champ dans l'export : « PPE non classe à risque élevé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30678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186 250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47.8 %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2 525 (83.1 %)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52.2 %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expirée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174 650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44.8 %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141 (4.6 %)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55.2 %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91 663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130 (4.3 %)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76.5 %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29 442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133 (4.4 %)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92.4 %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14 363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 (0.7 %)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96.3 %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 à risque élevé dont la date de revue du scoring AML a été dépassée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141 (4.6 %)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Employé de banque sans salaire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 avec risque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130 (4.3 %)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Âge client supérieur à 100 ans (aberrant)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déclarée sans risque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sans origine des revenus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Revenus élevés sans origine déclarée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Format téléphone invalide » : 186 250 clients, soit 47.8 %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Date de révision KYC (scoring) expirée » : 174 650 clients, soit 44.8 %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Document d'identité expiré » : 91 663 clients, soit 23.5 % du portefeuille.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220 (55.4 %)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9 146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208 (52.4 %)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4 230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102 (25.7 %)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73.0 %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2 111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139 (35.0 %)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86.5 %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2 065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55 (13.9 %)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86.8 %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1 473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71 (17.9 %)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faisant du chiffre d'affaires sans mandataire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(3.0 %)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(0.8 %)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 PM sans domaine d'activité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(2.3 %)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PM à risque élevé dont la date de revue du scoring AML a été dépassée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44 (11.1 %)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Résultat sans CA renseigné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non classe à risque élevé (inévaluable)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CA positif mais résultat vide » : 10 877 clients, soit 69.4 %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Société avec capital sans actionnaire » : 9 146 clients, soit 58.3 %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RCS renseigné mais sans numéro fiscal » : 4 230 clients, soit 27.0 %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Inévaluable faute de champ : « PPE non classe à risque élevé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DES SEGMENTS SENSIBLES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2 805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PPE (PPE = 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0.72 %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1 150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Comptes en devise étrangère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657 PP · 493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3 055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non-résidents (RESID = 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2 963 PP · 92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6 957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Périmètre sensible consolidé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union des segments, sans double compte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POIDS DES SEGMENTS DANS CHAQUE PORTEFEUILLE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493776"/>
                <a:gridCol w="452628"/>
                <a:gridCol w="781812"/>
                <a:gridCol w="493776"/>
                <a:gridCol w="65836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2 805 (100.0 %)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champ absent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0.17 %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29 (4.4 %)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 (2.2 %)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(3.3 %)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Périmètre sensible consolidé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6 384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1.64 %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2 837 (44.4 %)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 (2.4 %)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Devises étrangères rencontrées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663440" y="2596896"/>
          <a:ext cx="4114800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895344"/>
            <a:ext cx="8412480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45720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96849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Croisements entre 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06240"/>
            <a:ext cx="815644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 et devise étrangère : 26 PP · 12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non-résident : 18 PP · 3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devise étrangère : 29 PP · 11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non-résident : 14 PP · — PM (champ absent).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devise étrangère : 1 PP · — PM (champ absent).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COMPARÉE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009497"/>
                <a:gridCol w="1261872"/>
                <a:gridCol w="1009497"/>
                <a:gridCol w="1009497"/>
                <a:gridCol w="1261872"/>
                <a:gridCol w="8412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389 421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+1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-7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-4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champs les plus faibles, par segment (%)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champs les plus faibles, par segment (%)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6344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QUALITÉ ET ANOMALIES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009497"/>
                <a:gridCol w="1261872"/>
                <a:gridCol w="1009497"/>
                <a:gridCol w="1009497"/>
                <a:gridCol w="1261872"/>
                <a:gridCol w="8412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389 421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90.1 %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83.9 %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+2.3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89.1 %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-1.0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83.0 %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-0.9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80.1 %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-10.0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68.4 %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-15.5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Non-résidents PP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2 066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69.7 %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58.8 %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586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19.8 %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69.1 %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28.9 %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24.4 %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Numéro d'identification nationale 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 PP non-résident sans boîte 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74.4 %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sans actionna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21.1 %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169664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Constats sur le périmètre sensible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8"/>
            <a:ext cx="815644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particuliers : qualité 80.1 % contre 90.1 % en global.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Entreprises en devise étrangère : complétude 78 % et qualité 83.0 %.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PPE particuliers : 2 805 clients, dont 0 sans classement en risque élevé.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DU RISQUE CLIENT (CHAMP RISQUE)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0.8 % du portefeuille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2.5 % du portefeuille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383 920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en « moyen faible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98.6 % — concentration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sans notation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43 PP · 3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Particuliers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9184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Entreprises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20040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72200" y="1993392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Effectifs par niveau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2200" y="2194560"/>
          <a:ext cx="260603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1812"/>
                <a:gridCol w="469087"/>
                <a:gridCol w="443026"/>
                <a:gridCol w="469087"/>
                <a:gridCol w="44302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383 920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12 968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82.7 %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2 404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2 249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3 040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397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172200" y="3749039"/>
            <a:ext cx="2606040" cy="107899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749039"/>
            <a:ext cx="4572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3822191"/>
            <a:ext cx="2350008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98.6 % des particuliers relèvent d'un seul niveau : la segmentation discrimine peu.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46 clients restent sans notation de risque.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ÉTAT DES ÉCHÉANCES DE RÉVISION (CHAMP DATREV)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52.8 %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sans révision opposable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205 703 clients : échue, absente ou invalide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68.8 %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sans révision opposable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10 784 sociétés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174 650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Révisions particuliers échues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44.8 % du portefeuille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10 534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DATREV entreprises absentes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67.2 % du portefeuille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993392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Répartition des échéances de révision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5120640" cy="1719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0" y="199339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statuts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69280" y="2194560"/>
          <a:ext cx="3108958" cy="18059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7046"/>
                <a:gridCol w="528523"/>
                <a:gridCol w="497433"/>
                <a:gridCol w="528523"/>
                <a:gridCol w="497433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174 650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31 053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10 534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&lt; 3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44 407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3–6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36 537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6–12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20 138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&gt;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82 636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21.2 %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4 375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Format invalide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65760" y="4059936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Ancienneté des révisions échues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261104"/>
          <a:ext cx="5120639" cy="676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3779"/>
                <a:gridCol w="921715"/>
                <a:gridCol w="921715"/>
                <a:gridCol w="921715"/>
                <a:gridCol w="921715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Retard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&lt; 6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1 à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&gt;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153 496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20 426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CROISEMENT RISQUE ET ÉCHÉANCE — ZONE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3385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état de la révision par niveau de risque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261872"/>
                <a:gridCol w="1177747"/>
                <a:gridCol w="1345996"/>
                <a:gridCol w="1514246"/>
                <a:gridCol w="109362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383 920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173 600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30 220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203 820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53.1 %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2 404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1 621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67.4 %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3 040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26517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état de la révision par niveau de risque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2852928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261872"/>
                <a:gridCol w="1177747"/>
                <a:gridCol w="1345996"/>
                <a:gridCol w="1514246"/>
                <a:gridCol w="109362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12 968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8 190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8 362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64.5 %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2 249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92.0 %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397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87.4 %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169663"/>
            <a:ext cx="8412480" cy="658368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69663"/>
            <a:ext cx="45720" cy="65836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24281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Zone critique — risque élevé sans révision opposable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480559"/>
            <a:ext cx="8156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Particuliers : 205 clients à risque élevé sur 3 040 (6.7 %) sont sans révision opposable — 141 échues, 64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Entreprises : 347 sociétés sur 397 (87.4 %) — 44 échues, 303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prioritaire de régularisation : 552 clients à risque élevé.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PROFIL DES CLIENTS À RISQUE ÉLEVÉ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0.78 %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2.53 % du portefeuille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6.7 %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Sans révision opposable (PP)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205 clients concernés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87.4 %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Sans révision opposable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347 sociétés concernées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ET QUALITÉ COMPARÉES AU PORTEFEUILLE GLOBAL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53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9032"/>
                <a:gridCol w="699516"/>
                <a:gridCol w="699516"/>
                <a:gridCol w="658368"/>
                <a:gridCol w="65836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Particuliers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Entreprises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complétude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Dossiers intégralement complets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88.8 %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94.8 %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11.3 %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91.8 %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83.9 %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81.9 %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52.8 %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68.8 %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87.4 %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Anomalies les plus fréquentes sur ce niveau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663440" y="2596896"/>
          <a:ext cx="4114800" cy="1225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5104"/>
                <a:gridCol w="699516"/>
                <a:gridCol w="740664"/>
                <a:gridCol w="69951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2 525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83.1 %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47.8 %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(scoring) expirée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PP à risque élevé dont la date de revu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4.6 %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21 ans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Exposition du niveau « risque élevé » aux segments sensibles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: 18 PP · 3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Comptes en devise étrangère : 29 PP · 11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Clients PPE classés à risque élevé : 2 805 sur 2 805 PPE identifiés.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3625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Clients à risque élevé sans révision KYC opposable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552 clients (PP + PM)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révision ciblée pilotée par le module Rappels Scoring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Révisions KYC échues sur l'ensemble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174 899 clients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Plan de rattrapage par agence, en priorité les retards de plus de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absente côté 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10 534 sociétés (67.2 %)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Initialiser DATREV à partir de la date d'entrée en relation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Résultat net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13 532 dossiers vides (13 %)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325 726 dossiers (83.6 %)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11 879 dossiers (75.8 %)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Format téléphone invalide »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186 250 anomalies (47.8 %)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Date de révision KYC (scoring) expirée » (particuliers)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174 650 anomalies (44.8 %)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CA positif mais résultat vide »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10 877 anomalies (69.4 %)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Société avec capital sans actionnaire »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9 146 anomalies (58.3 %)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Capital social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3 817 dossiers vides (75 %)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Non-résidents : complétude et qualité en retrait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2 963 PP · 92 PM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Revue dossier par dossier du segment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Personne politiquement exposée absent de l'export 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règles associées inévaluables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Ajouter la colonne à l'export ou désactiver les règles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Priorité « Critique » : impact direct sur la conformité LBC/FT. « Élevée » : fiabilité des indicateurs publiés. « Moyenne » : dette de qualité à résorber.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54864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F0D8"/>
                </a:solidFill>
                <a:latin typeface="Calibri"/>
              </a:rPr>
              <a:t>Audit KYC BOA SN — Conformité BOA Group | Fiabilisation KYC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D4B8"/>
                </a:solidFill>
                <a:latin typeface="Calibri"/>
              </a:rPr>
              <a:t>5 août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