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F5A623"/>
              </a:solidFill>
              <a:ln>
                <a:noFill/>
              </a:ln>
            </c:spPr>
          </c:dPt>
          <c:dPt>
            <c:idx val="1"/>
            <c:spPr>
              <a:solidFill>
                <a:srgbClr val="ECEFF1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ok</c:v>
                </c:pt>
                <c:pt idx="1">
                  <c:v>reste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87.3</c:v>
                </c:pt>
                <c:pt idx="1">
                  <c:v>12.700000000000003</c:v>
                </c:pt>
              </c:numCache>
            </c:numRef>
          </c:val>
        </c:ser>
        <c:firstSliceAng val="0"/>
        <c:holeSize val="68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009A56"/>
              </a:solidFill>
              <a:ln>
                <a:noFill/>
              </a:ln>
            </c:spPr>
          </c:dPt>
          <c:dPt>
            <c:idx val="1"/>
            <c:spPr>
              <a:solidFill>
                <a:srgbClr val="ECEFF1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ok</c:v>
                </c:pt>
                <c:pt idx="1">
                  <c:v>reste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91.2</c:v>
                </c:pt>
                <c:pt idx="1">
                  <c:v>8.799999999999997</c:v>
                </c:pt>
              </c:numCache>
            </c:numRef>
          </c:val>
        </c:ser>
        <c:firstSliceAng val="0"/>
        <c:holeSize val="68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Taux</c:v>
                </c:pt>
              </c:strCache>
            </c:strRef>
          </c:tx>
          <c:dPt>
            <c:idx val="0"/>
            <c:spPr>
              <a:solidFill>
                <a:srgbClr val="009A56"/>
              </a:solidFill>
              <a:ln>
                <a:noFill/>
              </a:ln>
            </c:spPr>
          </c:dPt>
          <c:dPt>
            <c:idx val="1"/>
            <c:spPr>
              <a:solidFill>
                <a:srgbClr val="F5A623"/>
              </a:solidFill>
              <a:ln>
                <a:noFill/>
              </a:ln>
            </c:spPr>
          </c:dPt>
          <c:dPt>
            <c:idx val="2"/>
            <c:spPr>
              <a:solidFill>
                <a:srgbClr val="009A56"/>
              </a:solidFill>
              <a:ln>
                <a:noFill/>
              </a:ln>
            </c:spPr>
          </c:dPt>
          <c:dPt>
            <c:idx val="3"/>
            <c:spPr>
              <a:solidFill>
                <a:srgbClr val="009A56"/>
              </a:solidFill>
              <a:ln>
                <a:noFill/>
              </a:ln>
            </c:spPr>
          </c:dPt>
          <c:dPt>
            <c:idx val="4"/>
            <c:spPr>
              <a:solidFill>
                <a:srgbClr val="F5A623"/>
              </a:solidFill>
              <a:ln>
                <a:noFill/>
              </a:ln>
            </c:spPr>
          </c:dPt>
          <c:dPt>
            <c:idx val="5"/>
            <c:spPr>
              <a:solidFill>
                <a:srgbClr val="F5A623"/>
              </a:solidFill>
              <a:ln>
                <a:noFill/>
              </a:ln>
            </c:spPr>
          </c:dPt>
          <c:dPt>
            <c:idx val="6"/>
            <c:spPr>
              <a:solidFill>
                <a:srgbClr val="F5A623"/>
              </a:solidFill>
              <a:ln>
                <a:noFill/>
              </a:ln>
            </c:spPr>
          </c:dPt>
          <c:dPt>
            <c:idx val="7"/>
            <c:spPr>
              <a:solidFill>
                <a:srgbClr val="009A56"/>
              </a:solidFill>
              <a:ln>
                <a:noFill/>
              </a:ln>
            </c:spPr>
          </c:dPt>
          <c:dPt>
            <c:idx val="8"/>
            <c:spPr>
              <a:solidFill>
                <a:srgbClr val="F5A623"/>
              </a:solidFill>
              <a:ln>
                <a:noFill/>
              </a:ln>
            </c:spPr>
          </c:dPt>
          <c:dPt>
            <c:idx val="9"/>
            <c:spPr>
              <a:solidFill>
                <a:srgbClr val="009A56"/>
              </a:solidFill>
              <a:ln>
                <a:noFill/>
              </a:ln>
            </c:spPr>
          </c:dPt>
          <c:dPt>
            <c:idx val="10"/>
            <c:spPr>
              <a:solidFill>
                <a:srgbClr val="009A56"/>
              </a:solidFill>
              <a:ln>
                <a:noFill/>
              </a:ln>
            </c:spPr>
          </c:dPt>
          <c:cat>
            <c:strRef>
              <c:f>Sheet1!$A$2:$A$12</c:f>
              <c:strCache>
                <c:ptCount val="11"/>
                <c:pt idx="0">
                  <c:v>PM  Date de constitution</c:v>
                </c:pt>
                <c:pt idx="1">
                  <c:v>PM  Registre de commerce</c:v>
                </c:pt>
                <c:pt idx="2">
                  <c:v>PM  Forme juridique</c:v>
                </c:pt>
                <c:pt idx="3">
                  <c:v>PM  Raison sociale</c:v>
                </c:pt>
                <c:pt idx="4">
                  <c:v>PP  Profession</c:v>
                </c:pt>
                <c:pt idx="5">
                  <c:v>PP  Adresse</c:v>
                </c:pt>
                <c:pt idx="6">
                  <c:v>PP  Pièce d'identité</c:v>
                </c:pt>
                <c:pt idx="7">
                  <c:v>PP  Nationalité</c:v>
                </c:pt>
                <c:pt idx="8">
                  <c:v>PP  Date de naissance</c:v>
                </c:pt>
                <c:pt idx="9">
                  <c:v>PP  Prénom</c:v>
                </c:pt>
                <c:pt idx="10">
                  <c:v>PP  Nom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94.2</c:v>
                </c:pt>
                <c:pt idx="1">
                  <c:v>81.7</c:v>
                </c:pt>
                <c:pt idx="2">
                  <c:v>91.0</c:v>
                </c:pt>
                <c:pt idx="3">
                  <c:v>99.1</c:v>
                </c:pt>
                <c:pt idx="4">
                  <c:v>73.5</c:v>
                </c:pt>
                <c:pt idx="5">
                  <c:v>88.9</c:v>
                </c:pt>
                <c:pt idx="6">
                  <c:v>78.3</c:v>
                </c:pt>
                <c:pt idx="7">
                  <c:v>92.4</c:v>
                </c:pt>
                <c:pt idx="8">
                  <c:v>85.1</c:v>
                </c:pt>
                <c:pt idx="9">
                  <c:v>97.2</c:v>
                </c:pt>
                <c:pt idx="10">
                  <c:v>98.7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8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850">
                <a:solidFill>
                  <a:srgbClr val="3333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Taux</c:v>
                </c:pt>
              </c:strCache>
            </c:strRef>
          </c:tx>
          <c:dPt>
            <c:idx val="0"/>
            <c:spPr>
              <a:solidFill>
                <a:srgbClr val="F5A623"/>
              </a:solidFill>
              <a:ln>
                <a:noFill/>
              </a:ln>
            </c:spPr>
          </c:dPt>
          <c:dPt>
            <c:idx val="1"/>
            <c:spPr>
              <a:solidFill>
                <a:srgbClr val="F5A623"/>
              </a:solidFill>
              <a:ln>
                <a:noFill/>
              </a:ln>
            </c:spPr>
          </c:dPt>
          <c:dPt>
            <c:idx val="2"/>
            <c:spPr>
              <a:solidFill>
                <a:srgbClr val="009A56"/>
              </a:solidFill>
              <a:ln>
                <a:noFill/>
              </a:ln>
            </c:spPr>
          </c:dPt>
          <c:dPt>
            <c:idx val="3"/>
            <c:spPr>
              <a:solidFill>
                <a:srgbClr val="F5A623"/>
              </a:solidFill>
              <a:ln>
                <a:noFill/>
              </a:ln>
            </c:spPr>
          </c:dPt>
          <c:dPt>
            <c:idx val="4"/>
            <c:spPr>
              <a:solidFill>
                <a:srgbClr val="009A56"/>
              </a:solidFill>
              <a:ln>
                <a:noFill/>
              </a:ln>
            </c:spPr>
          </c:dPt>
          <c:dPt>
            <c:idx val="5"/>
            <c:spPr>
              <a:solidFill>
                <a:srgbClr val="F5A623"/>
              </a:solidFill>
              <a:ln>
                <a:noFill/>
              </a:ln>
            </c:spPr>
          </c:dPt>
          <c:dPt>
            <c:idx val="6"/>
            <c:spPr>
              <a:solidFill>
                <a:srgbClr val="009A56"/>
              </a:solidFill>
              <a:ln>
                <a:noFill/>
              </a:ln>
            </c:spPr>
          </c:dPt>
          <c:dPt>
            <c:idx val="7"/>
            <c:spPr>
              <a:solidFill>
                <a:srgbClr val="F5A623"/>
              </a:solidFill>
              <a:ln>
                <a:noFill/>
              </a:ln>
            </c:spPr>
          </c:dPt>
          <c:dPt>
            <c:idx val="8"/>
            <c:spPr>
              <a:solidFill>
                <a:srgbClr val="009A56"/>
              </a:solidFill>
              <a:ln>
                <a:noFill/>
              </a:ln>
            </c:spPr>
          </c:dPt>
          <c:cat>
            <c:strRef>
              <c:f>Sheet1!$A$2:$A$10</c:f>
              <c:strCache>
                <c:ptCount val="9"/>
                <c:pt idx="0">
                  <c:v>PM  Bénéficiaire effectif identifié</c:v>
                </c:pt>
                <c:pt idx="1">
                  <c:v>PM  Secteur d'activité codifié</c:v>
                </c:pt>
                <c:pt idx="2">
                  <c:v>PM  Forme juridique normalisée</c:v>
                </c:pt>
                <c:pt idx="3">
                  <c:v>PM  RC valide et non expiré</c:v>
                </c:pt>
                <c:pt idx="4">
                  <c:v>PP  PEP correctement qualifié</c:v>
                </c:pt>
                <c:pt idx="5">
                  <c:v>PP  Adresse complète</c:v>
                </c:pt>
                <c:pt idx="6">
                  <c:v>PP  Nationalité renseignée et valide</c:v>
                </c:pt>
                <c:pt idx="7">
                  <c:v>PP  Format numéro pièce identité</c:v>
                </c:pt>
                <c:pt idx="8">
                  <c:v>PP  Cohérence date naissance / âge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72.9</c:v>
                </c:pt>
                <c:pt idx="1">
                  <c:v>85.6</c:v>
                </c:pt>
                <c:pt idx="2">
                  <c:v>93.2</c:v>
                </c:pt>
                <c:pt idx="3">
                  <c:v>79.4</c:v>
                </c:pt>
                <c:pt idx="4">
                  <c:v>91.5</c:v>
                </c:pt>
                <c:pt idx="5">
                  <c:v>88.0</c:v>
                </c:pt>
                <c:pt idx="6">
                  <c:v>94.8</c:v>
                </c:pt>
                <c:pt idx="7">
                  <c:v>82.1</c:v>
                </c:pt>
                <c:pt idx="8">
                  <c:v>96.3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8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850">
                <a:solidFill>
                  <a:srgbClr val="3333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23760" y="-1463040"/>
            <a:ext cx="4206240" cy="4206240"/>
          </a:xfrm>
          <a:prstGeom prst="ellipse">
            <a:avLst/>
          </a:prstGeom>
          <a:noFill/>
          <a:ln w="25400">
            <a:solidFill>
              <a:srgbClr val="00C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1828800"/>
            <a:ext cx="2560320" cy="2560320"/>
          </a:xfrm>
          <a:prstGeom prst="ellipse">
            <a:avLst/>
          </a:prstGeom>
          <a:noFill/>
          <a:ln w="25400">
            <a:solidFill>
              <a:srgbClr val="00C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34440"/>
            <a:ext cx="6858000" cy="1371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4600" b="1" i="0">
                <a:solidFill>
                  <a:srgbClr val="FFFFFF"/>
                </a:solidFill>
                <a:latin typeface="Calibri"/>
              </a:defRPr>
            </a:pPr>
            <a:r>
              <a:t>RAPPORT DE PILOTAGE KYC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68580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 i="0">
                <a:solidFill>
                  <a:srgbClr val="C8F0D8"/>
                </a:solidFill>
                <a:latin typeface="Calibri"/>
              </a:defRPr>
            </a:pPr>
            <a:r>
              <a:t>SYNTHÈSE QUALITÉ &amp; COMPLÉTUDE — PÉRIMÈTRE GROUPE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3154680"/>
            <a:ext cx="5486400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64008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0" i="0">
                <a:solidFill>
                  <a:srgbClr val="D4F5E4"/>
                </a:solidFill>
                <a:latin typeface="Calibri"/>
              </a:defRPr>
            </a:pPr>
            <a:r>
              <a:t>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640080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0" i="1">
                <a:solidFill>
                  <a:srgbClr val="A0D4B8"/>
                </a:solidFill>
                <a:latin typeface="Calibri"/>
              </a:defRPr>
            </a:pPr>
            <a:r>
              <a:t>Conformité BOA Group | Pôle Projet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-1005840"/>
            <a:ext cx="3291840" cy="3291840"/>
          </a:xfrm>
          <a:prstGeom prst="ellipse">
            <a:avLst/>
          </a:prstGeom>
          <a:noFill/>
          <a:ln w="190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1280160"/>
            <a:ext cx="2011680" cy="2011680"/>
          </a:xfrm>
          <a:prstGeom prst="ellipse">
            <a:avLst/>
          </a:prstGeom>
          <a:noFill/>
          <a:ln w="190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92040"/>
            <a:ext cx="9144000" cy="45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910328"/>
            <a:ext cx="3520440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Conformité BOA Group | Pôle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5486400" cy="10058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5200" b="1" i="0">
                <a:solidFill>
                  <a:srgbClr val="009A56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28216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691640"/>
            <a:ext cx="548640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200" b="1" i="0">
                <a:solidFill>
                  <a:srgbClr val="009A56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91640"/>
            <a:ext cx="6400800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400" b="1" i="0">
                <a:solidFill>
                  <a:srgbClr val="1B2A4A"/>
                </a:solidFill>
                <a:latin typeface="Calibri"/>
              </a:defRPr>
            </a:pPr>
            <a:r>
              <a:t>Synthèse des indicateurs clés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39696"/>
            <a:ext cx="69494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249424"/>
            <a:ext cx="548640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200" b="1" i="0">
                <a:solidFill>
                  <a:srgbClr val="009A56"/>
                </a:solidFill>
                <a:latin typeface="Calibri"/>
              </a:defRPr>
            </a:pPr>
            <a:r>
              <a:t>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49424"/>
            <a:ext cx="6400800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400" b="1" i="0">
                <a:solidFill>
                  <a:srgbClr val="1B2A4A"/>
                </a:solidFill>
                <a:latin typeface="Calibri"/>
              </a:defRPr>
            </a:pPr>
            <a:r>
              <a:t>Complétude des données - Taux par champs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69494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43784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807208"/>
            <a:ext cx="548640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200" b="1" i="0">
                <a:solidFill>
                  <a:srgbClr val="009A56"/>
                </a:solidFill>
                <a:latin typeface="Calibri"/>
              </a:defRPr>
            </a:pPr>
            <a:r>
              <a:t>III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807208"/>
            <a:ext cx="6400800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400" b="1" i="0">
                <a:solidFill>
                  <a:srgbClr val="1B2A4A"/>
                </a:solidFill>
                <a:latin typeface="Calibri"/>
              </a:defRPr>
            </a:pPr>
            <a:r>
              <a:t>Complétude des données - Champs sous seuil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55264"/>
            <a:ext cx="69494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01568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364992"/>
            <a:ext cx="548640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200" b="1" i="0">
                <a:solidFill>
                  <a:srgbClr val="009A56"/>
                </a:solidFill>
                <a:latin typeface="Calibri"/>
              </a:defRPr>
            </a:pPr>
            <a:r>
              <a:t>IV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364992"/>
            <a:ext cx="6400800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400" b="1" i="0">
                <a:solidFill>
                  <a:srgbClr val="1B2A4A"/>
                </a:solidFill>
                <a:latin typeface="Calibri"/>
              </a:defRPr>
            </a:pPr>
            <a:r>
              <a:t>Qualité des données - Taux par règles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13048"/>
            <a:ext cx="69494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59352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922776"/>
            <a:ext cx="548640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200" b="1" i="0">
                <a:solidFill>
                  <a:srgbClr val="009A56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922776"/>
            <a:ext cx="6400800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400" b="1" i="0">
                <a:solidFill>
                  <a:srgbClr val="1B2A4A"/>
                </a:solidFill>
                <a:latin typeface="Calibri"/>
              </a:defRPr>
            </a:pPr>
            <a:r>
              <a:t>Qualité des données - Règle sous seuil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70832"/>
            <a:ext cx="69494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-1005840"/>
            <a:ext cx="3291840" cy="3291840"/>
          </a:xfrm>
          <a:prstGeom prst="ellipse">
            <a:avLst/>
          </a:prstGeom>
          <a:noFill/>
          <a:ln w="190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1280160"/>
            <a:ext cx="2011680" cy="2011680"/>
          </a:xfrm>
          <a:prstGeom prst="ellipse">
            <a:avLst/>
          </a:prstGeom>
          <a:noFill/>
          <a:ln w="190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I.  SYNTHÈSE DES INDICATEURS CLÉS</a:t>
            </a:r>
          </a:p>
        </p:txBody>
      </p:sp>
      <p:pic>
        <p:nvPicPr>
          <p:cNvPr id="6" name="Picture 5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92040"/>
            <a:ext cx="9144000" cy="45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4910328"/>
            <a:ext cx="3520440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Conformité BOA Group | Pôle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100" b="1" i="0">
                <a:solidFill>
                  <a:srgbClr val="009A56"/>
                </a:solidFill>
                <a:latin typeface="Calibri"/>
              </a:defRPr>
            </a:pPr>
            <a:r>
              <a:t>VUE D'ENSEMBLE DU PÉRIMÈTRE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24127"/>
            <a:ext cx="8412480" cy="32004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0080" y="1508760"/>
          <a:ext cx="1920240" cy="1920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2176272"/>
            <a:ext cx="1920240" cy="5486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defRPr sz="2600" b="1" i="0">
                <a:solidFill>
                  <a:srgbClr val="F5A623"/>
                </a:solidFill>
                <a:latin typeface="Calibri"/>
              </a:defRPr>
            </a:pPr>
            <a:r>
              <a:t>87.3%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19" y="3474720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defRPr sz="1100" b="1" i="0">
                <a:solidFill>
                  <a:srgbClr val="1B2A4A"/>
                </a:solidFill>
                <a:latin typeface="Calibri"/>
              </a:defRPr>
            </a:pPr>
            <a:r>
              <a:t>COMPLÉTUDE GLOBALE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3017520" y="1508760"/>
          <a:ext cx="1920240" cy="19202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017520" y="2176272"/>
            <a:ext cx="1920240" cy="5486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defRPr sz="2600" b="1" i="0">
                <a:solidFill>
                  <a:srgbClr val="009A56"/>
                </a:solidFill>
                <a:latin typeface="Calibri"/>
              </a:defRPr>
            </a:pPr>
            <a:r>
              <a:t>91.2%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474720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defRPr sz="1100" b="1" i="0">
                <a:solidFill>
                  <a:srgbClr val="1B2A4A"/>
                </a:solidFill>
                <a:latin typeface="Calibri"/>
              </a:defRPr>
            </a:pPr>
            <a:r>
              <a:t>QUALITÉ GLOBALE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069080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PP 89%    ·    PM 82%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069080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PP 93%    ·    PM 86%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1508760"/>
            <a:ext cx="3246120" cy="1234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2120" y="1508760"/>
            <a:ext cx="3246120" cy="3108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1508760"/>
            <a:ext cx="3154679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Calibri"/>
              </a:defRPr>
            </a:pPr>
            <a:r>
              <a:t>CHAMPS SOUS LE SEUIL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819656"/>
            <a:ext cx="3246120" cy="64922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defRPr sz="3300" b="1" i="0">
                <a:solidFill>
                  <a:srgbClr val="F5A62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2450592"/>
            <a:ext cx="3246120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defRPr sz="850" b="0" i="0">
                <a:solidFill>
                  <a:srgbClr val="666666"/>
                </a:solidFill>
                <a:latin typeface="Calibri"/>
              </a:defRPr>
            </a:pPr>
            <a:r>
              <a:t>champs de complétude à fiabiliser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2926080"/>
            <a:ext cx="3246120" cy="1234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32120" y="2926080"/>
            <a:ext cx="3246120" cy="3108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2926080"/>
            <a:ext cx="3154679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Calibri"/>
              </a:defRPr>
            </a:pPr>
            <a:r>
              <a:t>RÈGLES SOUS LE SEUIL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3236976"/>
            <a:ext cx="3246120" cy="64922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defRPr sz="3300" b="1" i="0">
                <a:solidFill>
                  <a:srgbClr val="F5A62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867912"/>
            <a:ext cx="3246120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defRPr sz="850" b="0" i="0">
                <a:solidFill>
                  <a:srgbClr val="666666"/>
                </a:solidFill>
                <a:latin typeface="Calibri"/>
              </a:defRPr>
            </a:pPr>
            <a:r>
              <a:t>règles qualité nécessitant une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-1005840"/>
            <a:ext cx="3291840" cy="3291840"/>
          </a:xfrm>
          <a:prstGeom prst="ellipse">
            <a:avLst/>
          </a:prstGeom>
          <a:noFill/>
          <a:ln w="190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1280160"/>
            <a:ext cx="2011680" cy="2011680"/>
          </a:xfrm>
          <a:prstGeom prst="ellipse">
            <a:avLst/>
          </a:prstGeom>
          <a:noFill/>
          <a:ln w="190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II.  COMPLÉTUDE DES DONNÉES — TAUX PAR CHAMPS</a:t>
            </a:r>
          </a:p>
        </p:txBody>
      </p:sp>
      <p:pic>
        <p:nvPicPr>
          <p:cNvPr id="6" name="Picture 5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92040"/>
            <a:ext cx="9144000" cy="45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4910328"/>
            <a:ext cx="3520440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Conformité BOA Group | Pôle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100" b="1" i="0">
                <a:solidFill>
                  <a:srgbClr val="009A56"/>
                </a:solidFill>
                <a:latin typeface="Calibri"/>
              </a:defRPr>
            </a:pPr>
            <a:r>
              <a:t>TAUX DE COMPLÉTUDE PAR CHAMP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24127"/>
            <a:ext cx="8412480" cy="32004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65760" y="1463040"/>
          <a:ext cx="841248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365760" y="4809744"/>
            <a:ext cx="201168" cy="20116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73168"/>
            <a:ext cx="2377440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Conforme (≥ 90%)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4716" y="4809744"/>
            <a:ext cx="201168" cy="2011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9036" y="4773168"/>
            <a:ext cx="2377440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Sous le seuil (&lt; 90%)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-1005840"/>
            <a:ext cx="3291840" cy="3291840"/>
          </a:xfrm>
          <a:prstGeom prst="ellipse">
            <a:avLst/>
          </a:prstGeom>
          <a:noFill/>
          <a:ln w="190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1280160"/>
            <a:ext cx="2011680" cy="2011680"/>
          </a:xfrm>
          <a:prstGeom prst="ellipse">
            <a:avLst/>
          </a:prstGeom>
          <a:noFill/>
          <a:ln w="190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III.  COMPLÉTUDE DES DONNÉES — CHAMPS SOUS SEUIL (90%)</a:t>
            </a:r>
          </a:p>
        </p:txBody>
      </p:sp>
      <p:pic>
        <p:nvPicPr>
          <p:cNvPr id="6" name="Picture 5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92040"/>
            <a:ext cx="9144000" cy="45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4910328"/>
            <a:ext cx="3520440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Conformité BOA Group | Pôle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100" b="1" i="0">
                <a:solidFill>
                  <a:srgbClr val="009A56"/>
                </a:solidFill>
                <a:latin typeface="Calibri"/>
              </a:defRPr>
            </a:pPr>
            <a:r>
              <a:t>CHAMPS À FIABILISER EN PRIORITÉ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24127"/>
            <a:ext cx="8412480" cy="32004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371600"/>
          <a:ext cx="8412477" cy="2578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1247"/>
                <a:gridCol w="3785615"/>
                <a:gridCol w="1261872"/>
                <a:gridCol w="1345996"/>
                <a:gridCol w="1177747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 marT="18288" marB="18288" marL="64008" marR="64008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Champ</a:t>
                      </a:r>
                    </a:p>
                  </a:txBody>
                  <a:tcPr anchor="ctr" marT="18288" marB="18288" marL="64008" marR="64008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 marT="18288" marB="18288" marL="64008" marR="64008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Incomplets</a:t>
                      </a:r>
                    </a:p>
                  </a:txBody>
                  <a:tcPr anchor="ctr" marT="18288" marB="18288" marL="64008" marR="64008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Taux</a:t>
                      </a:r>
                    </a:p>
                  </a:txBody>
                  <a:tcPr anchor="ctr" marT="18288" marB="18288" marL="64008" marR="64008">
                    <a:solidFill>
                      <a:srgbClr val="009A5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PP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Profession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120 000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31 800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73.5%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Secteur d'activité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34 820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8 078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76.8%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PP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Pièce d'identité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120 000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26 040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78.3%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Registre de commerce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34 820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6 372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81.7%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PP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Date de naissance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120 000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17 880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85.1%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PP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Adresse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120 000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13 319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88.9%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-1005840"/>
            <a:ext cx="3291840" cy="3291840"/>
          </a:xfrm>
          <a:prstGeom prst="ellipse">
            <a:avLst/>
          </a:prstGeom>
          <a:noFill/>
          <a:ln w="190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1280160"/>
            <a:ext cx="2011680" cy="2011680"/>
          </a:xfrm>
          <a:prstGeom prst="ellipse">
            <a:avLst/>
          </a:prstGeom>
          <a:noFill/>
          <a:ln w="190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IV.  QUALITÉ DES DONNÉES — TAUX PAR RÈGLES</a:t>
            </a:r>
          </a:p>
        </p:txBody>
      </p:sp>
      <p:pic>
        <p:nvPicPr>
          <p:cNvPr id="6" name="Picture 5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92040"/>
            <a:ext cx="9144000" cy="45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4910328"/>
            <a:ext cx="3520440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Conformité BOA Group | Pôle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100" b="1" i="0">
                <a:solidFill>
                  <a:srgbClr val="009A56"/>
                </a:solidFill>
                <a:latin typeface="Calibri"/>
              </a:defRPr>
            </a:pPr>
            <a:r>
              <a:t>TAUX DE CONFORMITÉ PAR RÈGLE QUALITÉ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24127"/>
            <a:ext cx="8412480" cy="32004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65760" y="1463040"/>
          <a:ext cx="8412480" cy="3099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365760" y="4663440"/>
            <a:ext cx="201168" cy="20116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26864"/>
            <a:ext cx="2377440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Conforme (≥ 90%)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4716" y="4663440"/>
            <a:ext cx="201168" cy="2011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9036" y="4626864"/>
            <a:ext cx="2377440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Sous le seuil (&lt; 90%)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-1005840"/>
            <a:ext cx="3291840" cy="3291840"/>
          </a:xfrm>
          <a:prstGeom prst="ellipse">
            <a:avLst/>
          </a:prstGeom>
          <a:noFill/>
          <a:ln w="190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1280160"/>
            <a:ext cx="2011680" cy="2011680"/>
          </a:xfrm>
          <a:prstGeom prst="ellipse">
            <a:avLst/>
          </a:prstGeom>
          <a:noFill/>
          <a:ln w="190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V.  QUALITÉ DES DONNÉES — RÈGLES SOUS SEUIL (90%)</a:t>
            </a:r>
          </a:p>
        </p:txBody>
      </p:sp>
      <p:pic>
        <p:nvPicPr>
          <p:cNvPr id="6" name="Picture 5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92040"/>
            <a:ext cx="9144000" cy="45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4910328"/>
            <a:ext cx="3520440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Conformité BOA Group | Pôle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1100" b="1" i="0">
                <a:solidFill>
                  <a:srgbClr val="009A56"/>
                </a:solidFill>
                <a:latin typeface="Calibri"/>
              </a:defRPr>
            </a:pPr>
            <a:r>
              <a:t>RÈGLES NÉCESSITANT UNE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24127"/>
            <a:ext cx="8412480" cy="32004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371600"/>
          <a:ext cx="8412477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1247"/>
                <a:gridCol w="3028492"/>
                <a:gridCol w="2355494"/>
                <a:gridCol w="1177747"/>
                <a:gridCol w="1009497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 marT="18288" marB="18288" marL="64008" marR="64008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Règle</a:t>
                      </a:r>
                    </a:p>
                  </a:txBody>
                  <a:tcPr anchor="ctr" marT="18288" marB="18288" marL="64008" marR="64008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Champ</a:t>
                      </a:r>
                    </a:p>
                  </a:txBody>
                  <a:tcPr anchor="ctr" marT="18288" marB="18288" marL="64008" marR="64008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Anomalies</a:t>
                      </a:r>
                    </a:p>
                  </a:txBody>
                  <a:tcPr anchor="ctr" marT="18288" marB="18288" marL="64008" marR="64008">
                    <a:solidFill>
                      <a:srgbClr val="009A5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Taux</a:t>
                      </a:r>
                    </a:p>
                  </a:txBody>
                  <a:tcPr anchor="ctr" marT="18288" marB="18288" marL="64008" marR="64008">
                    <a:solidFill>
                      <a:srgbClr val="009A5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Bénéficiaire effectif identifié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Bénéficiaire effectif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8 129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72.9%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RC valide et non expiré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Registre de commerce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6 179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79.4%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PP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Format numéro pièce identité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Pièce d'identité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16 110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82.1%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Secteur d'activité codifié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Secteur d'activité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4 320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85.6%</a:t>
                      </a:r>
                    </a:p>
                  </a:txBody>
                  <a:tcPr anchor="ctr" marT="9144" marB="9144" marL="64008" marR="64008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PP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Adresse complète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Adresse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10 800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88.0%</a:t>
                      </a:r>
                    </a:p>
                  </a:txBody>
                  <a:tcPr anchor="ctr" marT="9144" marB="9144" marL="64008" marR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23760" y="-1463040"/>
            <a:ext cx="4206240" cy="4206240"/>
          </a:xfrm>
          <a:prstGeom prst="ellipse">
            <a:avLst/>
          </a:prstGeom>
          <a:noFill/>
          <a:ln w="25400">
            <a:solidFill>
              <a:srgbClr val="00C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1828800"/>
            <a:ext cx="2560320" cy="2560320"/>
          </a:xfrm>
          <a:prstGeom prst="ellipse">
            <a:avLst/>
          </a:prstGeom>
          <a:noFill/>
          <a:ln w="25400">
            <a:solidFill>
              <a:srgbClr val="00C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554480"/>
            <a:ext cx="6858000" cy="10972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FIN DU DOCUMENT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2788920"/>
            <a:ext cx="5486400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68580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RAPPORT DE PILOTAGE KYC — Conformité BOA Group | Pôle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64008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0" i="1">
                <a:solidFill>
                  <a:srgbClr val="D4F5E4"/>
                </a:solidFill>
                <a:latin typeface="Calibri"/>
              </a:defRPr>
            </a:pPr>
            <a:r>
              <a:t>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