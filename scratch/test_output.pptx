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(%)</c:v>
                </c:pt>
              </c:strCache>
            </c:strRef>
          </c:tx>
          <c:dPt>
            <c:idx val="0"/>
            <c:spPr>
              <a:solidFill>
                <a:srgbClr val="EF4444"/>
              </a:solidFill>
            </c:spPr>
          </c:dPt>
          <c:dPt>
            <c:idx val="1"/>
            <c:spPr>
              <a:solidFill>
                <a:srgbClr val="EF444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cat>
            <c:strRef>
              <c:f>Sheet1!$A$2:$A$4</c:f>
              <c:strCache>
                <c:ptCount val="3"/>
                <c:pt idx="0">
                  <c:v>PP – Numéro d'identificat</c:v>
                </c:pt>
                <c:pt idx="1">
                  <c:v>PM – Numéro NIF</c:v>
                </c:pt>
                <c:pt idx="2">
                  <c:v>PP – Date de naissance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83.3</c:v>
                </c:pt>
                <c:pt idx="1">
                  <c:v>85.0</c:v>
                </c:pt>
                <c:pt idx="2">
                  <c:v>92.0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5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Calibri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(%)</c:v>
                </c:pt>
              </c:strCache>
            </c:strRef>
          </c:tx>
          <c:dPt>
            <c:idx val="0"/>
            <c:spPr>
              <a:solidFill>
                <a:srgbClr val="EF4444"/>
              </a:solidFill>
            </c:spPr>
          </c:dPt>
          <c:dPt>
            <c:idx val="1"/>
            <c:spPr>
              <a:solidFill>
                <a:srgbClr val="009A56"/>
              </a:solidFill>
            </c:spPr>
          </c:dPt>
          <c:cat>
            <c:strRef>
              <c:f>Sheet1!$A$2:$A$3</c:f>
              <c:strCache>
                <c:ptCount val="2"/>
                <c:pt idx="0">
                  <c:v>PP – CIN invalide</c:v>
                </c:pt>
                <c:pt idx="1">
                  <c:v>PM – NIF manquant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86.7</c:v>
                </c:pt>
                <c:pt idx="1">
                  <c:v>95.8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5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Calibri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0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0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827999"/>
            <a:ext cx="6876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RAPPORT DE PILOTAGE KYC</a:t>
            </a:r>
          </a:p>
          <a:p>
            <a:pPr>
              <a:defRPr sz="1400">
                <a:solidFill>
                  <a:srgbClr val="CCFFDD"/>
                </a:solidFill>
                <a:latin typeface="Calibri"/>
              </a:defRPr>
            </a:pPr>
            <a:r>
              <a:t>Analyse de la Complétude et de la Qualité des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2916000"/>
            <a:ext cx="5040000" cy="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3131999"/>
            <a:ext cx="640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GROUPE  |  Seuil 90.0%  |  12/06/2026 à 11:16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4820400"/>
            <a:ext cx="640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CFFDD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  <p:pic>
        <p:nvPicPr>
          <p:cNvPr id="9" name="Picture 8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0" y="0"/>
            <a:ext cx="2340000" cy="56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52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0"/>
            <a:ext cx="6444000" cy="565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b="1" sz="1800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6000" y="0"/>
            <a:ext cx="2340000" cy="5652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r">
              <a:defRPr sz="800">
                <a:solidFill>
                  <a:srgbClr val="CCFFDD"/>
                </a:solidFill>
                <a:latin typeface="Calibri"/>
              </a:defRPr>
            </a:pPr>
            <a:r>
              <a:t>GROUPE  |  Seuil 90%</a:t>
            </a:r>
          </a:p>
        </p:txBody>
      </p:sp>
      <p:pic>
        <p:nvPicPr>
          <p:cNvPr id="5" name="Picture 4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0" y="0"/>
            <a:ext cx="2340000" cy="565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88800"/>
            <a:ext cx="9144000" cy="255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4917600"/>
            <a:ext cx="8784000" cy="21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Calibri"/>
              </a:defRPr>
            </a:pPr>
            <a:r>
              <a:t>Conformité BOA Group  |  Rapport généré le 12/06/2026 à 11:16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224000"/>
            <a:ext cx="432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600">
                <a:solidFill>
                  <a:srgbClr val="009A56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1224000"/>
            <a:ext cx="5328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100">
                <a:solidFill>
                  <a:srgbClr val="1B2A4A"/>
                </a:solidFill>
                <a:latin typeface="Calibri"/>
              </a:defRPr>
            </a:pPr>
            <a:r>
              <a:t>Synthèse des Indicateurs Clés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000" y="1692000"/>
            <a:ext cx="5940000" cy="21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1800000"/>
            <a:ext cx="432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600">
                <a:solidFill>
                  <a:srgbClr val="009A56"/>
                </a:solidFill>
                <a:latin typeface="Calibri"/>
              </a:defRPr>
            </a:pPr>
            <a: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1800000"/>
            <a:ext cx="5328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100">
                <a:solidFill>
                  <a:srgbClr val="1B2A4A"/>
                </a:solidFill>
                <a:latin typeface="Calibri"/>
              </a:defRPr>
            </a:pPr>
            <a:r>
              <a:t>Complétude par champ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2268000"/>
            <a:ext cx="5940000" cy="21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2376000"/>
            <a:ext cx="432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600">
                <a:solidFill>
                  <a:srgbClr val="009A56"/>
                </a:solidFill>
                <a:latin typeface="Calibri"/>
              </a:defRPr>
            </a:pPr>
            <a:r>
              <a:t>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2376000"/>
            <a:ext cx="5328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100">
                <a:solidFill>
                  <a:srgbClr val="1B2A4A"/>
                </a:solidFill>
                <a:latin typeface="Calibri"/>
              </a:defRPr>
            </a:pPr>
            <a:r>
              <a:t>Champs sous seuil — Complétude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" y="2844000"/>
            <a:ext cx="5940000" cy="21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2952000"/>
            <a:ext cx="432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600">
                <a:solidFill>
                  <a:srgbClr val="009A56"/>
                </a:solidFill>
                <a:latin typeface="Calibri"/>
              </a:defRPr>
            </a:pPr>
            <a: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2952000"/>
            <a:ext cx="5328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100">
                <a:solidFill>
                  <a:srgbClr val="1B2A4A"/>
                </a:solidFill>
                <a:latin typeface="Calibri"/>
              </a:defRPr>
            </a:pPr>
            <a:r>
              <a:t>Conformité par règle qualité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3420000"/>
            <a:ext cx="5940000" cy="21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000" y="3528000"/>
            <a:ext cx="432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600">
                <a:solidFill>
                  <a:srgbClr val="009A5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3528000"/>
            <a:ext cx="5328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100">
                <a:solidFill>
                  <a:srgbClr val="1B2A4A"/>
                </a:solidFill>
                <a:latin typeface="Calibri"/>
              </a:defRPr>
            </a:pPr>
            <a:r>
              <a:t>Règles sous seuil — Qualité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" y="3996000"/>
            <a:ext cx="5940000" cy="21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52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0"/>
            <a:ext cx="6444000" cy="565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b="1" sz="1800">
                <a:solidFill>
                  <a:srgbClr val="FFFFFF"/>
                </a:solidFill>
                <a:latin typeface="Calibri"/>
              </a:defRPr>
            </a:pPr>
            <a:r>
              <a:t>SYNTHÈSE DES INDICATEURS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6000" y="0"/>
            <a:ext cx="2340000" cy="5652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r">
              <a:defRPr sz="800">
                <a:solidFill>
                  <a:srgbClr val="CCFFDD"/>
                </a:solidFill>
                <a:latin typeface="Calibri"/>
              </a:defRPr>
            </a:pPr>
            <a:r>
              <a:t>GROUPE  |  Seuil 90%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0" y="0"/>
            <a:ext cx="2340000" cy="565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88800"/>
            <a:ext cx="9144000" cy="255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917600"/>
            <a:ext cx="8784000" cy="21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Calibri"/>
              </a:defRPr>
            </a:pPr>
            <a:r>
              <a:t>Conformité BOA Group  |  Rapport généré le 12/06/2026 à 11:16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90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900000"/>
            <a:ext cx="1980000" cy="28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900000"/>
            <a:ext cx="1980000" cy="2880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>
              <a:defRPr b="1" sz="850">
                <a:solidFill>
                  <a:srgbClr val="FFFFFF"/>
                </a:solidFill>
                <a:latin typeface="Calibri"/>
              </a:defRPr>
            </a:pPr>
            <a:r>
              <a:t>TAUX DE COMPLÉTUDE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1188000"/>
            <a:ext cx="1980000" cy="15120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600">
                <a:solidFill>
                  <a:srgbClr val="EF4444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0000" y="90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20000" y="900000"/>
            <a:ext cx="1980000" cy="28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0000" y="900000"/>
            <a:ext cx="1980000" cy="2880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>
              <a:defRPr b="1" sz="850">
                <a:solidFill>
                  <a:srgbClr val="FFFFFF"/>
                </a:solidFill>
                <a:latin typeface="Calibri"/>
              </a:defRPr>
            </a:pPr>
            <a:r>
              <a:t>TAUX DE QUALITÉ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00" y="1188000"/>
            <a:ext cx="1980000" cy="15120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600">
                <a:solidFill>
                  <a:srgbClr val="F59E0B"/>
                </a:solidFill>
                <a:latin typeface="Calibri"/>
              </a:defRPr>
            </a:pPr>
            <a:r>
              <a:t>92.1%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4000" y="90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4000" y="900000"/>
            <a:ext cx="1980000" cy="28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4000" y="900000"/>
            <a:ext cx="1980000" cy="2880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>
              <a:defRPr b="1" sz="850">
                <a:solidFill>
                  <a:srgbClr val="FFFFFF"/>
                </a:solidFill>
                <a:latin typeface="Calibri"/>
              </a:defRPr>
            </a:pPr>
            <a:r>
              <a:t>CHAMPS SOUS SEUIL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000" y="1188000"/>
            <a:ext cx="1980000" cy="15120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600">
                <a:solidFill>
                  <a:srgbClr val="EF44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8000" y="90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8000" y="900000"/>
            <a:ext cx="1980000" cy="28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8000" y="900000"/>
            <a:ext cx="1980000" cy="2880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>
              <a:defRPr b="1" sz="850">
                <a:solidFill>
                  <a:srgbClr val="FFFFFF"/>
                </a:solidFill>
                <a:latin typeface="Calibri"/>
              </a:defRPr>
            </a:pPr>
            <a:r>
              <a:t>RÈGLES SOUS SEUIL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8000" y="1188000"/>
            <a:ext cx="1980000" cy="15120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600">
                <a:solidFill>
                  <a:srgbClr val="EF4444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52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0"/>
            <a:ext cx="6444000" cy="565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b="1" sz="1800">
                <a:solidFill>
                  <a:srgbClr val="FFFFFF"/>
                </a:solidFill>
                <a:latin typeface="Calibri"/>
              </a:defRPr>
            </a:pPr>
            <a:r>
              <a:t>COMPLÉTUDE PAR CHAMP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6000" y="0"/>
            <a:ext cx="2340000" cy="5652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r">
              <a:defRPr sz="800">
                <a:solidFill>
                  <a:srgbClr val="CCFFDD"/>
                </a:solidFill>
                <a:latin typeface="Calibri"/>
              </a:defRPr>
            </a:pPr>
            <a:r>
              <a:t>GROUPE  |  Seuil 90%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0" y="0"/>
            <a:ext cx="2340000" cy="565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88800"/>
            <a:ext cx="9144000" cy="255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917600"/>
            <a:ext cx="8784000" cy="21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Calibri"/>
              </a:defRPr>
            </a:pPr>
            <a:r>
              <a:t>Conformité BOA Group  |  Rapport généré le 12/06/2026 à 11:16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720000"/>
            <a:ext cx="84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9A56"/>
                </a:solidFill>
                <a:latin typeface="Calibri"/>
              </a:defRPr>
            </a:pPr>
            <a:r>
              <a:t>TAUX PAR ÉLÉMENT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007999"/>
            <a:ext cx="8424000" cy="288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0000" y="1152000"/>
          <a:ext cx="8424000" cy="344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4708800"/>
            <a:ext cx="8424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64748B"/>
                </a:solidFill>
                <a:latin typeface="Calibri"/>
              </a:defRPr>
            </a:pPr>
            <a:r>
              <a:t>■ Conforme (≥90%)   ■ Proche du seuil (+5%)   ■ Sous le seuil (&lt;90%)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52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0"/>
            <a:ext cx="6444000" cy="565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b="1" sz="1800">
                <a:solidFill>
                  <a:srgbClr val="FFFFFF"/>
                </a:solidFill>
                <a:latin typeface="Calibri"/>
              </a:defRPr>
            </a:pPr>
            <a:r>
              <a:t>CHAMPS SOUS SEUIL (90%) — COMPLÉTUDE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6000" y="0"/>
            <a:ext cx="2340000" cy="5652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r">
              <a:defRPr sz="800">
                <a:solidFill>
                  <a:srgbClr val="CCFFDD"/>
                </a:solidFill>
                <a:latin typeface="Calibri"/>
              </a:defRPr>
            </a:pPr>
            <a:r>
              <a:t>GROUPE  |  Seuil 90%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0" y="0"/>
            <a:ext cx="2340000" cy="565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88800"/>
            <a:ext cx="9144000" cy="255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917600"/>
            <a:ext cx="8784000" cy="21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Calibri"/>
              </a:defRPr>
            </a:pPr>
            <a:r>
              <a:t>Conformité BOA Group  |  Rapport généré le 12/06/2026 à 11:16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720000"/>
            <a:ext cx="84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9A56"/>
                </a:solidFill>
                <a:latin typeface="Calibri"/>
              </a:defRPr>
            </a:pPr>
            <a:r>
              <a:t>DÉTAIL DES ÉLÉMENTS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007999"/>
            <a:ext cx="8424000" cy="288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260001" y="1152000"/>
          <a:ext cx="6623997" cy="4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999"/>
                <a:gridCol w="1007999"/>
                <a:gridCol w="2520000"/>
                <a:gridCol w="792000"/>
                <a:gridCol w="1007999"/>
                <a:gridCol w="792000"/>
              </a:tblGrid>
              <a:tr h="180000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Filiale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Champ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Incomplets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Taux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BOA BENIN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Numéro d'identification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1500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83.3%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BOA SENEGAL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Numéro NIF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1200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52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0"/>
            <a:ext cx="6444000" cy="565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b="1" sz="1800">
                <a:solidFill>
                  <a:srgbClr val="FFFFFF"/>
                </a:solidFill>
                <a:latin typeface="Calibri"/>
              </a:defRPr>
            </a:pPr>
            <a:r>
              <a:t>CONFORMITÉ PAR RÈGLE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6000" y="0"/>
            <a:ext cx="2340000" cy="5652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r">
              <a:defRPr sz="800">
                <a:solidFill>
                  <a:srgbClr val="CCFFDD"/>
                </a:solidFill>
                <a:latin typeface="Calibri"/>
              </a:defRPr>
            </a:pPr>
            <a:r>
              <a:t>GROUPE  |  Seuil 90%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0" y="0"/>
            <a:ext cx="2340000" cy="565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88800"/>
            <a:ext cx="9144000" cy="255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917600"/>
            <a:ext cx="8784000" cy="21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Calibri"/>
              </a:defRPr>
            </a:pPr>
            <a:r>
              <a:t>Conformité BOA Group  |  Rapport généré le 12/06/2026 à 11:16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720000"/>
            <a:ext cx="84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9A56"/>
                </a:solidFill>
                <a:latin typeface="Calibri"/>
              </a:defRPr>
            </a:pPr>
            <a:r>
              <a:t>TAUX PAR ÉLÉMENT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007999"/>
            <a:ext cx="8424000" cy="288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0000" y="1152000"/>
          <a:ext cx="8424000" cy="344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4708800"/>
            <a:ext cx="8424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64748B"/>
                </a:solidFill>
                <a:latin typeface="Calibri"/>
              </a:defRPr>
            </a:pPr>
            <a:r>
              <a:t>■ Conforme (≥90%)   ■ Proche du seuil (+5%)   ■ Sous le seuil (&lt;90%)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52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0"/>
            <a:ext cx="6444000" cy="565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b="1" sz="1800">
                <a:solidFill>
                  <a:srgbClr val="FFFFFF"/>
                </a:solidFill>
                <a:latin typeface="Calibri"/>
              </a:defRPr>
            </a:pPr>
            <a:r>
              <a:t>RÈGLES SOUS SEUIL (90%) —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6000" y="0"/>
            <a:ext cx="2340000" cy="5652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r">
              <a:defRPr sz="800">
                <a:solidFill>
                  <a:srgbClr val="CCFFDD"/>
                </a:solidFill>
                <a:latin typeface="Calibri"/>
              </a:defRPr>
            </a:pPr>
            <a:r>
              <a:t>GROUPE  |  Seuil 90%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00" y="0"/>
            <a:ext cx="2340000" cy="565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88800"/>
            <a:ext cx="9144000" cy="255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917600"/>
            <a:ext cx="8784000" cy="21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Calibri"/>
              </a:defRPr>
            </a:pPr>
            <a:r>
              <a:t>Conformité BOA Group  |  Rapport généré le 12/06/2026 à 11:16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720000"/>
            <a:ext cx="84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9A56"/>
                </a:solidFill>
                <a:latin typeface="Calibri"/>
              </a:defRPr>
            </a:pPr>
            <a:r>
              <a:t>DÉTAIL DES ÉLÉMENTS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007999"/>
            <a:ext cx="8424000" cy="288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82000" y="1152000"/>
          <a:ext cx="7380000" cy="33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900000"/>
                <a:gridCol w="2088000"/>
                <a:gridCol w="1620000"/>
                <a:gridCol w="720000"/>
                <a:gridCol w="900000"/>
                <a:gridCol w="720000"/>
              </a:tblGrid>
              <a:tr h="180000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Filiale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Règle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Champ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Anomalies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Taux</a:t>
                      </a:r>
                    </a:p>
                  </a:txBody>
                  <a:tcPr anchor="ctr" marT="14400" marB="14400" marL="28800" marR="28800">
                    <a:solidFill>
                      <a:srgbClr val="009A56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BOA BENIN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CIN invalide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NUMID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1500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86.7%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00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88001" y="-1368000"/>
            <a:ext cx="3671999" cy="4572000"/>
          </a:xfrm>
          <a:prstGeom prst="rect">
            <a:avLst/>
          </a:prstGeom>
          <a:solidFill>
            <a:srgbClr val="0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64000" y="1835999"/>
            <a:ext cx="2736000" cy="3491999"/>
          </a:xfrm>
          <a:prstGeom prst="rect">
            <a:avLst/>
          </a:prstGeom>
          <a:solidFill>
            <a:srgbClr val="0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000" y="1080000"/>
            <a:ext cx="2340000" cy="61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980000"/>
            <a:ext cx="7704000" cy="14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  <a:p>
            <a:pPr algn="ctr">
              <a:defRPr sz="1100">
                <a:solidFill>
                  <a:srgbClr val="CCFFDD"/>
                </a:solidFill>
                <a:latin typeface="Calibri"/>
              </a:defRPr>
            </a:pPr>
            <a:r>
              <a:t>Périmètre : GROUPE  |  Généré le 12/06/2026 à 11:16</a:t>
            </a:r>
          </a:p>
          <a:p>
            <a:pPr algn="ctr">
              <a:defRPr sz="800">
                <a:solidFill>
                  <a:srgbClr val="CCFFDD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