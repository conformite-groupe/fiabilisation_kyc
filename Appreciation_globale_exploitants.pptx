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009A5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4" name="Image 0" descr="bo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926080" cy="7115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MÉTHODOLOGIQUE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Appréciation globale des exploitants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13232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de calcul, matrices de décision et mesures RH associées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31520" y="4800600"/>
            <a:ext cx="502920" cy="45720"/>
          </a:xfrm>
          <a:prstGeom prst="rect">
            <a:avLst/>
          </a:prstGeom>
          <a:solidFill>
            <a:srgbClr val="009A56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Conformité  ·  BOA Group  ·  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calcul en deux étapes</a:t>
            </a:r>
            <a:endParaRPr lang="en-US" sz="3000" dirty="0"/>
          </a:p>
        </p:txBody>
      </p:sp>
      <p:pic>
        <p:nvPicPr>
          <p:cNvPr id="4" name="Image 0" descr="bo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457200"/>
            <a:ext cx="2331720" cy="567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exploitant (identifié par filiale + code exploitant), l'appréciation globale se construit à partir de 3 indicateurs, en deux temps 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F0F7F4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6060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737360" y="2651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Appréciation qualité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429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 ( taux de qualité , notation flux 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Très satisfaisant, Satisfaisant ou Insatisfaisant.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19672" y="228600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E8F5EE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39712" y="26060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6839712" y="2606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08392" y="2651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Appréciation globale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885432" y="3429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préfixe ( taux d'évolution , trimestre ) + suffixe ( appréciation qualité 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Faible / Moyen / Bon, suffixé ++, + ou –.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06440" y="3200400"/>
            <a:ext cx="502920" cy="822960"/>
          </a:xfrm>
          <a:prstGeom prst="chevron">
            <a:avLst/>
          </a:prstGeom>
          <a:solidFill>
            <a:srgbClr val="009A5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L'appréciation globale est ensuite traduite en une mesure RH (bonus / demande d'explication).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BOA Group  |  Appréciation globale des exploitants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D'ENTRÉE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indicateurs + un trimestre</a:t>
            </a:r>
            <a:endParaRPr lang="en-US" sz="3000" dirty="0"/>
          </a:p>
        </p:txBody>
      </p:sp>
      <p:pic>
        <p:nvPicPr>
          <p:cNvPr id="4" name="Image 0" descr="bo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457200"/>
            <a:ext cx="2331720" cy="567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965960"/>
            <a:ext cx="566928" cy="566928"/>
          </a:xfrm>
          <a:prstGeom prst="ellipse">
            <a:avLst/>
          </a:prstGeom>
          <a:solidFill>
            <a:srgbClr val="E8F5EE"/>
          </a:solidFill>
          <a:ln w="15875">
            <a:solidFill>
              <a:srgbClr val="009A5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54480" y="1856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d'évolution (flux)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20370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du dernier taux PP et PM sur le flux. Mesure la dynamique de régularisation.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554480" y="273405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TauxEvolution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1965960"/>
            <a:ext cx="566928" cy="566928"/>
          </a:xfrm>
          <a:prstGeom prst="ellipse">
            <a:avLst/>
          </a:prstGeom>
          <a:solidFill>
            <a:srgbClr val="E8F5EE"/>
          </a:solidFill>
          <a:ln w="15875">
            <a:solidFill>
              <a:srgbClr val="009A5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9672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269480" y="1856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qualité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69480" y="220370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clients conformes aux règles qualité, sur le périmètre de l'exploitant.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269480" y="273405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DataQualityRule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04672" y="3538728"/>
            <a:ext cx="566928" cy="566928"/>
          </a:xfrm>
          <a:prstGeom prst="ellipse">
            <a:avLst/>
          </a:prstGeom>
          <a:solidFill>
            <a:srgbClr val="E8F5EE"/>
          </a:solidFill>
          <a:ln w="15875">
            <a:solidFill>
              <a:srgbClr val="009A5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3538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554480" y="3429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flux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554480" y="37764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notation flux : Très Bien, Bien, Passable, Insuffisant.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554480" y="430682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Notation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63640" y="3264408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19672" y="3538728"/>
            <a:ext cx="566928" cy="566928"/>
          </a:xfrm>
          <a:prstGeom prst="ellipse">
            <a:avLst/>
          </a:prstGeom>
          <a:solidFill>
            <a:srgbClr val="E8F5EE"/>
          </a:solidFill>
          <a:ln w="15875">
            <a:solidFill>
              <a:srgbClr val="009A5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9672" y="3538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269480" y="3429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 courant (1 à 4)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269480" y="37764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trimestres écoulés depuis le démarrage du dispositif dans la filiale.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269480" y="430682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AppreciationConfig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5029200"/>
            <a:ext cx="11109960" cy="1234440"/>
          </a:xfrm>
          <a:prstGeom prst="roundRect">
            <a:avLst>
              <a:gd name="adj" fmla="val 3704"/>
            </a:avLst>
          </a:prstGeom>
          <a:solidFill>
            <a:srgbClr val="FEF6E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5138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Règles clés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Taux de qualité arrondi à l'entier inférieur ; la moindre anomalie plafonne à 99 % (seul 0 anomalie = 100 %).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Aucune donnée qualité → 100 % par défaut.   • Notation absente → traitée favorablement.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BOA Group  |  Appréciation globale des exploitants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l'appréciation qualité</a:t>
            </a:r>
            <a:endParaRPr lang="en-US" sz="3000" dirty="0"/>
          </a:p>
        </p:txBody>
      </p:sp>
      <p:pic>
        <p:nvPicPr>
          <p:cNvPr id="4" name="Image 0" descr="bo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457200"/>
            <a:ext cx="2331720" cy="567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Appréciation qualité = f ( taux de qualité , notation flux 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343400"/>
                <a:gridCol w="34747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qualité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 flux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Appréciation qualité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80 %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toutes notations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Insatisfaisant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80 % &lt; taux &lt; 100 %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Bien / Bien / (vide)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Satisfaisant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9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Passable / Insuffisant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Insatisfaisant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100 %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Bien / (vide)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satisfaisant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 / Passable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Satisfaisant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9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Insuffisant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Insatisfaisant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notation vide est traitée favorablement (comme un « Très Bien »).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BOA Group  |  Appréciation globale des exploitants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Appréciation globale = préfixe + suffixe</a:t>
            </a:r>
            <a:endParaRPr lang="en-US" sz="3000" dirty="0"/>
          </a:p>
        </p:txBody>
      </p:sp>
      <p:pic>
        <p:nvPicPr>
          <p:cNvPr id="4" name="Image 0" descr="bo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457200"/>
            <a:ext cx="2331720" cy="567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Préfixe — selon le taux d'évolution (seuils qui montent chaque trimestre)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400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 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 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T2 : évolution ≤ 30 → Faible ; 30–60 → Moyen ; &gt; 60 → Bon.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22376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Suffixe — selon l'appréciation qualité (étape 1)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223760" y="1965960"/>
            <a:ext cx="4434840" cy="658368"/>
          </a:xfrm>
          <a:prstGeom prst="roundRect">
            <a:avLst>
              <a:gd name="adj" fmla="val 6944"/>
            </a:avLst>
          </a:prstGeom>
          <a:solidFill>
            <a:srgbClr val="F0F7F4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52360" y="196596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satisfaisant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0744200" y="2039112"/>
            <a:ext cx="512064" cy="512064"/>
          </a:xfrm>
          <a:prstGeom prst="ellipse">
            <a:avLst/>
          </a:prstGeom>
          <a:solidFill>
            <a:srgbClr val="009A56"/>
          </a:solidFill>
          <a:ln/>
        </p:spPr>
      </p:sp>
      <p:sp>
        <p:nvSpPr>
          <p:cNvPr id="12" name="Text 8"/>
          <p:cNvSpPr/>
          <p:nvPr/>
        </p:nvSpPr>
        <p:spPr>
          <a:xfrm>
            <a:off x="10744200" y="20391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7223760" y="2752344"/>
            <a:ext cx="4434840" cy="658368"/>
          </a:xfrm>
          <a:prstGeom prst="roundRect">
            <a:avLst>
              <a:gd name="adj" fmla="val 6944"/>
            </a:avLst>
          </a:prstGeom>
          <a:solidFill>
            <a:srgbClr val="F0F7F4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452360" y="275234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Satisfaisant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0744200" y="2825496"/>
            <a:ext cx="512064" cy="512064"/>
          </a:xfrm>
          <a:prstGeom prst="ellipse">
            <a:avLst/>
          </a:prstGeom>
          <a:solidFill>
            <a:srgbClr val="3FA96B"/>
          </a:solidFill>
          <a:ln/>
        </p:spPr>
      </p:sp>
      <p:sp>
        <p:nvSpPr>
          <p:cNvPr id="16" name="Text 12"/>
          <p:cNvSpPr/>
          <p:nvPr/>
        </p:nvSpPr>
        <p:spPr>
          <a:xfrm>
            <a:off x="10744200" y="28254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7223760" y="3538728"/>
            <a:ext cx="4434840" cy="658368"/>
          </a:xfrm>
          <a:prstGeom prst="roundRect">
            <a:avLst>
              <a:gd name="adj" fmla="val 6944"/>
            </a:avLst>
          </a:prstGeom>
          <a:solidFill>
            <a:srgbClr val="F0F7F4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452360" y="353872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Insatisfaisant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0744200" y="3611880"/>
            <a:ext cx="512064" cy="5120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6"/>
          <p:cNvSpPr/>
          <p:nvPr/>
        </p:nvSpPr>
        <p:spPr>
          <a:xfrm>
            <a:off x="10744200" y="3611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548640" y="4892040"/>
            <a:ext cx="11109960" cy="1280160"/>
          </a:xfrm>
          <a:prstGeom prst="roundRect">
            <a:avLst>
              <a:gd name="adj" fmla="val 4286"/>
            </a:avLst>
          </a:prstGeom>
          <a:solidFill>
            <a:srgbClr val="1B2A4A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" y="5029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Appréciation globale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22960" y="5349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</a:t>
            </a:r>
            <a:pPr indent="0" marL="0">
              <a:buNone/>
            </a:pPr>
            <a:r>
              <a:rPr lang="en-US" sz="2400" dirty="0">
                <a:solidFill>
                  <a:srgbClr val="9D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Suffixe</a:t>
            </a:r>
            <a:pPr indent="0" marL="0">
              <a:buNone/>
            </a:pPr>
            <a:r>
              <a:rPr lang="en-US" sz="2400" dirty="0">
                <a:solidFill>
                  <a:srgbClr val="9D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ex. </a:t>
            </a:r>
            <a:pPr indent="0" marL="0">
              <a:buNone/>
            </a:pPr>
            <a:r>
              <a:rPr lang="en-US" sz="24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Bon++</a:t>
            </a:r>
            <a:pPr indent="0" marL="0">
              <a:buNone/>
            </a:pPr>
            <a:r>
              <a:rPr lang="en-US" sz="2400" dirty="0">
                <a:solidFill>
                  <a:srgbClr val="9D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Moyen+</a:t>
            </a:r>
            <a:pPr indent="0" marL="0">
              <a:buNone/>
            </a:pPr>
            <a:r>
              <a:rPr lang="en-US" sz="2400" dirty="0">
                <a:solidFill>
                  <a:srgbClr val="9D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2400" b="1" dirty="0">
                <a:solidFill>
                  <a:srgbClr val="E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Faible–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BOA Group  |  Appréciation globale des exploitants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OPÉRATIONNELLE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RH associées</a:t>
            </a:r>
            <a:endParaRPr lang="en-US" sz="3000" dirty="0"/>
          </a:p>
        </p:txBody>
      </p:sp>
      <p:pic>
        <p:nvPicPr>
          <p:cNvPr id="4" name="Image 0" descr="bo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457200"/>
            <a:ext cx="2331720" cy="567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11109960" cy="1170432"/>
          </a:xfrm>
          <a:prstGeom prst="roundRect">
            <a:avLst>
              <a:gd name="adj" fmla="val 4688"/>
            </a:avLst>
          </a:prstGeom>
          <a:solidFill>
            <a:srgbClr val="E8F5EE"/>
          </a:solidFill>
          <a:ln w="12700">
            <a:solidFill>
              <a:srgbClr val="009A5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938528"/>
            <a:ext cx="33832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009A5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938528"/>
            <a:ext cx="3291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Bon++ · Bon+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434840" y="1737360"/>
            <a:ext cx="69494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positif sur le bonus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11109960" cy="1170432"/>
          </a:xfrm>
          <a:prstGeom prst="roundRect">
            <a:avLst>
              <a:gd name="adj" fmla="val 4688"/>
            </a:avLst>
          </a:prstGeom>
          <a:solidFill>
            <a:srgbClr val="FEF6E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310128"/>
            <a:ext cx="33832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310128"/>
            <a:ext cx="3291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Faible++ · Faible+ · Moyen++ · Moyen+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434840" y="3108960"/>
            <a:ext cx="69494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d'explication + décote sur le bonus si motif infondé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480560"/>
            <a:ext cx="11109960" cy="1170432"/>
          </a:xfrm>
          <a:prstGeom prst="roundRect">
            <a:avLst>
              <a:gd name="adj" fmla="val 4688"/>
            </a:avLst>
          </a:prstGeom>
          <a:solidFill>
            <a:srgbClr val="FB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4681728"/>
            <a:ext cx="33832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681728"/>
            <a:ext cx="3291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Faible– · Moyen– · Bon–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434840" y="4480560"/>
            <a:ext cx="69494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d'explication avec sanction forte + décote sur le bonus si motif infondé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BOA Group  |  Appréciation globale des exploitants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solidFill>
            <a:srgbClr val="009A56">
              <a:alpha val="15000"/>
            </a:srgbClr>
          </a:solidFill>
          <a:ln/>
        </p:spPr>
      </p:sp>
      <p:pic>
        <p:nvPicPr>
          <p:cNvPr id="3" name="Image 0" descr="bo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377440" cy="578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1691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profil à une décision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85800" y="265176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12700">
            <a:solidFill>
              <a:srgbClr val="3B4E7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761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30358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474720" y="265176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12700">
            <a:solidFill>
              <a:srgbClr val="3B4E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11880" y="2761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d'évolution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11880" y="30358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72 %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63640" y="265176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12700">
            <a:solidFill>
              <a:srgbClr val="3B4E7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761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qualité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30358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9052560" y="265176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24365C"/>
          </a:solidFill>
          <a:ln w="12700">
            <a:solidFill>
              <a:srgbClr val="3B4E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89720" y="2761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flux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89720" y="30358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Bien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85800" y="3886200"/>
            <a:ext cx="566928" cy="566928"/>
          </a:xfrm>
          <a:prstGeom prst="ellipse">
            <a:avLst/>
          </a:prstGeom>
          <a:solidFill>
            <a:srgbClr val="009A56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886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463040" y="38862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246120" y="388620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+ « Très Bien »  →  Très satisfaisant  →  suffixe ++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85800" y="4727448"/>
            <a:ext cx="566928" cy="566928"/>
          </a:xfrm>
          <a:prstGeom prst="ellipse">
            <a:avLst/>
          </a:prstGeom>
          <a:solidFill>
            <a:srgbClr val="009A56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4727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463040" y="472744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246120" y="472744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72 % en T2 ( &gt; 60 )  →  préfixe  Bon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85800" y="5568696"/>
            <a:ext cx="566928" cy="566928"/>
          </a:xfrm>
          <a:prstGeom prst="ellipse">
            <a:avLst/>
          </a:prstGeom>
          <a:solidFill>
            <a:srgbClr val="009A56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55686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463040" y="556869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246120" y="5568696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Appréciation globale = Bon++  →  Impact positif sur le bonus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Appréciation globale des exploitants</dc:title>
  <dc:subject>PptxGenJS Presentation</dc:subject>
  <dc:creator>Conformité BOA Group</dc:creator>
  <cp:lastModifiedBy>Conformité BOA Group</cp:lastModifiedBy>
  <cp:revision>1</cp:revision>
  <dcterms:created xsi:type="dcterms:W3CDTF">2026-07-08T09:46:03Z</dcterms:created>
  <dcterms:modified xsi:type="dcterms:W3CDTF">2026-07-08T09:46:03Z</dcterms:modified>
</cp:coreProperties>
</file>