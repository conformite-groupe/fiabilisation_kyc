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officeDocument/2006/relationships/officeDocument" Target="ppt/presentation.xml"/>
<Relationship Id="rId1" Type="http://schemas.microsoft.com/office/2011/relationships/webextensiontaskpanes" Target="ppt/webextensions/taskpanes.xml"/>
<Relationship Id="rId5" Type="http://schemas.openxmlformats.org/officeDocument/2006/relationships/custom-properties" Target="docProps/custom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397" r:id="rId5"/>
    <p:sldId id="398" r:id="rId6"/>
    <p:sldId id="403" r:id="rId7"/>
    <p:sldId id="404" r:id="rId8"/>
    <p:sldId id="401" r:id="rId9"/>
    <p:sldId id="402" r:id="rId10"/>
  </p:sldIdLst>
  <p:sldSz cx="9144000" cy="5143500" type="screen16x9"/>
  <p:notesSz cx="6797675" cy="9926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A56"/>
    <a:srgbClr val="00B050"/>
    <a:srgbClr val="69A4A0"/>
    <a:srgbClr val="F4B183"/>
    <a:srgbClr val="00B0F0"/>
    <a:srgbClr val="1F4E79"/>
    <a:srgbClr val="F59E0B"/>
    <a:srgbClr val="D7DADD"/>
    <a:srgbClr val="004181"/>
    <a:srgbClr val="1136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slide" Target="slides/slide4.xml"/>
<Relationship Id="rId13" Type="http://schemas.openxmlformats.org/officeDocument/2006/relationships/viewProps" Target="viewProps.xml"/>
<Relationship Id="rId3" Type="http://schemas.openxmlformats.org/officeDocument/2006/relationships/customXml" Target="../customXml/item3.xml"/>
<Relationship Id="rId7" Type="http://schemas.openxmlformats.org/officeDocument/2006/relationships/slide" Target="slides/slide3.xml"/>
<Relationship Id="rId12" Type="http://schemas.openxmlformats.org/officeDocument/2006/relationships/presProps" Target="presProps.xml"/>
<Relationship Id="rId2" Type="http://schemas.openxmlformats.org/officeDocument/2006/relationships/customXml" Target="../customXml/item2.xml"/>
<Relationship Id="rId16" Type="http://schemas.microsoft.com/office/2016/11/relationships/changesInfo" Target="changesInfos/changesInfo1.xml"/>
<Relationship Id="rId1" Type="http://schemas.openxmlformats.org/officeDocument/2006/relationships/customXml" Target="../customXml/item1.xml"/>
<Relationship Id="rId6" Type="http://schemas.openxmlformats.org/officeDocument/2006/relationships/slide" Target="slides/slide2.xml"/>
<Relationship Id="rId11" Type="http://schemas.openxmlformats.org/officeDocument/2006/relationships/notesMaster" Target="notesMasters/notesMaster1.xml"/>
<Relationship Id="rId5" Type="http://schemas.openxmlformats.org/officeDocument/2006/relationships/slide" Target="slides/slide1.xml"/>
<Relationship Id="rId15" Type="http://schemas.openxmlformats.org/officeDocument/2006/relationships/tableStyles" Target="tableStyles.xml"/>
<Relationship Id="rId10" Type="http://schemas.openxmlformats.org/officeDocument/2006/relationships/slide" Target="slides/slide6.xml"/>
<Relationship Id="rId4" Type="http://schemas.openxmlformats.org/officeDocument/2006/relationships/slideMaster" Target="slideMasters/slideMaster1.xml"/>
<Relationship Id="rId9" Type="http://schemas.openxmlformats.org/officeDocument/2006/relationships/slide" Target="slides/slide5.xml"/>
<Relationship Id="rId14" Type="http://schemas.openxmlformats.org/officeDocument/2006/relationships/theme" Target="theme/them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madou Fallou Sylla" userId="c456aed9-8824-4632-add3-85c26a03832d" providerId="ADAL" clId="{59587479-4389-46B4-BE53-52C117EAA1BD}"/>
    <pc:docChg chg="custSel addSld delSld modSld">
      <pc:chgData name="Mamadou Fallou Sylla" userId="c456aed9-8824-4632-add3-85c26a03832d" providerId="ADAL" clId="{59587479-4389-46B4-BE53-52C117EAA1BD}" dt="2026-05-11T12:06:24.318" v="42" actId="20577"/>
      <pc:docMkLst>
        <pc:docMk/>
      </pc:docMkLst>
      <pc:sldChg chg="modSp add mod">
        <pc:chgData name="Mamadou Fallou Sylla" userId="c456aed9-8824-4632-add3-85c26a03832d" providerId="ADAL" clId="{59587479-4389-46B4-BE53-52C117EAA1BD}" dt="2026-04-23T18:07:37.666" v="32" actId="20577"/>
        <pc:sldMkLst>
          <pc:docMk/>
          <pc:sldMk cId="478788005" sldId="397"/>
        </pc:sldMkLst>
        <pc:spChg chg="mod">
          <ac:chgData name="Mamadou Fallou Sylla" userId="c456aed9-8824-4632-add3-85c26a03832d" providerId="ADAL" clId="{59587479-4389-46B4-BE53-52C117EAA1BD}" dt="2026-04-23T18:07:37.666" v="32" actId="20577"/>
          <ac:spMkLst>
            <pc:docMk/>
            <pc:sldMk cId="478788005" sldId="397"/>
            <ac:spMk id="4" creationId="{F7C0FA78-1B32-705A-E7E0-5A3418AAD48B}"/>
          </ac:spMkLst>
        </pc:spChg>
      </pc:sldChg>
      <pc:sldChg chg="add">
        <pc:chgData name="Mamadou Fallou Sylla" userId="c456aed9-8824-4632-add3-85c26a03832d" providerId="ADAL" clId="{59587479-4389-46B4-BE53-52C117EAA1BD}" dt="2026-04-22T18:13:33.358" v="9"/>
        <pc:sldMkLst>
          <pc:docMk/>
          <pc:sldMk cId="220926360" sldId="398"/>
        </pc:sldMkLst>
      </pc:sldChg>
      <pc:sldChg chg="modSp add mod">
        <pc:chgData name="Mamadou Fallou Sylla" userId="c456aed9-8824-4632-add3-85c26a03832d" providerId="ADAL" clId="{59587479-4389-46B4-BE53-52C117EAA1BD}" dt="2026-05-11T12:06:24.318" v="42" actId="20577"/>
        <pc:sldMkLst>
          <pc:docMk/>
          <pc:sldMk cId="955053115" sldId="401"/>
        </pc:sldMkLst>
        <pc:spChg chg="mod">
          <ac:chgData name="Mamadou Fallou Sylla" userId="c456aed9-8824-4632-add3-85c26a03832d" providerId="ADAL" clId="{59587479-4389-46B4-BE53-52C117EAA1BD}" dt="2026-04-22T18:14:09.112" v="11" actId="20577"/>
          <ac:spMkLst>
            <pc:docMk/>
            <pc:sldMk cId="955053115" sldId="401"/>
            <ac:spMk id="7" creationId="{C4F98015-CDE7-5BF9-41ED-2A309967C7E1}"/>
          </ac:spMkLst>
        </pc:spChg>
        <pc:spChg chg="mod">
          <ac:chgData name="Mamadou Fallou Sylla" userId="c456aed9-8824-4632-add3-85c26a03832d" providerId="ADAL" clId="{59587479-4389-46B4-BE53-52C117EAA1BD}" dt="2026-04-22T18:14:15.165" v="15" actId="20577"/>
          <ac:spMkLst>
            <pc:docMk/>
            <pc:sldMk cId="955053115" sldId="401"/>
            <ac:spMk id="30" creationId="{33A17348-4295-1ABC-69DE-B0DE01FA45BD}"/>
          </ac:spMkLst>
        </pc:spChg>
        <pc:spChg chg="mod">
          <ac:chgData name="Mamadou Fallou Sylla" userId="c456aed9-8824-4632-add3-85c26a03832d" providerId="ADAL" clId="{59587479-4389-46B4-BE53-52C117EAA1BD}" dt="2026-05-11T12:06:24.318" v="42" actId="20577"/>
          <ac:spMkLst>
            <pc:docMk/>
            <pc:sldMk cId="955053115" sldId="401"/>
            <ac:spMk id="33" creationId="{8AB59C06-95D1-50C9-8702-4AF6F10C9EF8}"/>
          </ac:spMkLst>
        </pc:spChg>
        <pc:spChg chg="mod">
          <ac:chgData name="Mamadou Fallou Sylla" userId="c456aed9-8824-4632-add3-85c26a03832d" providerId="ADAL" clId="{59587479-4389-46B4-BE53-52C117EAA1BD}" dt="2026-04-22T18:14:12.130" v="13" actId="20577"/>
          <ac:spMkLst>
            <pc:docMk/>
            <pc:sldMk cId="955053115" sldId="401"/>
            <ac:spMk id="36" creationId="{6EB7B78B-29B6-AFA3-FA2F-45A3DC5C3DDB}"/>
          </ac:spMkLst>
        </pc:spChg>
        <pc:spChg chg="mod">
          <ac:chgData name="Mamadou Fallou Sylla" userId="c456aed9-8824-4632-add3-85c26a03832d" providerId="ADAL" clId="{59587479-4389-46B4-BE53-52C117EAA1BD}" dt="2026-04-22T18:14:17.755" v="17" actId="20577"/>
          <ac:spMkLst>
            <pc:docMk/>
            <pc:sldMk cId="955053115" sldId="401"/>
            <ac:spMk id="47" creationId="{8E548D68-7B40-D2C6-DF5B-33A5E9E4F9FD}"/>
          </ac:spMkLst>
        </pc:spChg>
      </pc:sldChg>
      <pc:sldChg chg="add">
        <pc:chgData name="Mamadou Fallou Sylla" userId="c456aed9-8824-4632-add3-85c26a03832d" providerId="ADAL" clId="{59587479-4389-46B4-BE53-52C117EAA1BD}" dt="2026-04-22T18:13:33.358" v="9"/>
        <pc:sldMkLst>
          <pc:docMk/>
          <pc:sldMk cId="3892122250" sldId="402"/>
        </pc:sldMkLst>
      </pc:sldChg>
      <pc:sldChg chg="delSp modSp add mod">
        <pc:chgData name="Mamadou Fallou Sylla" userId="c456aed9-8824-4632-add3-85c26a03832d" providerId="ADAL" clId="{59587479-4389-46B4-BE53-52C117EAA1BD}" dt="2026-04-23T18:27:13.518" v="37" actId="478"/>
        <pc:sldMkLst>
          <pc:docMk/>
          <pc:sldMk cId="3874920773" sldId="403"/>
        </pc:sldMkLst>
      </pc:sldChg>
      <pc:sldChg chg="delSp modSp add mod">
        <pc:chgData name="Mamadou Fallou Sylla" userId="c456aed9-8824-4632-add3-85c26a03832d" providerId="ADAL" clId="{59587479-4389-46B4-BE53-52C117EAA1BD}" dt="2026-04-23T18:27:16.930" v="38" actId="478"/>
        <pc:sldMkLst>
          <pc:docMk/>
          <pc:sldMk cId="1142853159" sldId="4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367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2" Type="http://schemas.openxmlformats.org/officeDocument/2006/relationships/slide" Target="../slides/slide1.xml"/>
<Relationship Id="rId1" Type="http://schemas.openxmlformats.org/officeDocument/2006/relationships/notesMaster" Target="../notesMasters/notesMaster1.xml"/>
</Relationships>

</file>

<file path=ppt/notesSlides/_rels/notesSlide2.xml.rels><?xml version="1.0" encoding="UTF-8" standalone="yes"?>

<Relationships  xmlns="http://schemas.openxmlformats.org/package/2006/relationships">
<Relationship Id="rId2" Type="http://schemas.openxmlformats.org/officeDocument/2006/relationships/slide" Target="../slides/slide2.xml"/>
<Relationship Id="rId1" Type="http://schemas.openxmlformats.org/officeDocument/2006/relationships/notesMaster" Target="../notesMasters/notesMaster1.xml"/>
</Relationships>

</file>

<file path=ppt/notesSlides/_rels/notesSlide3.xml.rels><?xml version="1.0" encoding="UTF-8" standalone="yes"?>

<Relationships  xmlns="http://schemas.openxmlformats.org/package/2006/relationships">
<Relationship Id="rId2" Type="http://schemas.openxmlformats.org/officeDocument/2006/relationships/slide" Target="../slides/slide3.xml"/>
<Relationship Id="rId1" Type="http://schemas.openxmlformats.org/officeDocument/2006/relationships/notesMaster" Target="../notesMasters/notesMaster1.xml"/>
</Relationships>

</file>

<file path=ppt/notesSlides/_rels/notesSlide4.xml.rels><?xml version="1.0" encoding="UTF-8" standalone="yes"?>

<Relationships  xmlns="http://schemas.openxmlformats.org/package/2006/relationships">
<Relationship Id="rId2" Type="http://schemas.openxmlformats.org/officeDocument/2006/relationships/slide" Target="../slides/slide4.xml"/>
<Relationship Id="rId1" Type="http://schemas.openxmlformats.org/officeDocument/2006/relationships/notesMaster" Target="../notesMasters/notesMaster1.xml"/>
</Relationships>

</file>

<file path=ppt/notesSlides/_rels/notesSlide5.xml.rels><?xml version="1.0" encoding="UTF-8" standalone="yes"?>

<Relationships  xmlns="http://schemas.openxmlformats.org/package/2006/relationships">
<Relationship Id="rId2" Type="http://schemas.openxmlformats.org/officeDocument/2006/relationships/slide" Target="../slides/slide5.xml"/>
<Relationship Id="rId1" Type="http://schemas.openxmlformats.org/officeDocument/2006/relationships/notesMaster" Target="../notesMasters/notesMaster1.xml"/>
</Relationships>

</file>

<file path=ppt/notesSlides/_rels/notesSlide6.xml.rels><?xml version="1.0" encoding="UTF-8" standalone="yes"?>

<Relationships  xmlns="http://schemas.openxmlformats.org/package/2006/relationships">
<Relationship Id="rId2" Type="http://schemas.openxmlformats.org/officeDocument/2006/relationships/slide" Target="../slides/slide6.xml"/>
<Relationship Id="rId1" Type="http://schemas.openxmlformats.org/officeDocument/2006/relationships/notesMaster" Target="../notesMasters/notesMaster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23EED-013D-069E-988C-1854D2EF1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4DA2D-F9FF-1D8D-1C90-97C2A8ACB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107031" tIns="53515" rIns="107031" bIns="53515"/>
          <a:lstStyle/>
          <a:p>
            <a:endParaRPr lang="fr-S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6354C-DD71-6C82-2331-8335E7864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228EA-B4E8-5FB0-B080-260DCEAC76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8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47868-8A2C-7DCF-1C93-10AF9BE1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A9BEE-569B-91E6-50F2-CAB87CDB0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107031" tIns="53515" rIns="107031" bIns="53515"/>
          <a:lstStyle/>
          <a:p>
            <a:endParaRPr lang="fr-S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5BB04-820F-3D9E-1719-DB7EAAF78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8F25D-9084-0B6C-A91B-2F8D3ADC3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30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C853D-18F8-EE8B-0322-D26B48BF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E0681-1C9C-E6CC-6F8D-D7F95C7A1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107031" tIns="53515" rIns="107031" bIns="53515"/>
          <a:lstStyle/>
          <a:p>
            <a:endParaRPr lang="fr-S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2E913-732A-0282-8DAE-6427706E5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3EE4F-F425-E080-2BBC-34F6C558C6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86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92ADF-F2DB-F816-9A6A-E1184B8F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3B7D9-3C37-43D9-BE45-0A3D962B8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107031" tIns="53515" rIns="107031" bIns="53515"/>
          <a:lstStyle/>
          <a:p>
            <a:endParaRPr lang="fr-S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69BC2B-5720-CB7F-94F4-1CE2C7C78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0F466-656E-4C7D-1923-99FC6EF39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22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FD470-7965-F427-C621-8AABE2FC9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7C216-C685-33F6-8BE5-6BC9241AA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107031" tIns="53515" rIns="107031" bIns="53515"/>
          <a:lstStyle/>
          <a:p>
            <a:endParaRPr lang="fr-S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94B41-219E-46DC-F7E8-8685E6CC3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352C3-C954-8499-DE90-C95EE5D026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86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3" Type="http://schemas.openxmlformats.org/officeDocument/2006/relationships/image" Target="../media/image1.png"/>
<Relationship Id="rId2" Type="http://schemas.openxmlformats.org/officeDocument/2006/relationships/notesSlide" Target="../notesSlides/notesSlide1.xml"/>
<Relationship Id="rId1" Type="http://schemas.openxmlformats.org/officeDocument/2006/relationships/slideLayout" Target="../slideLayouts/slideLayout1.xml"/>
<Relationship Id="rId4" Type="http://schemas.openxmlformats.org/officeDocument/2006/relationships/image" Target="../media/image2.png"/>
</Relationships>

</file>

<file path=ppt/slides/_rels/slide2.xml.rels><?xml version="1.0" encoding="UTF-8" standalone="yes"?>

<Relationships  xmlns="http://schemas.openxmlformats.org/package/2006/relationships">
<Relationship Id="rId3" Type="http://schemas.openxmlformats.org/officeDocument/2006/relationships/image" Target="../media/image1.png"/>
<Relationship Id="rId2" Type="http://schemas.openxmlformats.org/officeDocument/2006/relationships/notesSlide" Target="../notesSlides/notesSlide2.xml"/>
<Relationship Id="rId1" Type="http://schemas.openxmlformats.org/officeDocument/2006/relationships/slideLayout" Target="../slideLayouts/slideLayout1.xml"/>
<Relationship Id="rId4" Type="http://schemas.openxmlformats.org/officeDocument/2006/relationships/image" Target="../media/image2.png"/>
</Relationships>

</file>

<file path=ppt/slides/_rels/slide3.xml.rels><?xml version="1.0" encoding="UTF-8" standalone="yes"?>

<Relationships  xmlns="http://schemas.openxmlformats.org/package/2006/relationships">
<Relationship Id="rId3" Type="http://schemas.openxmlformats.org/officeDocument/2006/relationships/image" Target="../media/image1.png"/>
<Relationship Id="rId2" Type="http://schemas.openxmlformats.org/officeDocument/2006/relationships/notesSlide" Target="../notesSlides/notesSlide3.xml"/>
<Relationship Id="rId1" Type="http://schemas.openxmlformats.org/officeDocument/2006/relationships/slideLayout" Target="../slideLayouts/slideLayout1.xml"/>
<Relationship Id="rId4" Type="http://schemas.openxmlformats.org/officeDocument/2006/relationships/image" Target="../media/image2.png"/>
</Relationships>

</file>

<file path=ppt/slides/_rels/slide4.xml.rels><?xml version="1.0" encoding="UTF-8" standalone="yes"?>

<Relationships  xmlns="http://schemas.openxmlformats.org/package/2006/relationships">
<Relationship Id="rId3" Type="http://schemas.openxmlformats.org/officeDocument/2006/relationships/image" Target="../media/image1.png"/>
<Relationship Id="rId2" Type="http://schemas.openxmlformats.org/officeDocument/2006/relationships/notesSlide" Target="../notesSlides/notesSlide4.xml"/>
<Relationship Id="rId1" Type="http://schemas.openxmlformats.org/officeDocument/2006/relationships/slideLayout" Target="../slideLayouts/slideLayout1.xml"/>
<Relationship Id="rId4" Type="http://schemas.openxmlformats.org/officeDocument/2006/relationships/image" Target="../media/image2.png"/>
</Relationships>

</file>

<file path=ppt/slides/_rels/slide5.xml.rels><?xml version="1.0" encoding="UTF-8" standalone="yes"?>

<Relationships  xmlns="http://schemas.openxmlformats.org/package/2006/relationships">
<Relationship Id="rId3" Type="http://schemas.openxmlformats.org/officeDocument/2006/relationships/image" Target="../media/image1.png"/>
<Relationship Id="rId2" Type="http://schemas.openxmlformats.org/officeDocument/2006/relationships/notesSlide" Target="../notesSlides/notesSlide5.xml"/>
<Relationship Id="rId1" Type="http://schemas.openxmlformats.org/officeDocument/2006/relationships/slideLayout" Target="../slideLayouts/slideLayout1.xml"/>
<Relationship Id="rId4" Type="http://schemas.openxmlformats.org/officeDocument/2006/relationships/image" Target="../media/image2.png"/>
</Relationships>

</file>

<file path=ppt/slides/_rels/slide6.xml.rels><?xml version="1.0" encoding="UTF-8" standalone="yes"?>

<Relationships  xmlns="http://schemas.openxmlformats.org/package/2006/relationships">
<Relationship Id="rId3" Type="http://schemas.openxmlformats.org/officeDocument/2006/relationships/image" Target="../media/image1.png"/>
<Relationship Id="rId2" Type="http://schemas.openxmlformats.org/officeDocument/2006/relationships/notesSlide" Target="../notesSlides/notesSlide6.xml"/>
<Relationship Id="rId1" Type="http://schemas.openxmlformats.org/officeDocument/2006/relationships/slideLayout" Target="../slideLayouts/slideLayout1.xml"/>
<Relationship Id="rId4" Type="http://schemas.openxmlformats.org/officeDocument/2006/relationships/image" Target="../media/image2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0E34-67AB-C12D-65A2-124EAE17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>
            <a:extLst>
              <a:ext uri="{FF2B5EF4-FFF2-40B4-BE49-F238E27FC236}">
                <a16:creationId xmlns:a16="http://schemas.microsoft.com/office/drawing/2014/main" id="{6E440239-D600-13EE-BF1B-DA8311581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25339" cy="5143500"/>
          </a:xfrm>
          <a:prstGeom prst="rect">
            <a:avLst/>
          </a:prstGeom>
        </p:spPr>
      </p:pic>
      <p:pic>
        <p:nvPicPr>
          <p:cNvPr id="3" name="Image 19">
            <a:extLst>
              <a:ext uri="{FF2B5EF4-FFF2-40B4-BE49-F238E27FC236}">
                <a16:creationId xmlns:a16="http://schemas.microsoft.com/office/drawing/2014/main" id="{4465BC79-D697-0421-8D20-993873A82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661" y="0"/>
            <a:ext cx="6125339" cy="51435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F7C0FA78-1B32-705A-E7E0-5A3418AAD48B}"/>
              </a:ext>
            </a:extLst>
          </p:cNvPr>
          <p:cNvSpPr/>
          <p:nvPr/>
        </p:nvSpPr>
        <p:spPr>
          <a:xfrm>
            <a:off x="913829" y="1291592"/>
            <a:ext cx="7315200" cy="1363649"/>
          </a:xfrm>
          <a:prstGeom prst="rect">
            <a:avLst/>
          </a:prstGeom>
          <a:noFill/>
          <a:ln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FIABILISATION KYC BOA XX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5" name="Image 25">
            <a:extLst>
              <a:ext uri="{FF2B5EF4-FFF2-40B4-BE49-F238E27FC236}">
                <a16:creationId xmlns:a16="http://schemas.microsoft.com/office/drawing/2014/main" id="{F2A8C500-3D88-8915-0A08-FDC4D8401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9" y="301424"/>
            <a:ext cx="1829941" cy="445009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A857E414-623F-8B2C-EE2F-2C73DE611411}"/>
              </a:ext>
            </a:extLst>
          </p:cNvPr>
          <p:cNvSpPr/>
          <p:nvPr/>
        </p:nvSpPr>
        <p:spPr>
          <a:xfrm>
            <a:off x="913829" y="2902723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ET SUIVI DES TRAVAUX DE FIABILISATION KYC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5E82AD-9414-9783-CA14-EC4B7260339C}"/>
              </a:ext>
            </a:extLst>
          </p:cNvPr>
          <p:cNvSpPr/>
          <p:nvPr/>
        </p:nvSpPr>
        <p:spPr>
          <a:xfrm>
            <a:off x="913829" y="3578587"/>
            <a:ext cx="3657600" cy="4572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FB5C789-872A-DCA4-0A19-ED97F638DC92}"/>
              </a:ext>
            </a:extLst>
          </p:cNvPr>
          <p:cNvSpPr/>
          <p:nvPr/>
        </p:nvSpPr>
        <p:spPr>
          <a:xfrm>
            <a:off x="913829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49BA5569-73C3-2056-7219-E1EC86136DA6}"/>
              </a:ext>
            </a:extLst>
          </p:cNvPr>
          <p:cNvSpPr/>
          <p:nvPr/>
        </p:nvSpPr>
        <p:spPr>
          <a:xfrm>
            <a:off x="8417009" y="-913363"/>
            <a:ext cx="5029200" cy="5029200"/>
          </a:xfrm>
          <a:prstGeom prst="ellipse">
            <a:avLst/>
          </a:prstGeom>
          <a:solidFill>
            <a:schemeClr val="accent6">
              <a:lumMod val="40000"/>
              <a:lumOff val="60000"/>
              <a:alpha val="8000"/>
            </a:schemeClr>
          </a:solidFill>
          <a:ln w="12700">
            <a:solidFill>
              <a:schemeClr val="accent5">
                <a:lumMod val="5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01D43CE4-DFE1-DBD4-F5E6-3CCEBB8F9508}"/>
              </a:ext>
            </a:extLst>
          </p:cNvPr>
          <p:cNvSpPr/>
          <p:nvPr/>
        </p:nvSpPr>
        <p:spPr>
          <a:xfrm>
            <a:off x="8639939" y="-457200"/>
            <a:ext cx="3200400" cy="3200400"/>
          </a:xfrm>
          <a:prstGeom prst="ellipse">
            <a:avLst/>
          </a:prstGeom>
          <a:solidFill>
            <a:srgbClr val="00B0F0">
              <a:alpha val="12000"/>
            </a:srgbClr>
          </a:solidFill>
          <a:ln w="12700">
            <a:solidFill>
              <a:schemeClr val="accent5">
                <a:lumMod val="5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</p:spTree>
    <p:extLst>
      <p:ext uri="{BB962C8B-B14F-4D97-AF65-F5344CB8AC3E}">
        <p14:creationId xmlns:p14="http://schemas.microsoft.com/office/powerpoint/2010/main" val="47878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1A75-52C5-1632-8D3E-84D5A2F2E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9">
            <a:extLst>
              <a:ext uri="{FF2B5EF4-FFF2-40B4-BE49-F238E27FC236}">
                <a16:creationId xmlns:a16="http://schemas.microsoft.com/office/drawing/2014/main" id="{1CFA205C-92BB-D5AF-C944-7C9961763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96" y="0"/>
            <a:ext cx="4053803" cy="51435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1A9CAC39-60A3-8354-CCA2-2EC0DCA475F8}"/>
              </a:ext>
            </a:extLst>
          </p:cNvPr>
          <p:cNvSpPr/>
          <p:nvPr/>
        </p:nvSpPr>
        <p:spPr>
          <a:xfrm>
            <a:off x="313715" y="593524"/>
            <a:ext cx="4625313" cy="1363649"/>
          </a:xfrm>
          <a:prstGeom prst="rect">
            <a:avLst/>
          </a:prstGeom>
          <a:noFill/>
          <a:ln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100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4800" dirty="0">
              <a:solidFill>
                <a:srgbClr val="009A56"/>
              </a:solidFill>
            </a:endParaRPr>
          </a:p>
        </p:txBody>
      </p:sp>
      <p:pic>
        <p:nvPicPr>
          <p:cNvPr id="4" name="Image 25">
            <a:extLst>
              <a:ext uri="{FF2B5EF4-FFF2-40B4-BE49-F238E27FC236}">
                <a16:creationId xmlns:a16="http://schemas.microsoft.com/office/drawing/2014/main" id="{84C0433A-0D55-9202-B55B-E831C4189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9" y="301424"/>
            <a:ext cx="1829941" cy="445009"/>
          </a:xfrm>
          <a:prstGeom prst="rect">
            <a:avLst/>
          </a:prstGeom>
        </p:spPr>
      </p:pic>
      <p:grpSp>
        <p:nvGrpSpPr>
          <p:cNvPr id="5" name="Groupe 37">
            <a:extLst>
              <a:ext uri="{FF2B5EF4-FFF2-40B4-BE49-F238E27FC236}">
                <a16:creationId xmlns:a16="http://schemas.microsoft.com/office/drawing/2014/main" id="{B325CFA4-EE54-F5D2-C2DA-7E51D87DD148}"/>
              </a:ext>
            </a:extLst>
          </p:cNvPr>
          <p:cNvGrpSpPr/>
          <p:nvPr/>
        </p:nvGrpSpPr>
        <p:grpSpPr>
          <a:xfrm>
            <a:off x="151802" y="2222608"/>
            <a:ext cx="3991966" cy="1234339"/>
            <a:chOff x="415026" y="2141324"/>
            <a:chExt cx="7916562" cy="1645785"/>
          </a:xfrm>
        </p:grpSpPr>
        <p:sp>
          <p:nvSpPr>
            <p:cNvPr id="6" name="ZoneTexte 7">
              <a:extLst>
                <a:ext uri="{FF2B5EF4-FFF2-40B4-BE49-F238E27FC236}">
                  <a16:creationId xmlns:a16="http://schemas.microsoft.com/office/drawing/2014/main" id="{1F66C265-6135-57AA-1645-A900A128B5CC}"/>
                </a:ext>
              </a:extLst>
            </p:cNvPr>
            <p:cNvSpPr txBox="1"/>
            <p:nvPr/>
          </p:nvSpPr>
          <p:spPr>
            <a:xfrm>
              <a:off x="1389599" y="2294131"/>
              <a:ext cx="6936992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fr-FR" sz="1350" b="1" dirty="0">
                  <a:solidFill>
                    <a:prstClr val="black"/>
                  </a:solidFill>
                  <a:latin typeface="Trebuchet MS" panose="020B0603020202020204" pitchFamily="34" charset="0"/>
                </a:rPr>
                <a:t>TAUX DE COMPLÉTUDE</a:t>
              </a:r>
            </a:p>
          </p:txBody>
        </p:sp>
        <p:sp>
          <p:nvSpPr>
            <p:cNvPr id="7" name="ZoneTexte 8">
              <a:extLst>
                <a:ext uri="{FF2B5EF4-FFF2-40B4-BE49-F238E27FC236}">
                  <a16:creationId xmlns:a16="http://schemas.microsoft.com/office/drawing/2014/main" id="{BBD92607-7A84-E1A7-4313-0EDD80B66D26}"/>
                </a:ext>
              </a:extLst>
            </p:cNvPr>
            <p:cNvSpPr txBox="1"/>
            <p:nvPr/>
          </p:nvSpPr>
          <p:spPr>
            <a:xfrm>
              <a:off x="1394596" y="3262653"/>
              <a:ext cx="6936992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2900">
                <a:defRPr/>
              </a:pPr>
              <a:r>
                <a:rPr lang="fr-FR" sz="1350" b="1" dirty="0">
                  <a:solidFill>
                    <a:prstClr val="black"/>
                  </a:solidFill>
                  <a:latin typeface="Trebuchet MS" panose="020B0603020202020204" pitchFamily="34" charset="0"/>
                </a:rPr>
                <a:t>OBSERVATIONS</a:t>
              </a:r>
            </a:p>
          </p:txBody>
        </p:sp>
        <p:sp>
          <p:nvSpPr>
            <p:cNvPr id="8" name="ZoneTexte 10">
              <a:extLst>
                <a:ext uri="{FF2B5EF4-FFF2-40B4-BE49-F238E27FC236}">
                  <a16:creationId xmlns:a16="http://schemas.microsoft.com/office/drawing/2014/main" id="{E790D5F1-4A08-EC77-9D8D-1E104CD7E0BF}"/>
                </a:ext>
              </a:extLst>
            </p:cNvPr>
            <p:cNvSpPr txBox="1"/>
            <p:nvPr/>
          </p:nvSpPr>
          <p:spPr>
            <a:xfrm>
              <a:off x="415026" y="2141324"/>
              <a:ext cx="1070919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defRPr/>
              </a:pPr>
              <a:r>
                <a:rPr lang="fr-FR" sz="2700" b="1" dirty="0">
                  <a:solidFill>
                    <a:srgbClr val="009A56"/>
                  </a:solidFill>
                  <a:latin typeface="Trebuchet MS" panose="020B0603020202020204"/>
                </a:rPr>
                <a:t>I</a:t>
              </a:r>
            </a:p>
          </p:txBody>
        </p:sp>
        <p:sp>
          <p:nvSpPr>
            <p:cNvPr id="9" name="ZoneTexte 11">
              <a:extLst>
                <a:ext uri="{FF2B5EF4-FFF2-40B4-BE49-F238E27FC236}">
                  <a16:creationId xmlns:a16="http://schemas.microsoft.com/office/drawing/2014/main" id="{641A8FB2-98CC-F848-4072-F7D28C517550}"/>
                </a:ext>
              </a:extLst>
            </p:cNvPr>
            <p:cNvSpPr txBox="1"/>
            <p:nvPr/>
          </p:nvSpPr>
          <p:spPr>
            <a:xfrm>
              <a:off x="415026" y="3110001"/>
              <a:ext cx="1070918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defRPr/>
              </a:pPr>
              <a:r>
                <a:rPr lang="fr-FR" sz="2700" b="1" dirty="0">
                  <a:solidFill>
                    <a:srgbClr val="009A56"/>
                  </a:solidFill>
                  <a:latin typeface="Trebuchet MS" panose="020B0603020202020204"/>
                </a:rPr>
                <a:t>II</a:t>
              </a:r>
            </a:p>
          </p:txBody>
        </p:sp>
        <p:cxnSp>
          <p:nvCxnSpPr>
            <p:cNvPr id="10" name="Connecteur droit 15">
              <a:extLst>
                <a:ext uri="{FF2B5EF4-FFF2-40B4-BE49-F238E27FC236}">
                  <a16:creationId xmlns:a16="http://schemas.microsoft.com/office/drawing/2014/main" id="{79FD9FDF-4EB3-AB1A-F1FD-413C0D24AF51}"/>
                </a:ext>
              </a:extLst>
            </p:cNvPr>
            <p:cNvCxnSpPr>
              <a:cxnSpLocks/>
            </p:cNvCxnSpPr>
            <p:nvPr/>
          </p:nvCxnSpPr>
          <p:spPr>
            <a:xfrm>
              <a:off x="1485944" y="2663462"/>
              <a:ext cx="6845643" cy="0"/>
            </a:xfrm>
            <a:prstGeom prst="line">
              <a:avLst/>
            </a:prstGeom>
            <a:ln w="28575">
              <a:solidFill>
                <a:srgbClr val="009A5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31">
              <a:extLst>
                <a:ext uri="{FF2B5EF4-FFF2-40B4-BE49-F238E27FC236}">
                  <a16:creationId xmlns:a16="http://schemas.microsoft.com/office/drawing/2014/main" id="{6F2A221B-5A34-E3DE-7EBF-D7FDE5E97BF4}"/>
                </a:ext>
              </a:extLst>
            </p:cNvPr>
            <p:cNvCxnSpPr>
              <a:cxnSpLocks/>
            </p:cNvCxnSpPr>
            <p:nvPr/>
          </p:nvCxnSpPr>
          <p:spPr>
            <a:xfrm>
              <a:off x="1485944" y="3635239"/>
              <a:ext cx="6845643" cy="0"/>
            </a:xfrm>
            <a:prstGeom prst="line">
              <a:avLst/>
            </a:prstGeom>
            <a:ln w="28575">
              <a:solidFill>
                <a:srgbClr val="009A5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Shape 1">
            <a:extLst>
              <a:ext uri="{FF2B5EF4-FFF2-40B4-BE49-F238E27FC236}">
                <a16:creationId xmlns:a16="http://schemas.microsoft.com/office/drawing/2014/main" id="{CED87160-B53E-F1B6-4C34-08BB2801E4CD}"/>
              </a:ext>
            </a:extLst>
          </p:cNvPr>
          <p:cNvSpPr/>
          <p:nvPr/>
        </p:nvSpPr>
        <p:spPr>
          <a:xfrm>
            <a:off x="8417009" y="-913363"/>
            <a:ext cx="5029200" cy="5029200"/>
          </a:xfrm>
          <a:prstGeom prst="ellipse">
            <a:avLst/>
          </a:prstGeom>
          <a:solidFill>
            <a:schemeClr val="accent6">
              <a:lumMod val="40000"/>
              <a:lumOff val="60000"/>
              <a:alpha val="8000"/>
            </a:schemeClr>
          </a:solidFill>
          <a:ln w="12700">
            <a:solidFill>
              <a:schemeClr val="accent5">
                <a:lumMod val="5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B1C713A2-F229-1FA0-D98A-28F112D7073A}"/>
              </a:ext>
            </a:extLst>
          </p:cNvPr>
          <p:cNvSpPr/>
          <p:nvPr/>
        </p:nvSpPr>
        <p:spPr>
          <a:xfrm>
            <a:off x="8639939" y="-457200"/>
            <a:ext cx="3200400" cy="3200400"/>
          </a:xfrm>
          <a:prstGeom prst="ellipse">
            <a:avLst/>
          </a:prstGeom>
          <a:solidFill>
            <a:srgbClr val="00B0F0">
              <a:alpha val="12000"/>
            </a:srgbClr>
          </a:solidFill>
          <a:ln w="12700">
            <a:solidFill>
              <a:schemeClr val="accent5">
                <a:lumMod val="5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</p:spTree>
    <p:extLst>
      <p:ext uri="{BB962C8B-B14F-4D97-AF65-F5344CB8AC3E}">
        <p14:creationId xmlns:p14="http://schemas.microsoft.com/office/powerpoint/2010/main" val="22092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13E2E-B1A4-20BF-0482-F9C44B13F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>
            <a:extLst>
              <a:ext uri="{FF2B5EF4-FFF2-40B4-BE49-F238E27FC236}">
                <a16:creationId xmlns:a16="http://schemas.microsoft.com/office/drawing/2014/main" id="{C4712276-0385-2E76-3377-64A2E8A1B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25339" cy="445009"/>
          </a:xfrm>
          <a:prstGeom prst="rect">
            <a:avLst/>
          </a:prstGeom>
        </p:spPr>
      </p:pic>
      <p:pic>
        <p:nvPicPr>
          <p:cNvPr id="3" name="Image 19">
            <a:extLst>
              <a:ext uri="{FF2B5EF4-FFF2-40B4-BE49-F238E27FC236}">
                <a16:creationId xmlns:a16="http://schemas.microsoft.com/office/drawing/2014/main" id="{ACEF388E-FCBA-6C9E-BD8D-8FFC2C196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661" y="0"/>
            <a:ext cx="6125339" cy="445009"/>
          </a:xfrm>
          <a:prstGeom prst="rect">
            <a:avLst/>
          </a:prstGeom>
        </p:spPr>
      </p:pic>
      <p:pic>
        <p:nvPicPr>
          <p:cNvPr id="4" name="Image 25">
            <a:extLst>
              <a:ext uri="{FF2B5EF4-FFF2-40B4-BE49-F238E27FC236}">
                <a16:creationId xmlns:a16="http://schemas.microsoft.com/office/drawing/2014/main" id="{6A88ED4C-9A09-81E0-ED01-F90A966CD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9" y="0"/>
            <a:ext cx="1829941" cy="445009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00B457D6-81BC-5662-4964-79D6D1EC6ABF}"/>
              </a:ext>
            </a:extLst>
          </p:cNvPr>
          <p:cNvSpPr/>
          <p:nvPr/>
        </p:nvSpPr>
        <p:spPr>
          <a:xfrm>
            <a:off x="217714" y="22859"/>
            <a:ext cx="8708571" cy="399289"/>
          </a:xfrm>
          <a:prstGeom prst="rect">
            <a:avLst/>
          </a:prstGeom>
          <a:noFill/>
          <a:ln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I.TAUX DE COMPLÉTUDE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7679F6A7-21F5-1AC9-2412-44B335B03561}"/>
              </a:ext>
            </a:extLst>
          </p:cNvPr>
          <p:cNvSpPr/>
          <p:nvPr/>
        </p:nvSpPr>
        <p:spPr>
          <a:xfrm>
            <a:off x="217714" y="585576"/>
            <a:ext cx="3874226" cy="316634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txBody>
          <a:bodyPr anchor="ctr"/>
          <a:lstStyle/>
          <a:p>
            <a:pPr algn="ctr"/>
            <a:r>
              <a:rPr lang="fr-FR" sz="1200" b="1" spc="300" dirty="0">
                <a:solidFill>
                  <a:schemeClr val="bg1"/>
                </a:solidFill>
                <a:latin typeface="Aptos" panose="020B0004020202020204" pitchFamily="34" charset="0"/>
              </a:rPr>
              <a:t>1. CLIENTS PERSONNES PHYSIQUES</a:t>
            </a:r>
            <a:endParaRPr lang="fr-SN" sz="1200" b="1" spc="3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1045C3E-C3DB-6A1D-0E15-124652B9CA69}"/>
              </a:ext>
            </a:extLst>
          </p:cNvPr>
          <p:cNvSpPr/>
          <p:nvPr/>
        </p:nvSpPr>
        <p:spPr>
          <a:xfrm>
            <a:off x="8417009" y="-913363"/>
            <a:ext cx="5029200" cy="5029200"/>
          </a:xfrm>
          <a:prstGeom prst="ellipse">
            <a:avLst/>
          </a:prstGeom>
          <a:solidFill>
            <a:schemeClr val="accent6">
              <a:lumMod val="40000"/>
              <a:lumOff val="60000"/>
              <a:alpha val="8000"/>
            </a:schemeClr>
          </a:solidFill>
          <a:ln w="12700">
            <a:solidFill>
              <a:schemeClr val="accent5">
                <a:lumMod val="5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202DD40-5466-9FD2-9088-E81A8DDACA17}"/>
              </a:ext>
            </a:extLst>
          </p:cNvPr>
          <p:cNvSpPr/>
          <p:nvPr/>
        </p:nvSpPr>
        <p:spPr>
          <a:xfrm>
            <a:off x="8639939" y="-457200"/>
            <a:ext cx="3200400" cy="3200400"/>
          </a:xfrm>
          <a:prstGeom prst="ellipse">
            <a:avLst/>
          </a:prstGeom>
          <a:solidFill>
            <a:srgbClr val="00B0F0">
              <a:alpha val="12000"/>
            </a:srgbClr>
          </a:solidFill>
          <a:ln w="12700">
            <a:solidFill>
              <a:schemeClr val="accent5">
                <a:lumMod val="5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EACF3DB-CF7D-73A3-E2FD-D74D75EC03A3}"/>
              </a:ext>
            </a:extLst>
          </p:cNvPr>
          <p:cNvSpPr/>
          <p:nvPr/>
        </p:nvSpPr>
        <p:spPr>
          <a:xfrm>
            <a:off x="7811388" y="4836915"/>
            <a:ext cx="1279021" cy="30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du 31/03/2026</a:t>
            </a:r>
          </a:p>
        </p:txBody>
      </p:sp>
      <p:sp>
        <p:nvSpPr>
          <p:cNvPr id="10" name="ZoneTexte 5">
            <a:extLst>
              <a:ext uri="{FF2B5EF4-FFF2-40B4-BE49-F238E27FC236}">
                <a16:creationId xmlns:a16="http://schemas.microsoft.com/office/drawing/2014/main" id="{FED0177E-3D27-0851-05A5-B141D8803719}"/>
              </a:ext>
            </a:extLst>
          </p:cNvPr>
          <p:cNvSpPr txBox="1"/>
          <p:nvPr/>
        </p:nvSpPr>
        <p:spPr>
          <a:xfrm>
            <a:off x="130946" y="4462168"/>
            <a:ext cx="627025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accent1">
                    <a:lumMod val="50000"/>
                  </a:schemeClr>
                </a:solidFill>
              </a:rPr>
              <a:t>(1) </a:t>
            </a:r>
            <a:r>
              <a:rPr lang="fr-FR" sz="800" dirty="0">
                <a:solidFill>
                  <a:schemeClr val="tx2"/>
                </a:solidFill>
                <a:sym typeface="Arial"/>
              </a:rPr>
              <a:t>proportion d’informations renseignées par rapport au nombre total d’informations attendues pour les champs critiques.</a:t>
            </a:r>
          </a:p>
          <a:p>
            <a:r>
              <a:rPr lang="fr-FR" sz="800" dirty="0">
                <a:solidFill>
                  <a:schemeClr val="accent1">
                    <a:lumMod val="50000"/>
                  </a:schemeClr>
                </a:solidFill>
              </a:rPr>
              <a:t>(2) </a:t>
            </a:r>
            <a:r>
              <a:rPr lang="fr-FR" sz="800" dirty="0">
                <a:solidFill>
                  <a:schemeClr val="tx2"/>
                </a:solidFill>
                <a:sym typeface="Arial"/>
              </a:rPr>
              <a:t>proportion de clients présentant au moins une information manquante par rapport au nombre total de clients pour les champs critiques.</a:t>
            </a:r>
          </a:p>
          <a:p>
            <a:r>
              <a:rPr lang="fr-FR" sz="800" dirty="0">
                <a:solidFill>
                  <a:schemeClr val="tx2"/>
                </a:solidFill>
              </a:rPr>
              <a:t>(3) Taux de complétude </a:t>
            </a:r>
            <a:r>
              <a:rPr lang="en-GB" sz="800" dirty="0">
                <a:solidFill>
                  <a:schemeClr val="tx2"/>
                </a:solidFill>
              </a:rPr>
              <a:t>doit </a:t>
            </a:r>
            <a:r>
              <a:rPr lang="en-GB" sz="800" dirty="0" err="1">
                <a:solidFill>
                  <a:schemeClr val="tx2"/>
                </a:solidFill>
              </a:rPr>
              <a:t>être</a:t>
            </a:r>
            <a:r>
              <a:rPr lang="en-GB" sz="800" dirty="0">
                <a:solidFill>
                  <a:schemeClr val="tx2"/>
                </a:solidFill>
              </a:rPr>
              <a:t> </a:t>
            </a:r>
            <a:r>
              <a:rPr lang="en-GB" sz="800" dirty="0" err="1">
                <a:solidFill>
                  <a:schemeClr val="tx2"/>
                </a:solidFill>
              </a:rPr>
              <a:t>égal</a:t>
            </a:r>
            <a:r>
              <a:rPr lang="en-GB" sz="800" dirty="0">
                <a:solidFill>
                  <a:schemeClr val="tx2"/>
                </a:solidFill>
              </a:rPr>
              <a:t> à 100% pour le flux.</a:t>
            </a:r>
          </a:p>
          <a:p>
            <a:r>
              <a:rPr lang="fr-FR" sz="800" dirty="0">
                <a:solidFill>
                  <a:schemeClr val="tx2"/>
                </a:solidFill>
              </a:rPr>
              <a:t>(4) Taux de complétude </a:t>
            </a:r>
            <a:r>
              <a:rPr lang="en-GB" sz="800" dirty="0">
                <a:solidFill>
                  <a:schemeClr val="tx2"/>
                </a:solidFill>
              </a:rPr>
              <a:t>doit </a:t>
            </a:r>
            <a:r>
              <a:rPr lang="en-GB" sz="800" dirty="0" err="1">
                <a:solidFill>
                  <a:schemeClr val="tx2"/>
                </a:solidFill>
              </a:rPr>
              <a:t>être</a:t>
            </a:r>
            <a:r>
              <a:rPr lang="en-GB" sz="800" dirty="0">
                <a:solidFill>
                  <a:schemeClr val="tx2"/>
                </a:solidFill>
              </a:rPr>
              <a:t> supérieur </a:t>
            </a:r>
            <a:r>
              <a:rPr lang="en-GB" sz="800" dirty="0" err="1">
                <a:solidFill>
                  <a:schemeClr val="tx2"/>
                </a:solidFill>
              </a:rPr>
              <a:t>ou</a:t>
            </a:r>
            <a:r>
              <a:rPr lang="en-GB" sz="800" dirty="0">
                <a:solidFill>
                  <a:schemeClr val="tx2"/>
                </a:solidFill>
              </a:rPr>
              <a:t> </a:t>
            </a:r>
            <a:r>
              <a:rPr lang="en-GB" sz="800" dirty="0" err="1">
                <a:solidFill>
                  <a:schemeClr val="tx2"/>
                </a:solidFill>
              </a:rPr>
              <a:t>égale</a:t>
            </a:r>
            <a:r>
              <a:rPr lang="en-GB" sz="800" dirty="0">
                <a:solidFill>
                  <a:schemeClr val="tx2"/>
                </a:solidFill>
              </a:rPr>
              <a:t> à 90% pour le stock.</a:t>
            </a:r>
            <a:endParaRPr lang="fr-SN" sz="800" dirty="0">
              <a:solidFill>
                <a:schemeClr val="tx2"/>
              </a:solidFill>
            </a:endParaRPr>
          </a:p>
        </p:txBody>
      </p:sp>
      <p:graphicFrame>
        <p:nvGraphicFramePr>
          <p:cNvPr id="11" name=""/>
          <p:cNvGraphicFramePr>
            <a:graphicFrameLocks noGrp="true"/>
          </p:cNvGraphicFramePr>
          <p:nvPr/>
        </p:nvGraphicFramePr>
        <p:xfrm rot="0">
          <a:off x="292608" y="960120"/>
          <a:ext cx="8549640" cy="3246120"/>
        </p:xfrm>
        <a:graphic>
          <a:graphicData uri="http://schemas.openxmlformats.org/drawingml/2006/table">
            <a:tbl>
              <a:tblPr/>
              <a:tblGrid>
                <a:gridCol w="1920240"/>
                <a:gridCol w="3886200"/>
                <a:gridCol w="1371600"/>
                <a:gridCol w="1371600"/>
              </a:tblGrid>
              <a:tr h="219456"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Champs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Flux (3)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Stock (4)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</a:tr>
              <a:tr h="219456">
                <a:tc rowSpan="10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Lieu de Naissance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Profession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Salaire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NIN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Code agent économique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Téléphone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Adresse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Date de naissance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Date de validité CIN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Origine du revenu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rowSpan="2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de complétude global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Approche par champs (1)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de complétude global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Approche par clients (2)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B084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92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D9B4F-E75C-7F3F-DE96-F93D70F5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>
            <a:extLst>
              <a:ext uri="{FF2B5EF4-FFF2-40B4-BE49-F238E27FC236}">
                <a16:creationId xmlns:a16="http://schemas.microsoft.com/office/drawing/2014/main" id="{EF5003D4-2E0D-3C30-3D89-5C6F9BC14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25339" cy="445009"/>
          </a:xfrm>
          <a:prstGeom prst="rect">
            <a:avLst/>
          </a:prstGeom>
        </p:spPr>
      </p:pic>
      <p:pic>
        <p:nvPicPr>
          <p:cNvPr id="3" name="Image 19">
            <a:extLst>
              <a:ext uri="{FF2B5EF4-FFF2-40B4-BE49-F238E27FC236}">
                <a16:creationId xmlns:a16="http://schemas.microsoft.com/office/drawing/2014/main" id="{C30F20BD-8FE5-2FF9-81B9-5C0D5C938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661" y="0"/>
            <a:ext cx="6125339" cy="445009"/>
          </a:xfrm>
          <a:prstGeom prst="rect">
            <a:avLst/>
          </a:prstGeom>
        </p:spPr>
      </p:pic>
      <p:pic>
        <p:nvPicPr>
          <p:cNvPr id="4" name="Image 25">
            <a:extLst>
              <a:ext uri="{FF2B5EF4-FFF2-40B4-BE49-F238E27FC236}">
                <a16:creationId xmlns:a16="http://schemas.microsoft.com/office/drawing/2014/main" id="{68077C01-458B-9C5D-FD38-69F6E0946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9" y="0"/>
            <a:ext cx="1829941" cy="445009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9E18D907-5EB1-C3EF-EE47-164360D6B1D2}"/>
              </a:ext>
            </a:extLst>
          </p:cNvPr>
          <p:cNvSpPr/>
          <p:nvPr/>
        </p:nvSpPr>
        <p:spPr>
          <a:xfrm>
            <a:off x="217714" y="22859"/>
            <a:ext cx="8708571" cy="399289"/>
          </a:xfrm>
          <a:prstGeom prst="rect">
            <a:avLst/>
          </a:prstGeom>
          <a:noFill/>
          <a:ln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I.TAUX DE COMPLÉTUDE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D4EE35D9-7DA5-630E-6BA9-9FBDC94C0859}"/>
              </a:ext>
            </a:extLst>
          </p:cNvPr>
          <p:cNvSpPr/>
          <p:nvPr/>
        </p:nvSpPr>
        <p:spPr>
          <a:xfrm>
            <a:off x="217714" y="585576"/>
            <a:ext cx="3874226" cy="316634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txBody>
          <a:bodyPr anchor="ctr"/>
          <a:lstStyle/>
          <a:p>
            <a:pPr algn="ctr"/>
            <a:r>
              <a:rPr lang="fr-FR" sz="1200" b="1" spc="300" dirty="0">
                <a:solidFill>
                  <a:schemeClr val="bg1"/>
                </a:solidFill>
                <a:latin typeface="Aptos" panose="020B0004020202020204" pitchFamily="34" charset="0"/>
              </a:rPr>
              <a:t>2. CLIENTS PERSONNES MORALES</a:t>
            </a:r>
            <a:endParaRPr lang="fr-SN" sz="1200" b="1" spc="3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" name="Shape 17">
            <a:extLst>
              <a:ext uri="{FF2B5EF4-FFF2-40B4-BE49-F238E27FC236}">
                <a16:creationId xmlns:a16="http://schemas.microsoft.com/office/drawing/2014/main" id="{1719533A-D13C-FA37-F278-695968A4D549}"/>
              </a:ext>
            </a:extLst>
          </p:cNvPr>
          <p:cNvSpPr/>
          <p:nvPr/>
        </p:nvSpPr>
        <p:spPr>
          <a:xfrm>
            <a:off x="2152287" y="3345372"/>
            <a:ext cx="1828800" cy="1467612"/>
          </a:xfrm>
          <a:prstGeom prst="rect">
            <a:avLst/>
          </a:prstGeom>
          <a:noFill/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SN" sz="120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54B93322-032D-68E5-F1E3-E21345CB8EDB}"/>
              </a:ext>
            </a:extLst>
          </p:cNvPr>
          <p:cNvSpPr/>
          <p:nvPr/>
        </p:nvSpPr>
        <p:spPr>
          <a:xfrm>
            <a:off x="8417009" y="-913363"/>
            <a:ext cx="5029200" cy="5029200"/>
          </a:xfrm>
          <a:prstGeom prst="ellipse">
            <a:avLst/>
          </a:prstGeom>
          <a:solidFill>
            <a:schemeClr val="accent6">
              <a:lumMod val="40000"/>
              <a:lumOff val="60000"/>
              <a:alpha val="8000"/>
            </a:schemeClr>
          </a:solidFill>
          <a:ln w="12700">
            <a:solidFill>
              <a:schemeClr val="accent5">
                <a:lumMod val="5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01AD74B4-A12D-CABC-1B20-537900E7ABEA}"/>
              </a:ext>
            </a:extLst>
          </p:cNvPr>
          <p:cNvSpPr/>
          <p:nvPr/>
        </p:nvSpPr>
        <p:spPr>
          <a:xfrm>
            <a:off x="8639939" y="-457200"/>
            <a:ext cx="3200400" cy="3200400"/>
          </a:xfrm>
          <a:prstGeom prst="ellipse">
            <a:avLst/>
          </a:prstGeom>
          <a:solidFill>
            <a:srgbClr val="00B0F0">
              <a:alpha val="12000"/>
            </a:srgbClr>
          </a:solidFill>
          <a:ln w="12700">
            <a:solidFill>
              <a:schemeClr val="accent5">
                <a:lumMod val="5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F7A9654-6700-72DB-7B4E-D981C79CC0D9}"/>
              </a:ext>
            </a:extLst>
          </p:cNvPr>
          <p:cNvSpPr/>
          <p:nvPr/>
        </p:nvSpPr>
        <p:spPr>
          <a:xfrm>
            <a:off x="7811388" y="4836915"/>
            <a:ext cx="1279021" cy="30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du 31/03/2026</a:t>
            </a:r>
          </a:p>
        </p:txBody>
      </p:sp>
      <p:sp>
        <p:nvSpPr>
          <p:cNvPr id="11" name="ZoneTexte 7">
            <a:extLst>
              <a:ext uri="{FF2B5EF4-FFF2-40B4-BE49-F238E27FC236}">
                <a16:creationId xmlns:a16="http://schemas.microsoft.com/office/drawing/2014/main" id="{286BB90A-5328-AD35-F014-D8C55572B645}"/>
              </a:ext>
            </a:extLst>
          </p:cNvPr>
          <p:cNvSpPr txBox="1"/>
          <p:nvPr/>
        </p:nvSpPr>
        <p:spPr>
          <a:xfrm>
            <a:off x="130946" y="4462168"/>
            <a:ext cx="627025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accent1">
                    <a:lumMod val="50000"/>
                  </a:schemeClr>
                </a:solidFill>
              </a:rPr>
              <a:t>(1) </a:t>
            </a:r>
            <a:r>
              <a:rPr lang="fr-FR" sz="800" dirty="0">
                <a:solidFill>
                  <a:schemeClr val="tx2"/>
                </a:solidFill>
                <a:sym typeface="Arial"/>
              </a:rPr>
              <a:t>proportion d’informations renseignées par rapport au nombre total d’informations attendues pour les champs critiques.</a:t>
            </a:r>
          </a:p>
          <a:p>
            <a:r>
              <a:rPr lang="fr-FR" sz="800" dirty="0">
                <a:solidFill>
                  <a:schemeClr val="accent1">
                    <a:lumMod val="50000"/>
                  </a:schemeClr>
                </a:solidFill>
              </a:rPr>
              <a:t>(2) </a:t>
            </a:r>
            <a:r>
              <a:rPr lang="fr-FR" sz="800" dirty="0">
                <a:solidFill>
                  <a:schemeClr val="tx2"/>
                </a:solidFill>
                <a:sym typeface="Arial"/>
              </a:rPr>
              <a:t>proportion de clients présentant au moins une information manquante par rapport au nombre total de clients pour les champs critiques.</a:t>
            </a:r>
          </a:p>
          <a:p>
            <a:r>
              <a:rPr lang="fr-FR" sz="800" dirty="0">
                <a:solidFill>
                  <a:schemeClr val="tx2"/>
                </a:solidFill>
              </a:rPr>
              <a:t>(3) Taux de complétude </a:t>
            </a:r>
            <a:r>
              <a:rPr lang="en-GB" sz="800" dirty="0">
                <a:solidFill>
                  <a:schemeClr val="tx2"/>
                </a:solidFill>
              </a:rPr>
              <a:t>doit </a:t>
            </a:r>
            <a:r>
              <a:rPr lang="en-GB" sz="800" dirty="0" err="1">
                <a:solidFill>
                  <a:schemeClr val="tx2"/>
                </a:solidFill>
              </a:rPr>
              <a:t>être</a:t>
            </a:r>
            <a:r>
              <a:rPr lang="en-GB" sz="800" dirty="0">
                <a:solidFill>
                  <a:schemeClr val="tx2"/>
                </a:solidFill>
              </a:rPr>
              <a:t> </a:t>
            </a:r>
            <a:r>
              <a:rPr lang="en-GB" sz="800" dirty="0" err="1">
                <a:solidFill>
                  <a:schemeClr val="tx2"/>
                </a:solidFill>
              </a:rPr>
              <a:t>égal</a:t>
            </a:r>
            <a:r>
              <a:rPr lang="en-GB" sz="800" dirty="0">
                <a:solidFill>
                  <a:schemeClr val="tx2"/>
                </a:solidFill>
              </a:rPr>
              <a:t> à 100% pour le flux.</a:t>
            </a:r>
          </a:p>
          <a:p>
            <a:r>
              <a:rPr lang="fr-FR" sz="800" dirty="0">
                <a:solidFill>
                  <a:schemeClr val="tx2"/>
                </a:solidFill>
              </a:rPr>
              <a:t>(4) Taux de complétude </a:t>
            </a:r>
            <a:r>
              <a:rPr lang="en-GB" sz="800" dirty="0">
                <a:solidFill>
                  <a:schemeClr val="tx2"/>
                </a:solidFill>
              </a:rPr>
              <a:t>doit </a:t>
            </a:r>
            <a:r>
              <a:rPr lang="en-GB" sz="800" dirty="0" err="1">
                <a:solidFill>
                  <a:schemeClr val="tx2"/>
                </a:solidFill>
              </a:rPr>
              <a:t>être</a:t>
            </a:r>
            <a:r>
              <a:rPr lang="en-GB" sz="800" dirty="0">
                <a:solidFill>
                  <a:schemeClr val="tx2"/>
                </a:solidFill>
              </a:rPr>
              <a:t> supérieur </a:t>
            </a:r>
            <a:r>
              <a:rPr lang="en-GB" sz="800" dirty="0" err="1">
                <a:solidFill>
                  <a:schemeClr val="tx2"/>
                </a:solidFill>
              </a:rPr>
              <a:t>ou</a:t>
            </a:r>
            <a:r>
              <a:rPr lang="en-GB" sz="800" dirty="0">
                <a:solidFill>
                  <a:schemeClr val="tx2"/>
                </a:solidFill>
              </a:rPr>
              <a:t> </a:t>
            </a:r>
            <a:r>
              <a:rPr lang="en-GB" sz="800" dirty="0" err="1">
                <a:solidFill>
                  <a:schemeClr val="tx2"/>
                </a:solidFill>
              </a:rPr>
              <a:t>égale</a:t>
            </a:r>
            <a:r>
              <a:rPr lang="en-GB" sz="800" dirty="0">
                <a:solidFill>
                  <a:schemeClr val="tx2"/>
                </a:solidFill>
              </a:rPr>
              <a:t> à 90% pour le stock.</a:t>
            </a:r>
            <a:endParaRPr lang="fr-SN" sz="800" dirty="0">
              <a:solidFill>
                <a:schemeClr val="tx2"/>
              </a:solidFill>
            </a:endParaRPr>
          </a:p>
        </p:txBody>
      </p:sp>
      <p:graphicFrame>
        <p:nvGraphicFramePr>
          <p:cNvPr id="12" name=""/>
          <p:cNvGraphicFramePr>
            <a:graphicFrameLocks noGrp="true"/>
          </p:cNvGraphicFramePr>
          <p:nvPr/>
        </p:nvGraphicFramePr>
        <p:xfrm rot="0">
          <a:off x="292608" y="960120"/>
          <a:ext cx="8549640" cy="3246120"/>
        </p:xfrm>
        <a:graphic>
          <a:graphicData uri="http://schemas.openxmlformats.org/drawingml/2006/table">
            <a:tbl>
              <a:tblPr/>
              <a:tblGrid>
                <a:gridCol w="1920240"/>
                <a:gridCol w="3886200"/>
                <a:gridCol w="1371600"/>
                <a:gridCol w="1371600"/>
              </a:tblGrid>
              <a:tr h="219456"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Champs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Flux (3)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Stock (4)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</a:tr>
              <a:tr h="219456">
                <a:tc rowSpan="8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Secteur d'activité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Code agent économique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Capital social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75%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B084">
                        <a:alpha val="10000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Chiffre d'affaires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86%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B084">
                        <a:alpha val="10000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Résultat net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75%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B08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B084">
                        <a:alpha val="10000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Numéro de registre de commerce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B084">
                        <a:alpha val="10000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Origine du revenu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par champs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Téléphone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75%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B08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456">
                <a:tc rowSpan="2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de complétude global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Approche par champs (1)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B08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82%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B084">
                        <a:alpha val="100000"/>
                      </a:srgbClr>
                    </a:solidFill>
                  </a:tcPr>
                </a:tc>
              </a:tr>
              <a:tr h="219456">
                <a:tc vMerge="true">
                  <a:txBody>
                    <a:bodyPr/>
                    <a:lstStyle/>
                    <a:p>
                      <a:pPr algn="l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de complétude global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Approche par clients (2)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75%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B08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B084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85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84844-AA55-4FA0-470E-B26B5E88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>
            <a:extLst>
              <a:ext uri="{FF2B5EF4-FFF2-40B4-BE49-F238E27FC236}">
                <a16:creationId xmlns:a16="http://schemas.microsoft.com/office/drawing/2014/main" id="{54094018-20F2-E511-A159-E5F67C085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64"/>
            <a:ext cx="6125339" cy="445009"/>
          </a:xfrm>
          <a:prstGeom prst="rect">
            <a:avLst/>
          </a:prstGeom>
        </p:spPr>
      </p:pic>
      <p:pic>
        <p:nvPicPr>
          <p:cNvPr id="3" name="Image 19">
            <a:extLst>
              <a:ext uri="{FF2B5EF4-FFF2-40B4-BE49-F238E27FC236}">
                <a16:creationId xmlns:a16="http://schemas.microsoft.com/office/drawing/2014/main" id="{30E999A8-80B3-C606-E414-1439FB610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661" y="-3664"/>
            <a:ext cx="6125339" cy="445009"/>
          </a:xfrm>
          <a:prstGeom prst="rect">
            <a:avLst/>
          </a:prstGeom>
        </p:spPr>
      </p:pic>
      <p:pic>
        <p:nvPicPr>
          <p:cNvPr id="4" name="Image 25">
            <a:extLst>
              <a:ext uri="{FF2B5EF4-FFF2-40B4-BE49-F238E27FC236}">
                <a16:creationId xmlns:a16="http://schemas.microsoft.com/office/drawing/2014/main" id="{94062506-1F3E-855E-C8E6-0A446736B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9" y="-3664"/>
            <a:ext cx="1829941" cy="445009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6CB46A8B-8484-B284-B451-52A7D94C74A8}"/>
              </a:ext>
            </a:extLst>
          </p:cNvPr>
          <p:cNvSpPr/>
          <p:nvPr/>
        </p:nvSpPr>
        <p:spPr>
          <a:xfrm>
            <a:off x="217714" y="19195"/>
            <a:ext cx="8708571" cy="399289"/>
          </a:xfrm>
          <a:prstGeom prst="rect">
            <a:avLst/>
          </a:prstGeom>
          <a:noFill/>
          <a:ln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II.OBSERVATIONS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777EAD3-2ED0-8110-2A72-B1B86E5CAEEE}"/>
              </a:ext>
            </a:extLst>
          </p:cNvPr>
          <p:cNvSpPr/>
          <p:nvPr/>
        </p:nvSpPr>
        <p:spPr>
          <a:xfrm>
            <a:off x="1815764" y="1065748"/>
            <a:ext cx="2202549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DF94E13-2BF9-0346-574B-CC6B7F4C85D6}"/>
              </a:ext>
            </a:extLst>
          </p:cNvPr>
          <p:cNvSpPr/>
          <p:nvPr/>
        </p:nvSpPr>
        <p:spPr>
          <a:xfrm>
            <a:off x="1815764" y="1065748"/>
            <a:ext cx="2202549" cy="69777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4F98015-CDE7-5BF9-41ED-2A309967C7E1}"/>
              </a:ext>
            </a:extLst>
          </p:cNvPr>
          <p:cNvSpPr/>
          <p:nvPr/>
        </p:nvSpPr>
        <p:spPr>
          <a:xfrm>
            <a:off x="2619858" y="1434552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2200" dirty="0">
              <a:solidFill>
                <a:srgbClr val="00B050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C18CFF4-6EA4-0229-DA90-33523FD67CD9}"/>
              </a:ext>
            </a:extLst>
          </p:cNvPr>
          <p:cNvSpPr/>
          <p:nvPr/>
        </p:nvSpPr>
        <p:spPr>
          <a:xfrm>
            <a:off x="1871889" y="1198762"/>
            <a:ext cx="282702" cy="34747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F5B70B8-4877-06B6-9F69-D421E99158F3}"/>
              </a:ext>
            </a:extLst>
          </p:cNvPr>
          <p:cNvSpPr/>
          <p:nvPr/>
        </p:nvSpPr>
        <p:spPr>
          <a:xfrm>
            <a:off x="1871889" y="1883975"/>
            <a:ext cx="20396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fr-FR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chargés de compte de la banque ont un taux de complétude des champs supérieur à 80 % pour les PP. </a:t>
            </a: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92B339D4-35E7-8400-CE32-296700DD0BD5}"/>
              </a:ext>
            </a:extLst>
          </p:cNvPr>
          <p:cNvSpPr/>
          <p:nvPr/>
        </p:nvSpPr>
        <p:spPr>
          <a:xfrm>
            <a:off x="1815764" y="3012995"/>
            <a:ext cx="2202548" cy="152267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B5ED013A-6C9F-F364-402C-6C5CA1A4B96A}"/>
              </a:ext>
            </a:extLst>
          </p:cNvPr>
          <p:cNvSpPr/>
          <p:nvPr/>
        </p:nvSpPr>
        <p:spPr>
          <a:xfrm>
            <a:off x="1815763" y="3012995"/>
            <a:ext cx="2202547" cy="80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33A17348-4295-1ABC-69DE-B0DE01FA45BD}"/>
              </a:ext>
            </a:extLst>
          </p:cNvPr>
          <p:cNvSpPr/>
          <p:nvPr/>
        </p:nvSpPr>
        <p:spPr>
          <a:xfrm>
            <a:off x="2559956" y="3294939"/>
            <a:ext cx="71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2200" dirty="0">
              <a:solidFill>
                <a:srgbClr val="F59E0B"/>
              </a:solidFill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8AB59C06-95D1-50C9-8702-4AF6F10C9EF8}"/>
              </a:ext>
            </a:extLst>
          </p:cNvPr>
          <p:cNvSpPr/>
          <p:nvPr/>
        </p:nvSpPr>
        <p:spPr>
          <a:xfrm>
            <a:off x="1872259" y="3717031"/>
            <a:ext cx="2031694" cy="61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fr-FR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agent n’a été noté par le Contrôle Permanent de BOA XX au niveau de la plateforme KYC.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E77053EE-A11D-6D19-6D00-CDF0DF4C0101}"/>
              </a:ext>
            </a:extLst>
          </p:cNvPr>
          <p:cNvSpPr/>
          <p:nvPr/>
        </p:nvSpPr>
        <p:spPr>
          <a:xfrm>
            <a:off x="4258400" y="1069805"/>
            <a:ext cx="2202549" cy="150194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FA41879D-0AEB-E06B-82BB-3EDC615C14B7}"/>
              </a:ext>
            </a:extLst>
          </p:cNvPr>
          <p:cNvSpPr/>
          <p:nvPr/>
        </p:nvSpPr>
        <p:spPr>
          <a:xfrm>
            <a:off x="4258400" y="1069550"/>
            <a:ext cx="2202549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6EB7B78B-29B6-AFA3-FA2F-45A3DC5C3DDB}"/>
              </a:ext>
            </a:extLst>
          </p:cNvPr>
          <p:cNvSpPr/>
          <p:nvPr/>
        </p:nvSpPr>
        <p:spPr>
          <a:xfrm>
            <a:off x="5151112" y="141716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2200" dirty="0">
              <a:solidFill>
                <a:srgbClr val="F59E0B"/>
              </a:solidFill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18A1D34-89A7-2EB7-9706-A26923C422D9}"/>
              </a:ext>
            </a:extLst>
          </p:cNvPr>
          <p:cNvSpPr/>
          <p:nvPr/>
        </p:nvSpPr>
        <p:spPr>
          <a:xfrm>
            <a:off x="4316122" y="1203204"/>
            <a:ext cx="282702" cy="347472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400" dirty="0">
              <a:solidFill>
                <a:srgbClr val="F59E0B"/>
              </a:solidFill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9271EDC9-A14D-C282-A3C0-32F1C0D6825F}"/>
              </a:ext>
            </a:extLst>
          </p:cNvPr>
          <p:cNvSpPr/>
          <p:nvPr/>
        </p:nvSpPr>
        <p:spPr>
          <a:xfrm>
            <a:off x="4316122" y="1833682"/>
            <a:ext cx="2089829" cy="579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fr-FR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chargés de compte de la banque ont un taux de complétude des champs inférieur à 80 % pour les PM. </a:t>
            </a: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07372FB1-0E1A-3903-FAA7-706AC9C85A73}"/>
              </a:ext>
            </a:extLst>
          </p:cNvPr>
          <p:cNvSpPr/>
          <p:nvPr/>
        </p:nvSpPr>
        <p:spPr>
          <a:xfrm>
            <a:off x="4258399" y="3017580"/>
            <a:ext cx="2202549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6B23247-639A-20B5-7466-F658AD2A2C47}"/>
              </a:ext>
            </a:extLst>
          </p:cNvPr>
          <p:cNvSpPr/>
          <p:nvPr/>
        </p:nvSpPr>
        <p:spPr>
          <a:xfrm>
            <a:off x="4862387" y="2959683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>
              <a:solidFill>
                <a:srgbClr val="F59E0B"/>
              </a:solidFill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282BD34B-236C-92C4-5D32-368BB6D44388}"/>
              </a:ext>
            </a:extLst>
          </p:cNvPr>
          <p:cNvSpPr/>
          <p:nvPr/>
        </p:nvSpPr>
        <p:spPr>
          <a:xfrm>
            <a:off x="4354537" y="3759856"/>
            <a:ext cx="20600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fr-FR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de comptes faisant l’objet d'interdit crédit et débit et ne faisant pas partie des comptes à fiabiliser.</a:t>
            </a:r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659E151E-93A1-710A-35AB-1EB63B5F100A}"/>
              </a:ext>
            </a:extLst>
          </p:cNvPr>
          <p:cNvSpPr/>
          <p:nvPr/>
        </p:nvSpPr>
        <p:spPr>
          <a:xfrm>
            <a:off x="4258400" y="3010625"/>
            <a:ext cx="2202547" cy="8060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8E548D68-7B40-D2C6-DF5B-33A5E9E4F9FD}"/>
              </a:ext>
            </a:extLst>
          </p:cNvPr>
          <p:cNvSpPr/>
          <p:nvPr/>
        </p:nvSpPr>
        <p:spPr>
          <a:xfrm>
            <a:off x="5159567" y="329285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220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35C495A8-3C35-3BF7-622E-B6DB896A4418}"/>
              </a:ext>
            </a:extLst>
          </p:cNvPr>
          <p:cNvSpPr/>
          <p:nvPr/>
        </p:nvSpPr>
        <p:spPr>
          <a:xfrm flipV="1">
            <a:off x="92580" y="4957930"/>
            <a:ext cx="6639531" cy="45719"/>
          </a:xfrm>
          <a:prstGeom prst="rect">
            <a:avLst/>
          </a:prstGeom>
          <a:solidFill>
            <a:schemeClr val="accent5">
              <a:lumMod val="50000"/>
              <a:alpha val="46000"/>
            </a:schemeClr>
          </a:solidFill>
          <a:ln w="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fr-SN" sz="120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9AA3652D-9D74-B9DB-A112-EC58493F642A}"/>
              </a:ext>
            </a:extLst>
          </p:cNvPr>
          <p:cNvSpPr/>
          <p:nvPr/>
        </p:nvSpPr>
        <p:spPr>
          <a:xfrm>
            <a:off x="7659297" y="4748460"/>
            <a:ext cx="1392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du 31/03/2026</a:t>
            </a:r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A721112C-AA08-A3CA-A5BE-7D73C2398369}"/>
              </a:ext>
            </a:extLst>
          </p:cNvPr>
          <p:cNvSpPr/>
          <p:nvPr/>
        </p:nvSpPr>
        <p:spPr>
          <a:xfrm>
            <a:off x="8417009" y="-913363"/>
            <a:ext cx="5029200" cy="5029200"/>
          </a:xfrm>
          <a:prstGeom prst="ellipse">
            <a:avLst/>
          </a:prstGeom>
          <a:solidFill>
            <a:schemeClr val="accent6">
              <a:lumMod val="40000"/>
              <a:lumOff val="60000"/>
              <a:alpha val="8000"/>
            </a:schemeClr>
          </a:solidFill>
          <a:ln w="12700">
            <a:solidFill>
              <a:schemeClr val="accent5">
                <a:lumMod val="5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DAF0976-7677-4BA8-A1E5-2BCEF80A3551}"/>
              </a:ext>
            </a:extLst>
          </p:cNvPr>
          <p:cNvSpPr/>
          <p:nvPr/>
        </p:nvSpPr>
        <p:spPr>
          <a:xfrm>
            <a:off x="8639939" y="-457200"/>
            <a:ext cx="3200400" cy="3200400"/>
          </a:xfrm>
          <a:prstGeom prst="ellipse">
            <a:avLst/>
          </a:prstGeom>
          <a:solidFill>
            <a:srgbClr val="00B0F0">
              <a:alpha val="12000"/>
            </a:srgbClr>
          </a:solidFill>
          <a:ln w="12700">
            <a:solidFill>
              <a:schemeClr val="accent5">
                <a:lumMod val="5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graphicFrame>
        <p:nvGraphicFramePr>
          <p:cNvPr id="29" name=""/>
          <p:cNvGraphicFramePr>
            <a:graphicFrameLocks noGrp="true"/>
          </p:cNvGraphicFramePr>
          <p:nvPr/>
        </p:nvGraphicFramePr>
        <p:xfrm rot="0">
          <a:off x="685800" y="1325880"/>
          <a:ext cx="7223760" cy="685800"/>
        </p:xfrm>
        <a:graphic>
          <a:graphicData uri="http://schemas.openxmlformats.org/drawingml/2006/table">
            <a:tbl>
              <a:tblPr/>
              <a:tblGrid>
                <a:gridCol w="2286000"/>
                <a:gridCol w="1234440"/>
                <a:gridCol w="1234440"/>
                <a:gridCol w="1234440"/>
                <a:gridCol w="1234440"/>
              </a:tblGrid>
              <a:tr h="228600"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[0, 50%]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]50% , 60%]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]60% , 80%]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]80% , 100%]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stock PP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Taux stock PM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61%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"/>
          <p:cNvGraphicFramePr>
            <a:graphicFrameLocks noGrp="true"/>
          </p:cNvGraphicFramePr>
          <p:nvPr/>
        </p:nvGraphicFramePr>
        <p:xfrm rot="0">
          <a:off x="685800" y="3063240"/>
          <a:ext cx="7315200" cy="594360"/>
        </p:xfrm>
        <a:graphic>
          <a:graphicData uri="http://schemas.openxmlformats.org/drawingml/2006/table">
            <a:tbl>
              <a:tblPr/>
              <a:tblGrid>
                <a:gridCol w="1325880"/>
                <a:gridCol w="1234440"/>
                <a:gridCol w="1188720"/>
                <a:gridCol w="1188720"/>
                <a:gridCol w="1188720"/>
                <a:gridCol w="1188720"/>
              </a:tblGrid>
              <a:tr h="228600"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Filiale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Nombre notes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Insuffisant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Passable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Bien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1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Très Bien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00965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BOA SN</a:t>
                      </a:r>
                    </a:p>
                  </a:txBody>
                  <a:tcPr anchor="ctr" marB="12700" marT="127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8.2%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70.2%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 marR="25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9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1" name=""/>
          <p:cNvSpPr>
            <a:spLocks noGrp="1"/>
          </p:cNvSpPr>
          <p:nvPr>
            <p:ph/>
          </p:nvPr>
        </p:nvSpPr>
        <p:spPr>
          <a:xfrm>
            <a:off x="685800" y="3794760"/>
            <a:ext cx="7315200" cy="685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  <a:ea typeface="Times New Roman"/>
                <a:sym typeface="Times New Roman"/>
              </a:rPr>
              <a:t>Les comptes faisant objet d'interdit crédit et débit ne sont pas intégrés dans les comptes à fiabiliser et sont au nombre de 105</a:t>
            </a:r>
          </a:p>
        </p:txBody>
      </p:sp>
    </p:spTree>
    <p:extLst>
      <p:ext uri="{BB962C8B-B14F-4D97-AF65-F5344CB8AC3E}">
        <p14:creationId xmlns:p14="http://schemas.microsoft.com/office/powerpoint/2010/main" val="955053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75AFD-B101-8EE8-279A-67C874955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>
            <a:extLst>
              <a:ext uri="{FF2B5EF4-FFF2-40B4-BE49-F238E27FC236}">
                <a16:creationId xmlns:a16="http://schemas.microsoft.com/office/drawing/2014/main" id="{B0D4A720-1B09-1DC2-DDE7-B19894F9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25339" cy="5143500"/>
          </a:xfrm>
          <a:prstGeom prst="rect">
            <a:avLst/>
          </a:prstGeom>
        </p:spPr>
      </p:pic>
      <p:pic>
        <p:nvPicPr>
          <p:cNvPr id="3" name="Image 19">
            <a:extLst>
              <a:ext uri="{FF2B5EF4-FFF2-40B4-BE49-F238E27FC236}">
                <a16:creationId xmlns:a16="http://schemas.microsoft.com/office/drawing/2014/main" id="{016B359B-4206-A1A1-31CA-18EFC1E85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661" y="0"/>
            <a:ext cx="6125339" cy="5143500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20C09752-8853-3C3B-D1E1-DFFBA11CB067}"/>
              </a:ext>
            </a:extLst>
          </p:cNvPr>
          <p:cNvSpPr/>
          <p:nvPr/>
        </p:nvSpPr>
        <p:spPr>
          <a:xfrm>
            <a:off x="470231" y="892139"/>
            <a:ext cx="7315200" cy="1363649"/>
          </a:xfrm>
          <a:prstGeom prst="rect">
            <a:avLst/>
          </a:prstGeom>
          <a:noFill/>
          <a:ln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DU DOCUMENT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5" name="Image 25">
            <a:extLst>
              <a:ext uri="{FF2B5EF4-FFF2-40B4-BE49-F238E27FC236}">
                <a16:creationId xmlns:a16="http://schemas.microsoft.com/office/drawing/2014/main" id="{A0C8D2FA-0A20-7667-9B8F-D5E33F5DD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9" y="301424"/>
            <a:ext cx="1829941" cy="445009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47B48C79-95B8-E2CC-4396-AB134B37B014}"/>
              </a:ext>
            </a:extLst>
          </p:cNvPr>
          <p:cNvSpPr/>
          <p:nvPr/>
        </p:nvSpPr>
        <p:spPr>
          <a:xfrm>
            <a:off x="457200" y="24852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ET SUIVI DES TRAVAUX DE FIABILISATION KYC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8452099-F79D-5838-9E2B-DF73C003B9BA}"/>
              </a:ext>
            </a:extLst>
          </p:cNvPr>
          <p:cNvSpPr/>
          <p:nvPr/>
        </p:nvSpPr>
        <p:spPr>
          <a:xfrm>
            <a:off x="457200" y="3161142"/>
            <a:ext cx="3657600" cy="4572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B3C5467-16D9-C18D-14FF-67FA2E4565D2}"/>
              </a:ext>
            </a:extLst>
          </p:cNvPr>
          <p:cNvSpPr/>
          <p:nvPr/>
        </p:nvSpPr>
        <p:spPr>
          <a:xfrm>
            <a:off x="457200" y="3384165"/>
            <a:ext cx="41271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70B46381-1195-C416-CF6D-F67FC9359711}"/>
              </a:ext>
            </a:extLst>
          </p:cNvPr>
          <p:cNvSpPr/>
          <p:nvPr/>
        </p:nvSpPr>
        <p:spPr>
          <a:xfrm>
            <a:off x="8417009" y="-913363"/>
            <a:ext cx="5029200" cy="5029200"/>
          </a:xfrm>
          <a:prstGeom prst="ellipse">
            <a:avLst/>
          </a:prstGeom>
          <a:solidFill>
            <a:schemeClr val="accent6">
              <a:lumMod val="40000"/>
              <a:lumOff val="60000"/>
              <a:alpha val="8000"/>
            </a:schemeClr>
          </a:solidFill>
          <a:ln w="12700">
            <a:solidFill>
              <a:schemeClr val="accent5">
                <a:lumMod val="5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3FA70D05-292B-752D-8267-CF1256FB1D22}"/>
              </a:ext>
            </a:extLst>
          </p:cNvPr>
          <p:cNvSpPr/>
          <p:nvPr/>
        </p:nvSpPr>
        <p:spPr>
          <a:xfrm>
            <a:off x="8639939" y="-457200"/>
            <a:ext cx="3200400" cy="3200400"/>
          </a:xfrm>
          <a:prstGeom prst="ellipse">
            <a:avLst/>
          </a:prstGeom>
          <a:solidFill>
            <a:srgbClr val="00B0F0">
              <a:alpha val="12000"/>
            </a:srgbClr>
          </a:solidFill>
          <a:ln w="12700">
            <a:solidFill>
              <a:schemeClr val="accent5">
                <a:lumMod val="5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</p:spTree>
    <p:extLst>
      <p:ext uri="{BB962C8B-B14F-4D97-AF65-F5344CB8AC3E}">
        <p14:creationId xmlns:p14="http://schemas.microsoft.com/office/powerpoint/2010/main" val="389212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4D96CA8-C6A7-457A-A66F-56D35B86724E}">
  <we:reference id="wa200010001" version="1.0.0.1" store="fr-FR" storeType="OMEX"/>
  <we:alternateReferences>
    <we:reference id="WA200010001" version="1.0.0.1" store="WA200010001" storeType="OMEX"/>
  </we:alternateReferences>
  <we:properties>
    <we:property name="claude.fileId" value="&quot;8a374315-9f17-46bc-8a8a-435cdee41fd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309b1f-b9ac-4dc9-8ca2-8696ffbed769">
      <Terms xmlns="http://schemas.microsoft.com/office/infopath/2007/PartnerControls"/>
    </lcf76f155ced4ddcb4097134ff3c332f>
    <TaxCatchAll xmlns="c6aeb9d3-ccf9-4fa8-9794-b7cc2e8b588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5D9FF4A58D214C808125E3654F70F4" ma:contentTypeVersion="17" ma:contentTypeDescription="Crée un document." ma:contentTypeScope="" ma:versionID="33014be31b751bf62017363bbcd35bdc">
  <xsd:schema xmlns:xsd="http://www.w3.org/2001/XMLSchema" xmlns:xs="http://www.w3.org/2001/XMLSchema" xmlns:p="http://schemas.microsoft.com/office/2006/metadata/properties" xmlns:ns2="57309b1f-b9ac-4dc9-8ca2-8696ffbed769" xmlns:ns3="c6aeb9d3-ccf9-4fa8-9794-b7cc2e8b588e" targetNamespace="http://schemas.microsoft.com/office/2006/metadata/properties" ma:root="true" ma:fieldsID="1ab3eeae74e90fb2e2b19863fc649e7f" ns2:_="" ns3:_="">
    <xsd:import namespace="57309b1f-b9ac-4dc9-8ca2-8696ffbed769"/>
    <xsd:import namespace="c6aeb9d3-ccf9-4fa8-9794-b7cc2e8b58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309b1f-b9ac-4dc9-8ca2-8696ffbed7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59ba5b11-32e9-4196-a445-318278327f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aeb9d3-ccf9-4fa8-9794-b7cc2e8b588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73e74d4-a459-4681-93a9-87b8e4f8b82a}" ma:internalName="TaxCatchAll" ma:showField="CatchAllData" ma:web="c6aeb9d3-ccf9-4fa8-9794-b7cc2e8b58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BC6476-9523-4932-93D4-9EFA0144B3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92E79-C109-4C85-82AD-36CBDFDA010B}">
  <ds:schemaRefs>
    <ds:schemaRef ds:uri="http://schemas.microsoft.com/office/2006/metadata/properties"/>
    <ds:schemaRef ds:uri="http://schemas.microsoft.com/office/infopath/2007/PartnerControls"/>
    <ds:schemaRef ds:uri="57309b1f-b9ac-4dc9-8ca2-8696ffbed769"/>
    <ds:schemaRef ds:uri="c6aeb9d3-ccf9-4fa8-9794-b7cc2e8b588e"/>
  </ds:schemaRefs>
</ds:datastoreItem>
</file>

<file path=customXml/itemProps3.xml><?xml version="1.0" encoding="utf-8"?>
<ds:datastoreItem xmlns:ds="http://schemas.openxmlformats.org/officeDocument/2006/customXml" ds:itemID="{2908A885-1553-44DE-B336-CE44B23ECF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309b1f-b9ac-4dc9-8ca2-8696ffbed769"/>
    <ds:schemaRef ds:uri="c6aeb9d3-ccf9-4fa8-9794-b7cc2e8b58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3033</TotalTime>
  <Words>312</Words>
  <Application>Microsoft Office PowerPoint</Application>
  <PresentationFormat>Affichage à l'écran (16:9)</PresentationFormat>
  <Paragraphs>42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WETHICO - Plateforme P2P de Change</dc:title>
  <dc:subject>PptxGenJS Presentation</dc:subject>
  <dc:creator>PptxGenJS</dc:creator>
  <cp:lastModifiedBy/>
  <cp:revision>8</cp:revision>
  <cp:lastPrinted>2026-04-10T20:06:33Z</cp:lastPrinted>
  <dcterms:created xsi:type="dcterms:W3CDTF">2026-03-02T15:03:27Z</dcterms:created>
  <dcterms:modified xsi:type="dcterms:W3CDTF">2026-07-31T08:21:15Z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0x010100675D9FF4A58D214C808125E3654F70F4</vt:lpwstr>
  </property>
</Properties>
</file>